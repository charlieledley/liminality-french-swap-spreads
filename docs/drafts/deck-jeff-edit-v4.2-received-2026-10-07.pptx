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14"/>
  </p:notesMasterIdLst>
  <p:sldIdLst>
    <p:sldId id="644" r:id="rId5"/>
    <p:sldId id="680" r:id="rId6"/>
    <p:sldId id="681" r:id="rId7"/>
    <p:sldId id="674" r:id="rId8"/>
    <p:sldId id="676" r:id="rId9"/>
    <p:sldId id="677" r:id="rId10"/>
    <p:sldId id="690" r:id="rId11"/>
    <p:sldId id="679" r:id="rId12"/>
    <p:sldId id="682" r:id="rId13"/>
  </p:sldIdLst>
  <p:sldSz cx="9144000" cy="5143500" type="screen16x9"/>
  <p:notesSz cx="7315200" cy="9601200"/>
  <p:embeddedFontLst>
    <p:embeddedFont>
      <p:font typeface="Cambria" panose="02040503050406030204" pitchFamily="18" charset="0"/>
      <p:regular r:id="rId15"/>
      <p:bold r:id="rId16"/>
      <p:italic r:id="rId17"/>
      <p:boldItalic r:id="rId18"/>
    </p:embeddedFont>
    <p:embeddedFont>
      <p:font typeface="Garamond" panose="02020404030301010803" pitchFamily="18" charset="0"/>
      <p:regular r:id="rId19"/>
      <p:bold r:id="rId20"/>
      <p:italic r:id="rId21"/>
      <p:boldItalic r:id="rId22"/>
    </p:embeddedFont>
    <p:embeddedFont>
      <p:font typeface="Helvetica Neue"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9EBF5"/>
    <a:srgbClr val="6A6A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8786C-3D30-4066-A76E-8985913C5E59}" v="4" dt="2026-10-07T10:32:19.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9" autoAdjust="0"/>
    <p:restoredTop sz="79184" autoAdjust="0"/>
  </p:normalViewPr>
  <p:slideViewPr>
    <p:cSldViewPr snapToGrid="0">
      <p:cViewPr varScale="1">
        <p:scale>
          <a:sx n="169" d="100"/>
          <a:sy n="169" d="100"/>
        </p:scale>
        <p:origin x="896" y="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5.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Begley" userId="564f9d2a-7ee5-456c-b7e6-c2bc7973e706" providerId="ADAL" clId="{8A4155C2-D434-4B57-874E-5A12940C5C46}"/>
    <pc:docChg chg="modSld">
      <pc:chgData name="Jeffrey Begley" userId="564f9d2a-7ee5-456c-b7e6-c2bc7973e706" providerId="ADAL" clId="{8A4155C2-D434-4B57-874E-5A12940C5C46}" dt="2026-10-07T10:32:18.317" v="2"/>
      <pc:docMkLst>
        <pc:docMk/>
      </pc:docMkLst>
      <pc:sldChg chg="modSp">
        <pc:chgData name="Jeffrey Begley" userId="564f9d2a-7ee5-456c-b7e6-c2bc7973e706" providerId="ADAL" clId="{8A4155C2-D434-4B57-874E-5A12940C5C46}" dt="2026-10-07T10:32:18.317" v="2"/>
        <pc:sldMkLst>
          <pc:docMk/>
          <pc:sldMk cId="2115922203" sldId="675"/>
        </pc:sldMkLst>
        <pc:spChg chg="mod">
          <ac:chgData name="Jeffrey Begley" userId="564f9d2a-7ee5-456c-b7e6-c2bc7973e706" providerId="ADAL" clId="{8A4155C2-D434-4B57-874E-5A12940C5C46}" dt="2026-10-07T10:32:18.317" v="2"/>
          <ac:spMkLst>
            <pc:docMk/>
            <pc:sldMk cId="2115922203" sldId="675"/>
            <ac:spMk id="3" creationId="{71732438-1678-8ACE-8939-3F8415D0B689}"/>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OAT yield</c:v>
                </c:pt>
              </c:strCache>
            </c:strRef>
          </c:tx>
          <c:spPr>
            <a:ln w="20320">
              <a:solidFill>
                <a:srgbClr val="011C40"/>
              </a:solidFill>
            </a:ln>
          </c:spPr>
          <c:marker>
            <c:symbol val="circle"/>
            <c:size val="3"/>
            <c:spPr>
              <a:solidFill>
                <a:srgbClr val="011C4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3.3</c:v>
                </c:pt>
                <c:pt idx="1">
                  <c:v>3.7227000000000001</c:v>
                </c:pt>
                <c:pt idx="2">
                  <c:v>3.9298999999999999</c:v>
                </c:pt>
                <c:pt idx="3">
                  <c:v>4.1136999999999997</c:v>
                </c:pt>
                <c:pt idx="4">
                  <c:v>4.3259999999999996</c:v>
                </c:pt>
                <c:pt idx="5">
                  <c:v>4.4177</c:v>
                </c:pt>
                <c:pt idx="6">
                  <c:v>4.5434000000000001</c:v>
                </c:pt>
                <c:pt idx="7">
                  <c:v>4.6585999999999999</c:v>
                </c:pt>
                <c:pt idx="8">
                  <c:v>4.7630999999999997</c:v>
                </c:pt>
                <c:pt idx="9">
                  <c:v>4.867</c:v>
                </c:pt>
                <c:pt idx="10">
                  <c:v>5.1856</c:v>
                </c:pt>
                <c:pt idx="11">
                  <c:v>5.2824999999999998</c:v>
                </c:pt>
                <c:pt idx="12">
                  <c:v>5.2896999999999998</c:v>
                </c:pt>
                <c:pt idx="13">
                  <c:v>5.4263000000000003</c:v>
                </c:pt>
              </c:numCache>
            </c:numRef>
          </c:yVal>
          <c:smooth val="0"/>
          <c:extLst>
            <c:ext xmlns:c16="http://schemas.microsoft.com/office/drawing/2014/chart" uri="{C3380CC4-5D6E-409C-BE32-E72D297353CC}">
              <c16:uniqueId val="{00000000-7E7A-4B6E-9FC1-93DA317941C5}"/>
            </c:ext>
          </c:extLst>
        </c:ser>
        <c:ser>
          <c:idx val="1"/>
          <c:order val="1"/>
          <c:tx>
            <c:strRef>
              <c:f>Sheet1!$B$17</c:f>
              <c:strCache>
                <c:ptCount val="1"/>
                <c:pt idx="0">
                  <c:v>6m Euribor swap rate</c:v>
                </c:pt>
              </c:strCache>
            </c:strRef>
          </c:tx>
          <c:spPr>
            <a:ln w="20320">
              <a:solidFill>
                <a:srgbClr val="0047BB"/>
              </a:solidFill>
            </a:ln>
          </c:spPr>
          <c:marker>
            <c:symbol val="circle"/>
            <c:size val="3"/>
            <c:spPr>
              <a:solidFill>
                <a:srgbClr val="0047BB"/>
              </a:solidFill>
              <a:ln>
                <a:noFill/>
              </a:ln>
            </c:spPr>
          </c:marker>
          <c:xVal>
            <c:numRef>
              <c:f>Sheet1!$A$18:$A$31</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Sheet1!$B$18:$B$31</c:f>
              <c:numCache>
                <c:formatCode>General</c:formatCode>
                <c:ptCount val="14"/>
                <c:pt idx="0">
                  <c:v>3.3006000000000002</c:v>
                </c:pt>
                <c:pt idx="1">
                  <c:v>3.4529999999999998</c:v>
                </c:pt>
                <c:pt idx="2">
                  <c:v>3.4899</c:v>
                </c:pt>
                <c:pt idx="3">
                  <c:v>3.4992000000000001</c:v>
                </c:pt>
                <c:pt idx="4">
                  <c:v>3.5009999999999999</c:v>
                </c:pt>
                <c:pt idx="5">
                  <c:v>3.5110999999999999</c:v>
                </c:pt>
                <c:pt idx="6">
                  <c:v>3.5261999999999998</c:v>
                </c:pt>
                <c:pt idx="7">
                  <c:v>3.548</c:v>
                </c:pt>
                <c:pt idx="8">
                  <c:v>3.5625</c:v>
                </c:pt>
                <c:pt idx="9">
                  <c:v>3.5830000000000002</c:v>
                </c:pt>
                <c:pt idx="10">
                  <c:v>3.6423000000000001</c:v>
                </c:pt>
                <c:pt idx="11">
                  <c:v>3.6093000000000002</c:v>
                </c:pt>
                <c:pt idx="12">
                  <c:v>3.5251999999999999</c:v>
                </c:pt>
                <c:pt idx="13">
                  <c:v>3.4348000000000001</c:v>
                </c:pt>
              </c:numCache>
            </c:numRef>
          </c:yVal>
          <c:smooth val="0"/>
          <c:extLst>
            <c:ext xmlns:c16="http://schemas.microsoft.com/office/drawing/2014/chart" uri="{C3380CC4-5D6E-409C-BE32-E72D297353CC}">
              <c16:uniqueId val="{00000001-7E7A-4B6E-9FC1-93DA317941C5}"/>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9D9D9"/>
            </a:solidFill>
          </a:ln>
        </c:spPr>
        <c:txPr>
          <a:bodyPr/>
          <a:lstStyle/>
          <a:p>
            <a:pPr>
              <a:defRPr sz="700">
                <a:solidFill>
                  <a:srgbClr val="595959"/>
                </a:solidFill>
                <a:latin typeface="Garamond"/>
              </a:defRPr>
            </a:pPr>
            <a:endParaRPr lang="en-US"/>
          </a:p>
        </c:txPr>
        <c:crossAx val="-2129643912"/>
        <c:crosses val="autoZero"/>
        <c:crossBetween val="midCat"/>
        <c:majorUnit val="5"/>
      </c:valAx>
      <c:valAx>
        <c:axId val="-2129643912"/>
        <c:scaling>
          <c:orientation val="minMax"/>
          <c:max val="5.5"/>
          <c:min val="3"/>
        </c:scaling>
        <c:delete val="0"/>
        <c:axPos val="l"/>
        <c:majorGridlines>
          <c:spPr>
            <a:ln w="6096">
              <a:solidFill>
                <a:srgbClr val="D9D9D9"/>
              </a:solidFill>
            </a:ln>
          </c:spPr>
        </c:majorGridlines>
        <c:numFmt formatCode="0.0&quot;%&quot;" sourceLinked="0"/>
        <c:majorTickMark val="out"/>
        <c:minorTickMark val="none"/>
        <c:tickLblPos val="low"/>
        <c:spPr>
          <a:ln>
            <a:noFill/>
          </a:ln>
        </c:spPr>
        <c:txPr>
          <a:bodyPr/>
          <a:lstStyle/>
          <a:p>
            <a:pPr>
              <a:defRPr sz="700">
                <a:solidFill>
                  <a:srgbClr val="595959"/>
                </a:solidFill>
                <a:latin typeface="Garamond"/>
              </a:defRPr>
            </a:pPr>
            <a:endParaRPr lang="en-US"/>
          </a:p>
        </c:txPr>
        <c:crossAx val="-2128940872"/>
        <c:crosses val="autoZero"/>
        <c:crossBetween val="midCat"/>
      </c:valAx>
    </c:plotArea>
    <c:legend>
      <c:legendPos val="t"/>
      <c:overlay val="0"/>
      <c:txPr>
        <a:bodyPr/>
        <a:lstStyle/>
        <a:p>
          <a:pPr>
            <a:defRPr sz="800">
              <a:solidFill>
                <a:srgbClr val="595959"/>
              </a:solidFill>
              <a:latin typeface="Garamond"/>
            </a:defRPr>
          </a:pPr>
          <a:endParaRPr lang="en-US"/>
        </a:p>
      </c:txPr>
    </c:legend>
    <c:plotVisOnly val="1"/>
    <c:dispBlanksAs val="gap"/>
    <c:showDLblsOverMax val="0"/>
  </c:chart>
  <c:txPr>
    <a:bodyPr/>
    <a:lstStyle/>
    <a:p>
      <a:pPr>
        <a:defRPr sz="700">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Swap spread</c:v>
                </c:pt>
              </c:strCache>
            </c:strRef>
          </c:tx>
          <c:spPr>
            <a:ln w="20320">
              <a:solidFill>
                <a:srgbClr val="C00000"/>
              </a:solidFill>
            </a:ln>
          </c:spPr>
          <c:marker>
            <c:symbol val="circle"/>
            <c:size val="3"/>
            <c:spPr>
              <a:solidFill>
                <a:srgbClr val="C0000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0.06</c:v>
                </c:pt>
                <c:pt idx="1">
                  <c:v>-26.97</c:v>
                </c:pt>
                <c:pt idx="2">
                  <c:v>-44</c:v>
                </c:pt>
                <c:pt idx="3">
                  <c:v>-61.45</c:v>
                </c:pt>
                <c:pt idx="4">
                  <c:v>-82.5</c:v>
                </c:pt>
                <c:pt idx="5">
                  <c:v>-90.66</c:v>
                </c:pt>
                <c:pt idx="6">
                  <c:v>-101.72</c:v>
                </c:pt>
                <c:pt idx="7">
                  <c:v>-111.06</c:v>
                </c:pt>
                <c:pt idx="8">
                  <c:v>-120.06</c:v>
                </c:pt>
                <c:pt idx="9">
                  <c:v>-128.4</c:v>
                </c:pt>
                <c:pt idx="10">
                  <c:v>-154.33000000000001</c:v>
                </c:pt>
                <c:pt idx="11">
                  <c:v>-167.32</c:v>
                </c:pt>
                <c:pt idx="12">
                  <c:v>-176.45</c:v>
                </c:pt>
                <c:pt idx="13">
                  <c:v>-199.15</c:v>
                </c:pt>
              </c:numCache>
            </c:numRef>
          </c:yVal>
          <c:smooth val="0"/>
          <c:extLst>
            <c:ext xmlns:c16="http://schemas.microsoft.com/office/drawing/2014/chart" uri="{C3380CC4-5D6E-409C-BE32-E72D297353CC}">
              <c16:uniqueId val="{00000000-91A5-4702-93AA-874E37720094}"/>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9D9D9"/>
            </a:solidFill>
          </a:ln>
        </c:spPr>
        <c:txPr>
          <a:bodyPr/>
          <a:lstStyle/>
          <a:p>
            <a:pPr>
              <a:defRPr sz="700">
                <a:solidFill>
                  <a:srgbClr val="595959"/>
                </a:solidFill>
                <a:latin typeface="Garamond"/>
              </a:defRPr>
            </a:pPr>
            <a:endParaRPr lang="en-US"/>
          </a:p>
        </c:txPr>
        <c:crossAx val="-2129643912"/>
        <c:crosses val="autoZero"/>
        <c:crossBetween val="midCat"/>
        <c:majorUnit val="5"/>
      </c:valAx>
      <c:valAx>
        <c:axId val="-2129643912"/>
        <c:scaling>
          <c:orientation val="minMax"/>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700">
                <a:solidFill>
                  <a:srgbClr val="595959"/>
                </a:solidFill>
                <a:latin typeface="Garamond"/>
              </a:defRPr>
            </a:pPr>
            <a:endParaRPr lang="en-US"/>
          </a:p>
        </c:txPr>
        <c:crossAx val="-2128940872"/>
        <c:crosses val="autoZero"/>
        <c:crossBetween val="midCat"/>
      </c:valAx>
    </c:plotArea>
    <c:plotVisOnly val="1"/>
    <c:dispBlanksAs val="gap"/>
    <c:showDLblsOverMax val="0"/>
  </c:chart>
  <c:txPr>
    <a:bodyPr/>
    <a:lstStyle/>
    <a:p>
      <a:pPr>
        <a:defRPr sz="700">
          <a:latin typeface="Garamon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5-year</c:v>
                </c:pt>
              </c:strCache>
            </c:strRef>
          </c:tx>
          <c:spPr>
            <a:ln w="20320">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0-42DF-4A77-AD0A-6CB14C660CCB}"/>
            </c:ext>
          </c:extLst>
        </c:ser>
        <c:ser>
          <c:idx val="1"/>
          <c:order val="1"/>
          <c:tx>
            <c:strRef>
              <c:f>Sheet1!$B$878</c:f>
              <c:strCache>
                <c:ptCount val="1"/>
                <c:pt idx="0">
                  <c:v>1-year</c:v>
                </c:pt>
              </c:strCache>
            </c:strRef>
          </c:tx>
          <c:spPr>
            <a:ln w="20320">
              <a:solidFill>
                <a:srgbClr val="0047BB"/>
              </a:solidFill>
            </a:ln>
          </c:spPr>
          <c:marker>
            <c:symbol val="none"/>
          </c:marker>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1-42DF-4A77-AD0A-6CB14C660CCB}"/>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9D9D9"/>
            </a:solidFill>
          </a:ln>
        </c:spPr>
        <c:txPr>
          <a:bodyPr/>
          <a:lstStyle/>
          <a:p>
            <a:pPr>
              <a:defRPr sz="750">
                <a:solidFill>
                  <a:srgbClr val="595959"/>
                </a:solidFill>
                <a:latin typeface="Garamond"/>
              </a:defRPr>
            </a:pPr>
            <a:endParaRPr lang="en-US"/>
          </a:p>
        </c:txPr>
        <c:crossAx val="-2129643912"/>
        <c:crosses val="autoZero"/>
        <c:crossBetween val="midCat"/>
        <c:majorUnit val="730"/>
      </c:valAx>
      <c:valAx>
        <c:axId val="-2129643912"/>
        <c:scaling>
          <c:orientation val="minMax"/>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750">
                <a:solidFill>
                  <a:srgbClr val="595959"/>
                </a:solidFill>
                <a:latin typeface="Garamond"/>
              </a:defRPr>
            </a:pPr>
            <a:endParaRPr lang="en-US"/>
          </a:p>
        </c:txPr>
        <c:crossAx val="-2128940872"/>
        <c:crosses val="autoZero"/>
        <c:crossBetween val="midCat"/>
      </c:valAx>
    </c:plotArea>
    <c:legend>
      <c:legendPos val="t"/>
      <c:overlay val="0"/>
      <c:txPr>
        <a:bodyPr/>
        <a:lstStyle/>
        <a:p>
          <a:pPr>
            <a:defRPr sz="850">
              <a:solidFill>
                <a:srgbClr val="595959"/>
              </a:solidFill>
              <a:latin typeface="Garamond"/>
            </a:defRPr>
          </a:pPr>
          <a:endParaRPr lang="en-US"/>
        </a:p>
      </c:txPr>
    </c:legend>
    <c:plotVisOnly val="1"/>
    <c:dispBlanksAs val="gap"/>
    <c:showDLblsOverMax val="0"/>
  </c:chart>
  <c:txPr>
    <a:bodyPr/>
    <a:lstStyle/>
    <a:p>
      <a:pPr>
        <a:defRPr sz="750">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1"/>
          <c:y val="0.04"/>
          <c:w val="0.72"/>
          <c:h val="0.86"/>
        </c:manualLayout>
      </c:layout>
      <c:scatterChart>
        <c:scatterStyle val="lineMarker"/>
        <c:varyColors val="0"/>
        <c:ser>
          <c:idx val="0"/>
          <c:order val="0"/>
          <c:tx>
            <c:strRef>
              <c:f>Sheet1!$B$1</c:f>
              <c:strCache>
                <c:ptCount val="1"/>
                <c:pt idx="0">
                  <c:v>1-year France spread</c:v>
                </c:pt>
              </c:strCache>
            </c:strRef>
          </c:tx>
          <c:spPr>
            <a:ln w="17780">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0-6FC9-4797-B664-902F7BC63E96}"/>
            </c:ext>
          </c:extLst>
        </c:ser>
        <c:ser>
          <c:idx val="1"/>
          <c:order val="1"/>
          <c:tx>
            <c:strRef>
              <c:f>Sheet1!$B$878</c:f>
              <c:strCache>
                <c:ptCount val="1"/>
                <c:pt idx="0">
                  <c:v>S1</c:v>
                </c:pt>
              </c:strCache>
            </c:strRef>
          </c:tx>
          <c:spPr>
            <a:ln w="15240">
              <a:solidFill>
                <a:srgbClr val="2C7A5A"/>
              </a:solidFill>
              <a:prstDash val="dash"/>
            </a:ln>
          </c:spPr>
          <c:marker>
            <c:symbol val="none"/>
          </c:marker>
          <c:xVal>
            <c:numRef>
              <c:f>Sheet1!$A$879:$A$880</c:f>
              <c:numCache>
                <c:formatCode>General</c:formatCode>
                <c:ptCount val="2"/>
                <c:pt idx="0">
                  <c:v>40179</c:v>
                </c:pt>
                <c:pt idx="1">
                  <c:v>46297</c:v>
                </c:pt>
              </c:numCache>
            </c:numRef>
          </c:xVal>
          <c:yVal>
            <c:numRef>
              <c:f>Sheet1!$B$879:$B$880</c:f>
              <c:numCache>
                <c:formatCode>General</c:formatCode>
                <c:ptCount val="2"/>
                <c:pt idx="0">
                  <c:v>28</c:v>
                </c:pt>
                <c:pt idx="1">
                  <c:v>28</c:v>
                </c:pt>
              </c:numCache>
            </c:numRef>
          </c:yVal>
          <c:smooth val="0"/>
          <c:extLst>
            <c:ext xmlns:c16="http://schemas.microsoft.com/office/drawing/2014/chart" uri="{C3380CC4-5D6E-409C-BE32-E72D297353CC}">
              <c16:uniqueId val="{00000001-6FC9-4797-B664-902F7BC63E96}"/>
            </c:ext>
          </c:extLst>
        </c:ser>
        <c:ser>
          <c:idx val="3"/>
          <c:order val="2"/>
          <c:tx>
            <c:strRef>
              <c:f>Sheet1!$B$886</c:f>
              <c:strCache>
                <c:ptCount val="1"/>
                <c:pt idx="0">
                  <c:v>S3</c:v>
                </c:pt>
              </c:strCache>
            </c:strRef>
          </c:tx>
          <c:spPr>
            <a:ln w="15240">
              <a:solidFill>
                <a:srgbClr val="0047BB"/>
              </a:solidFill>
              <a:prstDash val="dash"/>
            </a:ln>
          </c:spPr>
          <c:marker>
            <c:symbol val="none"/>
          </c:marker>
          <c:xVal>
            <c:numRef>
              <c:f>Sheet1!$A$887:$A$888</c:f>
              <c:numCache>
                <c:formatCode>General</c:formatCode>
                <c:ptCount val="2"/>
                <c:pt idx="0">
                  <c:v>40179</c:v>
                </c:pt>
                <c:pt idx="1">
                  <c:v>46297</c:v>
                </c:pt>
              </c:numCache>
            </c:numRef>
          </c:xVal>
          <c:yVal>
            <c:numRef>
              <c:f>Sheet1!$B$887:$B$888</c:f>
              <c:numCache>
                <c:formatCode>General</c:formatCode>
                <c:ptCount val="2"/>
                <c:pt idx="0">
                  <c:v>-1.3</c:v>
                </c:pt>
                <c:pt idx="1">
                  <c:v>-1.3</c:v>
                </c:pt>
              </c:numCache>
            </c:numRef>
          </c:yVal>
          <c:smooth val="0"/>
          <c:extLst>
            <c:ext xmlns:c16="http://schemas.microsoft.com/office/drawing/2014/chart" uri="{C3380CC4-5D6E-409C-BE32-E72D297353CC}">
              <c16:uniqueId val="{00000003-6FC9-4797-B664-902F7BC63E96}"/>
            </c:ext>
          </c:extLst>
        </c:ser>
        <c:ser>
          <c:idx val="4"/>
          <c:order val="3"/>
          <c:tx>
            <c:strRef>
              <c:f>Sheet1!$B$890</c:f>
              <c:strCache>
                <c:ptCount val="1"/>
                <c:pt idx="0">
                  <c:v>S4</c:v>
                </c:pt>
              </c:strCache>
            </c:strRef>
          </c:tx>
          <c:spPr>
            <a:ln w="15240">
              <a:solidFill>
                <a:srgbClr val="011C40"/>
              </a:solidFill>
              <a:prstDash val="dash"/>
            </a:ln>
          </c:spPr>
          <c:marker>
            <c:symbol val="none"/>
          </c:marker>
          <c:xVal>
            <c:numRef>
              <c:f>Sheet1!$A$891:$A$892</c:f>
              <c:numCache>
                <c:formatCode>General</c:formatCode>
                <c:ptCount val="2"/>
                <c:pt idx="0">
                  <c:v>40179</c:v>
                </c:pt>
                <c:pt idx="1">
                  <c:v>46297</c:v>
                </c:pt>
              </c:numCache>
            </c:numRef>
          </c:xVal>
          <c:yVal>
            <c:numRef>
              <c:f>Sheet1!$B$891:$B$892</c:f>
              <c:numCache>
                <c:formatCode>General</c:formatCode>
                <c:ptCount val="2"/>
                <c:pt idx="0">
                  <c:v>-83</c:v>
                </c:pt>
                <c:pt idx="1">
                  <c:v>-83</c:v>
                </c:pt>
              </c:numCache>
            </c:numRef>
          </c:yVal>
          <c:smooth val="0"/>
          <c:extLst>
            <c:ext xmlns:c16="http://schemas.microsoft.com/office/drawing/2014/chart" uri="{C3380CC4-5D6E-409C-BE32-E72D297353CC}">
              <c16:uniqueId val="{00000004-6FC9-4797-B664-902F7BC63E96}"/>
            </c:ext>
          </c:extLst>
        </c:ser>
        <c:ser>
          <c:idx val="5"/>
          <c:order val="4"/>
          <c:tx>
            <c:strRef>
              <c:f>Sheet1!$B$894</c:f>
              <c:strCache>
                <c:ptCount val="1"/>
                <c:pt idx="0">
                  <c:v>S5</c:v>
                </c:pt>
              </c:strCache>
            </c:strRef>
          </c:tx>
          <c:spPr>
            <a:ln w="15240">
              <a:solidFill>
                <a:srgbClr val="7030A0"/>
              </a:solidFill>
              <a:prstDash val="dash"/>
            </a:ln>
          </c:spPr>
          <c:marker>
            <c:symbol val="none"/>
          </c:marker>
          <c:xVal>
            <c:numRef>
              <c:f>Sheet1!$A$895:$A$896</c:f>
              <c:numCache>
                <c:formatCode>General</c:formatCode>
                <c:ptCount val="2"/>
                <c:pt idx="0">
                  <c:v>40179</c:v>
                </c:pt>
                <c:pt idx="1">
                  <c:v>46297</c:v>
                </c:pt>
              </c:numCache>
            </c:numRef>
          </c:xVal>
          <c:yVal>
            <c:numRef>
              <c:f>Sheet1!$B$895:$B$896</c:f>
              <c:numCache>
                <c:formatCode>General</c:formatCode>
                <c:ptCount val="2"/>
                <c:pt idx="0">
                  <c:v>-350</c:v>
                </c:pt>
                <c:pt idx="1">
                  <c:v>-350</c:v>
                </c:pt>
              </c:numCache>
            </c:numRef>
          </c:yVal>
          <c:smooth val="0"/>
          <c:extLst>
            <c:ext xmlns:c16="http://schemas.microsoft.com/office/drawing/2014/chart" uri="{C3380CC4-5D6E-409C-BE32-E72D297353CC}">
              <c16:uniqueId val="{00000005-6FC9-4797-B664-902F7BC63E96}"/>
            </c:ext>
          </c:extLst>
        </c:ser>
        <c:ser>
          <c:idx val="6"/>
          <c:order val="5"/>
          <c:tx>
            <c:strRef>
              <c:f>Sheet1!$B$898</c:f>
              <c:strCache>
                <c:ptCount val="1"/>
                <c:pt idx="0">
                  <c:v>BE</c:v>
                </c:pt>
              </c:strCache>
            </c:strRef>
          </c:tx>
          <c:spPr>
            <a:ln w="15240">
              <a:solidFill>
                <a:srgbClr val="595959"/>
              </a:solidFill>
              <a:prstDash val="dash"/>
            </a:ln>
          </c:spPr>
          <c:marker>
            <c:symbol val="none"/>
          </c:marker>
          <c:xVal>
            <c:numRef>
              <c:f>Sheet1!$A$899:$A$900</c:f>
              <c:numCache>
                <c:formatCode>General</c:formatCode>
                <c:ptCount val="2"/>
                <c:pt idx="0">
                  <c:v>40179</c:v>
                </c:pt>
                <c:pt idx="1">
                  <c:v>46297</c:v>
                </c:pt>
              </c:numCache>
            </c:numRef>
          </c:xVal>
          <c:yVal>
            <c:numRef>
              <c:f>Sheet1!$B$899:$B$900</c:f>
              <c:numCache>
                <c:formatCode>General</c:formatCode>
                <c:ptCount val="2"/>
                <c:pt idx="0">
                  <c:v>-445</c:v>
                </c:pt>
                <c:pt idx="1">
                  <c:v>-445</c:v>
                </c:pt>
              </c:numCache>
            </c:numRef>
          </c:yVal>
          <c:smooth val="0"/>
          <c:extLst>
            <c:ext xmlns:c16="http://schemas.microsoft.com/office/drawing/2014/chart" uri="{C3380CC4-5D6E-409C-BE32-E72D297353CC}">
              <c16:uniqueId val="{00000006-6FC9-4797-B664-902F7BC63E96}"/>
            </c:ext>
          </c:extLst>
        </c:ser>
        <c:ser>
          <c:idx val="7"/>
          <c:order val="6"/>
          <c:tx>
            <c:strRef>
              <c:f>Sheet1!$B$902</c:f>
              <c:strCache>
                <c:ptCount val="1"/>
                <c:pt idx="0">
                  <c:v>IMP</c:v>
                </c:pt>
              </c:strCache>
            </c:strRef>
          </c:tx>
          <c:spPr>
            <a:ln w="15240">
              <a:solidFill>
                <a:srgbClr val="C00000"/>
              </a:solidFill>
              <a:prstDash val="dash"/>
            </a:ln>
          </c:spPr>
          <c:marker>
            <c:symbol val="none"/>
          </c:marker>
          <c:xVal>
            <c:numRef>
              <c:f>Sheet1!$A$903:$A$904</c:f>
              <c:numCache>
                <c:formatCode>General</c:formatCode>
                <c:ptCount val="2"/>
                <c:pt idx="0">
                  <c:v>40179</c:v>
                </c:pt>
                <c:pt idx="1">
                  <c:v>46297</c:v>
                </c:pt>
              </c:numCache>
            </c:numRef>
          </c:xVal>
          <c:yVal>
            <c:numRef>
              <c:f>Sheet1!$B$903:$B$904</c:f>
              <c:numCache>
                <c:formatCode>General</c:formatCode>
                <c:ptCount val="2"/>
                <c:pt idx="0">
                  <c:v>-572</c:v>
                </c:pt>
                <c:pt idx="1">
                  <c:v>-572</c:v>
                </c:pt>
              </c:numCache>
            </c:numRef>
          </c:yVal>
          <c:smooth val="0"/>
          <c:extLst>
            <c:ext xmlns:c16="http://schemas.microsoft.com/office/drawing/2014/chart" uri="{C3380CC4-5D6E-409C-BE32-E72D297353CC}">
              <c16:uniqueId val="{00000007-6FC9-4797-B664-902F7BC63E96}"/>
            </c:ext>
          </c:extLst>
        </c:ser>
        <c:ser>
          <c:idx val="8"/>
          <c:order val="7"/>
          <c:tx>
            <c:strRef>
              <c:f>Sheet1!$B$906</c:f>
              <c:strCache>
                <c:ptCount val="1"/>
                <c:pt idx="0">
                  <c:v>S6</c:v>
                </c:pt>
              </c:strCache>
            </c:strRef>
          </c:tx>
          <c:spPr>
            <a:ln w="15240">
              <a:solidFill>
                <a:srgbClr val="C00000"/>
              </a:solidFill>
              <a:prstDash val="dash"/>
            </a:ln>
          </c:spPr>
          <c:marker>
            <c:symbol val="none"/>
          </c:marker>
          <c:xVal>
            <c:numRef>
              <c:f>Sheet1!$A$907:$A$908</c:f>
              <c:numCache>
                <c:formatCode>General</c:formatCode>
                <c:ptCount val="2"/>
                <c:pt idx="0">
                  <c:v>40179</c:v>
                </c:pt>
                <c:pt idx="1">
                  <c:v>46297</c:v>
                </c:pt>
              </c:numCache>
            </c:numRef>
          </c:xVal>
          <c:yVal>
            <c:numRef>
              <c:f>Sheet1!$B$907:$B$908</c:f>
              <c:numCache>
                <c:formatCode>General</c:formatCode>
                <c:ptCount val="2"/>
                <c:pt idx="0">
                  <c:v>-615</c:v>
                </c:pt>
                <c:pt idx="1">
                  <c:v>-615</c:v>
                </c:pt>
              </c:numCache>
            </c:numRef>
          </c:yVal>
          <c:smooth val="0"/>
          <c:extLst>
            <c:ext xmlns:c16="http://schemas.microsoft.com/office/drawing/2014/chart" uri="{C3380CC4-5D6E-409C-BE32-E72D297353CC}">
              <c16:uniqueId val="{00000008-6FC9-4797-B664-902F7BC63E96}"/>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9D9D9"/>
            </a:solidFill>
          </a:ln>
        </c:spPr>
        <c:txPr>
          <a:bodyPr/>
          <a:lstStyle/>
          <a:p>
            <a:pPr>
              <a:defRPr sz="800">
                <a:solidFill>
                  <a:srgbClr val="595959"/>
                </a:solidFill>
                <a:latin typeface="Garamond"/>
              </a:defRPr>
            </a:pPr>
            <a:endParaRPr lang="en-US"/>
          </a:p>
        </c:txPr>
        <c:crossAx val="-2129643912"/>
        <c:crosses val="autoZero"/>
        <c:crossBetween val="midCat"/>
        <c:majorUnit val="1461"/>
      </c:valAx>
      <c:valAx>
        <c:axId val="-2129643912"/>
        <c:scaling>
          <c:orientation val="minMax"/>
          <c:max val="150"/>
          <c:min val="-650"/>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800">
                <a:solidFill>
                  <a:srgbClr val="595959"/>
                </a:solidFill>
                <a:latin typeface="Garamond"/>
              </a:defRPr>
            </a:pPr>
            <a:endParaRPr lang="en-US"/>
          </a:p>
        </c:txPr>
        <c:crossAx val="-2128940872"/>
        <c:crosses val="autoZero"/>
        <c:crossBetween val="midCat"/>
      </c:valAx>
    </c:plotArea>
    <c:plotVisOnly val="1"/>
    <c:dispBlanksAs val="gap"/>
    <c:showDLblsOverMax val="0"/>
  </c:chart>
  <c:txPr>
    <a:bodyPr/>
    <a:lstStyle/>
    <a:p>
      <a:pPr>
        <a:defRPr sz="800">
          <a:latin typeface="Garamo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Italy</c:v>
                </c:pt>
              </c:strCache>
            </c:strRef>
          </c:tx>
          <c:spPr>
            <a:ln w="22860">
              <a:solidFill>
                <a:srgbClr val="C00000"/>
              </a:solidFill>
            </a:ln>
          </c:spPr>
          <c:marker>
            <c:symbol val="none"/>
          </c:marker>
          <c:xVal>
            <c:numRef>
              <c:f>Sheet1!$A$2:$A$210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Sheet1!$B$2:$B$210</c:f>
              <c:numCache>
                <c:formatCode>General</c:formatCode>
                <c:ptCount val="209"/>
                <c:pt idx="0">
                  <c:v>39.6</c:v>
                </c:pt>
                <c:pt idx="1">
                  <c:v>47.35</c:v>
                </c:pt>
                <c:pt idx="2">
                  <c:v>37.299999999999997</c:v>
                </c:pt>
                <c:pt idx="3">
                  <c:v>35.950000000000003</c:v>
                </c:pt>
                <c:pt idx="4">
                  <c:v>14.95</c:v>
                </c:pt>
                <c:pt idx="5">
                  <c:v>4</c:v>
                </c:pt>
                <c:pt idx="6">
                  <c:v>14.97</c:v>
                </c:pt>
                <c:pt idx="7">
                  <c:v>20.350000000000001</c:v>
                </c:pt>
                <c:pt idx="8">
                  <c:v>19.170000000000002</c:v>
                </c:pt>
                <c:pt idx="9">
                  <c:v>27.95</c:v>
                </c:pt>
                <c:pt idx="10">
                  <c:v>21</c:v>
                </c:pt>
                <c:pt idx="11">
                  <c:v>21</c:v>
                </c:pt>
                <c:pt idx="12">
                  <c:v>23.3</c:v>
                </c:pt>
                <c:pt idx="13">
                  <c:v>21.6</c:v>
                </c:pt>
                <c:pt idx="14">
                  <c:v>21.9</c:v>
                </c:pt>
                <c:pt idx="15">
                  <c:v>16.45</c:v>
                </c:pt>
                <c:pt idx="16">
                  <c:v>15.5</c:v>
                </c:pt>
                <c:pt idx="17">
                  <c:v>4.7</c:v>
                </c:pt>
                <c:pt idx="18">
                  <c:v>-37</c:v>
                </c:pt>
                <c:pt idx="19">
                  <c:v>-18.8</c:v>
                </c:pt>
                <c:pt idx="20">
                  <c:v>-15.8</c:v>
                </c:pt>
                <c:pt idx="21">
                  <c:v>-14.7</c:v>
                </c:pt>
                <c:pt idx="22">
                  <c:v>-17.95</c:v>
                </c:pt>
                <c:pt idx="23">
                  <c:v>-26.1</c:v>
                </c:pt>
                <c:pt idx="24">
                  <c:v>-3.4</c:v>
                </c:pt>
                <c:pt idx="25">
                  <c:v>-9.25</c:v>
                </c:pt>
                <c:pt idx="26">
                  <c:v>-7.45</c:v>
                </c:pt>
                <c:pt idx="27">
                  <c:v>-23.8</c:v>
                </c:pt>
                <c:pt idx="28">
                  <c:v>-19.850000000000001</c:v>
                </c:pt>
                <c:pt idx="29">
                  <c:v>-21.9</c:v>
                </c:pt>
                <c:pt idx="30">
                  <c:v>-16</c:v>
                </c:pt>
                <c:pt idx="31">
                  <c:v>-9</c:v>
                </c:pt>
                <c:pt idx="32">
                  <c:v>-16.399999999999999</c:v>
                </c:pt>
                <c:pt idx="33">
                  <c:v>-12.35</c:v>
                </c:pt>
                <c:pt idx="34">
                  <c:v>-13.2</c:v>
                </c:pt>
                <c:pt idx="35">
                  <c:v>-5.7</c:v>
                </c:pt>
                <c:pt idx="36">
                  <c:v>-24.5</c:v>
                </c:pt>
                <c:pt idx="37">
                  <c:v>-21.8</c:v>
                </c:pt>
                <c:pt idx="38">
                  <c:v>-25.85</c:v>
                </c:pt>
                <c:pt idx="39">
                  <c:v>-26.95</c:v>
                </c:pt>
                <c:pt idx="40">
                  <c:v>-17.600000000000001</c:v>
                </c:pt>
                <c:pt idx="41">
                  <c:v>-17.899999999999999</c:v>
                </c:pt>
                <c:pt idx="42">
                  <c:v>-11.6</c:v>
                </c:pt>
                <c:pt idx="43">
                  <c:v>-16.02</c:v>
                </c:pt>
                <c:pt idx="44">
                  <c:v>-25.15</c:v>
                </c:pt>
                <c:pt idx="45">
                  <c:v>-29.7</c:v>
                </c:pt>
                <c:pt idx="46">
                  <c:v>-24.05</c:v>
                </c:pt>
                <c:pt idx="47">
                  <c:v>-59.33</c:v>
                </c:pt>
                <c:pt idx="48">
                  <c:v>-52.2</c:v>
                </c:pt>
                <c:pt idx="49">
                  <c:v>-54</c:v>
                </c:pt>
                <c:pt idx="50">
                  <c:v>-47.6</c:v>
                </c:pt>
                <c:pt idx="51">
                  <c:v>-55.15</c:v>
                </c:pt>
                <c:pt idx="52">
                  <c:v>-62.5</c:v>
                </c:pt>
                <c:pt idx="53">
                  <c:v>-59.15</c:v>
                </c:pt>
                <c:pt idx="54">
                  <c:v>-50.55</c:v>
                </c:pt>
                <c:pt idx="55">
                  <c:v>-24.85</c:v>
                </c:pt>
                <c:pt idx="56">
                  <c:v>-27.95</c:v>
                </c:pt>
                <c:pt idx="57">
                  <c:v>-7.87</c:v>
                </c:pt>
                <c:pt idx="58">
                  <c:v>-26.9</c:v>
                </c:pt>
                <c:pt idx="59">
                  <c:v>-18.3</c:v>
                </c:pt>
                <c:pt idx="60">
                  <c:v>-16.8</c:v>
                </c:pt>
                <c:pt idx="61">
                  <c:v>-13.13</c:v>
                </c:pt>
                <c:pt idx="62">
                  <c:v>-13.1</c:v>
                </c:pt>
                <c:pt idx="63">
                  <c:v>-2.88</c:v>
                </c:pt>
                <c:pt idx="64">
                  <c:v>3.1</c:v>
                </c:pt>
                <c:pt idx="65">
                  <c:v>8.5</c:v>
                </c:pt>
                <c:pt idx="66">
                  <c:v>10.73</c:v>
                </c:pt>
                <c:pt idx="67">
                  <c:v>-5.9</c:v>
                </c:pt>
                <c:pt idx="68">
                  <c:v>-12.4</c:v>
                </c:pt>
                <c:pt idx="69">
                  <c:v>-10.45</c:v>
                </c:pt>
                <c:pt idx="70">
                  <c:v>-5.0999999999999996</c:v>
                </c:pt>
                <c:pt idx="71">
                  <c:v>-14.4</c:v>
                </c:pt>
                <c:pt idx="72">
                  <c:v>-16</c:v>
                </c:pt>
                <c:pt idx="73">
                  <c:v>-19.3</c:v>
                </c:pt>
                <c:pt idx="74">
                  <c:v>-7.4</c:v>
                </c:pt>
                <c:pt idx="75">
                  <c:v>-17.399999999999999</c:v>
                </c:pt>
                <c:pt idx="76">
                  <c:v>-23.6</c:v>
                </c:pt>
                <c:pt idx="77">
                  <c:v>-43.2</c:v>
                </c:pt>
                <c:pt idx="78">
                  <c:v>-28.6</c:v>
                </c:pt>
                <c:pt idx="79">
                  <c:v>-37.700000000000003</c:v>
                </c:pt>
                <c:pt idx="80">
                  <c:v>-147.4</c:v>
                </c:pt>
                <c:pt idx="81">
                  <c:v>-87.8</c:v>
                </c:pt>
                <c:pt idx="82">
                  <c:v>-115.15</c:v>
                </c:pt>
                <c:pt idx="83">
                  <c:v>-151.30000000000001</c:v>
                </c:pt>
                <c:pt idx="84">
                  <c:v>-134.19999999999999</c:v>
                </c:pt>
                <c:pt idx="85">
                  <c:v>-120.8</c:v>
                </c:pt>
                <c:pt idx="86">
                  <c:v>-122</c:v>
                </c:pt>
                <c:pt idx="87">
                  <c:v>-123.2</c:v>
                </c:pt>
                <c:pt idx="88">
                  <c:v>-190</c:v>
                </c:pt>
                <c:pt idx="89">
                  <c:v>-186.65</c:v>
                </c:pt>
                <c:pt idx="90">
                  <c:v>-213.1</c:v>
                </c:pt>
                <c:pt idx="91">
                  <c:v>-186</c:v>
                </c:pt>
                <c:pt idx="92">
                  <c:v>-159.4</c:v>
                </c:pt>
                <c:pt idx="93">
                  <c:v>-190.1</c:v>
                </c:pt>
                <c:pt idx="94">
                  <c:v>-201.4</c:v>
                </c:pt>
                <c:pt idx="95">
                  <c:v>-236.1</c:v>
                </c:pt>
                <c:pt idx="96">
                  <c:v>-366.55</c:v>
                </c:pt>
                <c:pt idx="97">
                  <c:v>-420.45</c:v>
                </c:pt>
                <c:pt idx="98">
                  <c:v>-374.3</c:v>
                </c:pt>
                <c:pt idx="99">
                  <c:v>-501</c:v>
                </c:pt>
                <c:pt idx="100">
                  <c:v>-409.5</c:v>
                </c:pt>
                <c:pt idx="101">
                  <c:v>-383.7</c:v>
                </c:pt>
                <c:pt idx="102">
                  <c:v>-282.75</c:v>
                </c:pt>
                <c:pt idx="103">
                  <c:v>-258</c:v>
                </c:pt>
                <c:pt idx="104">
                  <c:v>-231.9</c:v>
                </c:pt>
                <c:pt idx="105">
                  <c:v>-228.9</c:v>
                </c:pt>
                <c:pt idx="106">
                  <c:v>-159.19999999999999</c:v>
                </c:pt>
                <c:pt idx="107">
                  <c:v>-127.7</c:v>
                </c:pt>
                <c:pt idx="108">
                  <c:v>-102.2</c:v>
                </c:pt>
                <c:pt idx="109">
                  <c:v>-78</c:v>
                </c:pt>
                <c:pt idx="110">
                  <c:v>-83.15</c:v>
                </c:pt>
                <c:pt idx="111">
                  <c:v>-98.5</c:v>
                </c:pt>
                <c:pt idx="112">
                  <c:v>-69.650000000000006</c:v>
                </c:pt>
                <c:pt idx="113">
                  <c:v>0.8</c:v>
                </c:pt>
                <c:pt idx="114">
                  <c:v>-12.7</c:v>
                </c:pt>
                <c:pt idx="115">
                  <c:v>-21.7</c:v>
                </c:pt>
                <c:pt idx="116">
                  <c:v>-37</c:v>
                </c:pt>
                <c:pt idx="117">
                  <c:v>-63.1</c:v>
                </c:pt>
                <c:pt idx="118">
                  <c:v>-93.95</c:v>
                </c:pt>
                <c:pt idx="119">
                  <c:v>-131.1</c:v>
                </c:pt>
                <c:pt idx="120">
                  <c:v>-128.4</c:v>
                </c:pt>
                <c:pt idx="121">
                  <c:v>-120</c:v>
                </c:pt>
                <c:pt idx="122">
                  <c:v>-95.8</c:v>
                </c:pt>
                <c:pt idx="123">
                  <c:v>-120.6</c:v>
                </c:pt>
                <c:pt idx="124">
                  <c:v>-182.3</c:v>
                </c:pt>
                <c:pt idx="125">
                  <c:v>-185.5</c:v>
                </c:pt>
                <c:pt idx="126">
                  <c:v>-250.6</c:v>
                </c:pt>
                <c:pt idx="127">
                  <c:v>-222.2</c:v>
                </c:pt>
                <c:pt idx="128">
                  <c:v>-291.60000000000002</c:v>
                </c:pt>
                <c:pt idx="129">
                  <c:v>-224.6</c:v>
                </c:pt>
                <c:pt idx="130">
                  <c:v>-221.9</c:v>
                </c:pt>
                <c:pt idx="131">
                  <c:v>-209.2</c:v>
                </c:pt>
                <c:pt idx="132">
                  <c:v>-200.75</c:v>
                </c:pt>
                <c:pt idx="133">
                  <c:v>-235</c:v>
                </c:pt>
                <c:pt idx="134">
                  <c:v>-216.55</c:v>
                </c:pt>
                <c:pt idx="135">
                  <c:v>-160.94999999999999</c:v>
                </c:pt>
                <c:pt idx="136">
                  <c:v>-188.3</c:v>
                </c:pt>
                <c:pt idx="137">
                  <c:v>-187.7</c:v>
                </c:pt>
                <c:pt idx="138">
                  <c:v>-193.5</c:v>
                </c:pt>
                <c:pt idx="139">
                  <c:v>-149.80000000000001</c:v>
                </c:pt>
                <c:pt idx="140">
                  <c:v>-125.85</c:v>
                </c:pt>
                <c:pt idx="141">
                  <c:v>-121.1</c:v>
                </c:pt>
                <c:pt idx="142">
                  <c:v>-112.5</c:v>
                </c:pt>
                <c:pt idx="143">
                  <c:v>-140.9</c:v>
                </c:pt>
                <c:pt idx="144">
                  <c:v>-130.80000000000001</c:v>
                </c:pt>
                <c:pt idx="145">
                  <c:v>-124.35</c:v>
                </c:pt>
                <c:pt idx="146">
                  <c:v>-114.05</c:v>
                </c:pt>
                <c:pt idx="147">
                  <c:v>-125.3</c:v>
                </c:pt>
                <c:pt idx="148">
                  <c:v>-125.2</c:v>
                </c:pt>
                <c:pt idx="149">
                  <c:v>-130.75</c:v>
                </c:pt>
                <c:pt idx="150">
                  <c:v>-121.8</c:v>
                </c:pt>
                <c:pt idx="151">
                  <c:v>-103.2</c:v>
                </c:pt>
                <c:pt idx="152">
                  <c:v>-97.9</c:v>
                </c:pt>
                <c:pt idx="153">
                  <c:v>-113.1</c:v>
                </c:pt>
                <c:pt idx="154">
                  <c:v>-109.4</c:v>
                </c:pt>
                <c:pt idx="155">
                  <c:v>-85.6</c:v>
                </c:pt>
                <c:pt idx="156">
                  <c:v>-96.1</c:v>
                </c:pt>
                <c:pt idx="157">
                  <c:v>-61.1</c:v>
                </c:pt>
                <c:pt idx="158">
                  <c:v>-45.1</c:v>
                </c:pt>
                <c:pt idx="159">
                  <c:v>-46.1</c:v>
                </c:pt>
                <c:pt idx="160">
                  <c:v>-45.6</c:v>
                </c:pt>
                <c:pt idx="161">
                  <c:v>-48.9</c:v>
                </c:pt>
                <c:pt idx="162">
                  <c:v>-58.2</c:v>
                </c:pt>
                <c:pt idx="163">
                  <c:v>-65.099999999999994</c:v>
                </c:pt>
                <c:pt idx="164">
                  <c:v>-74.8</c:v>
                </c:pt>
                <c:pt idx="165">
                  <c:v>-96.8</c:v>
                </c:pt>
                <c:pt idx="166">
                  <c:v>-85</c:v>
                </c:pt>
                <c:pt idx="167">
                  <c:v>-88.15</c:v>
                </c:pt>
                <c:pt idx="168">
                  <c:v>-80.2</c:v>
                </c:pt>
                <c:pt idx="169">
                  <c:v>-80</c:v>
                </c:pt>
                <c:pt idx="170">
                  <c:v>-56.7</c:v>
                </c:pt>
                <c:pt idx="171">
                  <c:v>-58</c:v>
                </c:pt>
                <c:pt idx="172">
                  <c:v>-46.9</c:v>
                </c:pt>
                <c:pt idx="173">
                  <c:v>-42.2</c:v>
                </c:pt>
                <c:pt idx="174">
                  <c:v>-28.6</c:v>
                </c:pt>
                <c:pt idx="175">
                  <c:v>-32.549999999999997</c:v>
                </c:pt>
                <c:pt idx="176">
                  <c:v>-38.9</c:v>
                </c:pt>
                <c:pt idx="177">
                  <c:v>-52</c:v>
                </c:pt>
                <c:pt idx="178">
                  <c:v>-43.3</c:v>
                </c:pt>
                <c:pt idx="179">
                  <c:v>-42.8</c:v>
                </c:pt>
                <c:pt idx="180">
                  <c:v>-59</c:v>
                </c:pt>
                <c:pt idx="181">
                  <c:v>-76.8</c:v>
                </c:pt>
                <c:pt idx="182">
                  <c:v>-75.2</c:v>
                </c:pt>
                <c:pt idx="183">
                  <c:v>-60.4</c:v>
                </c:pt>
                <c:pt idx="184">
                  <c:v>-77.099999999999994</c:v>
                </c:pt>
                <c:pt idx="185">
                  <c:v>-66.599999999999994</c:v>
                </c:pt>
                <c:pt idx="186">
                  <c:v>-61.5</c:v>
                </c:pt>
                <c:pt idx="187">
                  <c:v>-55.4</c:v>
                </c:pt>
                <c:pt idx="188">
                  <c:v>-55</c:v>
                </c:pt>
                <c:pt idx="189">
                  <c:v>-58.2</c:v>
                </c:pt>
                <c:pt idx="190">
                  <c:v>-59.2</c:v>
                </c:pt>
                <c:pt idx="191">
                  <c:v>-71.2</c:v>
                </c:pt>
                <c:pt idx="192">
                  <c:v>-78.099999999999994</c:v>
                </c:pt>
                <c:pt idx="193">
                  <c:v>-88.9</c:v>
                </c:pt>
                <c:pt idx="194">
                  <c:v>-69.2</c:v>
                </c:pt>
                <c:pt idx="195">
                  <c:v>-72.8</c:v>
                </c:pt>
                <c:pt idx="196">
                  <c:v>-50.45</c:v>
                </c:pt>
                <c:pt idx="197">
                  <c:v>-53.3</c:v>
                </c:pt>
                <c:pt idx="198">
                  <c:v>-37.9</c:v>
                </c:pt>
                <c:pt idx="199">
                  <c:v>-41.5</c:v>
                </c:pt>
                <c:pt idx="200">
                  <c:v>-30.8</c:v>
                </c:pt>
                <c:pt idx="201">
                  <c:v>-23.9</c:v>
                </c:pt>
                <c:pt idx="202">
                  <c:v>-32.9</c:v>
                </c:pt>
                <c:pt idx="203">
                  <c:v>-32.4</c:v>
                </c:pt>
                <c:pt idx="204">
                  <c:v>-36.700000000000003</c:v>
                </c:pt>
                <c:pt idx="205">
                  <c:v>-38.1</c:v>
                </c:pt>
                <c:pt idx="206">
                  <c:v>-35.6</c:v>
                </c:pt>
                <c:pt idx="207">
                  <c:v>-39</c:v>
                </c:pt>
                <c:pt idx="208">
                  <c:v>-51.2</c:v>
                </c:pt>
              </c:numCache>
            </c:numRef>
          </c:yVal>
          <c:smooth val="0"/>
          <c:extLst>
            <c:ext xmlns:c16="http://schemas.microsoft.com/office/drawing/2014/chart" uri="{C3380CC4-5D6E-409C-BE32-E72D297353CC}">
              <c16:uniqueId val="{00000000-1076-4456-9BC5-CFC8A14E3158}"/>
            </c:ext>
          </c:extLst>
        </c:ser>
        <c:ser>
          <c:idx val="1"/>
          <c:order val="1"/>
          <c:tx>
            <c:strRef>
              <c:f>Sheet1!$B$212</c:f>
              <c:strCache>
                <c:ptCount val="1"/>
                <c:pt idx="0">
                  <c:v>Spain</c:v>
                </c:pt>
              </c:strCache>
            </c:strRef>
          </c:tx>
          <c:spPr>
            <a:ln w="20320">
              <a:solidFill>
                <a:srgbClr val="2A9D8F"/>
              </a:solidFill>
            </a:ln>
          </c:spPr>
          <c:marker>
            <c:symbol val="none"/>
          </c:marker>
          <c:xVal>
            <c:numRef>
              <c:f>Sheet1!$A$213:$A$329</c:f>
              <c:numCache>
                <c:formatCode>General</c:formatCode>
                <c:ptCount val="117"/>
                <c:pt idx="0">
                  <c:v>40823</c:v>
                </c:pt>
                <c:pt idx="1">
                  <c:v>40830</c:v>
                </c:pt>
                <c:pt idx="2">
                  <c:v>40837</c:v>
                </c:pt>
                <c:pt idx="3">
                  <c:v>40844</c:v>
                </c:pt>
                <c:pt idx="4">
                  <c:v>40851</c:v>
                </c:pt>
                <c:pt idx="5">
                  <c:v>40858</c:v>
                </c:pt>
                <c:pt idx="6">
                  <c:v>40865</c:v>
                </c:pt>
                <c:pt idx="7">
                  <c:v>40872</c:v>
                </c:pt>
                <c:pt idx="8">
                  <c:v>40879</c:v>
                </c:pt>
                <c:pt idx="9">
                  <c:v>40886</c:v>
                </c:pt>
                <c:pt idx="10">
                  <c:v>40893</c:v>
                </c:pt>
                <c:pt idx="11">
                  <c:v>40900</c:v>
                </c:pt>
                <c:pt idx="12">
                  <c:v>40907</c:v>
                </c:pt>
                <c:pt idx="13">
                  <c:v>40914</c:v>
                </c:pt>
                <c:pt idx="14">
                  <c:v>40921</c:v>
                </c:pt>
                <c:pt idx="15">
                  <c:v>40928</c:v>
                </c:pt>
                <c:pt idx="16">
                  <c:v>40935</c:v>
                </c:pt>
                <c:pt idx="17">
                  <c:v>40942</c:v>
                </c:pt>
                <c:pt idx="18">
                  <c:v>40949</c:v>
                </c:pt>
                <c:pt idx="19">
                  <c:v>40956</c:v>
                </c:pt>
                <c:pt idx="20">
                  <c:v>40963</c:v>
                </c:pt>
                <c:pt idx="21">
                  <c:v>40970</c:v>
                </c:pt>
                <c:pt idx="22">
                  <c:v>40977</c:v>
                </c:pt>
                <c:pt idx="23">
                  <c:v>40984</c:v>
                </c:pt>
                <c:pt idx="24">
                  <c:v>40991</c:v>
                </c:pt>
                <c:pt idx="25">
                  <c:v>40998</c:v>
                </c:pt>
                <c:pt idx="26">
                  <c:v>41005</c:v>
                </c:pt>
                <c:pt idx="27">
                  <c:v>41012</c:v>
                </c:pt>
                <c:pt idx="28">
                  <c:v>41019</c:v>
                </c:pt>
                <c:pt idx="29">
                  <c:v>41026</c:v>
                </c:pt>
                <c:pt idx="30">
                  <c:v>41033</c:v>
                </c:pt>
                <c:pt idx="31">
                  <c:v>41040</c:v>
                </c:pt>
                <c:pt idx="32">
                  <c:v>41047</c:v>
                </c:pt>
                <c:pt idx="33">
                  <c:v>41054</c:v>
                </c:pt>
                <c:pt idx="34">
                  <c:v>41061</c:v>
                </c:pt>
                <c:pt idx="35">
                  <c:v>41068</c:v>
                </c:pt>
                <c:pt idx="36">
                  <c:v>41075</c:v>
                </c:pt>
                <c:pt idx="37">
                  <c:v>41082</c:v>
                </c:pt>
                <c:pt idx="38">
                  <c:v>41089</c:v>
                </c:pt>
                <c:pt idx="39">
                  <c:v>41096</c:v>
                </c:pt>
                <c:pt idx="40">
                  <c:v>41103</c:v>
                </c:pt>
                <c:pt idx="41">
                  <c:v>41110</c:v>
                </c:pt>
                <c:pt idx="42">
                  <c:v>41117</c:v>
                </c:pt>
                <c:pt idx="43">
                  <c:v>41124</c:v>
                </c:pt>
                <c:pt idx="44">
                  <c:v>41131</c:v>
                </c:pt>
                <c:pt idx="45">
                  <c:v>41138</c:v>
                </c:pt>
                <c:pt idx="46">
                  <c:v>41145</c:v>
                </c:pt>
                <c:pt idx="47">
                  <c:v>41152</c:v>
                </c:pt>
                <c:pt idx="48">
                  <c:v>41159</c:v>
                </c:pt>
                <c:pt idx="49">
                  <c:v>41166</c:v>
                </c:pt>
                <c:pt idx="50">
                  <c:v>41173</c:v>
                </c:pt>
                <c:pt idx="51">
                  <c:v>41180</c:v>
                </c:pt>
                <c:pt idx="52">
                  <c:v>41187</c:v>
                </c:pt>
                <c:pt idx="53">
                  <c:v>41194</c:v>
                </c:pt>
                <c:pt idx="54">
                  <c:v>41201</c:v>
                </c:pt>
                <c:pt idx="55">
                  <c:v>41208</c:v>
                </c:pt>
                <c:pt idx="56">
                  <c:v>41215</c:v>
                </c:pt>
                <c:pt idx="57">
                  <c:v>41222</c:v>
                </c:pt>
                <c:pt idx="58">
                  <c:v>41229</c:v>
                </c:pt>
                <c:pt idx="59">
                  <c:v>41236</c:v>
                </c:pt>
                <c:pt idx="60">
                  <c:v>41243</c:v>
                </c:pt>
                <c:pt idx="61">
                  <c:v>41250</c:v>
                </c:pt>
                <c:pt idx="62">
                  <c:v>41257</c:v>
                </c:pt>
                <c:pt idx="63">
                  <c:v>41264</c:v>
                </c:pt>
                <c:pt idx="64">
                  <c:v>41271</c:v>
                </c:pt>
                <c:pt idx="65">
                  <c:v>41278</c:v>
                </c:pt>
                <c:pt idx="66">
                  <c:v>41285</c:v>
                </c:pt>
                <c:pt idx="67">
                  <c:v>41292</c:v>
                </c:pt>
                <c:pt idx="68">
                  <c:v>41299</c:v>
                </c:pt>
                <c:pt idx="69">
                  <c:v>41306</c:v>
                </c:pt>
                <c:pt idx="70">
                  <c:v>41313</c:v>
                </c:pt>
                <c:pt idx="71">
                  <c:v>41320</c:v>
                </c:pt>
                <c:pt idx="72">
                  <c:v>41327</c:v>
                </c:pt>
                <c:pt idx="73">
                  <c:v>41334</c:v>
                </c:pt>
                <c:pt idx="74">
                  <c:v>41341</c:v>
                </c:pt>
                <c:pt idx="75">
                  <c:v>41348</c:v>
                </c:pt>
                <c:pt idx="76">
                  <c:v>41355</c:v>
                </c:pt>
                <c:pt idx="77">
                  <c:v>41362</c:v>
                </c:pt>
                <c:pt idx="78">
                  <c:v>41369</c:v>
                </c:pt>
                <c:pt idx="79">
                  <c:v>41376</c:v>
                </c:pt>
                <c:pt idx="80">
                  <c:v>41383</c:v>
                </c:pt>
                <c:pt idx="81">
                  <c:v>41390</c:v>
                </c:pt>
                <c:pt idx="82">
                  <c:v>41397</c:v>
                </c:pt>
                <c:pt idx="83">
                  <c:v>41404</c:v>
                </c:pt>
                <c:pt idx="84">
                  <c:v>41411</c:v>
                </c:pt>
                <c:pt idx="85">
                  <c:v>41418</c:v>
                </c:pt>
                <c:pt idx="86">
                  <c:v>41425</c:v>
                </c:pt>
                <c:pt idx="87">
                  <c:v>41432</c:v>
                </c:pt>
                <c:pt idx="88">
                  <c:v>41439</c:v>
                </c:pt>
                <c:pt idx="89">
                  <c:v>41446</c:v>
                </c:pt>
                <c:pt idx="90">
                  <c:v>41453</c:v>
                </c:pt>
                <c:pt idx="91">
                  <c:v>41460</c:v>
                </c:pt>
                <c:pt idx="92">
                  <c:v>41467</c:v>
                </c:pt>
                <c:pt idx="93">
                  <c:v>41474</c:v>
                </c:pt>
                <c:pt idx="94">
                  <c:v>41481</c:v>
                </c:pt>
                <c:pt idx="95">
                  <c:v>41488</c:v>
                </c:pt>
                <c:pt idx="96">
                  <c:v>41495</c:v>
                </c:pt>
                <c:pt idx="97">
                  <c:v>41502</c:v>
                </c:pt>
                <c:pt idx="98">
                  <c:v>41509</c:v>
                </c:pt>
                <c:pt idx="99">
                  <c:v>41516</c:v>
                </c:pt>
                <c:pt idx="100">
                  <c:v>41523</c:v>
                </c:pt>
                <c:pt idx="101">
                  <c:v>41530</c:v>
                </c:pt>
                <c:pt idx="102">
                  <c:v>41537</c:v>
                </c:pt>
                <c:pt idx="103">
                  <c:v>41544</c:v>
                </c:pt>
                <c:pt idx="104">
                  <c:v>41551</c:v>
                </c:pt>
                <c:pt idx="105">
                  <c:v>41558</c:v>
                </c:pt>
                <c:pt idx="106">
                  <c:v>41565</c:v>
                </c:pt>
                <c:pt idx="107">
                  <c:v>41572</c:v>
                </c:pt>
                <c:pt idx="108">
                  <c:v>41579</c:v>
                </c:pt>
                <c:pt idx="109">
                  <c:v>41586</c:v>
                </c:pt>
                <c:pt idx="110">
                  <c:v>41593</c:v>
                </c:pt>
                <c:pt idx="111">
                  <c:v>41600</c:v>
                </c:pt>
                <c:pt idx="112">
                  <c:v>41607</c:v>
                </c:pt>
                <c:pt idx="113">
                  <c:v>41614</c:v>
                </c:pt>
                <c:pt idx="114">
                  <c:v>41621</c:v>
                </c:pt>
                <c:pt idx="115">
                  <c:v>41628</c:v>
                </c:pt>
                <c:pt idx="116">
                  <c:v>41635</c:v>
                </c:pt>
              </c:numCache>
            </c:numRef>
          </c:xVal>
          <c:yVal>
            <c:numRef>
              <c:f>Sheet1!$B$213:$B$329</c:f>
              <c:numCache>
                <c:formatCode>General</c:formatCode>
                <c:ptCount val="117"/>
                <c:pt idx="0">
                  <c:v>-149.44999999999999</c:v>
                </c:pt>
                <c:pt idx="1">
                  <c:v>-160.12</c:v>
                </c:pt>
                <c:pt idx="2">
                  <c:v>-211.85</c:v>
                </c:pt>
                <c:pt idx="3">
                  <c:v>-190.25</c:v>
                </c:pt>
                <c:pt idx="4">
                  <c:v>-228.66</c:v>
                </c:pt>
                <c:pt idx="5">
                  <c:v>-297.99</c:v>
                </c:pt>
                <c:pt idx="6">
                  <c:v>-356.97</c:v>
                </c:pt>
                <c:pt idx="7">
                  <c:v>-363.67</c:v>
                </c:pt>
                <c:pt idx="8">
                  <c:v>-278.66000000000003</c:v>
                </c:pt>
                <c:pt idx="9">
                  <c:v>-267.22000000000003</c:v>
                </c:pt>
                <c:pt idx="10">
                  <c:v>-146.37</c:v>
                </c:pt>
                <c:pt idx="11">
                  <c:v>-156.88999999999999</c:v>
                </c:pt>
                <c:pt idx="12">
                  <c:v>-139.54</c:v>
                </c:pt>
                <c:pt idx="13">
                  <c:v>-140.91999999999999</c:v>
                </c:pt>
                <c:pt idx="14">
                  <c:v>-94.15</c:v>
                </c:pt>
                <c:pt idx="15">
                  <c:v>-104.35</c:v>
                </c:pt>
                <c:pt idx="16">
                  <c:v>-44.75</c:v>
                </c:pt>
                <c:pt idx="17">
                  <c:v>-31.28</c:v>
                </c:pt>
                <c:pt idx="18">
                  <c:v>-33.75</c:v>
                </c:pt>
                <c:pt idx="19">
                  <c:v>-59.61</c:v>
                </c:pt>
                <c:pt idx="20">
                  <c:v>-35.409999999999997</c:v>
                </c:pt>
                <c:pt idx="21">
                  <c:v>2.93</c:v>
                </c:pt>
                <c:pt idx="22">
                  <c:v>-8.52</c:v>
                </c:pt>
                <c:pt idx="23">
                  <c:v>-13.84</c:v>
                </c:pt>
                <c:pt idx="24">
                  <c:v>-57.38</c:v>
                </c:pt>
                <c:pt idx="25">
                  <c:v>-67.81</c:v>
                </c:pt>
                <c:pt idx="26">
                  <c:v>-93.27</c:v>
                </c:pt>
                <c:pt idx="27">
                  <c:v>-145.19999999999999</c:v>
                </c:pt>
                <c:pt idx="28">
                  <c:v>-162.08000000000001</c:v>
                </c:pt>
                <c:pt idx="29">
                  <c:v>-154.15</c:v>
                </c:pt>
                <c:pt idx="30">
                  <c:v>-142.44999999999999</c:v>
                </c:pt>
                <c:pt idx="31">
                  <c:v>-155.78</c:v>
                </c:pt>
                <c:pt idx="32">
                  <c:v>-224.52</c:v>
                </c:pt>
                <c:pt idx="33">
                  <c:v>-222.09</c:v>
                </c:pt>
                <c:pt idx="34">
                  <c:v>-298.08999999999997</c:v>
                </c:pt>
                <c:pt idx="35">
                  <c:v>-248.21</c:v>
                </c:pt>
                <c:pt idx="36">
                  <c:v>-304.06</c:v>
                </c:pt>
                <c:pt idx="37">
                  <c:v>-312.62</c:v>
                </c:pt>
                <c:pt idx="38">
                  <c:v>-299.89999999999998</c:v>
                </c:pt>
                <c:pt idx="39">
                  <c:v>-312.17</c:v>
                </c:pt>
                <c:pt idx="40">
                  <c:v>-271.07</c:v>
                </c:pt>
                <c:pt idx="41">
                  <c:v>-370.65</c:v>
                </c:pt>
                <c:pt idx="42">
                  <c:v>-366.89</c:v>
                </c:pt>
                <c:pt idx="43">
                  <c:v>-215.66</c:v>
                </c:pt>
                <c:pt idx="44">
                  <c:v>-226.17</c:v>
                </c:pt>
                <c:pt idx="45">
                  <c:v>-256.77999999999997</c:v>
                </c:pt>
                <c:pt idx="46">
                  <c:v>-227.34</c:v>
                </c:pt>
                <c:pt idx="47">
                  <c:v>-220.7</c:v>
                </c:pt>
                <c:pt idx="48">
                  <c:v>-178.6</c:v>
                </c:pt>
                <c:pt idx="49">
                  <c:v>-178.61</c:v>
                </c:pt>
                <c:pt idx="50">
                  <c:v>-195.38</c:v>
                </c:pt>
                <c:pt idx="51">
                  <c:v>-216.33</c:v>
                </c:pt>
                <c:pt idx="52">
                  <c:v>-196.5</c:v>
                </c:pt>
                <c:pt idx="53">
                  <c:v>-239.69</c:v>
                </c:pt>
                <c:pt idx="54">
                  <c:v>-195.21</c:v>
                </c:pt>
                <c:pt idx="55">
                  <c:v>-222.07</c:v>
                </c:pt>
                <c:pt idx="56">
                  <c:v>-204.4</c:v>
                </c:pt>
                <c:pt idx="57">
                  <c:v>-224.07</c:v>
                </c:pt>
                <c:pt idx="58">
                  <c:v>-232.7</c:v>
                </c:pt>
                <c:pt idx="59">
                  <c:v>-214.86</c:v>
                </c:pt>
                <c:pt idx="60">
                  <c:v>-185.06</c:v>
                </c:pt>
                <c:pt idx="61">
                  <c:v>-211.73</c:v>
                </c:pt>
                <c:pt idx="62">
                  <c:v>-205.94</c:v>
                </c:pt>
                <c:pt idx="63">
                  <c:v>-180.09</c:v>
                </c:pt>
                <c:pt idx="64">
                  <c:v>-177.49</c:v>
                </c:pt>
                <c:pt idx="65">
                  <c:v>-114.66</c:v>
                </c:pt>
                <c:pt idx="66">
                  <c:v>-86.25</c:v>
                </c:pt>
                <c:pt idx="67">
                  <c:v>-111.1</c:v>
                </c:pt>
                <c:pt idx="68">
                  <c:v>-86.3</c:v>
                </c:pt>
                <c:pt idx="69">
                  <c:v>-86.64</c:v>
                </c:pt>
                <c:pt idx="70">
                  <c:v>-100.08</c:v>
                </c:pt>
                <c:pt idx="71">
                  <c:v>-98.94</c:v>
                </c:pt>
                <c:pt idx="72">
                  <c:v>-100.79</c:v>
                </c:pt>
                <c:pt idx="73">
                  <c:v>-104.68</c:v>
                </c:pt>
                <c:pt idx="74">
                  <c:v>-93.58</c:v>
                </c:pt>
                <c:pt idx="75">
                  <c:v>-100.01</c:v>
                </c:pt>
                <c:pt idx="76">
                  <c:v>-91.68</c:v>
                </c:pt>
                <c:pt idx="77">
                  <c:v>-101.48</c:v>
                </c:pt>
                <c:pt idx="78">
                  <c:v>-88</c:v>
                </c:pt>
                <c:pt idx="79">
                  <c:v>-76.8</c:v>
                </c:pt>
                <c:pt idx="80">
                  <c:v>-80.63</c:v>
                </c:pt>
                <c:pt idx="81">
                  <c:v>-70.84</c:v>
                </c:pt>
                <c:pt idx="82">
                  <c:v>-44.51</c:v>
                </c:pt>
                <c:pt idx="83">
                  <c:v>-55.4</c:v>
                </c:pt>
                <c:pt idx="84">
                  <c:v>-62.53</c:v>
                </c:pt>
                <c:pt idx="85">
                  <c:v>-76.73</c:v>
                </c:pt>
                <c:pt idx="86">
                  <c:v>-73.75</c:v>
                </c:pt>
                <c:pt idx="87">
                  <c:v>-76.55</c:v>
                </c:pt>
                <c:pt idx="88">
                  <c:v>-89.04</c:v>
                </c:pt>
                <c:pt idx="89">
                  <c:v>-105.06</c:v>
                </c:pt>
                <c:pt idx="90">
                  <c:v>-107.67</c:v>
                </c:pt>
                <c:pt idx="91">
                  <c:v>-78.95</c:v>
                </c:pt>
                <c:pt idx="92">
                  <c:v>-97.28</c:v>
                </c:pt>
                <c:pt idx="93">
                  <c:v>-98.48</c:v>
                </c:pt>
                <c:pt idx="94">
                  <c:v>-80.540000000000006</c:v>
                </c:pt>
                <c:pt idx="95">
                  <c:v>-74.36</c:v>
                </c:pt>
                <c:pt idx="96">
                  <c:v>-69.19</c:v>
                </c:pt>
                <c:pt idx="97">
                  <c:v>-69.28</c:v>
                </c:pt>
                <c:pt idx="98">
                  <c:v>-75.97</c:v>
                </c:pt>
                <c:pt idx="99">
                  <c:v>-82.38</c:v>
                </c:pt>
                <c:pt idx="100">
                  <c:v>-81.93</c:v>
                </c:pt>
                <c:pt idx="101">
                  <c:v>-81.400000000000006</c:v>
                </c:pt>
                <c:pt idx="102">
                  <c:v>-75.86</c:v>
                </c:pt>
                <c:pt idx="103">
                  <c:v>-69.489999999999995</c:v>
                </c:pt>
                <c:pt idx="104">
                  <c:v>-47.04</c:v>
                </c:pt>
                <c:pt idx="105">
                  <c:v>-51.26</c:v>
                </c:pt>
                <c:pt idx="106">
                  <c:v>-43.21</c:v>
                </c:pt>
                <c:pt idx="107">
                  <c:v>-44.8</c:v>
                </c:pt>
                <c:pt idx="108">
                  <c:v>-29.02</c:v>
                </c:pt>
                <c:pt idx="109">
                  <c:v>-22.89</c:v>
                </c:pt>
                <c:pt idx="110">
                  <c:v>-22.42</c:v>
                </c:pt>
                <c:pt idx="111">
                  <c:v>-31.19</c:v>
                </c:pt>
                <c:pt idx="112">
                  <c:v>-41.04</c:v>
                </c:pt>
                <c:pt idx="113">
                  <c:v>-49.72</c:v>
                </c:pt>
                <c:pt idx="114">
                  <c:v>-43.84</c:v>
                </c:pt>
                <c:pt idx="115">
                  <c:v>-52.87</c:v>
                </c:pt>
                <c:pt idx="116">
                  <c:v>-52.97</c:v>
                </c:pt>
              </c:numCache>
            </c:numRef>
          </c:yVal>
          <c:smooth val="0"/>
          <c:extLst>
            <c:ext xmlns:c16="http://schemas.microsoft.com/office/drawing/2014/chart" uri="{C3380CC4-5D6E-409C-BE32-E72D297353CC}">
              <c16:uniqueId val="{00000001-1076-4456-9BC5-CFC8A14E3158}"/>
            </c:ext>
          </c:extLst>
        </c:ser>
        <c:ser>
          <c:idx val="2"/>
          <c:order val="2"/>
          <c:tx>
            <c:strRef>
              <c:f>Sheet1!$B$331</c:f>
              <c:strCache>
                <c:ptCount val="1"/>
                <c:pt idx="0">
                  <c:v>France</c:v>
                </c:pt>
              </c:strCache>
            </c:strRef>
          </c:tx>
          <c:spPr>
            <a:ln w="20320">
              <a:solidFill>
                <a:srgbClr val="011C40"/>
              </a:solidFill>
            </a:ln>
          </c:spPr>
          <c:marker>
            <c:symbol val="none"/>
          </c:marker>
          <c:xVal>
            <c:numRef>
              <c:f>Sheet1!$A$332:$A$540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Sheet1!$B$332:$B$540</c:f>
              <c:numCache>
                <c:formatCode>General</c:formatCode>
                <c:ptCount val="209"/>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numCache>
            </c:numRef>
          </c:yVal>
          <c:smooth val="0"/>
          <c:extLst>
            <c:ext xmlns:c16="http://schemas.microsoft.com/office/drawing/2014/chart" uri="{C3380CC4-5D6E-409C-BE32-E72D297353CC}">
              <c16:uniqueId val="{00000002-1076-4456-9BC5-CFC8A14E3158}"/>
            </c:ext>
          </c:extLst>
        </c:ser>
        <c:ser>
          <c:idx val="3"/>
          <c:order val="3"/>
          <c:tx>
            <c:strRef>
              <c:f>Sheet1!$B$542</c:f>
              <c:strCache>
                <c:ptCount val="1"/>
                <c:pt idx="0">
                  <c:v>Break-even</c:v>
                </c:pt>
              </c:strCache>
            </c:strRef>
          </c:tx>
          <c:spPr>
            <a:ln w="15240">
              <a:solidFill>
                <a:srgbClr val="595959"/>
              </a:solidFill>
              <a:prstDash val="dash"/>
            </a:ln>
          </c:spPr>
          <c:marker>
            <c:symbol val="none"/>
          </c:marker>
          <c:dLbls>
            <c:dLbl>
              <c:idx val="1"/>
              <c:layout>
                <c:manualLayout>
                  <c:x val="-2.3241114299800128E-3"/>
                  <c:y val="-1.606611105023343E-16"/>
                </c:manualLayout>
              </c:layout>
              <c:tx>
                <c:rich>
                  <a:bodyPr/>
                  <a:lstStyle/>
                  <a:p>
                    <a:r>
                      <a:rPr lang="en-US" sz="700" b="1">
                        <a:solidFill>
                          <a:srgbClr val="595959"/>
                        </a:solidFill>
                        <a:latin typeface="Garamond"/>
                      </a:rPr>
                      <a:t>break-even −445bp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076-4456-9BC5-CFC8A14E315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Sheet1!$A$543:$A$544</c:f>
              <c:numCache>
                <c:formatCode>General</c:formatCode>
                <c:ptCount val="2"/>
                <c:pt idx="0">
                  <c:v>40179</c:v>
                </c:pt>
                <c:pt idx="1">
                  <c:v>41639</c:v>
                </c:pt>
              </c:numCache>
            </c:numRef>
          </c:xVal>
          <c:yVal>
            <c:numRef>
              <c:f>Sheet1!$B$543:$B$544</c:f>
              <c:numCache>
                <c:formatCode>General</c:formatCode>
                <c:ptCount val="2"/>
                <c:pt idx="0">
                  <c:v>-445</c:v>
                </c:pt>
                <c:pt idx="1">
                  <c:v>-445</c:v>
                </c:pt>
              </c:numCache>
            </c:numRef>
          </c:yVal>
          <c:smooth val="0"/>
          <c:extLst>
            <c:ext xmlns:c16="http://schemas.microsoft.com/office/drawing/2014/chart" uri="{C3380CC4-5D6E-409C-BE32-E72D297353CC}">
              <c16:uniqueId val="{00000004-1076-4456-9BC5-CFC8A14E3158}"/>
            </c:ext>
          </c:extLst>
        </c:ser>
        <c:dLbls>
          <c:showLegendKey val="0"/>
          <c:showVal val="0"/>
          <c:showCatName val="0"/>
          <c:showSerName val="0"/>
          <c:showPercent val="0"/>
          <c:showBubbleSize val="0"/>
        </c:dLbls>
        <c:axId val="-2128940872"/>
        <c:axId val="-2129643912"/>
      </c:scatterChart>
      <c:valAx>
        <c:axId val="-2128940872"/>
        <c:scaling>
          <c:orientation val="minMax"/>
          <c:max val="41820"/>
          <c:min val="40179"/>
        </c:scaling>
        <c:delete val="0"/>
        <c:axPos val="b"/>
        <c:numFmt formatCode="yyyy" sourceLinked="0"/>
        <c:majorTickMark val="out"/>
        <c:minorTickMark val="none"/>
        <c:tickLblPos val="low"/>
        <c:spPr>
          <a:ln>
            <a:solidFill>
              <a:srgbClr val="D9D9D9"/>
            </a:solidFill>
          </a:ln>
        </c:spPr>
        <c:txPr>
          <a:bodyPr/>
          <a:lstStyle/>
          <a:p>
            <a:pPr>
              <a:defRPr sz="750">
                <a:solidFill>
                  <a:srgbClr val="595959"/>
                </a:solidFill>
                <a:latin typeface="Garamond"/>
              </a:defRPr>
            </a:pPr>
            <a:endParaRPr lang="en-US"/>
          </a:p>
        </c:txPr>
        <c:crossAx val="-2129643912"/>
        <c:crosses val="autoZero"/>
        <c:crossBetween val="midCat"/>
        <c:majorUnit val="366"/>
      </c:valAx>
      <c:valAx>
        <c:axId val="-2129643912"/>
        <c:scaling>
          <c:orientation val="minMax"/>
        </c:scaling>
        <c:delete val="0"/>
        <c:axPos val="l"/>
        <c:majorGridlines>
          <c:spPr>
            <a:ln w="6096">
              <a:solidFill>
                <a:srgbClr val="D9D9D9"/>
              </a:solidFill>
            </a:ln>
          </c:spPr>
        </c:majorGridlines>
        <c:numFmt formatCode="0&quot;bp&quot;" sourceLinked="0"/>
        <c:majorTickMark val="out"/>
        <c:minorTickMark val="none"/>
        <c:tickLblPos val="low"/>
        <c:spPr>
          <a:ln>
            <a:noFill/>
          </a:ln>
        </c:spPr>
        <c:txPr>
          <a:bodyPr/>
          <a:lstStyle/>
          <a:p>
            <a:pPr>
              <a:defRPr sz="750">
                <a:solidFill>
                  <a:srgbClr val="595959"/>
                </a:solidFill>
                <a:latin typeface="Garamond"/>
              </a:defRPr>
            </a:pPr>
            <a:endParaRPr lang="en-US"/>
          </a:p>
        </c:txPr>
        <c:crossAx val="-2128940872"/>
        <c:crosses val="autoZero"/>
        <c:crossBetween val="midCat"/>
      </c:valAx>
    </c:plotArea>
    <c:legend>
      <c:legendPos val="t"/>
      <c:overlay val="0"/>
      <c:txPr>
        <a:bodyPr/>
        <a:lstStyle/>
        <a:p>
          <a:pPr>
            <a:defRPr sz="850">
              <a:solidFill>
                <a:srgbClr val="595959"/>
              </a:solidFill>
              <a:latin typeface="Garamond"/>
            </a:defRPr>
          </a:pPr>
          <a:endParaRPr lang="en-US"/>
        </a:p>
      </c:txPr>
    </c:legend>
    <c:plotVisOnly val="1"/>
    <c:dispBlanksAs val="gap"/>
    <c:showDLblsOverMax val="0"/>
  </c:chart>
  <c:txPr>
    <a:bodyPr/>
    <a:lstStyle/>
    <a:p>
      <a:pPr>
        <a:defRPr sz="750">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8788" y="720725"/>
            <a:ext cx="6399212"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1" y="4560571"/>
            <a:ext cx="5852160" cy="4320540"/>
          </a:xfrm>
          <a:prstGeom prst="rect">
            <a:avLst/>
          </a:prstGeom>
          <a:noFill/>
          <a:ln>
            <a:noFill/>
          </a:ln>
        </p:spPr>
        <p:txBody>
          <a:bodyPr spcFirstLastPara="1" wrap="square" lIns="96634" tIns="96634" rIns="96634" bIns="9663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1056C9C8-1A5D-568D-E27B-8BCE89AED0A0}"/>
            </a:ext>
          </a:extLst>
        </p:cNvPr>
        <p:cNvGrpSpPr/>
        <p:nvPr/>
      </p:nvGrpSpPr>
      <p:grpSpPr>
        <a:xfrm>
          <a:off x="0" y="0"/>
          <a:ext cx="0" cy="0"/>
          <a:chOff x="0" y="0"/>
          <a:chExt cx="0" cy="0"/>
        </a:xfrm>
      </p:grpSpPr>
      <p:sp>
        <p:nvSpPr>
          <p:cNvPr id="226" name="Google Shape;226;gc919bf614c_0_135:notes">
            <a:extLst>
              <a:ext uri="{FF2B5EF4-FFF2-40B4-BE49-F238E27FC236}">
                <a16:creationId xmlns:a16="http://schemas.microsoft.com/office/drawing/2014/main" id="{516903AB-B3CA-3C10-4530-2896CD436E4B}"/>
              </a:ext>
            </a:extLst>
          </p:cNvPr>
          <p:cNvSpPr txBox="1">
            <a:spLocks noGrp="1"/>
          </p:cNvSpPr>
          <p:nvPr>
            <p:ph type="body" idx="1"/>
          </p:nvPr>
        </p:nvSpPr>
        <p:spPr>
          <a:xfrm>
            <a:off x="731838" y="4621213"/>
            <a:ext cx="5851520" cy="3779685"/>
          </a:xfrm>
          <a:prstGeom prst="rect">
            <a:avLst/>
          </a:prstGeom>
        </p:spPr>
        <p:txBody>
          <a:bodyPr spcFirstLastPara="1" wrap="square" lIns="96634" tIns="96634" rIns="96634" bIns="96634" anchor="t" anchorCtr="0">
            <a:noAutofit/>
          </a:bodyPr>
          <a:lstStyle/>
          <a:p>
            <a:pPr marL="0" indent="0">
              <a:buNone/>
            </a:pPr>
            <a:endParaRPr dirty="0"/>
          </a:p>
        </p:txBody>
      </p:sp>
      <p:sp>
        <p:nvSpPr>
          <p:cNvPr id="227" name="Google Shape;227;gc919bf614c_0_135:notes">
            <a:extLst>
              <a:ext uri="{FF2B5EF4-FFF2-40B4-BE49-F238E27FC236}">
                <a16:creationId xmlns:a16="http://schemas.microsoft.com/office/drawing/2014/main" id="{7371CAFA-3294-3283-366E-3B945931B4FF}"/>
              </a:ext>
            </a:extLst>
          </p:cNvPr>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2275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325711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66"/>
        <p:cNvGrpSpPr/>
        <p:nvPr/>
      </p:nvGrpSpPr>
      <p:grpSpPr>
        <a:xfrm>
          <a:off x="0" y="0"/>
          <a:ext cx="0" cy="0"/>
          <a:chOff x="0" y="0"/>
          <a:chExt cx="0" cy="0"/>
        </a:xfrm>
      </p:grpSpPr>
      <p:sp>
        <p:nvSpPr>
          <p:cNvPr id="69" name="Google Shape;69;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0" name="Google Shape;70;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1" name="Google Shape;71;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GB"/>
              <a:t>‹#›</a:t>
            </a:fld>
            <a:endParaRPr/>
          </a:p>
        </p:txBody>
      </p:sp>
      <p:sp>
        <p:nvSpPr>
          <p:cNvPr id="7" name="Google Shape;230;p49">
            <a:extLst>
              <a:ext uri="{FF2B5EF4-FFF2-40B4-BE49-F238E27FC236}">
                <a16:creationId xmlns:a16="http://schemas.microsoft.com/office/drawing/2014/main" id="{EF4A757B-D908-41E5-90B4-184938037426}"/>
              </a:ext>
            </a:extLst>
          </p:cNvPr>
          <p:cNvSpPr txBox="1"/>
          <p:nvPr userDrawn="1"/>
        </p:nvSpPr>
        <p:spPr>
          <a:xfrm>
            <a:off x="0" y="2722242"/>
            <a:ext cx="9144000" cy="2441972"/>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68" name="Google Shape;68;p16"/>
          <p:cNvSpPr txBox="1">
            <a:spLocks noGrp="1"/>
          </p:cNvSpPr>
          <p:nvPr>
            <p:ph type="subTitle" idx="1"/>
          </p:nvPr>
        </p:nvSpPr>
        <p:spPr>
          <a:xfrm>
            <a:off x="1143000" y="3660974"/>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solidFill>
                  <a:schemeClr val="bg1"/>
                </a:solidFill>
                <a:latin typeface="Garamond" panose="02020404030301010803" pitchFamily="18" charset="0"/>
                <a:ea typeface="Cambria"/>
                <a:cs typeface="Garamond" panose="02020404030301010803" pitchFamily="18" charset="0"/>
                <a:sym typeface="Cambria"/>
              </a:defRPr>
            </a:lvl1pPr>
            <a:lvl2pPr lvl="1" algn="ctr" rtl="0">
              <a:lnSpc>
                <a:spcPct val="90000"/>
              </a:lnSpc>
              <a:spcBef>
                <a:spcPts val="1200"/>
              </a:spcBef>
              <a:spcAft>
                <a:spcPts val="0"/>
              </a:spcAft>
              <a:buClr>
                <a:schemeClr val="dk1"/>
              </a:buClr>
              <a:buSzPts val="1500"/>
              <a:buNone/>
              <a:defRPr sz="1500"/>
            </a:lvl2pPr>
            <a:lvl3pPr lvl="2" algn="ctr" rtl="0">
              <a:lnSpc>
                <a:spcPct val="90000"/>
              </a:lnSpc>
              <a:spcBef>
                <a:spcPts val="1200"/>
              </a:spcBef>
              <a:spcAft>
                <a:spcPts val="0"/>
              </a:spcAft>
              <a:buClr>
                <a:schemeClr val="dk1"/>
              </a:buClr>
              <a:buSzPts val="1400"/>
              <a:buNone/>
              <a:defRPr sz="1400"/>
            </a:lvl3pPr>
            <a:lvl4pPr lvl="3" algn="ctr" rtl="0">
              <a:lnSpc>
                <a:spcPct val="90000"/>
              </a:lnSpc>
              <a:spcBef>
                <a:spcPts val="1200"/>
              </a:spcBef>
              <a:spcAft>
                <a:spcPts val="0"/>
              </a:spcAft>
              <a:buClr>
                <a:schemeClr val="dk1"/>
              </a:buClr>
              <a:buSzPts val="1200"/>
              <a:buNone/>
              <a:defRPr sz="1200"/>
            </a:lvl4pPr>
            <a:lvl5pPr lvl="4" algn="ctr" rtl="0">
              <a:lnSpc>
                <a:spcPct val="90000"/>
              </a:lnSpc>
              <a:spcBef>
                <a:spcPts val="1200"/>
              </a:spcBef>
              <a:spcAft>
                <a:spcPts val="0"/>
              </a:spcAft>
              <a:buClr>
                <a:schemeClr val="dk1"/>
              </a:buClr>
              <a:buSzPts val="1200"/>
              <a:buNone/>
              <a:defRPr sz="1200"/>
            </a:lvl5pPr>
            <a:lvl6pPr lvl="5" algn="ctr" rtl="0">
              <a:lnSpc>
                <a:spcPct val="90000"/>
              </a:lnSpc>
              <a:spcBef>
                <a:spcPts val="1200"/>
              </a:spcBef>
              <a:spcAft>
                <a:spcPts val="0"/>
              </a:spcAft>
              <a:buClr>
                <a:schemeClr val="dk1"/>
              </a:buClr>
              <a:buSzPts val="1200"/>
              <a:buNone/>
              <a:defRPr sz="1200"/>
            </a:lvl6pPr>
            <a:lvl7pPr lvl="6" algn="ctr" rtl="0">
              <a:lnSpc>
                <a:spcPct val="90000"/>
              </a:lnSpc>
              <a:spcBef>
                <a:spcPts val="1200"/>
              </a:spcBef>
              <a:spcAft>
                <a:spcPts val="0"/>
              </a:spcAft>
              <a:buClr>
                <a:schemeClr val="dk1"/>
              </a:buClr>
              <a:buSzPts val="1200"/>
              <a:buNone/>
              <a:defRPr sz="1200"/>
            </a:lvl7pPr>
            <a:lvl8pPr lvl="7" algn="ctr" rtl="0">
              <a:lnSpc>
                <a:spcPct val="90000"/>
              </a:lnSpc>
              <a:spcBef>
                <a:spcPts val="1200"/>
              </a:spcBef>
              <a:spcAft>
                <a:spcPts val="0"/>
              </a:spcAft>
              <a:buClr>
                <a:schemeClr val="dk1"/>
              </a:buClr>
              <a:buSzPts val="1200"/>
              <a:buNone/>
              <a:defRPr sz="1200"/>
            </a:lvl8pPr>
            <a:lvl9pPr lvl="8" algn="ctr" rtl="0">
              <a:lnSpc>
                <a:spcPct val="90000"/>
              </a:lnSpc>
              <a:spcBef>
                <a:spcPts val="1200"/>
              </a:spcBef>
              <a:spcAft>
                <a:spcPts val="1200"/>
              </a:spcAft>
              <a:buClr>
                <a:schemeClr val="dk1"/>
              </a:buClr>
              <a:buSzPts val="1200"/>
              <a:buNone/>
              <a:defRPr sz="1200"/>
            </a:lvl9pPr>
          </a:lstStyle>
          <a:p>
            <a:endParaRPr dirty="0"/>
          </a:p>
        </p:txBody>
      </p:sp>
      <p:sp>
        <p:nvSpPr>
          <p:cNvPr id="67" name="Google Shape;67;p16"/>
          <p:cNvSpPr txBox="1">
            <a:spLocks noGrp="1"/>
          </p:cNvSpPr>
          <p:nvPr>
            <p:ph type="ctrTitle"/>
          </p:nvPr>
        </p:nvSpPr>
        <p:spPr>
          <a:xfrm>
            <a:off x="1143000" y="2722242"/>
            <a:ext cx="6858000" cy="938732"/>
          </a:xfrm>
          <a:prstGeom prst="rect">
            <a:avLst/>
          </a:prstGeom>
          <a:noFill/>
          <a:ln>
            <a:noFill/>
          </a:ln>
        </p:spPr>
        <p:txBody>
          <a:bodyPr spcFirstLastPara="1" wrap="square" lIns="68575" tIns="34275" rIns="68575" bIns="34275" anchor="b" anchorCtr="0">
            <a:normAutofit/>
          </a:bodyPr>
          <a:lstStyle>
            <a:lvl1pPr lvl="0" algn="ctr" rtl="0">
              <a:lnSpc>
                <a:spcPct val="90000"/>
              </a:lnSpc>
              <a:spcBef>
                <a:spcPts val="0"/>
              </a:spcBef>
              <a:spcAft>
                <a:spcPts val="0"/>
              </a:spcAft>
              <a:buClr>
                <a:schemeClr val="dk1"/>
              </a:buClr>
              <a:buSzPts val="4500"/>
              <a:buFont typeface="Cambria"/>
              <a:buNone/>
              <a:defRPr sz="3600">
                <a:solidFill>
                  <a:schemeClr val="bg1"/>
                </a:solidFill>
                <a:latin typeface="Garamond" panose="02020404030301010803" pitchFamily="18" charset="0"/>
                <a:ea typeface="Cambria"/>
                <a:cs typeface="Garamond" panose="02020404030301010803" pitchFamily="18" charset="0"/>
                <a:sym typeface="Cambria"/>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dirty="0"/>
          </a:p>
        </p:txBody>
      </p:sp>
      <p:pic>
        <p:nvPicPr>
          <p:cNvPr id="8" name="Google Shape;229;p49">
            <a:extLst>
              <a:ext uri="{FF2B5EF4-FFF2-40B4-BE49-F238E27FC236}">
                <a16:creationId xmlns:a16="http://schemas.microsoft.com/office/drawing/2014/main" id="{574181C8-A327-4C9B-9151-2476059E1AD4}"/>
              </a:ext>
            </a:extLst>
          </p:cNvPr>
          <p:cNvPicPr preferRelativeResize="0"/>
          <p:nvPr userDrawn="1"/>
        </p:nvPicPr>
        <p:blipFill rotWithShape="1">
          <a:blip r:embed="rId2">
            <a:alphaModFix/>
          </a:blip>
          <a:srcRect r="3072" b="29873"/>
          <a:stretch/>
        </p:blipFill>
        <p:spPr>
          <a:xfrm>
            <a:off x="2909150" y="1274057"/>
            <a:ext cx="3431500" cy="1147201"/>
          </a:xfrm>
          <a:prstGeom prst="rect">
            <a:avLst/>
          </a:prstGeom>
          <a:noFill/>
          <a:ln>
            <a:noFill/>
          </a:ln>
        </p:spPr>
      </p:pic>
    </p:spTree>
    <p:extLst>
      <p:ext uri="{BB962C8B-B14F-4D97-AF65-F5344CB8AC3E}">
        <p14:creationId xmlns:p14="http://schemas.microsoft.com/office/powerpoint/2010/main" val="1501723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65A1-226B-46BD-B757-1F028250CDA7}"/>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77E36-96D9-48CE-B53A-AB80360882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A167D0-D05E-40C5-8EEE-085359DA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60A34-4875-46B8-8389-6D19DF2DA9B9}"/>
              </a:ext>
            </a:extLst>
          </p:cNvPr>
          <p:cNvSpPr>
            <a:spLocks noGrp="1"/>
          </p:cNvSpPr>
          <p:nvPr>
            <p:ph type="sldNum" sz="quarter" idx="12"/>
          </p:nvPr>
        </p:nvSpPr>
        <p:spPr>
          <a:xfrm>
            <a:off x="6840252" y="4767263"/>
            <a:ext cx="2057400" cy="274637"/>
          </a:xfrm>
          <a:prstGeom prst="rect">
            <a:avLst/>
          </a:prstGeom>
        </p:spPr>
        <p:txBody>
          <a:bodyPr/>
          <a:lstStyle>
            <a:lvl1pPr algn="r">
              <a:defRPr sz="1200" b="0">
                <a:solidFill>
                  <a:schemeClr val="bg1">
                    <a:lumMod val="50000"/>
                  </a:schemeClr>
                </a:solidFill>
                <a:latin typeface="Garamond" panose="02020404030301010803" pitchFamily="18" charset="0"/>
              </a:defRPr>
            </a:lvl1pPr>
          </a:lstStyle>
          <a:p>
            <a:fld id="{F6B70E3D-0A47-44A9-8B13-A3D1BC88A914}" type="slidenum">
              <a:rPr lang="en-US" smtClean="0"/>
              <a:pPr/>
              <a:t>‹#›</a:t>
            </a:fld>
            <a:endParaRPr lang="en-US"/>
          </a:p>
        </p:txBody>
      </p:sp>
      <p:sp>
        <p:nvSpPr>
          <p:cNvPr id="7" name="Google Shape;230;p49">
            <a:extLst>
              <a:ext uri="{FF2B5EF4-FFF2-40B4-BE49-F238E27FC236}">
                <a16:creationId xmlns:a16="http://schemas.microsoft.com/office/drawing/2014/main" id="{B0469A88-F3B7-4305-947D-A588CE30906F}"/>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8" name="Google Shape;247;p51">
            <a:extLst>
              <a:ext uri="{FF2B5EF4-FFF2-40B4-BE49-F238E27FC236}">
                <a16:creationId xmlns:a16="http://schemas.microsoft.com/office/drawing/2014/main" id="{E07326A5-7DFC-4BBA-9135-BBB829B30C75}"/>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77F2B64F-7FF0-4CB6-8A6E-04531188379A}"/>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292990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39A65-672A-4BCB-B034-639C59E8126B}"/>
              </a:ext>
            </a:extLst>
          </p:cNvPr>
          <p:cNvSpPr>
            <a:spLocks noGrp="1"/>
          </p:cNvSpPr>
          <p:nvPr>
            <p:ph sz="half" idx="1"/>
          </p:nvPr>
        </p:nvSpPr>
        <p:spPr>
          <a:xfrm>
            <a:off x="628650" y="1370013"/>
            <a:ext cx="3867150" cy="3262312"/>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47450-FEA2-4344-BB67-8DC866896B8E}"/>
              </a:ext>
            </a:extLst>
          </p:cNvPr>
          <p:cNvSpPr>
            <a:spLocks noGrp="1"/>
          </p:cNvSpPr>
          <p:nvPr>
            <p:ph sz="half" idx="2"/>
          </p:nvPr>
        </p:nvSpPr>
        <p:spPr>
          <a:xfrm>
            <a:off x="4648200" y="1370013"/>
            <a:ext cx="3867150" cy="3262312"/>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C35F6-4031-4A59-BC20-3CECB76B50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639087-FBF8-4DD9-A22E-0B8BE15AA851}"/>
              </a:ext>
            </a:extLst>
          </p:cNvPr>
          <p:cNvSpPr>
            <a:spLocks noGrp="1"/>
          </p:cNvSpPr>
          <p:nvPr>
            <p:ph type="ftr" sz="quarter" idx="11"/>
          </p:nvPr>
        </p:nvSpPr>
        <p:spPr/>
        <p:txBody>
          <a:bodyPr/>
          <a:lstStyle/>
          <a:p>
            <a:endParaRPr lang="en-US"/>
          </a:p>
        </p:txBody>
      </p:sp>
      <p:sp>
        <p:nvSpPr>
          <p:cNvPr id="8" name="Google Shape;230;p49">
            <a:extLst>
              <a:ext uri="{FF2B5EF4-FFF2-40B4-BE49-F238E27FC236}">
                <a16:creationId xmlns:a16="http://schemas.microsoft.com/office/drawing/2014/main" id="{B9E27048-10D8-4AF8-83D6-161EC8B2B203}"/>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9" name="Google Shape;247;p51">
            <a:extLst>
              <a:ext uri="{FF2B5EF4-FFF2-40B4-BE49-F238E27FC236}">
                <a16:creationId xmlns:a16="http://schemas.microsoft.com/office/drawing/2014/main" id="{112A745B-B640-4AA1-98B2-1E7278E8BA9A}"/>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D85251CE-303C-4F16-90CA-7AAD7AE42683}"/>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99477F76-27F3-4527-B3B8-6B079B6F303E}"/>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pPr/>
              <a:t>‹#›</a:t>
            </a:fld>
            <a:endParaRPr lang="en-US" dirty="0"/>
          </a:p>
        </p:txBody>
      </p:sp>
    </p:spTree>
    <p:extLst>
      <p:ext uri="{BB962C8B-B14F-4D97-AF65-F5344CB8AC3E}">
        <p14:creationId xmlns:p14="http://schemas.microsoft.com/office/powerpoint/2010/main" val="1976872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ADD287-46A8-4594-9600-EB4900177FC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FA11978-2065-4A58-9226-0DEC22DB1662}"/>
              </a:ext>
            </a:extLst>
          </p:cNvPr>
          <p:cNvSpPr>
            <a:spLocks noGrp="1"/>
          </p:cNvSpPr>
          <p:nvPr>
            <p:ph type="ftr" sz="quarter" idx="11"/>
          </p:nvPr>
        </p:nvSpPr>
        <p:spPr/>
        <p:txBody>
          <a:bodyPr/>
          <a:lstStyle/>
          <a:p>
            <a:endParaRPr lang="en-US"/>
          </a:p>
        </p:txBody>
      </p:sp>
      <p:sp>
        <p:nvSpPr>
          <p:cNvPr id="6" name="Google Shape;230;p49">
            <a:extLst>
              <a:ext uri="{FF2B5EF4-FFF2-40B4-BE49-F238E27FC236}">
                <a16:creationId xmlns:a16="http://schemas.microsoft.com/office/drawing/2014/main" id="{4161E6F3-BE0C-43BE-9BD0-937FF3E2E23C}"/>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7" name="Google Shape;247;p51">
            <a:extLst>
              <a:ext uri="{FF2B5EF4-FFF2-40B4-BE49-F238E27FC236}">
                <a16:creationId xmlns:a16="http://schemas.microsoft.com/office/drawing/2014/main" id="{ED6D7DB5-7D00-4004-AC78-D58F0A9E0100}"/>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C455EA06-2999-4182-AA4F-8A1D6954C072}"/>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8" name="Slide Number Placeholder 5">
            <a:extLst>
              <a:ext uri="{FF2B5EF4-FFF2-40B4-BE49-F238E27FC236}">
                <a16:creationId xmlns:a16="http://schemas.microsoft.com/office/drawing/2014/main" id="{3E4F8D54-AD2B-44ED-ABC6-CC705ED874E0}"/>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pPr/>
              <a:t>‹#›</a:t>
            </a:fld>
            <a:endParaRPr lang="en-US"/>
          </a:p>
        </p:txBody>
      </p:sp>
    </p:spTree>
    <p:extLst>
      <p:ext uri="{BB962C8B-B14F-4D97-AF65-F5344CB8AC3E}">
        <p14:creationId xmlns:p14="http://schemas.microsoft.com/office/powerpoint/2010/main" val="172795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Google Shape;230;p49">
            <a:extLst>
              <a:ext uri="{FF2B5EF4-FFF2-40B4-BE49-F238E27FC236}">
                <a16:creationId xmlns:a16="http://schemas.microsoft.com/office/drawing/2014/main" id="{72B56A6A-6462-4E40-8C6F-EB86CE4AC215}"/>
              </a:ext>
            </a:extLst>
          </p:cNvPr>
          <p:cNvSpPr txBox="1"/>
          <p:nvPr userDrawn="1"/>
        </p:nvSpPr>
        <p:spPr>
          <a:xfrm>
            <a:off x="0" y="0"/>
            <a:ext cx="9144000" cy="5143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7" name="Google Shape;240;p50">
            <a:extLst>
              <a:ext uri="{FF2B5EF4-FFF2-40B4-BE49-F238E27FC236}">
                <a16:creationId xmlns:a16="http://schemas.microsoft.com/office/drawing/2014/main" id="{3AC6954D-A2DC-4D75-B8CA-81940558E621}"/>
              </a:ext>
            </a:extLst>
          </p:cNvPr>
          <p:cNvPicPr preferRelativeResize="0">
            <a:picLocks noChangeAspect="1"/>
          </p:cNvPicPr>
          <p:nvPr userDrawn="1"/>
        </p:nvPicPr>
        <p:blipFill rotWithShape="1">
          <a:blip r:embed="rId2">
            <a:alphaModFix/>
          </a:blip>
          <a:srcRect b="29873"/>
          <a:stretch/>
        </p:blipFill>
        <p:spPr>
          <a:xfrm>
            <a:off x="241825" y="4553863"/>
            <a:ext cx="1411002" cy="457200"/>
          </a:xfrm>
          <a:prstGeom prst="rect">
            <a:avLst/>
          </a:prstGeom>
          <a:noFill/>
          <a:ln>
            <a:noFill/>
          </a:ln>
        </p:spPr>
      </p:pic>
      <p:sp>
        <p:nvSpPr>
          <p:cNvPr id="9" name="Slide Number Placeholder 5">
            <a:extLst>
              <a:ext uri="{FF2B5EF4-FFF2-40B4-BE49-F238E27FC236}">
                <a16:creationId xmlns:a16="http://schemas.microsoft.com/office/drawing/2014/main" id="{15BA8FDB-4A35-493F-B3BC-6AE97C71BB5D}"/>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solidFill>
                  <a:schemeClr val="bg1"/>
                </a:solidFill>
              </a:rPr>
              <a:pPr/>
              <a:t>‹#›</a:t>
            </a:fld>
            <a:endParaRPr lang="en-US" dirty="0">
              <a:solidFill>
                <a:schemeClr val="bg1"/>
              </a:solidFill>
            </a:endParaRPr>
          </a:p>
        </p:txBody>
      </p:sp>
      <p:sp>
        <p:nvSpPr>
          <p:cNvPr id="12" name="Title 1">
            <a:extLst>
              <a:ext uri="{FF2B5EF4-FFF2-40B4-BE49-F238E27FC236}">
                <a16:creationId xmlns:a16="http://schemas.microsoft.com/office/drawing/2014/main" id="{038F3ACB-D9F8-4037-BF81-F3EF23C42FDC}"/>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11652931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62AD0-07E9-40C7-8FA6-7D5A7BE3A7E6}"/>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D5C24-4D38-4FA4-A0A3-DAC5E41EEF7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82CD9-BE2A-48C6-BC9C-C83F0CF4FB64}"/>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7650A4A-D046-4587-A96A-1A2FB40FCA0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08464103"/>
      </p:ext>
    </p:extLst>
  </p:cSld>
  <p:clrMap bg1="lt1" tx1="dk1" bg2="lt2" tx2="dk2" accent1="accent1" accent2="accent2" accent3="accent3" accent4="accent4" accent5="accent5" accent6="accent6" hlink="hlink" folHlink="folHlink"/>
  <p:sldLayoutIdLst>
    <p:sldLayoutId id="2147483707" r:id="rId1"/>
    <p:sldLayoutId id="2147483697" r:id="rId2"/>
    <p:sldLayoutId id="2147483699" r:id="rId3"/>
    <p:sldLayoutId id="2147483701" r:id="rId4"/>
    <p:sldLayoutId id="214748370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786ED503-1668-B3D7-F831-DA58BAE39ACB}"/>
            </a:ext>
          </a:extLst>
        </p:cNvPr>
        <p:cNvGrpSpPr/>
        <p:nvPr/>
      </p:nvGrpSpPr>
      <p:grpSpPr>
        <a:xfrm>
          <a:off x="0" y="0"/>
          <a:ext cx="0" cy="0"/>
          <a:chOff x="0" y="0"/>
          <a:chExt cx="0" cy="0"/>
        </a:xfrm>
      </p:grpSpPr>
      <p:sp>
        <p:nvSpPr>
          <p:cNvPr id="230" name="Google Shape;230;p49">
            <a:extLst>
              <a:ext uri="{FF2B5EF4-FFF2-40B4-BE49-F238E27FC236}">
                <a16:creationId xmlns:a16="http://schemas.microsoft.com/office/drawing/2014/main" id="{F6039163-6987-995C-19B7-BD0C499729CE}"/>
              </a:ext>
            </a:extLst>
          </p:cNvPr>
          <p:cNvSpPr txBox="1"/>
          <p:nvPr/>
        </p:nvSpPr>
        <p:spPr>
          <a:xfrm>
            <a:off x="75" y="3441900"/>
            <a:ext cx="9144000" cy="1714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3" name="Subtitle 2">
            <a:extLst>
              <a:ext uri="{FF2B5EF4-FFF2-40B4-BE49-F238E27FC236}">
                <a16:creationId xmlns:a16="http://schemas.microsoft.com/office/drawing/2014/main" id="{DE3DD0C8-5ACA-8019-C6E0-3E58058A2047}"/>
              </a:ext>
            </a:extLst>
          </p:cNvPr>
          <p:cNvSpPr>
            <a:spLocks noGrp="1"/>
          </p:cNvSpPr>
          <p:nvPr>
            <p:ph type="subTitle" idx="1"/>
          </p:nvPr>
        </p:nvSpPr>
        <p:spPr>
          <a:xfrm>
            <a:off x="1143000" y="3831412"/>
            <a:ext cx="6858000" cy="1071262"/>
          </a:xfrm>
        </p:spPr>
        <p:txBody>
          <a:bodyPr>
            <a:normAutofit/>
          </a:bodyPr>
          <a:lstStyle/>
          <a:p>
            <a:r>
              <a:rPr lang="en-US" sz="2000" u="sng" dirty="0">
                <a:latin typeface="Garamond"/>
              </a:rPr>
              <a:t>October 2026</a:t>
            </a:r>
          </a:p>
        </p:txBody>
      </p:sp>
      <p:sp>
        <p:nvSpPr>
          <p:cNvPr id="2" name="Title 1">
            <a:extLst>
              <a:ext uri="{FF2B5EF4-FFF2-40B4-BE49-F238E27FC236}">
                <a16:creationId xmlns:a16="http://schemas.microsoft.com/office/drawing/2014/main" id="{63933AAB-AAEF-91EF-F6ED-35236D3305E4}"/>
              </a:ext>
            </a:extLst>
          </p:cNvPr>
          <p:cNvSpPr>
            <a:spLocks noGrp="1"/>
          </p:cNvSpPr>
          <p:nvPr>
            <p:ph type="ctrTitle"/>
          </p:nvPr>
        </p:nvSpPr>
        <p:spPr>
          <a:xfrm>
            <a:off x="217170" y="2722241"/>
            <a:ext cx="8801100" cy="1071261"/>
          </a:xfrm>
        </p:spPr>
        <p:txBody>
          <a:bodyPr>
            <a:noAutofit/>
          </a:bodyPr>
          <a:lstStyle/>
          <a:p>
            <a:r>
              <a:rPr lang="en-US" sz="2800" u="sng" dirty="0"/>
              <a:t>French swap spreads</a:t>
            </a:r>
          </a:p>
          <a:p>
            <a:r>
              <a:rPr lang="en-US" sz="1400" dirty="0"/>
              <a:t>A four-year option on the OAT swap spread, with non-recourse financing</a:t>
            </a:r>
          </a:p>
        </p:txBody>
      </p:sp>
      <p:sp>
        <p:nvSpPr>
          <p:cNvPr id="5" name="Slide Number Placeholder 4">
            <a:extLst>
              <a:ext uri="{FF2B5EF4-FFF2-40B4-BE49-F238E27FC236}">
                <a16:creationId xmlns:a16="http://schemas.microsoft.com/office/drawing/2014/main" id="{D0A0C77C-546A-6D98-0CE5-E261ABD0B9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a:t>
            </a:fld>
            <a:endParaRPr lang="en-GB"/>
          </a:p>
        </p:txBody>
      </p:sp>
      <p:sp>
        <p:nvSpPr>
          <p:cNvPr id="6" name="Footer Placeholder 4">
            <a:extLst>
              <a:ext uri="{FF2B5EF4-FFF2-40B4-BE49-F238E27FC236}">
                <a16:creationId xmlns:a16="http://schemas.microsoft.com/office/drawing/2014/main" id="{E5CF4597-62F2-5687-A38D-325DEC8EF183}"/>
              </a:ext>
            </a:extLst>
          </p:cNvPr>
          <p:cNvSpPr>
            <a:spLocks noGrp="1"/>
          </p:cNvSpPr>
          <p:nvPr>
            <p:ph type="ftr" sz="quarter" idx="11"/>
          </p:nvPr>
        </p:nvSpPr>
        <p:spPr>
          <a:xfrm>
            <a:off x="152568" y="4480560"/>
            <a:ext cx="8839200" cy="420000"/>
          </a:xfrm>
        </p:spPr>
        <p:txBody>
          <a:bodyPr/>
          <a:lstStyle/>
          <a:p>
            <a:r>
              <a:rPr lang="en-US" dirty="0">
                <a:solidFill>
                  <a:schemeClr val="bg1"/>
                </a:solidFill>
                <a:latin typeface="Garamond" panose="02020404030301010803" pitchFamily="18" charset="0"/>
              </a:rPr>
              <a:t>CONFIDENTIAL AND PROPRIETARY — FOR DISCUSSION ONLY</a:t>
            </a:r>
            <a:br>
              <a:rPr lang="en-US" dirty="0">
                <a:solidFill>
                  <a:schemeClr val="bg1"/>
                </a:solidFill>
                <a:latin typeface="Garamond" panose="02020404030301010803" pitchFamily="18" charset="0"/>
              </a:rPr>
            </a:br>
            <a:r>
              <a:rPr lang="en-US" dirty="0">
                <a:solidFill>
                  <a:schemeClr val="bg1"/>
                </a:solidFill>
                <a:latin typeface="Garamond" panose="02020404030301010803" pitchFamily="18" charset="0"/>
              </a:rPr>
              <a:t>This presentation contains confidential information and is intended solely for the use of the named recipient(s). Returns shown are scenario illustrations, gross of fees. Please read the important information.</a:t>
            </a:r>
          </a:p>
        </p:txBody>
      </p:sp>
    </p:spTree>
    <p:extLst>
      <p:ext uri="{BB962C8B-B14F-4D97-AF65-F5344CB8AC3E}">
        <p14:creationId xmlns:p14="http://schemas.microsoft.com/office/powerpoint/2010/main" val="144182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Disclaimer</a:t>
            </a:r>
          </a:p>
        </p:txBody>
      </p:sp>
      <p:sp>
        <p:nvSpPr>
          <p:cNvPr id="202" name="TextBox 5"/>
          <p:cNvSpPr txBox="1"/>
          <p:nvPr/>
        </p:nvSpPr>
        <p:spPr>
          <a:xfrm>
            <a:off x="594360" y="1494336"/>
            <a:ext cx="7961644" cy="3004511"/>
          </a:xfrm>
          <a:prstGeom prst="rect">
            <a:avLst/>
          </a:prstGeom>
          <a:noFill/>
        </p:spPr>
        <p:txBody>
          <a:bodyPr wrap="square" lIns="0" tIns="0" rIns="0" bIns="0" anchor="t">
            <a:spAutoFit/>
          </a:bodyPr>
          <a:lstStyle/>
          <a:p>
            <a:pPr algn="l">
              <a:lnSpc>
                <a:spcPct val="100000"/>
              </a:lnSpc>
              <a:spcAft>
                <a:spcPts val="330"/>
              </a:spcAft>
            </a:pPr>
            <a:r>
              <a:rPr sz="950" b="1" i="0">
                <a:solidFill>
                  <a:srgbClr val="011C40"/>
                </a:solidFill>
                <a:latin typeface="Garamond"/>
              </a:rPr>
              <a:t>No offer or solicitation</a:t>
            </a:r>
          </a:p>
          <a:p>
            <a:pPr algn="l">
              <a:lnSpc>
                <a:spcPct val="132000"/>
              </a:lnSpc>
              <a:spcAft>
                <a:spcPts val="1452"/>
              </a:spcAft>
            </a:pPr>
            <a:r>
              <a:rPr sz="850" b="0" i="0">
                <a:solidFill>
                  <a:srgbClr val="595959"/>
                </a:solidFill>
                <a:latin typeface="Garamond"/>
              </a:rPr>
              <a:t>Nothing herein constitutes or should be construed as an offering of securities or a recommendation to purchase or sell securities or commodity interests. If an offer of securities were to be made in the future, it must be made only through a confidential private placement memorandum (“PPM”) and related subscription documents.</a:t>
            </a:r>
          </a:p>
          <a:p>
            <a:pPr algn="l">
              <a:lnSpc>
                <a:spcPct val="100000"/>
              </a:lnSpc>
              <a:spcAft>
                <a:spcPts val="330"/>
              </a:spcAft>
            </a:pPr>
            <a:r>
              <a:rPr sz="950" b="1" i="0">
                <a:solidFill>
                  <a:srgbClr val="011C40"/>
                </a:solidFill>
                <a:latin typeface="Garamond"/>
              </a:rPr>
              <a:t>Eligibility requirements</a:t>
            </a:r>
          </a:p>
          <a:p>
            <a:pPr algn="l">
              <a:lnSpc>
                <a:spcPct val="132000"/>
              </a:lnSpc>
              <a:spcAft>
                <a:spcPts val="1452"/>
              </a:spcAft>
            </a:pPr>
            <a:r>
              <a:rPr sz="850" b="0" i="0">
                <a:solidFill>
                  <a:srgbClr val="595959"/>
                </a:solidFill>
                <a:latin typeface="Garamond"/>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p>
          <a:p>
            <a:pPr algn="l">
              <a:lnSpc>
                <a:spcPct val="100000"/>
              </a:lnSpc>
              <a:spcAft>
                <a:spcPts val="330"/>
              </a:spcAft>
            </a:pPr>
            <a:r>
              <a:rPr sz="950" b="1" i="0">
                <a:solidFill>
                  <a:srgbClr val="011C40"/>
                </a:solidFill>
                <a:latin typeface="Garamond"/>
              </a:rPr>
              <a:t>Not advice</a:t>
            </a:r>
          </a:p>
          <a:p>
            <a:pPr algn="l">
              <a:lnSpc>
                <a:spcPct val="132000"/>
              </a:lnSpc>
              <a:spcAft>
                <a:spcPts val="1452"/>
              </a:spcAft>
            </a:pPr>
            <a:r>
              <a:rPr sz="850" b="0" i="0">
                <a:solidFill>
                  <a:srgbClr val="595959"/>
                </a:solidFill>
                <a:latin typeface="Garamond"/>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p>
        </p:txBody>
      </p:sp>
      <p:sp>
        <p:nvSpPr>
          <p:cNvPr id="203" name="Slide Number Placeholder"/>
          <p:cNvSpPr>
            <a:spLocks noGrp="1"/>
          </p:cNvSpPr>
          <p:nvPr>
            <p:ph type="sldNum" sz="quarter" idx="12"/>
          </p:nvPr>
        </p:nvSpPr>
        <p:spPr/>
        <p:txBody>
          <a:bodyPr/>
          <a:lstStyle/>
          <a:p>
            <a:fld id="{F6B70E3D-0A47-44A9-8B13-A3D1BC88A914}" type="slidenum">
              <a:rPr lang="en-US"/>
              <a:t>2</a:t>
            </a:fld>
            <a:endParaRPr lang="en-US"/>
          </a:p>
        </p:txBody>
      </p:sp>
    </p:spTree>
    <p:extLst>
      <p:ext uri="{BB962C8B-B14F-4D97-AF65-F5344CB8AC3E}">
        <p14:creationId xmlns:p14="http://schemas.microsoft.com/office/powerpoint/2010/main" val="3643241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Liminality Capital</a:t>
            </a:r>
          </a:p>
        </p:txBody>
      </p:sp>
      <p:sp>
        <p:nvSpPr>
          <p:cNvPr id="202" name="TextBox 5"/>
          <p:cNvSpPr txBox="1"/>
          <p:nvPr/>
        </p:nvSpPr>
        <p:spPr>
          <a:xfrm>
            <a:off x="594360" y="1475584"/>
            <a:ext cx="4806086" cy="813688"/>
          </a:xfrm>
          <a:prstGeom prst="rect">
            <a:avLst/>
          </a:prstGeom>
          <a:noFill/>
        </p:spPr>
        <p:txBody>
          <a:bodyPr wrap="square" lIns="0" tIns="0" rIns="0" bIns="0" anchor="t">
            <a:spAutoFit/>
          </a:bodyPr>
          <a:lstStyle/>
          <a:p>
            <a:pPr algn="l">
              <a:lnSpc>
                <a:spcPct val="132000"/>
              </a:lnSpc>
              <a:spcAft>
                <a:spcPts val="0"/>
              </a:spcAft>
            </a:pPr>
            <a:r>
              <a:rPr sz="950" b="0" i="0">
                <a:solidFill>
                  <a:srgbClr val="595959"/>
                </a:solidFill>
                <a:latin typeface="Garamond"/>
              </a:rPr>
              <a:t>Established in 2018, Liminality Capital LP is a private investment firm based in Boston, MA. The firm is registered as a Commodity Pool Operator and Commodity Trading Advisor with the Commodity Futures Trading Commission and is a National Futures Association member.</a:t>
            </a:r>
          </a:p>
        </p:txBody>
      </p:sp>
      <p:sp>
        <p:nvSpPr>
          <p:cNvPr id="203" name="TextBox 6"/>
          <p:cNvSpPr txBox="1"/>
          <p:nvPr/>
        </p:nvSpPr>
        <p:spPr>
          <a:xfrm>
            <a:off x="594360" y="2452353"/>
            <a:ext cx="4806086" cy="813688"/>
          </a:xfrm>
          <a:prstGeom prst="rect">
            <a:avLst/>
          </a:prstGeom>
          <a:noFill/>
        </p:spPr>
        <p:txBody>
          <a:bodyPr wrap="square" lIns="0" tIns="0" rIns="0" bIns="0" anchor="t">
            <a:spAutoFit/>
          </a:bodyPr>
          <a:lstStyle/>
          <a:p>
            <a:pPr algn="l">
              <a:lnSpc>
                <a:spcPct val="132000"/>
              </a:lnSpc>
              <a:spcAft>
                <a:spcPts val="0"/>
              </a:spcAft>
            </a:pPr>
            <a:r>
              <a:rPr sz="950" b="0" i="0">
                <a:solidFill>
                  <a:srgbClr val="595959"/>
                </a:solidFill>
                <a:latin typeface="Garamond"/>
              </a:rPr>
              <a:t>The firm’s primary investment vehicle, Liminality Partners LP, launched on June 1, 2019. Potential opportunities are drawn from a wide variety of asset classes, geographies, financial instruments and securities types, but with a particular focus on identifying price dislocations within derivatives markets to deliver asymmetric returns.</a:t>
            </a:r>
          </a:p>
        </p:txBody>
      </p:sp>
      <p:sp>
        <p:nvSpPr>
          <p:cNvPr id="204" name="Rounded Rectangle 7"/>
          <p:cNvSpPr/>
          <p:nvPr/>
        </p:nvSpPr>
        <p:spPr>
          <a:xfrm>
            <a:off x="5584788" y="1475584"/>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05" name="TextBox 8"/>
          <p:cNvSpPr txBox="1"/>
          <p:nvPr/>
        </p:nvSpPr>
        <p:spPr>
          <a:xfrm>
            <a:off x="5650625" y="1602411"/>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2018</a:t>
            </a:r>
          </a:p>
        </p:txBody>
      </p:sp>
      <p:sp>
        <p:nvSpPr>
          <p:cNvPr id="206" name="TextBox 9"/>
          <p:cNvSpPr txBox="1"/>
          <p:nvPr/>
        </p:nvSpPr>
        <p:spPr>
          <a:xfrm>
            <a:off x="5650625" y="1927649"/>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Firm established</a:t>
            </a:r>
          </a:p>
        </p:txBody>
      </p:sp>
      <p:sp>
        <p:nvSpPr>
          <p:cNvPr id="207" name="Rounded Rectangle 10"/>
          <p:cNvSpPr/>
          <p:nvPr/>
        </p:nvSpPr>
        <p:spPr>
          <a:xfrm>
            <a:off x="5584788" y="2253353"/>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08" name="TextBox 11"/>
          <p:cNvSpPr txBox="1"/>
          <p:nvPr/>
        </p:nvSpPr>
        <p:spPr>
          <a:xfrm>
            <a:off x="5650625" y="2380180"/>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Boston, MA</a:t>
            </a:r>
          </a:p>
        </p:txBody>
      </p:sp>
      <p:sp>
        <p:nvSpPr>
          <p:cNvPr id="209" name="TextBox 12"/>
          <p:cNvSpPr txBox="1"/>
          <p:nvPr/>
        </p:nvSpPr>
        <p:spPr>
          <a:xfrm>
            <a:off x="5650625" y="2705418"/>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Headquarters</a:t>
            </a:r>
          </a:p>
        </p:txBody>
      </p:sp>
      <p:sp>
        <p:nvSpPr>
          <p:cNvPr id="210" name="Rounded Rectangle 13"/>
          <p:cNvSpPr/>
          <p:nvPr/>
        </p:nvSpPr>
        <p:spPr>
          <a:xfrm>
            <a:off x="5584788" y="3031122"/>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11" name="TextBox 14"/>
          <p:cNvSpPr txBox="1"/>
          <p:nvPr/>
        </p:nvSpPr>
        <p:spPr>
          <a:xfrm>
            <a:off x="5650625" y="3157949"/>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CPO / CTA</a:t>
            </a:r>
          </a:p>
        </p:txBody>
      </p:sp>
      <p:sp>
        <p:nvSpPr>
          <p:cNvPr id="212" name="TextBox 15"/>
          <p:cNvSpPr txBox="1"/>
          <p:nvPr/>
        </p:nvSpPr>
        <p:spPr>
          <a:xfrm>
            <a:off x="5650625" y="3483187"/>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Registered with the CFTC; NFA member</a:t>
            </a:r>
          </a:p>
        </p:txBody>
      </p:sp>
      <p:sp>
        <p:nvSpPr>
          <p:cNvPr id="213" name="Rounded Rectangle 16"/>
          <p:cNvSpPr/>
          <p:nvPr/>
        </p:nvSpPr>
        <p:spPr>
          <a:xfrm>
            <a:off x="5584788" y="3808891"/>
            <a:ext cx="2969239" cy="689956"/>
          </a:xfrm>
          <a:prstGeom prst="roundRect">
            <a:avLst>
              <a:gd name="adj" fmla="val 4000"/>
            </a:avLst>
          </a:prstGeom>
          <a:solidFill>
            <a:srgbClr val="E8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14" name="TextBox 17"/>
          <p:cNvSpPr txBox="1"/>
          <p:nvPr/>
        </p:nvSpPr>
        <p:spPr>
          <a:xfrm>
            <a:off x="5650625" y="3935718"/>
            <a:ext cx="2837565" cy="262513"/>
          </a:xfrm>
          <a:prstGeom prst="rect">
            <a:avLst/>
          </a:prstGeom>
          <a:noFill/>
        </p:spPr>
        <p:txBody>
          <a:bodyPr wrap="square" lIns="0" tIns="0" rIns="0" bIns="0" anchor="t">
            <a:spAutoFit/>
          </a:bodyPr>
          <a:lstStyle/>
          <a:p>
            <a:pPr algn="ctr">
              <a:lnSpc>
                <a:spcPct val="95000"/>
              </a:lnSpc>
              <a:spcAft>
                <a:spcPts val="0"/>
              </a:spcAft>
            </a:pPr>
            <a:r>
              <a:rPr sz="1700" b="1" i="0">
                <a:solidFill>
                  <a:srgbClr val="011C40"/>
                </a:solidFill>
                <a:latin typeface="Garamond"/>
              </a:rPr>
              <a:t>June 2019</a:t>
            </a:r>
          </a:p>
        </p:txBody>
      </p:sp>
      <p:sp>
        <p:nvSpPr>
          <p:cNvPr id="215" name="TextBox 18"/>
          <p:cNvSpPr txBox="1"/>
          <p:nvPr/>
        </p:nvSpPr>
        <p:spPr>
          <a:xfrm>
            <a:off x="5650625" y="4260956"/>
            <a:ext cx="2837565" cy="111063"/>
          </a:xfrm>
          <a:prstGeom prst="rect">
            <a:avLst/>
          </a:prstGeom>
          <a:noFill/>
        </p:spPr>
        <p:txBody>
          <a:bodyPr wrap="square" lIns="0" tIns="0" rIns="0" bIns="0" anchor="t">
            <a:spAutoFit/>
          </a:bodyPr>
          <a:lstStyle/>
          <a:p>
            <a:pPr algn="ctr">
              <a:lnSpc>
                <a:spcPct val="95000"/>
              </a:lnSpc>
              <a:spcAft>
                <a:spcPts val="0"/>
              </a:spcAft>
            </a:pPr>
            <a:r>
              <a:rPr sz="750" b="0" i="0">
                <a:solidFill>
                  <a:srgbClr val="595959"/>
                </a:solidFill>
                <a:latin typeface="Garamond"/>
              </a:rPr>
              <a:t>First fund launched</a:t>
            </a:r>
          </a:p>
        </p:txBody>
      </p:sp>
      <p:sp>
        <p:nvSpPr>
          <p:cNvPr id="216" name="Slide Number Placeholder"/>
          <p:cNvSpPr>
            <a:spLocks noGrp="1"/>
          </p:cNvSpPr>
          <p:nvPr>
            <p:ph type="sldNum" sz="quarter" idx="12"/>
          </p:nvPr>
        </p:nvSpPr>
        <p:spPr/>
        <p:txBody>
          <a:bodyPr/>
          <a:lstStyle/>
          <a:p>
            <a:fld id="{F6B70E3D-0A47-44A9-8B13-A3D1BC88A914}" type="slidenum">
              <a:rPr lang="en-US"/>
              <a:t>3</a:t>
            </a:fld>
            <a:endParaRPr lang="en-US"/>
          </a:p>
        </p:txBody>
      </p:sp>
    </p:spTree>
    <p:extLst>
      <p:ext uri="{BB962C8B-B14F-4D97-AF65-F5344CB8AC3E}">
        <p14:creationId xmlns:p14="http://schemas.microsoft.com/office/powerpoint/2010/main" val="363312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Executive Summary: French Swap Spread Opportunity</a:t>
            </a:r>
          </a:p>
        </p:txBody>
      </p:sp>
      <p:sp>
        <p:nvSpPr>
          <p:cNvPr id="202" name="Subheading"/>
          <p:cNvSpPr txBox="1"/>
          <p:nvPr/>
        </p:nvSpPr>
        <p:spPr>
          <a:xfrm>
            <a:off x="720090" y="1219200"/>
            <a:ext cx="7955279" cy="274320"/>
          </a:xfrm>
          <a:prstGeom prst="rect">
            <a:avLst/>
          </a:prstGeom>
          <a:noFill/>
        </p:spPr>
        <p:txBody>
          <a:bodyPr wrap="square" lIns="0" tIns="0" rIns="0" bIns="0" anchor="t">
            <a:normAutofit/>
          </a:bodyPr>
          <a:lstStyle/>
          <a:p>
            <a:pPr algn="l">
              <a:lnSpc>
                <a:spcPct val="95000"/>
              </a:lnSpc>
            </a:pPr>
            <a:r>
              <a:rPr lang="en-US" sz="1100" b="1" dirty="0">
                <a:solidFill>
                  <a:srgbClr val="262626"/>
                </a:solidFill>
                <a:latin typeface="Garamond"/>
              </a:rPr>
              <a:t>Trade Recommendation: Buy a 4.4-year option on the spread between a French government bond and the euro swap curve</a:t>
            </a:r>
          </a:p>
        </p:txBody>
      </p:sp>
      <p:sp>
        <p:nvSpPr>
          <p:cNvPr id="206" name="TextBox 9"/>
          <p:cNvSpPr txBox="1"/>
          <p:nvPr/>
        </p:nvSpPr>
        <p:spPr>
          <a:xfrm>
            <a:off x="968599" y="1564677"/>
            <a:ext cx="5162571" cy="3363741"/>
          </a:xfrm>
          <a:prstGeom prst="rect">
            <a:avLst/>
          </a:prstGeom>
          <a:noFill/>
        </p:spPr>
        <p:txBody>
          <a:bodyPr wrap="square" lIns="0" tIns="0" rIns="0" bIns="0" anchor="t">
            <a:spAutoFit/>
          </a:bodyPr>
          <a:lstStyle/>
          <a:p>
            <a:pPr marL="228600" indent="-228600" algn="l">
              <a:lnSpc>
                <a:spcPct val="112000"/>
              </a:lnSpc>
              <a:spcAft>
                <a:spcPts val="0"/>
              </a:spcAft>
              <a:buAutoNum type="arabicPeriod"/>
            </a:pPr>
            <a:r>
              <a:rPr lang="en-US" sz="1100" b="1" i="0" dirty="0">
                <a:solidFill>
                  <a:srgbClr val="011C40"/>
                </a:solidFill>
                <a:latin typeface="Garamond"/>
              </a:rPr>
              <a:t>Dislocation</a:t>
            </a:r>
            <a:r>
              <a:rPr lang="en-US" sz="1100" b="0" i="0" dirty="0">
                <a:solidFill>
                  <a:srgbClr val="011C40"/>
                </a:solidFill>
                <a:latin typeface="Garamond"/>
              </a:rPr>
              <a:t>: </a:t>
            </a:r>
            <a:r>
              <a:rPr sz="1100" b="0" i="0" dirty="0">
                <a:solidFill>
                  <a:srgbClr val="011C40"/>
                </a:solidFill>
                <a:latin typeface="Garamond"/>
              </a:rPr>
              <a:t>French government bonds (“OATs”) have dislocated against swaps in recent weeks</a:t>
            </a:r>
            <a:r>
              <a:rPr lang="en-US" sz="1100" b="0" i="0" dirty="0">
                <a:solidFill>
                  <a:srgbClr val="011C40"/>
                </a:solidFill>
                <a:latin typeface="Garamond"/>
              </a:rPr>
              <a:t> as </a:t>
            </a:r>
            <a:r>
              <a:rPr sz="1100" b="0" i="0" dirty="0">
                <a:solidFill>
                  <a:srgbClr val="011C40"/>
                </a:solidFill>
                <a:latin typeface="Garamond"/>
              </a:rPr>
              <a:t>the market has grown nervous about French public finances amid increasing political uncertainty around budget negotiations</a:t>
            </a:r>
            <a:r>
              <a:rPr lang="en-US" sz="1100" b="0" i="0" dirty="0">
                <a:solidFill>
                  <a:srgbClr val="011C40"/>
                </a:solidFill>
                <a:latin typeface="Garamond"/>
              </a:rPr>
              <a:t> and the increased probability of a populist government, left or right, in the upcoming April 2027 Presidential elections.</a:t>
            </a:r>
            <a:endParaRPr lang="en-US" sz="1100" dirty="0">
              <a:solidFill>
                <a:srgbClr val="011C40"/>
              </a:solidFill>
              <a:latin typeface="Garamond"/>
            </a:endParaRPr>
          </a:p>
          <a:p>
            <a:pPr marL="228600" indent="-228600" algn="l">
              <a:lnSpc>
                <a:spcPct val="112000"/>
              </a:lnSpc>
              <a:spcAft>
                <a:spcPts val="0"/>
              </a:spcAft>
              <a:buAutoNum type="arabicPeriod"/>
            </a:pPr>
            <a:endParaRPr lang="en-US" sz="1100" dirty="0">
              <a:solidFill>
                <a:srgbClr val="011C40"/>
              </a:solidFill>
              <a:latin typeface="Garamond"/>
            </a:endParaRPr>
          </a:p>
          <a:p>
            <a:pPr marL="228600" indent="-228600">
              <a:lnSpc>
                <a:spcPct val="112000"/>
              </a:lnSpc>
              <a:buFont typeface="Arial"/>
              <a:buAutoNum type="arabicPeriod"/>
            </a:pPr>
            <a:r>
              <a:rPr lang="en-US" sz="1100" b="1" dirty="0">
                <a:solidFill>
                  <a:srgbClr val="011C40"/>
                </a:solidFill>
                <a:latin typeface="Garamond"/>
              </a:rPr>
              <a:t>Non-Recourse Structuring</a:t>
            </a:r>
            <a:r>
              <a:rPr lang="en-US" sz="1100" dirty="0">
                <a:solidFill>
                  <a:srgbClr val="011C40"/>
                </a:solidFill>
                <a:latin typeface="Garamond"/>
              </a:rPr>
              <a:t>: The attractiveness of the opportunity is heavily dependent on a proprietary financing structure: our position is financed for 4.4 years – within a year of maturity – with non-recourse leverage at €STR + 17bp, and a floor only 30bp out of the money.</a:t>
            </a:r>
          </a:p>
          <a:p>
            <a:pPr marL="228600" indent="-228600">
              <a:lnSpc>
                <a:spcPct val="112000"/>
              </a:lnSpc>
              <a:buFont typeface="Arial"/>
              <a:buAutoNum type="arabicPeriod"/>
            </a:pPr>
            <a:endParaRPr lang="en-US" sz="1100" dirty="0">
              <a:solidFill>
                <a:srgbClr val="011C40"/>
              </a:solidFill>
              <a:latin typeface="Garamond"/>
            </a:endParaRPr>
          </a:p>
          <a:p>
            <a:pPr marL="228600" indent="-228600">
              <a:lnSpc>
                <a:spcPct val="112000"/>
              </a:lnSpc>
              <a:buFont typeface="Arial"/>
              <a:buAutoNum type="arabicPeriod"/>
            </a:pPr>
            <a:r>
              <a:rPr lang="en-US" sz="1100" b="1" dirty="0">
                <a:solidFill>
                  <a:srgbClr val="011C40"/>
                </a:solidFill>
                <a:latin typeface="Garamond"/>
              </a:rPr>
              <a:t>Asymmetry and Pull to Par</a:t>
            </a:r>
            <a:r>
              <a:rPr lang="en-US" sz="1100" dirty="0">
                <a:solidFill>
                  <a:srgbClr val="011C40"/>
                </a:solidFill>
                <a:latin typeface="Garamond"/>
              </a:rPr>
              <a:t>: Over the life of the option the bond rolls from the 5.4-year point of the curve to the 1-year point, where a “pull to par” dynamic generally keeps spreads well anchored – in the case of France even through the euro sovereign crisis. If nothing changes, the roll alone returns 42% a year (4.8x). To break even, the 1-year spread at expiry just needs to be at −445bp or higher, a level even Spain never breached, and Italy breached only briefly, in November 2011.</a:t>
            </a:r>
          </a:p>
          <a:p>
            <a:pPr marL="228600" indent="-228600">
              <a:lnSpc>
                <a:spcPct val="112000"/>
              </a:lnSpc>
              <a:buFont typeface="Arial"/>
              <a:buAutoNum type="arabicPeriod"/>
            </a:pPr>
            <a:endParaRPr lang="en-US" sz="1100" dirty="0">
              <a:solidFill>
                <a:srgbClr val="011C40"/>
              </a:solidFill>
              <a:latin typeface="Garamond"/>
            </a:endParaRPr>
          </a:p>
          <a:p>
            <a:pPr marL="228600" indent="-228600" algn="l">
              <a:lnSpc>
                <a:spcPct val="112000"/>
              </a:lnSpc>
              <a:spcAft>
                <a:spcPts val="0"/>
              </a:spcAft>
              <a:buAutoNum type="arabicPeriod"/>
            </a:pPr>
            <a:endParaRPr sz="850" b="0" i="0" dirty="0">
              <a:solidFill>
                <a:srgbClr val="011C40"/>
              </a:solidFill>
              <a:latin typeface="Garamond"/>
            </a:endParaRPr>
          </a:p>
        </p:txBody>
      </p:sp>
      <p:sp>
        <p:nvSpPr>
          <p:cNvPr id="222" name="TextBox 25"/>
          <p:cNvSpPr txBox="1"/>
          <p:nvPr/>
        </p:nvSpPr>
        <p:spPr>
          <a:xfrm>
            <a:off x="1783080" y="4663440"/>
            <a:ext cx="4826000" cy="215123"/>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endParaRPr lang="en-US" sz="650" b="0" i="0" dirty="0">
              <a:solidFill>
                <a:srgbClr val="595959"/>
              </a:solidFill>
              <a:latin typeface="Garamond"/>
            </a:endParaRPr>
          </a:p>
          <a:p>
            <a:pPr>
              <a:lnSpc>
                <a:spcPct val="108000"/>
              </a:lnSpc>
            </a:pPr>
            <a:r>
              <a:rPr lang="en-US" sz="650" baseline="30000" dirty="0">
                <a:solidFill>
                  <a:srgbClr val="595959"/>
                </a:solidFill>
                <a:latin typeface="Garamond"/>
              </a:rPr>
              <a:t>1</a:t>
            </a:r>
            <a:r>
              <a:rPr lang="en-US" sz="650" dirty="0">
                <a:solidFill>
                  <a:srgbClr val="595959"/>
                </a:solidFill>
                <a:latin typeface="Garamond"/>
              </a:rPr>
              <a:t>DV01 Neutral</a:t>
            </a:r>
            <a:endParaRPr sz="650" b="0" i="0" dirty="0">
              <a:solidFill>
                <a:srgbClr val="595959"/>
              </a:solidFill>
              <a:latin typeface="Garamond"/>
            </a:endParaRPr>
          </a:p>
        </p:txBody>
      </p:sp>
      <p:sp>
        <p:nvSpPr>
          <p:cNvPr id="223" name="Slide Number Placeholder"/>
          <p:cNvSpPr>
            <a:spLocks noGrp="1"/>
          </p:cNvSpPr>
          <p:nvPr>
            <p:ph type="sldNum" sz="quarter" idx="12"/>
          </p:nvPr>
        </p:nvSpPr>
        <p:spPr/>
        <p:txBody>
          <a:bodyPr/>
          <a:lstStyle/>
          <a:p>
            <a:fld id="{F6B70E3D-0A47-44A9-8B13-A3D1BC88A914}" type="slidenum">
              <a:rPr lang="en-US"/>
              <a:t>4</a:t>
            </a:fld>
            <a:endParaRPr lang="en-US" dirty="0"/>
          </a:p>
        </p:txBody>
      </p:sp>
      <p:sp>
        <p:nvSpPr>
          <p:cNvPr id="3" name="TextBox 9">
            <a:extLst>
              <a:ext uri="{FF2B5EF4-FFF2-40B4-BE49-F238E27FC236}">
                <a16:creationId xmlns:a16="http://schemas.microsoft.com/office/drawing/2014/main" id="{E07F7E8D-BF9D-5A23-C4F5-137DFA503800}"/>
              </a:ext>
            </a:extLst>
          </p:cNvPr>
          <p:cNvSpPr txBox="1"/>
          <p:nvPr/>
        </p:nvSpPr>
        <p:spPr>
          <a:xfrm>
            <a:off x="6373736" y="1950152"/>
            <a:ext cx="2575907" cy="2405851"/>
          </a:xfrm>
          <a:prstGeom prst="rect">
            <a:avLst/>
          </a:prstGeom>
          <a:noFill/>
        </p:spPr>
        <p:txBody>
          <a:bodyPr wrap="square" lIns="0" tIns="0" rIns="0" bIns="0" anchor="t">
            <a:spAutoFit/>
          </a:bodyPr>
          <a:lstStyle/>
          <a:p>
            <a:pPr algn="l">
              <a:lnSpc>
                <a:spcPct val="112000"/>
              </a:lnSpc>
              <a:spcAft>
                <a:spcPts val="0"/>
              </a:spcAft>
            </a:pPr>
            <a:r>
              <a:rPr lang="en-US" sz="1000" b="0" i="0" u="sng" dirty="0">
                <a:solidFill>
                  <a:srgbClr val="011C40"/>
                </a:solidFill>
                <a:latin typeface="Garamond"/>
              </a:rPr>
              <a:t>The Trade:  </a:t>
            </a:r>
          </a:p>
          <a:p>
            <a:pPr>
              <a:lnSpc>
                <a:spcPct val="112000"/>
              </a:lnSpc>
            </a:pPr>
            <a:r>
              <a:rPr lang="en-US" sz="1000" b="1" dirty="0">
                <a:solidFill>
                  <a:srgbClr val="011C40"/>
                </a:solidFill>
                <a:latin typeface="Garamond"/>
              </a:rPr>
              <a:t>Buy a 4.4-year-expiry option on a 5.4-year France versus Euribor swap spread.</a:t>
            </a:r>
            <a:endParaRPr lang="en-US" sz="1000" b="0" i="0" u="sng" dirty="0">
              <a:solidFill>
                <a:srgbClr val="011C40"/>
              </a:solidFill>
              <a:latin typeface="Garamond"/>
            </a:endParaRPr>
          </a:p>
          <a:p>
            <a:pPr algn="l">
              <a:lnSpc>
                <a:spcPct val="112000"/>
              </a:lnSpc>
              <a:spcAft>
                <a:spcPts val="0"/>
              </a:spcAft>
            </a:pPr>
            <a:endParaRPr lang="en-US" sz="1000" u="sng" dirty="0">
              <a:solidFill>
                <a:srgbClr val="011C40"/>
              </a:solidFill>
              <a:latin typeface="Garamond"/>
            </a:endParaRPr>
          </a:p>
          <a:p>
            <a:pPr algn="l">
              <a:lnSpc>
                <a:spcPct val="112000"/>
              </a:lnSpc>
              <a:spcAft>
                <a:spcPts val="0"/>
              </a:spcAft>
            </a:pPr>
            <a:r>
              <a:rPr lang="en-US" sz="1000" dirty="0">
                <a:solidFill>
                  <a:srgbClr val="011C40"/>
                </a:solidFill>
                <a:latin typeface="Garamond"/>
              </a:rPr>
              <a:t>   Buy 100m FRTR at [x] price, i.e. [x] </a:t>
            </a:r>
            <a:r>
              <a:rPr lang="en-US" sz="1000" dirty="0" err="1">
                <a:solidFill>
                  <a:srgbClr val="011C40"/>
                </a:solidFill>
                <a:latin typeface="Garamond"/>
              </a:rPr>
              <a:t>yld</a:t>
            </a:r>
            <a:endParaRPr lang="en-US" sz="1000" dirty="0">
              <a:solidFill>
                <a:srgbClr val="011C40"/>
              </a:solidFill>
              <a:latin typeface="Garamond"/>
            </a:endParaRPr>
          </a:p>
          <a:p>
            <a:pPr>
              <a:lnSpc>
                <a:spcPct val="112000"/>
              </a:lnSpc>
            </a:pPr>
            <a:r>
              <a:rPr lang="en-US" sz="1000" dirty="0">
                <a:solidFill>
                  <a:srgbClr val="011C40"/>
                </a:solidFill>
                <a:latin typeface="Garamond"/>
              </a:rPr>
              <a:t>   Pay Fixed [x]m Euribor swaps</a:t>
            </a:r>
            <a:r>
              <a:rPr lang="en-US" sz="1000" baseline="30000" dirty="0">
                <a:solidFill>
                  <a:srgbClr val="011C40"/>
                </a:solidFill>
                <a:latin typeface="Garamond"/>
              </a:rPr>
              <a:t>1</a:t>
            </a:r>
          </a:p>
          <a:p>
            <a:pPr algn="l">
              <a:lnSpc>
                <a:spcPct val="112000"/>
              </a:lnSpc>
              <a:spcAft>
                <a:spcPts val="0"/>
              </a:spcAft>
            </a:pPr>
            <a:r>
              <a:rPr lang="en-US" sz="1000" dirty="0">
                <a:solidFill>
                  <a:srgbClr val="011C40"/>
                </a:solidFill>
                <a:latin typeface="Garamond"/>
              </a:rPr>
              <a:t>   Buy an option struck ATMF-30, pay [EUR x]</a:t>
            </a:r>
          </a:p>
          <a:p>
            <a:pPr algn="l">
              <a:lnSpc>
                <a:spcPct val="112000"/>
              </a:lnSpc>
              <a:spcAft>
                <a:spcPts val="0"/>
              </a:spcAft>
            </a:pPr>
            <a:r>
              <a:rPr lang="en-US" sz="1000" dirty="0">
                <a:solidFill>
                  <a:srgbClr val="011C40"/>
                </a:solidFill>
                <a:latin typeface="Garamond"/>
              </a:rPr>
              <a:t>   Post collateral for our max loss, [EUR y]</a:t>
            </a:r>
          </a:p>
          <a:p>
            <a:pPr algn="l">
              <a:lnSpc>
                <a:spcPct val="112000"/>
              </a:lnSpc>
              <a:spcAft>
                <a:spcPts val="0"/>
              </a:spcAft>
            </a:pPr>
            <a:r>
              <a:rPr lang="en-US" sz="1000" dirty="0">
                <a:solidFill>
                  <a:srgbClr val="011C40"/>
                </a:solidFill>
                <a:latin typeface="Garamond"/>
              </a:rPr>
              <a:t>   Total capital at risk [EUR </a:t>
            </a:r>
            <a:r>
              <a:rPr lang="en-US" sz="1000" dirty="0" err="1">
                <a:solidFill>
                  <a:srgbClr val="011C40"/>
                </a:solidFill>
                <a:latin typeface="Garamond"/>
              </a:rPr>
              <a:t>x+y</a:t>
            </a:r>
            <a:r>
              <a:rPr lang="en-US" sz="1000" dirty="0">
                <a:solidFill>
                  <a:srgbClr val="011C40"/>
                </a:solidFill>
                <a:latin typeface="Garamond"/>
              </a:rPr>
              <a:t>]</a:t>
            </a:r>
          </a:p>
          <a:p>
            <a:pPr algn="l">
              <a:lnSpc>
                <a:spcPct val="112000"/>
              </a:lnSpc>
              <a:spcAft>
                <a:spcPts val="0"/>
              </a:spcAft>
            </a:pPr>
            <a:endParaRPr lang="en-US" sz="1000" dirty="0">
              <a:solidFill>
                <a:srgbClr val="011C40"/>
              </a:solidFill>
              <a:latin typeface="Garamond"/>
            </a:endParaRPr>
          </a:p>
          <a:p>
            <a:pPr algn="l">
              <a:lnSpc>
                <a:spcPct val="112000"/>
              </a:lnSpc>
              <a:spcAft>
                <a:spcPts val="0"/>
              </a:spcAft>
            </a:pPr>
            <a:r>
              <a:rPr lang="en-US" sz="1000" dirty="0">
                <a:solidFill>
                  <a:srgbClr val="011C40"/>
                </a:solidFill>
                <a:latin typeface="Garamond"/>
              </a:rPr>
              <a:t>Spend [EUR] for 100m of swap spread exposure</a:t>
            </a:r>
          </a:p>
          <a:p>
            <a:pPr algn="l">
              <a:lnSpc>
                <a:spcPct val="112000"/>
              </a:lnSpc>
              <a:spcAft>
                <a:spcPts val="0"/>
              </a:spcAft>
            </a:pPr>
            <a:endParaRPr lang="en-US" sz="1000" dirty="0">
              <a:solidFill>
                <a:srgbClr val="011C40"/>
              </a:solidFill>
              <a:latin typeface="Garamond"/>
            </a:endParaRPr>
          </a:p>
          <a:p>
            <a:pPr algn="l">
              <a:lnSpc>
                <a:spcPct val="112000"/>
              </a:lnSpc>
              <a:spcAft>
                <a:spcPts val="0"/>
              </a:spcAft>
            </a:pPr>
            <a:endParaRPr lang="en-US" sz="1000" dirty="0">
              <a:solidFill>
                <a:srgbClr val="011C40"/>
              </a:solidFill>
              <a:latin typeface="Garamond"/>
            </a:endParaRPr>
          </a:p>
          <a:p>
            <a:pPr algn="l">
              <a:lnSpc>
                <a:spcPct val="112000"/>
              </a:lnSpc>
              <a:spcAft>
                <a:spcPts val="0"/>
              </a:spcAft>
            </a:pPr>
            <a:endParaRPr lang="en-US" sz="1000" dirty="0">
              <a:solidFill>
                <a:srgbClr val="011C40"/>
              </a:solidFill>
              <a:latin typeface="Garamond"/>
            </a:endParaRPr>
          </a:p>
        </p:txBody>
      </p:sp>
    </p:spTree>
    <p:extLst>
      <p:ext uri="{BB962C8B-B14F-4D97-AF65-F5344CB8AC3E}">
        <p14:creationId xmlns:p14="http://schemas.microsoft.com/office/powerpoint/2010/main" val="971295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What is a Swap Spread?</a:t>
            </a:r>
          </a:p>
        </p:txBody>
      </p:sp>
      <p:sp>
        <p:nvSpPr>
          <p:cNvPr id="202" name="Subheading"/>
          <p:cNvSpPr txBox="1"/>
          <p:nvPr/>
        </p:nvSpPr>
        <p:spPr>
          <a:xfrm>
            <a:off x="720090" y="1219200"/>
            <a:ext cx="3535857" cy="660479"/>
          </a:xfrm>
          <a:prstGeom prst="rect">
            <a:avLst/>
          </a:prstGeom>
          <a:noFill/>
        </p:spPr>
        <p:txBody>
          <a:bodyPr wrap="square" lIns="0" tIns="0" rIns="0" bIns="0" anchor="t">
            <a:normAutofit/>
          </a:bodyPr>
          <a:lstStyle/>
          <a:p>
            <a:pPr>
              <a:lnSpc>
                <a:spcPct val="95000"/>
              </a:lnSpc>
            </a:pPr>
            <a:r>
              <a:rPr lang="en-US" sz="1100" b="1" dirty="0">
                <a:solidFill>
                  <a:srgbClr val="262626"/>
                </a:solidFill>
                <a:latin typeface="Garamond"/>
              </a:rPr>
              <a:t>A swap spread is the difference between a government bond yield and the swap rate of the same maturity.  To be ‘long’ the swap spread, buy the OAT and pay fixed on the swap, fully hedging the duration. </a:t>
            </a:r>
          </a:p>
          <a:p>
            <a:pPr algn="l">
              <a:lnSpc>
                <a:spcPct val="95000"/>
              </a:lnSpc>
            </a:pPr>
            <a:endParaRPr lang="en-US" sz="1100" b="1" dirty="0">
              <a:solidFill>
                <a:srgbClr val="262626"/>
              </a:solidFill>
              <a:latin typeface="Garamond"/>
            </a:endParaRPr>
          </a:p>
        </p:txBody>
      </p:sp>
      <p:graphicFrame>
        <p:nvGraphicFramePr>
          <p:cNvPr id="210" name="Chart 13"/>
          <p:cNvGraphicFramePr>
            <a:graphicFrameLocks noGrp="1"/>
          </p:cNvGraphicFramePr>
          <p:nvPr/>
        </p:nvGraphicFramePr>
        <p:xfrm>
          <a:off x="628650" y="2001845"/>
          <a:ext cx="4022628" cy="25260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2" name="Chart 15"/>
          <p:cNvGraphicFramePr>
            <a:graphicFrameLocks noGrp="1"/>
          </p:cNvGraphicFramePr>
          <p:nvPr/>
        </p:nvGraphicFramePr>
        <p:xfrm>
          <a:off x="4667738" y="2305597"/>
          <a:ext cx="4022628" cy="2222345"/>
        </p:xfrm>
        <a:graphic>
          <a:graphicData uri="http://schemas.openxmlformats.org/drawingml/2006/chart">
            <c:chart xmlns:c="http://schemas.openxmlformats.org/drawingml/2006/chart" xmlns:r="http://schemas.openxmlformats.org/officeDocument/2006/relationships" r:id="rId3"/>
          </a:graphicData>
        </a:graphic>
      </p:graphicFrame>
      <p:sp>
        <p:nvSpPr>
          <p:cNvPr id="213" name="TextBox 16"/>
          <p:cNvSpPr txBox="1"/>
          <p:nvPr/>
        </p:nvSpPr>
        <p:spPr>
          <a:xfrm>
            <a:off x="1783080" y="4663440"/>
            <a:ext cx="4826000" cy="104452"/>
          </a:xfrm>
          <a:prstGeom prst="rect">
            <a:avLst/>
          </a:prstGeom>
          <a:noFill/>
        </p:spPr>
        <p:txBody>
          <a:bodyPr wrap="square" lIns="0" tIns="0" rIns="0" bIns="0" anchor="t">
            <a:spAutoFit/>
          </a:bodyPr>
          <a:lstStyle/>
          <a:p>
            <a:pPr>
              <a:lnSpc>
                <a:spcPct val="108000"/>
              </a:lnSpc>
            </a:pPr>
            <a:r>
              <a:rPr sz="650" b="0" i="0" dirty="0">
                <a:solidFill>
                  <a:srgbClr val="595959"/>
                </a:solidFill>
                <a:latin typeface="Garamond"/>
              </a:rPr>
              <a:t>Source: Bloomberg, Liminality calculations</a:t>
            </a:r>
            <a:r>
              <a:rPr lang="en-US" sz="650" b="0" i="0" dirty="0">
                <a:solidFill>
                  <a:srgbClr val="595959"/>
                </a:solidFill>
                <a:latin typeface="Garamond"/>
              </a:rPr>
              <a:t>, </a:t>
            </a:r>
            <a:r>
              <a:rPr lang="en-US" sz="650" dirty="0">
                <a:solidFill>
                  <a:srgbClr val="595959"/>
                </a:solidFill>
                <a:latin typeface="Garamond"/>
              </a:rPr>
              <a:t>French yield curves, 2 October 2026</a:t>
            </a:r>
          </a:p>
        </p:txBody>
      </p:sp>
      <p:sp>
        <p:nvSpPr>
          <p:cNvPr id="214" name="Slide Number Placeholder"/>
          <p:cNvSpPr>
            <a:spLocks noGrp="1"/>
          </p:cNvSpPr>
          <p:nvPr>
            <p:ph type="sldNum" sz="quarter" idx="12"/>
          </p:nvPr>
        </p:nvSpPr>
        <p:spPr/>
        <p:txBody>
          <a:bodyPr/>
          <a:lstStyle/>
          <a:p>
            <a:fld id="{F6B70E3D-0A47-44A9-8B13-A3D1BC88A914}" type="slidenum">
              <a:rPr lang="en-US"/>
              <a:t>5</a:t>
            </a:fld>
            <a:endParaRPr lang="en-US"/>
          </a:p>
        </p:txBody>
      </p:sp>
      <p:sp>
        <p:nvSpPr>
          <p:cNvPr id="3" name="Subheading">
            <a:extLst>
              <a:ext uri="{FF2B5EF4-FFF2-40B4-BE49-F238E27FC236}">
                <a16:creationId xmlns:a16="http://schemas.microsoft.com/office/drawing/2014/main" id="{FFB312DC-7A65-47EB-DA9B-5C27BCBCEBA8}"/>
              </a:ext>
            </a:extLst>
          </p:cNvPr>
          <p:cNvSpPr txBox="1"/>
          <p:nvPr/>
        </p:nvSpPr>
        <p:spPr>
          <a:xfrm>
            <a:off x="4544399" y="1219200"/>
            <a:ext cx="3571216" cy="530292"/>
          </a:xfrm>
          <a:prstGeom prst="rect">
            <a:avLst/>
          </a:prstGeom>
          <a:noFill/>
        </p:spPr>
        <p:txBody>
          <a:bodyPr wrap="square" lIns="0" tIns="0" rIns="0" bIns="0" anchor="t">
            <a:normAutofit/>
          </a:bodyPr>
          <a:lstStyle/>
          <a:p>
            <a:pPr>
              <a:lnSpc>
                <a:spcPct val="95000"/>
              </a:lnSpc>
            </a:pPr>
            <a:r>
              <a:rPr lang="en-US" sz="1100" b="1" dirty="0">
                <a:solidFill>
                  <a:srgbClr val="011C40"/>
                </a:solidFill>
                <a:latin typeface="Garamond"/>
              </a:rPr>
              <a:t>In this deck the spread is the swap rate less the bond yield, so a bond that is cheap to swaps reads as a negative number.</a:t>
            </a:r>
          </a:p>
          <a:p>
            <a:pPr algn="l">
              <a:lnSpc>
                <a:spcPct val="95000"/>
              </a:lnSpc>
            </a:pPr>
            <a:endParaRPr lang="en-US" sz="1100" b="1" dirty="0">
              <a:solidFill>
                <a:srgbClr val="262626"/>
              </a:solidFill>
              <a:latin typeface="Garamond"/>
            </a:endParaRPr>
          </a:p>
        </p:txBody>
      </p:sp>
      <p:sp>
        <p:nvSpPr>
          <p:cNvPr id="5" name="TextBox 14">
            <a:extLst>
              <a:ext uri="{FF2B5EF4-FFF2-40B4-BE49-F238E27FC236}">
                <a16:creationId xmlns:a16="http://schemas.microsoft.com/office/drawing/2014/main" id="{BD8D27B1-D3C8-0206-4806-D3135E74117E}"/>
              </a:ext>
            </a:extLst>
          </p:cNvPr>
          <p:cNvSpPr txBox="1"/>
          <p:nvPr/>
        </p:nvSpPr>
        <p:spPr>
          <a:xfrm>
            <a:off x="4765404" y="2076650"/>
            <a:ext cx="4022628" cy="116955"/>
          </a:xfrm>
          <a:prstGeom prst="rect">
            <a:avLst/>
          </a:prstGeom>
          <a:noFill/>
        </p:spPr>
        <p:txBody>
          <a:bodyPr wrap="square" lIns="0" tIns="0" rIns="0" bIns="0" anchor="t">
            <a:spAutoFit/>
          </a:bodyPr>
          <a:lstStyle/>
          <a:p>
            <a:pPr algn="l">
              <a:lnSpc>
                <a:spcPct val="95000"/>
              </a:lnSpc>
              <a:spcAft>
                <a:spcPts val="384"/>
              </a:spcAft>
            </a:pPr>
            <a:r>
              <a:rPr sz="800" i="0" dirty="0">
                <a:solidFill>
                  <a:srgbClr val="011C40"/>
                </a:solidFill>
                <a:latin typeface="Garamond"/>
              </a:rPr>
              <a:t>Swap </a:t>
            </a:r>
            <a:r>
              <a:rPr lang="en-US" sz="800" i="0" dirty="0">
                <a:solidFill>
                  <a:srgbClr val="011C40"/>
                </a:solidFill>
                <a:latin typeface="Garamond"/>
              </a:rPr>
              <a:t>S</a:t>
            </a:r>
            <a:r>
              <a:rPr sz="800" i="0" dirty="0">
                <a:solidFill>
                  <a:srgbClr val="011C40"/>
                </a:solidFill>
                <a:latin typeface="Garamond"/>
              </a:rPr>
              <a:t>pread at each point of the curve (swap </a:t>
            </a:r>
            <a:r>
              <a:rPr lang="en-US" sz="800" i="0" dirty="0">
                <a:solidFill>
                  <a:srgbClr val="011C40"/>
                </a:solidFill>
                <a:latin typeface="Garamond"/>
              </a:rPr>
              <a:t>yield </a:t>
            </a:r>
            <a:r>
              <a:rPr sz="800" i="0" dirty="0">
                <a:solidFill>
                  <a:srgbClr val="011C40"/>
                </a:solidFill>
                <a:latin typeface="Garamond"/>
              </a:rPr>
              <a:t>less OAT</a:t>
            </a:r>
            <a:r>
              <a:rPr lang="en-US" sz="800" i="0" dirty="0">
                <a:solidFill>
                  <a:srgbClr val="011C40"/>
                </a:solidFill>
                <a:latin typeface="Garamond"/>
              </a:rPr>
              <a:t> yield</a:t>
            </a:r>
            <a:r>
              <a:rPr sz="800" i="0" dirty="0">
                <a:solidFill>
                  <a:srgbClr val="011C40"/>
                </a:solidFill>
                <a:latin typeface="Garamond"/>
              </a:rPr>
              <a:t>)</a:t>
            </a:r>
          </a:p>
        </p:txBody>
      </p:sp>
    </p:spTree>
    <p:extLst>
      <p:ext uri="{BB962C8B-B14F-4D97-AF65-F5344CB8AC3E}">
        <p14:creationId xmlns:p14="http://schemas.microsoft.com/office/powerpoint/2010/main" val="3321492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Current Dislocation</a:t>
            </a:r>
          </a:p>
        </p:txBody>
      </p:sp>
      <p:sp>
        <p:nvSpPr>
          <p:cNvPr id="202" name="Subheading"/>
          <p:cNvSpPr txBox="1"/>
          <p:nvPr/>
        </p:nvSpPr>
        <p:spPr>
          <a:xfrm>
            <a:off x="720090" y="1219200"/>
            <a:ext cx="7955279" cy="274320"/>
          </a:xfrm>
          <a:prstGeom prst="rect">
            <a:avLst/>
          </a:prstGeom>
          <a:noFill/>
        </p:spPr>
        <p:txBody>
          <a:bodyPr wrap="square" lIns="0" tIns="0" rIns="0" bIns="0" anchor="t">
            <a:normAutofit/>
          </a:bodyPr>
          <a:lstStyle/>
          <a:p>
            <a:pPr algn="l">
              <a:lnSpc>
                <a:spcPct val="95000"/>
              </a:lnSpc>
            </a:pPr>
            <a:r>
              <a:rPr lang="en-US" sz="1100" b="1" dirty="0">
                <a:solidFill>
                  <a:srgbClr val="262626"/>
                </a:solidFill>
                <a:latin typeface="Garamond"/>
              </a:rPr>
              <a:t>French swap spreads versus the 6m Euribor swap, weekly, since 2010</a:t>
            </a:r>
          </a:p>
        </p:txBody>
      </p:sp>
      <p:graphicFrame>
        <p:nvGraphicFramePr>
          <p:cNvPr id="203" name="Chart 6"/>
          <p:cNvGraphicFramePr>
            <a:graphicFrameLocks noGrp="1"/>
          </p:cNvGraphicFramePr>
          <p:nvPr/>
        </p:nvGraphicFramePr>
        <p:xfrm>
          <a:off x="1903737" y="1444421"/>
          <a:ext cx="5464454" cy="2898407"/>
        </p:xfrm>
        <a:graphic>
          <a:graphicData uri="http://schemas.openxmlformats.org/drawingml/2006/chart">
            <c:chart xmlns:c="http://schemas.openxmlformats.org/drawingml/2006/chart" xmlns:r="http://schemas.openxmlformats.org/officeDocument/2006/relationships" r:id="rId3"/>
          </a:graphicData>
        </a:graphic>
      </p:graphicFrame>
      <p:sp>
        <p:nvSpPr>
          <p:cNvPr id="213" name="TextBox 16"/>
          <p:cNvSpPr txBox="1"/>
          <p:nvPr/>
        </p:nvSpPr>
        <p:spPr>
          <a:xfrm>
            <a:off x="1783080" y="4663440"/>
            <a:ext cx="4826000" cy="104452"/>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p>
        </p:txBody>
      </p:sp>
      <p:sp>
        <p:nvSpPr>
          <p:cNvPr id="214" name="Slide Number Placeholder"/>
          <p:cNvSpPr>
            <a:spLocks noGrp="1"/>
          </p:cNvSpPr>
          <p:nvPr>
            <p:ph type="sldNum" sz="quarter" idx="12"/>
          </p:nvPr>
        </p:nvSpPr>
        <p:spPr/>
        <p:txBody>
          <a:bodyPr/>
          <a:lstStyle/>
          <a:p>
            <a:fld id="{F6B70E3D-0A47-44A9-8B13-A3D1BC88A914}" type="slidenum">
              <a:rPr lang="en-US"/>
              <a:t>6</a:t>
            </a:fld>
            <a:endParaRPr lang="en-US"/>
          </a:p>
        </p:txBody>
      </p:sp>
    </p:spTree>
    <p:extLst>
      <p:ext uri="{BB962C8B-B14F-4D97-AF65-F5344CB8AC3E}">
        <p14:creationId xmlns:p14="http://schemas.microsoft.com/office/powerpoint/2010/main" val="3925398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AADE-9D2E-2668-5671-1B82483085DA}"/>
            </a:ext>
          </a:extLst>
        </p:cNvPr>
        <p:cNvGrpSpPr/>
        <p:nvPr/>
      </p:nvGrpSpPr>
      <p:grpSpPr>
        <a:xfrm>
          <a:off x="0" y="0"/>
          <a:ext cx="0" cy="0"/>
          <a:chOff x="0" y="0"/>
          <a:chExt cx="0" cy="0"/>
        </a:xfrm>
      </p:grpSpPr>
      <p:sp>
        <p:nvSpPr>
          <p:cNvPr id="201" name="Title 1">
            <a:extLst>
              <a:ext uri="{FF2B5EF4-FFF2-40B4-BE49-F238E27FC236}">
                <a16:creationId xmlns:a16="http://schemas.microsoft.com/office/drawing/2014/main" id="{B4D41F1D-0D69-4C96-C7A4-661A04DB7F77}"/>
              </a:ext>
            </a:extLst>
          </p:cNvPr>
          <p:cNvSpPr>
            <a:spLocks noGrp="1"/>
          </p:cNvSpPr>
          <p:nvPr>
            <p:ph type="title"/>
          </p:nvPr>
        </p:nvSpPr>
        <p:spPr>
          <a:xfrm>
            <a:off x="628650" y="274638"/>
            <a:ext cx="8163658" cy="877837"/>
          </a:xfrm>
        </p:spPr>
        <p:txBody>
          <a:bodyPr>
            <a:normAutofit/>
          </a:bodyPr>
          <a:lstStyle/>
          <a:p>
            <a:r>
              <a:rPr lang="en-US" sz="2400" dirty="0"/>
              <a:t>Scenario Analysis: 4.4-Year IRR and Multiple of Capital At Expiry</a:t>
            </a:r>
          </a:p>
        </p:txBody>
      </p:sp>
      <p:sp>
        <p:nvSpPr>
          <p:cNvPr id="202" name="Subheading">
            <a:extLst>
              <a:ext uri="{FF2B5EF4-FFF2-40B4-BE49-F238E27FC236}">
                <a16:creationId xmlns:a16="http://schemas.microsoft.com/office/drawing/2014/main" id="{F016C238-C919-6234-2501-7B27CE6D1A65}"/>
              </a:ext>
            </a:extLst>
          </p:cNvPr>
          <p:cNvSpPr txBox="1"/>
          <p:nvPr/>
        </p:nvSpPr>
        <p:spPr>
          <a:xfrm>
            <a:off x="720090" y="1219200"/>
            <a:ext cx="7955279" cy="274320"/>
          </a:xfrm>
          <a:prstGeom prst="rect">
            <a:avLst/>
          </a:prstGeom>
          <a:noFill/>
        </p:spPr>
        <p:txBody>
          <a:bodyPr wrap="square" lIns="0" tIns="0" rIns="0" bIns="0" anchor="t">
            <a:normAutofit fontScale="92500" lnSpcReduction="10000"/>
          </a:bodyPr>
          <a:lstStyle/>
          <a:p>
            <a:pPr algn="l">
              <a:lnSpc>
                <a:spcPct val="95000"/>
              </a:lnSpc>
            </a:pPr>
            <a:r>
              <a:rPr lang="en-US" sz="1100" b="1" dirty="0">
                <a:solidFill>
                  <a:srgbClr val="262626"/>
                </a:solidFill>
                <a:latin typeface="Garamond"/>
              </a:rPr>
              <a:t>Returns depend on where the 1-year France swap spread is when the option expires. The history since 2010 is on the left; the scenario levels are the dashed lines</a:t>
            </a:r>
          </a:p>
        </p:txBody>
      </p:sp>
      <p:graphicFrame>
        <p:nvGraphicFramePr>
          <p:cNvPr id="203" name="Chart 6">
            <a:extLst>
              <a:ext uri="{FF2B5EF4-FFF2-40B4-BE49-F238E27FC236}">
                <a16:creationId xmlns:a16="http://schemas.microsoft.com/office/drawing/2014/main" id="{3136C804-CB3D-DC64-5D17-F0BDDBF3F586}"/>
              </a:ext>
            </a:extLst>
          </p:cNvPr>
          <p:cNvGraphicFramePr>
            <a:graphicFrameLocks noGrp="1"/>
          </p:cNvGraphicFramePr>
          <p:nvPr/>
        </p:nvGraphicFramePr>
        <p:xfrm>
          <a:off x="594360" y="1524000"/>
          <a:ext cx="3884371" cy="3073400"/>
        </p:xfrm>
        <a:graphic>
          <a:graphicData uri="http://schemas.openxmlformats.org/drawingml/2006/chart">
            <c:chart xmlns:c="http://schemas.openxmlformats.org/drawingml/2006/chart" xmlns:r="http://schemas.openxmlformats.org/officeDocument/2006/relationships" r:id="rId2"/>
          </a:graphicData>
        </a:graphic>
      </p:graphicFrame>
      <p:cxnSp>
        <p:nvCxnSpPr>
          <p:cNvPr id="204" name="Connector 7">
            <a:extLst>
              <a:ext uri="{FF2B5EF4-FFF2-40B4-BE49-F238E27FC236}">
                <a16:creationId xmlns:a16="http://schemas.microsoft.com/office/drawing/2014/main" id="{E516B1C6-E471-4AB2-FDF3-F4303E99A2B5}"/>
              </a:ext>
            </a:extLst>
          </p:cNvPr>
          <p:cNvCxnSpPr/>
          <p:nvPr/>
        </p:nvCxnSpPr>
        <p:spPr>
          <a:xfrm>
            <a:off x="3818387" y="2050012"/>
            <a:ext cx="144840" cy="0"/>
          </a:xfrm>
          <a:prstGeom prst="line">
            <a:avLst/>
          </a:prstGeom>
          <a:ln w="6099">
            <a:solidFill>
              <a:srgbClr val="2C7A5A"/>
            </a:solidFill>
          </a:ln>
        </p:spPr>
        <p:style>
          <a:lnRef idx="2">
            <a:schemeClr val="accent1"/>
          </a:lnRef>
          <a:fillRef idx="0">
            <a:schemeClr val="accent1"/>
          </a:fillRef>
          <a:effectRef idx="1">
            <a:schemeClr val="accent1"/>
          </a:effectRef>
          <a:fontRef idx="minor">
            <a:schemeClr val="tx1"/>
          </a:fontRef>
        </p:style>
      </p:cxnSp>
      <p:sp>
        <p:nvSpPr>
          <p:cNvPr id="205" name="TextBox 8">
            <a:extLst>
              <a:ext uri="{FF2B5EF4-FFF2-40B4-BE49-F238E27FC236}">
                <a16:creationId xmlns:a16="http://schemas.microsoft.com/office/drawing/2014/main" id="{C7CD3812-189F-4456-C39F-F7BB595768ED}"/>
              </a:ext>
            </a:extLst>
          </p:cNvPr>
          <p:cNvSpPr txBox="1"/>
          <p:nvPr/>
        </p:nvSpPr>
        <p:spPr>
          <a:xfrm>
            <a:off x="3989563" y="1986512"/>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2C7A5A"/>
                </a:solidFill>
                <a:latin typeface="Garamond"/>
              </a:rPr>
              <a:t>5.0x</a:t>
            </a:r>
          </a:p>
        </p:txBody>
      </p:sp>
      <p:cxnSp>
        <p:nvCxnSpPr>
          <p:cNvPr id="208" name="Connector 11">
            <a:extLst>
              <a:ext uri="{FF2B5EF4-FFF2-40B4-BE49-F238E27FC236}">
                <a16:creationId xmlns:a16="http://schemas.microsoft.com/office/drawing/2014/main" id="{59FAA09B-41A3-A164-7E1E-E00D597AE4F1}"/>
              </a:ext>
            </a:extLst>
          </p:cNvPr>
          <p:cNvCxnSpPr/>
          <p:nvPr/>
        </p:nvCxnSpPr>
        <p:spPr>
          <a:xfrm>
            <a:off x="3818387" y="2146817"/>
            <a:ext cx="144840" cy="38853"/>
          </a:xfrm>
          <a:prstGeom prst="line">
            <a:avLst/>
          </a:prstGeom>
          <a:ln w="6099">
            <a:solidFill>
              <a:srgbClr val="0047BB"/>
            </a:solidFill>
          </a:ln>
        </p:spPr>
        <p:style>
          <a:lnRef idx="2">
            <a:schemeClr val="accent1"/>
          </a:lnRef>
          <a:fillRef idx="0">
            <a:schemeClr val="accent1"/>
          </a:fillRef>
          <a:effectRef idx="1">
            <a:schemeClr val="accent1"/>
          </a:effectRef>
          <a:fontRef idx="minor">
            <a:schemeClr val="tx1"/>
          </a:fontRef>
        </p:style>
      </p:cxnSp>
      <p:sp>
        <p:nvSpPr>
          <p:cNvPr id="209" name="TextBox 12">
            <a:extLst>
              <a:ext uri="{FF2B5EF4-FFF2-40B4-BE49-F238E27FC236}">
                <a16:creationId xmlns:a16="http://schemas.microsoft.com/office/drawing/2014/main" id="{EB9CF9B5-DF25-8682-C3F2-335AE79C549D}"/>
              </a:ext>
            </a:extLst>
          </p:cNvPr>
          <p:cNvSpPr txBox="1"/>
          <p:nvPr/>
        </p:nvSpPr>
        <p:spPr>
          <a:xfrm>
            <a:off x="3989563" y="2121973"/>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0047BB"/>
                </a:solidFill>
                <a:latin typeface="Garamond"/>
              </a:rPr>
              <a:t>4.8x</a:t>
            </a:r>
          </a:p>
        </p:txBody>
      </p:sp>
      <p:cxnSp>
        <p:nvCxnSpPr>
          <p:cNvPr id="210" name="Connector 13">
            <a:extLst>
              <a:ext uri="{FF2B5EF4-FFF2-40B4-BE49-F238E27FC236}">
                <a16:creationId xmlns:a16="http://schemas.microsoft.com/office/drawing/2014/main" id="{9DD20EA4-44D9-9A00-0F3E-009B15219BD8}"/>
              </a:ext>
            </a:extLst>
          </p:cNvPr>
          <p:cNvCxnSpPr/>
          <p:nvPr/>
        </p:nvCxnSpPr>
        <p:spPr>
          <a:xfrm>
            <a:off x="3818387" y="2416746"/>
            <a:ext cx="144840" cy="0"/>
          </a:xfrm>
          <a:prstGeom prst="line">
            <a:avLst/>
          </a:prstGeom>
          <a:ln w="6099">
            <a:solidFill>
              <a:srgbClr val="011C40"/>
            </a:solidFill>
          </a:ln>
        </p:spPr>
        <p:style>
          <a:lnRef idx="2">
            <a:schemeClr val="accent1"/>
          </a:lnRef>
          <a:fillRef idx="0">
            <a:schemeClr val="accent1"/>
          </a:fillRef>
          <a:effectRef idx="1">
            <a:schemeClr val="accent1"/>
          </a:effectRef>
          <a:fontRef idx="minor">
            <a:schemeClr val="tx1"/>
          </a:fontRef>
        </p:style>
      </p:cxnSp>
      <p:sp>
        <p:nvSpPr>
          <p:cNvPr id="211" name="TextBox 14">
            <a:extLst>
              <a:ext uri="{FF2B5EF4-FFF2-40B4-BE49-F238E27FC236}">
                <a16:creationId xmlns:a16="http://schemas.microsoft.com/office/drawing/2014/main" id="{7E8F2373-E799-9CC8-E155-B874F3CF1165}"/>
              </a:ext>
            </a:extLst>
          </p:cNvPr>
          <p:cNvSpPr txBox="1"/>
          <p:nvPr/>
        </p:nvSpPr>
        <p:spPr>
          <a:xfrm>
            <a:off x="3989563" y="2353246"/>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011C40"/>
                </a:solidFill>
                <a:latin typeface="Garamond"/>
              </a:rPr>
              <a:t>4.0x</a:t>
            </a:r>
          </a:p>
        </p:txBody>
      </p:sp>
      <p:cxnSp>
        <p:nvCxnSpPr>
          <p:cNvPr id="212" name="Connector 15">
            <a:extLst>
              <a:ext uri="{FF2B5EF4-FFF2-40B4-BE49-F238E27FC236}">
                <a16:creationId xmlns:a16="http://schemas.microsoft.com/office/drawing/2014/main" id="{7D75DDC2-8E49-84B4-54E1-5396D906B872}"/>
              </a:ext>
            </a:extLst>
          </p:cNvPr>
          <p:cNvCxnSpPr/>
          <p:nvPr/>
        </p:nvCxnSpPr>
        <p:spPr>
          <a:xfrm>
            <a:off x="3818387" y="3298889"/>
            <a:ext cx="144840" cy="0"/>
          </a:xfrm>
          <a:prstGeom prst="line">
            <a:avLst/>
          </a:prstGeom>
          <a:ln w="6099">
            <a:solidFill>
              <a:srgbClr val="7030A0"/>
            </a:solidFill>
          </a:ln>
        </p:spPr>
        <p:style>
          <a:lnRef idx="2">
            <a:schemeClr val="accent1"/>
          </a:lnRef>
          <a:fillRef idx="0">
            <a:schemeClr val="accent1"/>
          </a:fillRef>
          <a:effectRef idx="1">
            <a:schemeClr val="accent1"/>
          </a:effectRef>
          <a:fontRef idx="minor">
            <a:schemeClr val="tx1"/>
          </a:fontRef>
        </p:style>
      </p:cxnSp>
      <p:sp>
        <p:nvSpPr>
          <p:cNvPr id="213" name="TextBox 16">
            <a:extLst>
              <a:ext uri="{FF2B5EF4-FFF2-40B4-BE49-F238E27FC236}">
                <a16:creationId xmlns:a16="http://schemas.microsoft.com/office/drawing/2014/main" id="{EB288D7F-41BD-2A4B-73F2-5AFD88950E2E}"/>
              </a:ext>
            </a:extLst>
          </p:cNvPr>
          <p:cNvSpPr txBox="1"/>
          <p:nvPr/>
        </p:nvSpPr>
        <p:spPr>
          <a:xfrm>
            <a:off x="3989563" y="3235389"/>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7030A0"/>
                </a:solidFill>
                <a:latin typeface="Garamond"/>
              </a:rPr>
              <a:t>1.8x</a:t>
            </a:r>
          </a:p>
        </p:txBody>
      </p:sp>
      <p:cxnSp>
        <p:nvCxnSpPr>
          <p:cNvPr id="214" name="Connector 17">
            <a:extLst>
              <a:ext uri="{FF2B5EF4-FFF2-40B4-BE49-F238E27FC236}">
                <a16:creationId xmlns:a16="http://schemas.microsoft.com/office/drawing/2014/main" id="{07973B4D-B0DD-40AF-CC2A-C463F5450B27}"/>
              </a:ext>
            </a:extLst>
          </p:cNvPr>
          <p:cNvCxnSpPr/>
          <p:nvPr/>
        </p:nvCxnSpPr>
        <p:spPr>
          <a:xfrm>
            <a:off x="3818387" y="3612759"/>
            <a:ext cx="144840" cy="0"/>
          </a:xfrm>
          <a:prstGeom prst="line">
            <a:avLst/>
          </a:prstGeom>
          <a:ln w="6099">
            <a:solidFill>
              <a:srgbClr val="595959"/>
            </a:solidFill>
          </a:ln>
        </p:spPr>
        <p:style>
          <a:lnRef idx="2">
            <a:schemeClr val="accent1"/>
          </a:lnRef>
          <a:fillRef idx="0">
            <a:schemeClr val="accent1"/>
          </a:fillRef>
          <a:effectRef idx="1">
            <a:schemeClr val="accent1"/>
          </a:effectRef>
          <a:fontRef idx="minor">
            <a:schemeClr val="tx1"/>
          </a:fontRef>
        </p:style>
      </p:cxnSp>
      <p:sp>
        <p:nvSpPr>
          <p:cNvPr id="215" name="TextBox 18">
            <a:extLst>
              <a:ext uri="{FF2B5EF4-FFF2-40B4-BE49-F238E27FC236}">
                <a16:creationId xmlns:a16="http://schemas.microsoft.com/office/drawing/2014/main" id="{68F1F19C-CD31-461C-D1F8-8382634065CA}"/>
              </a:ext>
            </a:extLst>
          </p:cNvPr>
          <p:cNvSpPr txBox="1"/>
          <p:nvPr/>
        </p:nvSpPr>
        <p:spPr>
          <a:xfrm>
            <a:off x="3989563" y="3549259"/>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595959"/>
                </a:solidFill>
                <a:latin typeface="Garamond"/>
              </a:rPr>
              <a:t>1.0x</a:t>
            </a:r>
          </a:p>
        </p:txBody>
      </p:sp>
      <p:cxnSp>
        <p:nvCxnSpPr>
          <p:cNvPr id="216" name="Connector 19">
            <a:extLst>
              <a:ext uri="{FF2B5EF4-FFF2-40B4-BE49-F238E27FC236}">
                <a16:creationId xmlns:a16="http://schemas.microsoft.com/office/drawing/2014/main" id="{8CEC2CEC-0FE7-6EA1-A133-4E6BBC6D19B7}"/>
              </a:ext>
            </a:extLst>
          </p:cNvPr>
          <p:cNvCxnSpPr/>
          <p:nvPr/>
        </p:nvCxnSpPr>
        <p:spPr>
          <a:xfrm>
            <a:off x="3818387" y="4032355"/>
            <a:ext cx="144840" cy="0"/>
          </a:xfrm>
          <a:prstGeom prst="line">
            <a:avLst/>
          </a:prstGeom>
          <a:ln w="6099">
            <a:solidFill>
              <a:srgbClr val="C00000"/>
            </a:solidFill>
          </a:ln>
        </p:spPr>
        <p:style>
          <a:lnRef idx="2">
            <a:schemeClr val="accent1"/>
          </a:lnRef>
          <a:fillRef idx="0">
            <a:schemeClr val="accent1"/>
          </a:fillRef>
          <a:effectRef idx="1">
            <a:schemeClr val="accent1"/>
          </a:effectRef>
          <a:fontRef idx="minor">
            <a:schemeClr val="tx1"/>
          </a:fontRef>
        </p:style>
      </p:cxnSp>
      <p:sp>
        <p:nvSpPr>
          <p:cNvPr id="217" name="TextBox 20">
            <a:extLst>
              <a:ext uri="{FF2B5EF4-FFF2-40B4-BE49-F238E27FC236}">
                <a16:creationId xmlns:a16="http://schemas.microsoft.com/office/drawing/2014/main" id="{9FC88210-FD5B-A8CF-730B-48B6BEAB8C3F}"/>
              </a:ext>
            </a:extLst>
          </p:cNvPr>
          <p:cNvSpPr txBox="1"/>
          <p:nvPr/>
        </p:nvSpPr>
        <p:spPr>
          <a:xfrm>
            <a:off x="3989563" y="3968855"/>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C00000"/>
                </a:solidFill>
                <a:latin typeface="Garamond"/>
              </a:rPr>
              <a:t>0x</a:t>
            </a:r>
          </a:p>
        </p:txBody>
      </p:sp>
      <p:cxnSp>
        <p:nvCxnSpPr>
          <p:cNvPr id="218" name="Connector 21">
            <a:extLst>
              <a:ext uri="{FF2B5EF4-FFF2-40B4-BE49-F238E27FC236}">
                <a16:creationId xmlns:a16="http://schemas.microsoft.com/office/drawing/2014/main" id="{C464B351-1635-2941-60D0-9DA55C0AD912}"/>
              </a:ext>
            </a:extLst>
          </p:cNvPr>
          <p:cNvCxnSpPr/>
          <p:nvPr/>
        </p:nvCxnSpPr>
        <p:spPr>
          <a:xfrm>
            <a:off x="3818387" y="4174423"/>
            <a:ext cx="144840" cy="0"/>
          </a:xfrm>
          <a:prstGeom prst="line">
            <a:avLst/>
          </a:prstGeom>
          <a:ln w="6099">
            <a:solidFill>
              <a:srgbClr val="C00000"/>
            </a:solidFill>
          </a:ln>
        </p:spPr>
        <p:style>
          <a:lnRef idx="2">
            <a:schemeClr val="accent1"/>
          </a:lnRef>
          <a:fillRef idx="0">
            <a:schemeClr val="accent1"/>
          </a:fillRef>
          <a:effectRef idx="1">
            <a:schemeClr val="accent1"/>
          </a:effectRef>
          <a:fontRef idx="minor">
            <a:schemeClr val="tx1"/>
          </a:fontRef>
        </p:style>
      </p:cxnSp>
      <p:sp>
        <p:nvSpPr>
          <p:cNvPr id="219" name="TextBox 22">
            <a:extLst>
              <a:ext uri="{FF2B5EF4-FFF2-40B4-BE49-F238E27FC236}">
                <a16:creationId xmlns:a16="http://schemas.microsoft.com/office/drawing/2014/main" id="{60D1BE0B-B667-EFFD-6083-7476524D8807}"/>
              </a:ext>
            </a:extLst>
          </p:cNvPr>
          <p:cNvSpPr txBox="1"/>
          <p:nvPr/>
        </p:nvSpPr>
        <p:spPr>
          <a:xfrm>
            <a:off x="3989563" y="4110923"/>
            <a:ext cx="460857" cy="99541"/>
          </a:xfrm>
          <a:prstGeom prst="rect">
            <a:avLst/>
          </a:prstGeom>
          <a:noFill/>
        </p:spPr>
        <p:txBody>
          <a:bodyPr wrap="square" lIns="0" tIns="0" rIns="0" bIns="0" anchor="t">
            <a:spAutoFit/>
          </a:bodyPr>
          <a:lstStyle/>
          <a:p>
            <a:pPr algn="l">
              <a:lnSpc>
                <a:spcPct val="100000"/>
              </a:lnSpc>
              <a:spcAft>
                <a:spcPts val="0"/>
              </a:spcAft>
            </a:pPr>
            <a:r>
              <a:rPr sz="800" b="1" i="0">
                <a:solidFill>
                  <a:srgbClr val="C00000"/>
                </a:solidFill>
                <a:latin typeface="Garamond"/>
              </a:rPr>
              <a:t>0x</a:t>
            </a:r>
          </a:p>
        </p:txBody>
      </p:sp>
      <p:graphicFrame>
        <p:nvGraphicFramePr>
          <p:cNvPr id="220" name="Table 23">
            <a:extLst>
              <a:ext uri="{FF2B5EF4-FFF2-40B4-BE49-F238E27FC236}">
                <a16:creationId xmlns:a16="http://schemas.microsoft.com/office/drawing/2014/main" id="{8FFE97CA-CFC0-7DC9-8B0E-B36903025379}"/>
              </a:ext>
            </a:extLst>
          </p:cNvPr>
          <p:cNvGraphicFramePr>
            <a:graphicFrameLocks noGrp="1"/>
          </p:cNvGraphicFramePr>
          <p:nvPr/>
        </p:nvGraphicFramePr>
        <p:xfrm>
          <a:off x="4241800" y="1771462"/>
          <a:ext cx="4432300" cy="2473991"/>
        </p:xfrm>
        <a:graphic>
          <a:graphicData uri="http://schemas.openxmlformats.org/drawingml/2006/table">
            <a:tbl>
              <a:tblPr firstRow="1">
                <a:tableStyleId>{5C22544A-7EE6-4342-B048-85BDC9FD1C3A}</a:tableStyleId>
              </a:tblPr>
              <a:tblGrid>
                <a:gridCol w="210677">
                  <a:extLst>
                    <a:ext uri="{9D8B030D-6E8A-4147-A177-3AD203B41FA5}">
                      <a16:colId xmlns:a16="http://schemas.microsoft.com/office/drawing/2014/main" val="20000"/>
                    </a:ext>
                  </a:extLst>
                </a:gridCol>
                <a:gridCol w="474024">
                  <a:extLst>
                    <a:ext uri="{9D8B030D-6E8A-4147-A177-3AD203B41FA5}">
                      <a16:colId xmlns:a16="http://schemas.microsoft.com/office/drawing/2014/main" val="20002"/>
                    </a:ext>
                  </a:extLst>
                </a:gridCol>
                <a:gridCol w="460857">
                  <a:extLst>
                    <a:ext uri="{9D8B030D-6E8A-4147-A177-3AD203B41FA5}">
                      <a16:colId xmlns:a16="http://schemas.microsoft.com/office/drawing/2014/main" val="20003"/>
                    </a:ext>
                  </a:extLst>
                </a:gridCol>
                <a:gridCol w="3286742">
                  <a:extLst>
                    <a:ext uri="{9D8B030D-6E8A-4147-A177-3AD203B41FA5}">
                      <a16:colId xmlns:a16="http://schemas.microsoft.com/office/drawing/2014/main" val="20001"/>
                    </a:ext>
                  </a:extLst>
                </a:gridCol>
              </a:tblGrid>
              <a:tr h="210820">
                <a:tc>
                  <a:txBody>
                    <a:bodyPr/>
                    <a:lstStyle/>
                    <a:p>
                      <a:pPr algn="l"/>
                      <a:endParaRPr sz="800">
                        <a:latin typeface="Garamond"/>
                      </a:endParaRPr>
                    </a:p>
                  </a:txBody>
                  <a:tcPr marL="40987" marR="40987" marT="5855" marB="5855" anchor="ctr">
                    <a:lnL w="0">
                      <a:noFill/>
                    </a:lnL>
                    <a:lnR w="0">
                      <a:noFill/>
                    </a:lnR>
                    <a:lnT w="0">
                      <a:noFill/>
                    </a:lnT>
                    <a:lnB w="9525">
                      <a:solidFill>
                        <a:srgbClr val="011C40"/>
                      </a:solidFill>
                    </a:lnB>
                    <a:noFill/>
                  </a:tcPr>
                </a:tc>
                <a:tc>
                  <a:txBody>
                    <a:bodyPr/>
                    <a:lstStyle/>
                    <a:p>
                      <a:pPr algn="r"/>
                      <a:r>
                        <a:rPr sz="800" b="1">
                          <a:solidFill>
                            <a:srgbClr val="011C40"/>
                          </a:solidFill>
                          <a:latin typeface="Garamond"/>
                        </a:rPr>
                        <a:t>Spread</a:t>
                      </a:r>
                    </a:p>
                  </a:txBody>
                  <a:tcPr marL="40987" marR="40987" marT="5855" marB="5855" anchor="ctr">
                    <a:lnL w="0">
                      <a:noFill/>
                    </a:lnL>
                    <a:lnR w="0">
                      <a:noFill/>
                    </a:lnR>
                    <a:lnT w="0">
                      <a:noFill/>
                    </a:lnT>
                    <a:lnB w="9525">
                      <a:solidFill>
                        <a:srgbClr val="011C40"/>
                      </a:solidFill>
                    </a:lnB>
                    <a:noFill/>
                  </a:tcPr>
                </a:tc>
                <a:tc>
                  <a:txBody>
                    <a:bodyPr/>
                    <a:lstStyle/>
                    <a:p>
                      <a:pPr algn="r"/>
                      <a:r>
                        <a:rPr sz="800" b="1">
                          <a:solidFill>
                            <a:srgbClr val="011C40"/>
                          </a:solidFill>
                          <a:latin typeface="Garamond"/>
                        </a:rPr>
                        <a:t>IRR</a:t>
                      </a:r>
                    </a:p>
                  </a:txBody>
                  <a:tcPr marL="40987" marR="40987" marT="5855" marB="5855" anchor="ctr">
                    <a:lnL w="0">
                      <a:noFill/>
                    </a:lnL>
                    <a:lnR w="0">
                      <a:noFill/>
                    </a:lnR>
                    <a:lnT w="0">
                      <a:noFill/>
                    </a:lnT>
                    <a:lnB w="9525">
                      <a:solidFill>
                        <a:srgbClr val="011C40"/>
                      </a:solidFill>
                    </a:lnB>
                    <a:noFill/>
                  </a:tcPr>
                </a:tc>
                <a:tc>
                  <a:txBody>
                    <a:bodyPr/>
                    <a:lstStyle/>
                    <a:p>
                      <a:pPr algn="l"/>
                      <a:r>
                        <a:rPr sz="800" b="1" dirty="0">
                          <a:solidFill>
                            <a:srgbClr val="011C40"/>
                          </a:solidFill>
                          <a:latin typeface="Garamond"/>
                        </a:rPr>
                        <a:t>Scenario: 1-year spread at expiry</a:t>
                      </a:r>
                    </a:p>
                  </a:txBody>
                  <a:tcPr marL="152400" marR="40987" marT="5855" marB="5855" anchor="ctr">
                    <a:lnL w="0">
                      <a:noFill/>
                    </a:lnL>
                    <a:lnR w="0">
                      <a:noFill/>
                    </a:lnR>
                    <a:lnT w="0">
                      <a:noFill/>
                    </a:lnT>
                    <a:lnB w="9525">
                      <a:solidFill>
                        <a:srgbClr val="011C40"/>
                      </a:solidFill>
                    </a:lnB>
                    <a:noFill/>
                  </a:tcPr>
                </a:tc>
                <a:extLst>
                  <a:ext uri="{0D108BD9-81ED-4DB2-BD59-A6C34878D82A}">
                    <a16:rowId xmlns:a16="http://schemas.microsoft.com/office/drawing/2014/main" val="10000"/>
                  </a:ext>
                </a:extLst>
              </a:tr>
              <a:tr h="135460">
                <a:tc>
                  <a:txBody>
                    <a:bodyPr/>
                    <a:lstStyle/>
                    <a:p>
                      <a:pPr algn="l"/>
                      <a:endParaRPr sz="800">
                        <a:latin typeface="Garamond"/>
                      </a:endParaRPr>
                    </a:p>
                  </a:txBody>
                  <a:tcPr marL="40987"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tc>
                  <a:txBody>
                    <a:bodyPr/>
                    <a:lstStyle/>
                    <a:p>
                      <a:pPr algn="r"/>
                      <a:r>
                        <a:rPr sz="800" b="0">
                          <a:solidFill>
                            <a:srgbClr val="011C40"/>
                          </a:solidFill>
                          <a:latin typeface="Garamond"/>
                        </a:rPr>
                        <a:t>28bp</a:t>
                      </a:r>
                    </a:p>
                  </a:txBody>
                  <a:tcPr marL="40987"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tc>
                  <a:txBody>
                    <a:bodyPr/>
                    <a:lstStyle/>
                    <a:p>
                      <a:pPr algn="r"/>
                      <a:r>
                        <a:rPr sz="800" b="0">
                          <a:solidFill>
                            <a:srgbClr val="011C40"/>
                          </a:solidFill>
                          <a:latin typeface="Garamond"/>
                        </a:rPr>
                        <a:t>44.0%</a:t>
                      </a:r>
                    </a:p>
                  </a:txBody>
                  <a:tcPr marL="40987"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tc>
                  <a:txBody>
                    <a:bodyPr/>
                    <a:lstStyle/>
                    <a:p>
                      <a:pPr algn="l"/>
                      <a:r>
                        <a:rPr sz="800" b="0" dirty="0">
                          <a:solidFill>
                            <a:srgbClr val="011C40"/>
                          </a:solidFill>
                          <a:latin typeface="Garamond"/>
                        </a:rPr>
                        <a:t>Median since 2010</a:t>
                      </a:r>
                    </a:p>
                  </a:txBody>
                  <a:tcPr marL="152400" marR="40987" marT="0" marB="0" anchor="ctr">
                    <a:lnL w="0">
                      <a:noFill/>
                    </a:lnL>
                    <a:lnR w="0">
                      <a:noFill/>
                    </a:lnR>
                    <a:lnT w="9525" cap="flat" cmpd="sng" algn="ctr">
                      <a:solidFill>
                        <a:srgbClr val="011C40"/>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183366">
                <a:tc>
                  <a:txBody>
                    <a:bodyPr/>
                    <a:lstStyle/>
                    <a:p>
                      <a:pPr algn="l"/>
                      <a:endParaRPr sz="800">
                        <a:latin typeface="Garamond"/>
                      </a:endParaRPr>
                    </a:p>
                  </a:txBody>
                  <a:tcPr marL="40987" marR="40987" marT="0" marB="47907" anchor="ctr">
                    <a:lnL w="0">
                      <a:noFill/>
                    </a:lnL>
                    <a:lnR w="0">
                      <a:noFill/>
                    </a:lnR>
                    <a:lnT w="0">
                      <a:noFill/>
                    </a:lnT>
                    <a:lnB w="0">
                      <a:noFill/>
                    </a:lnB>
                    <a:noFill/>
                  </a:tcPr>
                </a:tc>
                <a:tc>
                  <a:txBody>
                    <a:bodyPr/>
                    <a:lstStyle/>
                    <a:p>
                      <a:pPr algn="r"/>
                      <a:r>
                        <a:rPr sz="800" b="0">
                          <a:solidFill>
                            <a:srgbClr val="011C40"/>
                          </a:solidFill>
                          <a:latin typeface="Garamond"/>
                        </a:rPr>
                        <a:t>−1.3bp</a:t>
                      </a:r>
                    </a:p>
                  </a:txBody>
                  <a:tcPr marL="40987" marR="40987" marT="0" marB="47907" anchor="ctr">
                    <a:lnL w="0">
                      <a:noFill/>
                    </a:lnL>
                    <a:lnR w="0">
                      <a:noFill/>
                    </a:lnR>
                    <a:lnT w="0">
                      <a:noFill/>
                    </a:lnT>
                    <a:lnB w="0">
                      <a:noFill/>
                    </a:lnB>
                    <a:noFill/>
                  </a:tcPr>
                </a:tc>
                <a:tc>
                  <a:txBody>
                    <a:bodyPr/>
                    <a:lstStyle/>
                    <a:p>
                      <a:pPr algn="r"/>
                      <a:r>
                        <a:rPr sz="800" b="0">
                          <a:solidFill>
                            <a:srgbClr val="011C40"/>
                          </a:solidFill>
                          <a:latin typeface="Garamond"/>
                        </a:rPr>
                        <a:t>42.3%</a:t>
                      </a:r>
                    </a:p>
                  </a:txBody>
                  <a:tcPr marL="40987" marR="40987" marT="0" marB="47907" anchor="ctr">
                    <a:lnL w="0">
                      <a:noFill/>
                    </a:lnL>
                    <a:lnR w="0">
                      <a:noFill/>
                    </a:lnR>
                    <a:lnT w="0">
                      <a:noFill/>
                    </a:lnT>
                    <a:lnB w="0">
                      <a:noFill/>
                    </a:lnB>
                    <a:noFill/>
                  </a:tcPr>
                </a:tc>
                <a:tc>
                  <a:txBody>
                    <a:bodyPr/>
                    <a:lstStyle/>
                    <a:p>
                      <a:pPr algn="l"/>
                      <a:r>
                        <a:rPr sz="800" b="0">
                          <a:solidFill>
                            <a:srgbClr val="011C40"/>
                          </a:solidFill>
                          <a:latin typeface="Garamond"/>
                        </a:rPr>
                        <a:t>Roll to spot: curve unchanged (6bp above the 1-year low since 2010)</a:t>
                      </a:r>
                    </a:p>
                  </a:txBody>
                  <a:tcPr marL="152400" marR="40987" marT="0" marB="47907" anchor="ctr">
                    <a:lnL w="0">
                      <a:noFill/>
                    </a:lnL>
                    <a:lnR w="0">
                      <a:noFill/>
                    </a:lnR>
                    <a:lnT w="0">
                      <a:noFill/>
                    </a:lnT>
                    <a:lnB w="0">
                      <a:noFill/>
                    </a:lnB>
                    <a:noFill/>
                  </a:tcPr>
                </a:tc>
                <a:extLst>
                  <a:ext uri="{0D108BD9-81ED-4DB2-BD59-A6C34878D82A}">
                    <a16:rowId xmlns:a16="http://schemas.microsoft.com/office/drawing/2014/main" val="10003"/>
                  </a:ext>
                </a:extLst>
              </a:tr>
              <a:tr h="556708">
                <a:tc>
                  <a:txBody>
                    <a:bodyPr/>
                    <a:lstStyle/>
                    <a:p>
                      <a:pPr algn="l"/>
                      <a:endParaRPr sz="800">
                        <a:latin typeface="Garamond"/>
                      </a:endParaRPr>
                    </a:p>
                  </a:txBody>
                  <a:tcPr marL="40987" marR="40987" marT="0" marB="325435" anchor="ctr">
                    <a:lnL w="0">
                      <a:noFill/>
                    </a:lnL>
                    <a:lnR w="0">
                      <a:noFill/>
                    </a:lnR>
                    <a:lnT w="0">
                      <a:noFill/>
                    </a:lnT>
                    <a:lnB w="0">
                      <a:noFill/>
                    </a:lnB>
                    <a:noFill/>
                  </a:tcPr>
                </a:tc>
                <a:tc>
                  <a:txBody>
                    <a:bodyPr/>
                    <a:lstStyle/>
                    <a:p>
                      <a:pPr algn="r"/>
                      <a:r>
                        <a:rPr sz="800" b="0">
                          <a:solidFill>
                            <a:srgbClr val="011C40"/>
                          </a:solidFill>
                          <a:latin typeface="Garamond"/>
                        </a:rPr>
                        <a:t>−83bp</a:t>
                      </a:r>
                    </a:p>
                  </a:txBody>
                  <a:tcPr marL="40987" marR="40987" marT="0" marB="325435" anchor="ctr">
                    <a:lnL w="0">
                      <a:noFill/>
                    </a:lnL>
                    <a:lnR w="0">
                      <a:noFill/>
                    </a:lnR>
                    <a:lnT w="0">
                      <a:noFill/>
                    </a:lnT>
                    <a:lnB w="0">
                      <a:noFill/>
                    </a:lnB>
                    <a:noFill/>
                  </a:tcPr>
                </a:tc>
                <a:tc>
                  <a:txBody>
                    <a:bodyPr/>
                    <a:lstStyle/>
                    <a:p>
                      <a:pPr algn="r"/>
                      <a:r>
                        <a:rPr sz="800" b="0">
                          <a:solidFill>
                            <a:srgbClr val="011C40"/>
                          </a:solidFill>
                          <a:latin typeface="Garamond"/>
                        </a:rPr>
                        <a:t>37.2%</a:t>
                      </a:r>
                    </a:p>
                  </a:txBody>
                  <a:tcPr marL="40987" marR="40987" marT="0" marB="325435" anchor="ctr">
                    <a:lnL w="0">
                      <a:noFill/>
                    </a:lnL>
                    <a:lnR w="0">
                      <a:noFill/>
                    </a:lnR>
                    <a:lnT w="0">
                      <a:noFill/>
                    </a:lnT>
                    <a:lnB w="0">
                      <a:noFill/>
                    </a:lnB>
                    <a:noFill/>
                  </a:tcPr>
                </a:tc>
                <a:tc>
                  <a:txBody>
                    <a:bodyPr/>
                    <a:lstStyle/>
                    <a:p>
                      <a:pPr algn="l"/>
                      <a:r>
                        <a:rPr sz="800" b="0" dirty="0">
                          <a:solidFill>
                            <a:srgbClr val="011C40"/>
                          </a:solidFill>
                          <a:latin typeface="Garamond"/>
                        </a:rPr>
                        <a:t>No roll: the bond's spread unchanged (the 5-year point's cheapest since 2010)</a:t>
                      </a:r>
                    </a:p>
                  </a:txBody>
                  <a:tcPr marL="152400" marR="40987" marT="0" marB="325435" anchor="ctr">
                    <a:lnL w="0">
                      <a:noFill/>
                    </a:lnL>
                    <a:lnR w="0">
                      <a:noFill/>
                    </a:lnR>
                    <a:lnT w="0">
                      <a:noFill/>
                    </a:lnT>
                    <a:lnB w="0">
                      <a:noFill/>
                    </a:lnB>
                    <a:noFill/>
                  </a:tcPr>
                </a:tc>
                <a:extLst>
                  <a:ext uri="{0D108BD9-81ED-4DB2-BD59-A6C34878D82A}">
                    <a16:rowId xmlns:a16="http://schemas.microsoft.com/office/drawing/2014/main" val="10004"/>
                  </a:ext>
                </a:extLst>
              </a:tr>
              <a:tr h="598006">
                <a:tc>
                  <a:txBody>
                    <a:bodyPr/>
                    <a:lstStyle/>
                    <a:p>
                      <a:pPr algn="l"/>
                      <a:endParaRPr sz="800">
                        <a:latin typeface="Garamond"/>
                      </a:endParaRPr>
                    </a:p>
                  </a:txBody>
                  <a:tcPr marL="40987" marR="40987" marT="284136" marB="0" anchor="ctr">
                    <a:lnL w="0">
                      <a:noFill/>
                    </a:lnL>
                    <a:lnR w="0">
                      <a:noFill/>
                    </a:lnR>
                    <a:lnT w="0">
                      <a:noFill/>
                    </a:lnT>
                    <a:lnB w="0">
                      <a:noFill/>
                    </a:lnB>
                    <a:noFill/>
                  </a:tcPr>
                </a:tc>
                <a:tc>
                  <a:txBody>
                    <a:bodyPr/>
                    <a:lstStyle/>
                    <a:p>
                      <a:pPr algn="r"/>
                      <a:r>
                        <a:rPr sz="800" b="0">
                          <a:solidFill>
                            <a:srgbClr val="011C40"/>
                          </a:solidFill>
                          <a:latin typeface="Garamond"/>
                        </a:rPr>
                        <a:t>−350bp</a:t>
                      </a:r>
                    </a:p>
                  </a:txBody>
                  <a:tcPr marL="40987" marR="40987" marT="284136" marB="0" anchor="ctr">
                    <a:lnL w="0">
                      <a:noFill/>
                    </a:lnL>
                    <a:lnR w="0">
                      <a:noFill/>
                    </a:lnR>
                    <a:lnT w="0">
                      <a:noFill/>
                    </a:lnT>
                    <a:lnB w="0">
                      <a:noFill/>
                    </a:lnB>
                    <a:noFill/>
                  </a:tcPr>
                </a:tc>
                <a:tc>
                  <a:txBody>
                    <a:bodyPr/>
                    <a:lstStyle/>
                    <a:p>
                      <a:pPr algn="r"/>
                      <a:r>
                        <a:rPr sz="800" b="0">
                          <a:solidFill>
                            <a:srgbClr val="011C40"/>
                          </a:solidFill>
                          <a:latin typeface="Garamond"/>
                        </a:rPr>
                        <a:t>14.0%</a:t>
                      </a:r>
                    </a:p>
                  </a:txBody>
                  <a:tcPr marL="40987" marR="40987" marT="284136" marB="0" anchor="ctr">
                    <a:lnL w="0">
                      <a:noFill/>
                    </a:lnL>
                    <a:lnR w="0">
                      <a:noFill/>
                    </a:lnR>
                    <a:lnT w="0">
                      <a:noFill/>
                    </a:lnT>
                    <a:lnB w="0">
                      <a:noFill/>
                    </a:lnB>
                    <a:noFill/>
                  </a:tcPr>
                </a:tc>
                <a:tc>
                  <a:txBody>
                    <a:bodyPr/>
                    <a:lstStyle/>
                    <a:p>
                      <a:pPr algn="l"/>
                      <a:r>
                        <a:rPr sz="800" b="0">
                          <a:solidFill>
                            <a:srgbClr val="011C40"/>
                          </a:solidFill>
                          <a:latin typeface="Garamond"/>
                        </a:rPr>
                        <a:t>Italy's 2011 crisis level: below this for only 28 trading days</a:t>
                      </a:r>
                    </a:p>
                  </a:txBody>
                  <a:tcPr marL="152400" marR="40987" marT="284136" marB="0" anchor="ctr">
                    <a:lnL w="0">
                      <a:noFill/>
                    </a:lnL>
                    <a:lnR w="0">
                      <a:noFill/>
                    </a:lnR>
                    <a:lnT w="0">
                      <a:noFill/>
                    </a:lnT>
                    <a:lnB w="0">
                      <a:noFill/>
                    </a:lnB>
                    <a:noFill/>
                  </a:tcPr>
                </a:tc>
                <a:extLst>
                  <a:ext uri="{0D108BD9-81ED-4DB2-BD59-A6C34878D82A}">
                    <a16:rowId xmlns:a16="http://schemas.microsoft.com/office/drawing/2014/main" val="10005"/>
                  </a:ext>
                </a:extLst>
              </a:tr>
              <a:tr h="366732">
                <a:tc>
                  <a:txBody>
                    <a:bodyPr/>
                    <a:lstStyle/>
                    <a:p>
                      <a:pPr algn="l"/>
                      <a:endParaRPr sz="800">
                        <a:latin typeface="Garamond"/>
                      </a:endParaRPr>
                    </a:p>
                  </a:txBody>
                  <a:tcPr marL="40987" marR="40987" marT="0" marB="52862" anchor="ctr">
                    <a:lnL w="0">
                      <a:noFill/>
                    </a:lnL>
                    <a:lnR w="0">
                      <a:noFill/>
                    </a:lnR>
                    <a:lnT w="0">
                      <a:noFill/>
                    </a:lnT>
                    <a:lnB w="0">
                      <a:noFill/>
                    </a:lnB>
                    <a:noFill/>
                  </a:tcPr>
                </a:tc>
                <a:tc>
                  <a:txBody>
                    <a:bodyPr/>
                    <a:lstStyle/>
                    <a:p>
                      <a:pPr algn="r"/>
                      <a:r>
                        <a:rPr sz="800" b="0">
                          <a:solidFill>
                            <a:srgbClr val="011C40"/>
                          </a:solidFill>
                          <a:latin typeface="Garamond"/>
                        </a:rPr>
                        <a:t>−445bp</a:t>
                      </a:r>
                    </a:p>
                  </a:txBody>
                  <a:tcPr marL="40987" marR="40987" marT="0" marB="52862" anchor="ctr">
                    <a:lnL w="0">
                      <a:noFill/>
                    </a:lnL>
                    <a:lnR w="0">
                      <a:noFill/>
                    </a:lnR>
                    <a:lnT w="0">
                      <a:noFill/>
                    </a:lnT>
                    <a:lnB w="0">
                      <a:noFill/>
                    </a:lnB>
                    <a:noFill/>
                  </a:tcPr>
                </a:tc>
                <a:tc>
                  <a:txBody>
                    <a:bodyPr/>
                    <a:lstStyle/>
                    <a:p>
                      <a:pPr algn="r"/>
                      <a:r>
                        <a:rPr sz="800" b="0">
                          <a:solidFill>
                            <a:srgbClr val="011C40"/>
                          </a:solidFill>
                          <a:latin typeface="Garamond"/>
                        </a:rPr>
                        <a:t>0.0%</a:t>
                      </a:r>
                    </a:p>
                  </a:txBody>
                  <a:tcPr marL="40987" marR="40987" marT="0" marB="52862" anchor="ctr">
                    <a:lnL w="0">
                      <a:noFill/>
                    </a:lnL>
                    <a:lnR w="0">
                      <a:noFill/>
                    </a:lnR>
                    <a:lnT w="0">
                      <a:noFill/>
                    </a:lnT>
                    <a:lnB w="0">
                      <a:noFill/>
                    </a:lnB>
                    <a:noFill/>
                  </a:tcPr>
                </a:tc>
                <a:tc>
                  <a:txBody>
                    <a:bodyPr/>
                    <a:lstStyle/>
                    <a:p>
                      <a:pPr algn="l"/>
                      <a:r>
                        <a:rPr sz="800" b="0">
                          <a:solidFill>
                            <a:srgbClr val="011C40"/>
                          </a:solidFill>
                          <a:latin typeface="Garamond"/>
                        </a:rPr>
                        <a:t>Investment break-even</a:t>
                      </a:r>
                    </a:p>
                  </a:txBody>
                  <a:tcPr marL="152400" marR="40987" marT="0" marB="52862" anchor="ctr">
                    <a:lnL w="0">
                      <a:noFill/>
                    </a:lnL>
                    <a:lnR w="0">
                      <a:noFill/>
                    </a:lnR>
                    <a:lnT w="0">
                      <a:noFill/>
                    </a:lnT>
                    <a:lnB w="0">
                      <a:noFill/>
                    </a:lnB>
                    <a:noFill/>
                  </a:tcPr>
                </a:tc>
                <a:extLst>
                  <a:ext uri="{0D108BD9-81ED-4DB2-BD59-A6C34878D82A}">
                    <a16:rowId xmlns:a16="http://schemas.microsoft.com/office/drawing/2014/main" val="10006"/>
                  </a:ext>
                </a:extLst>
              </a:tr>
              <a:tr h="280831">
                <a:tc>
                  <a:txBody>
                    <a:bodyPr/>
                    <a:lstStyle/>
                    <a:p>
                      <a:pPr algn="l"/>
                      <a:endParaRPr sz="800">
                        <a:latin typeface="Garamond"/>
                      </a:endParaRPr>
                    </a:p>
                  </a:txBody>
                  <a:tcPr marL="40987" marR="40987" marT="138764" marB="0" anchor="ctr">
                    <a:lnL w="0">
                      <a:noFill/>
                    </a:lnL>
                    <a:lnR w="0">
                      <a:noFill/>
                    </a:lnR>
                    <a:lnT w="0">
                      <a:noFill/>
                    </a:lnT>
                    <a:lnB w="0">
                      <a:noFill/>
                    </a:lnB>
                    <a:noFill/>
                  </a:tcPr>
                </a:tc>
                <a:tc>
                  <a:txBody>
                    <a:bodyPr/>
                    <a:lstStyle/>
                    <a:p>
                      <a:pPr algn="r"/>
                      <a:r>
                        <a:rPr sz="800" b="0">
                          <a:solidFill>
                            <a:srgbClr val="011C40"/>
                          </a:solidFill>
                          <a:latin typeface="Garamond"/>
                        </a:rPr>
                        <a:t>−572bp</a:t>
                      </a:r>
                    </a:p>
                  </a:txBody>
                  <a:tcPr marL="40987" marR="40987" marT="138764" marB="0" anchor="ctr">
                    <a:lnL w="0">
                      <a:noFill/>
                    </a:lnL>
                    <a:lnR w="0">
                      <a:noFill/>
                    </a:lnR>
                    <a:lnT w="0">
                      <a:noFill/>
                    </a:lnT>
                    <a:lnB w="0">
                      <a:noFill/>
                    </a:lnB>
                    <a:noFill/>
                  </a:tcPr>
                </a:tc>
                <a:tc>
                  <a:txBody>
                    <a:bodyPr/>
                    <a:lstStyle/>
                    <a:p>
                      <a:pPr algn="r"/>
                      <a:r>
                        <a:rPr sz="800" b="0">
                          <a:solidFill>
                            <a:srgbClr val="011C40"/>
                          </a:solidFill>
                          <a:latin typeface="Garamond"/>
                        </a:rPr>
                        <a:t>total loss</a:t>
                      </a:r>
                    </a:p>
                  </a:txBody>
                  <a:tcPr marL="40987" marR="40987" marT="138764" marB="0" anchor="ctr">
                    <a:lnL w="0">
                      <a:noFill/>
                    </a:lnL>
                    <a:lnR w="0">
                      <a:noFill/>
                    </a:lnR>
                    <a:lnT w="0">
                      <a:noFill/>
                    </a:lnT>
                    <a:lnB w="0">
                      <a:noFill/>
                    </a:lnB>
                    <a:noFill/>
                  </a:tcPr>
                </a:tc>
                <a:tc>
                  <a:txBody>
                    <a:bodyPr/>
                    <a:lstStyle/>
                    <a:p>
                      <a:pPr algn="l"/>
                      <a:r>
                        <a:rPr sz="800" b="0">
                          <a:solidFill>
                            <a:srgbClr val="011C40"/>
                          </a:solidFill>
                          <a:latin typeface="Garamond"/>
                        </a:rPr>
                        <a:t>Full impairment at expiry</a:t>
                      </a:r>
                    </a:p>
                  </a:txBody>
                  <a:tcPr marL="152400" marR="40987" marT="138764" marB="0" anchor="ctr">
                    <a:lnL w="0">
                      <a:noFill/>
                    </a:lnL>
                    <a:lnR w="0">
                      <a:noFill/>
                    </a:lnR>
                    <a:lnT w="0">
                      <a:noFill/>
                    </a:lnT>
                    <a:lnB w="0">
                      <a:noFill/>
                    </a:lnB>
                    <a:noFill/>
                  </a:tcPr>
                </a:tc>
                <a:extLst>
                  <a:ext uri="{0D108BD9-81ED-4DB2-BD59-A6C34878D82A}">
                    <a16:rowId xmlns:a16="http://schemas.microsoft.com/office/drawing/2014/main" val="10007"/>
                  </a:ext>
                </a:extLst>
              </a:tr>
              <a:tr h="142068">
                <a:tc>
                  <a:txBody>
                    <a:bodyPr/>
                    <a:lstStyle/>
                    <a:p>
                      <a:pPr algn="l"/>
                      <a:endParaRPr sz="800">
                        <a:latin typeface="Garamond"/>
                      </a:endParaRPr>
                    </a:p>
                  </a:txBody>
                  <a:tcPr marL="40987" marR="40987" marT="0" marB="0" anchor="ctr">
                    <a:lnL w="0">
                      <a:noFill/>
                    </a:lnL>
                    <a:lnR w="0">
                      <a:noFill/>
                    </a:lnR>
                    <a:lnT w="0">
                      <a:noFill/>
                    </a:lnT>
                    <a:lnB w="6350">
                      <a:solidFill>
                        <a:srgbClr val="D9D9D9"/>
                      </a:solidFill>
                    </a:lnB>
                    <a:noFill/>
                  </a:tcPr>
                </a:tc>
                <a:tc>
                  <a:txBody>
                    <a:bodyPr/>
                    <a:lstStyle/>
                    <a:p>
                      <a:pPr algn="r"/>
                      <a:r>
                        <a:rPr sz="800" b="0">
                          <a:solidFill>
                            <a:srgbClr val="011C40"/>
                          </a:solidFill>
                          <a:latin typeface="Garamond"/>
                        </a:rPr>
                        <a:t>−615bp</a:t>
                      </a:r>
                    </a:p>
                  </a:txBody>
                  <a:tcPr marL="40987" marR="40987" marT="0" marB="0" anchor="ctr">
                    <a:lnL w="0">
                      <a:noFill/>
                    </a:lnL>
                    <a:lnR w="0">
                      <a:noFill/>
                    </a:lnR>
                    <a:lnT w="0">
                      <a:noFill/>
                    </a:lnT>
                    <a:lnB w="6350">
                      <a:solidFill>
                        <a:srgbClr val="D9D9D9"/>
                      </a:solidFill>
                    </a:lnB>
                    <a:noFill/>
                  </a:tcPr>
                </a:tc>
                <a:tc>
                  <a:txBody>
                    <a:bodyPr/>
                    <a:lstStyle/>
                    <a:p>
                      <a:pPr algn="r"/>
                      <a:r>
                        <a:rPr sz="800" b="0" dirty="0">
                          <a:solidFill>
                            <a:srgbClr val="011C40"/>
                          </a:solidFill>
                          <a:latin typeface="Garamond"/>
                        </a:rPr>
                        <a:t>total loss</a:t>
                      </a:r>
                    </a:p>
                  </a:txBody>
                  <a:tcPr marL="40987" marR="40987" marT="0" marB="0" anchor="ctr">
                    <a:lnL w="0">
                      <a:noFill/>
                    </a:lnL>
                    <a:lnR w="0">
                      <a:noFill/>
                    </a:lnR>
                    <a:lnT w="0">
                      <a:noFill/>
                    </a:lnT>
                    <a:lnB w="6350">
                      <a:solidFill>
                        <a:srgbClr val="D9D9D9"/>
                      </a:solidFill>
                    </a:lnB>
                    <a:noFill/>
                  </a:tcPr>
                </a:tc>
                <a:tc>
                  <a:txBody>
                    <a:bodyPr/>
                    <a:lstStyle/>
                    <a:p>
                      <a:pPr algn="l"/>
                      <a:r>
                        <a:rPr sz="800" b="0" dirty="0">
                          <a:solidFill>
                            <a:srgbClr val="011C40"/>
                          </a:solidFill>
                          <a:latin typeface="Garamond"/>
                        </a:rPr>
                        <a:t>Italy's 1-year point at its euro-crisis low, 9 Nov 2011</a:t>
                      </a:r>
                    </a:p>
                  </a:txBody>
                  <a:tcPr marL="152400" marR="40987" marT="0" marB="0" anchor="ctr">
                    <a:lnL w="0">
                      <a:noFill/>
                    </a:lnL>
                    <a:lnR w="0">
                      <a:noFill/>
                    </a:lnR>
                    <a:lnT w="0">
                      <a:noFill/>
                    </a:lnT>
                    <a:lnB w="6350">
                      <a:solidFill>
                        <a:srgbClr val="D9D9D9"/>
                      </a:solidFill>
                    </a:lnB>
                    <a:noFill/>
                  </a:tcPr>
                </a:tc>
                <a:extLst>
                  <a:ext uri="{0D108BD9-81ED-4DB2-BD59-A6C34878D82A}">
                    <a16:rowId xmlns:a16="http://schemas.microsoft.com/office/drawing/2014/main" val="10008"/>
                  </a:ext>
                </a:extLst>
              </a:tr>
            </a:tbl>
          </a:graphicData>
        </a:graphic>
      </p:graphicFrame>
      <p:sp>
        <p:nvSpPr>
          <p:cNvPr id="221" name="Oval 24">
            <a:extLst>
              <a:ext uri="{FF2B5EF4-FFF2-40B4-BE49-F238E27FC236}">
                <a16:creationId xmlns:a16="http://schemas.microsoft.com/office/drawing/2014/main" id="{547ABA3B-8EC7-B7AB-5170-6E89EF666F01}"/>
              </a:ext>
            </a:extLst>
          </p:cNvPr>
          <p:cNvSpPr/>
          <p:nvPr/>
        </p:nvSpPr>
        <p:spPr>
          <a:xfrm>
            <a:off x="4309110" y="2011912"/>
            <a:ext cx="81975" cy="81975"/>
          </a:xfrm>
          <a:prstGeom prst="ellipse">
            <a:avLst/>
          </a:prstGeom>
          <a:solidFill>
            <a:srgbClr val="2C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3" name="Oval 26">
            <a:extLst>
              <a:ext uri="{FF2B5EF4-FFF2-40B4-BE49-F238E27FC236}">
                <a16:creationId xmlns:a16="http://schemas.microsoft.com/office/drawing/2014/main" id="{A098C3F2-7DF9-EE13-283D-709AE3334C0D}"/>
              </a:ext>
            </a:extLst>
          </p:cNvPr>
          <p:cNvSpPr/>
          <p:nvPr/>
        </p:nvSpPr>
        <p:spPr>
          <a:xfrm>
            <a:off x="4309110" y="2147373"/>
            <a:ext cx="81975" cy="81975"/>
          </a:xfrm>
          <a:prstGeom prst="ellipse">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4" name="Oval 27">
            <a:extLst>
              <a:ext uri="{FF2B5EF4-FFF2-40B4-BE49-F238E27FC236}">
                <a16:creationId xmlns:a16="http://schemas.microsoft.com/office/drawing/2014/main" id="{C996ECDF-7342-CDBC-D040-51D3D2EEC3B2}"/>
              </a:ext>
            </a:extLst>
          </p:cNvPr>
          <p:cNvSpPr/>
          <p:nvPr/>
        </p:nvSpPr>
        <p:spPr>
          <a:xfrm>
            <a:off x="4309110" y="2378646"/>
            <a:ext cx="81975" cy="81975"/>
          </a:xfrm>
          <a:prstGeom prst="ellipse">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5" name="Oval 28">
            <a:extLst>
              <a:ext uri="{FF2B5EF4-FFF2-40B4-BE49-F238E27FC236}">
                <a16:creationId xmlns:a16="http://schemas.microsoft.com/office/drawing/2014/main" id="{EA5F0618-0F13-FD4B-DACE-F74304C2F399}"/>
              </a:ext>
            </a:extLst>
          </p:cNvPr>
          <p:cNvSpPr/>
          <p:nvPr/>
        </p:nvSpPr>
        <p:spPr>
          <a:xfrm>
            <a:off x="4309110" y="3260789"/>
            <a:ext cx="81975" cy="81975"/>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6" name="Oval 29">
            <a:extLst>
              <a:ext uri="{FF2B5EF4-FFF2-40B4-BE49-F238E27FC236}">
                <a16:creationId xmlns:a16="http://schemas.microsoft.com/office/drawing/2014/main" id="{C6FF9776-78C5-6556-D895-F31F349105A4}"/>
              </a:ext>
            </a:extLst>
          </p:cNvPr>
          <p:cNvSpPr/>
          <p:nvPr/>
        </p:nvSpPr>
        <p:spPr>
          <a:xfrm>
            <a:off x="4309110" y="3574659"/>
            <a:ext cx="81975" cy="81975"/>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7" name="Oval 30">
            <a:extLst>
              <a:ext uri="{FF2B5EF4-FFF2-40B4-BE49-F238E27FC236}">
                <a16:creationId xmlns:a16="http://schemas.microsoft.com/office/drawing/2014/main" id="{4B74DB4D-06D5-DF6D-7468-B740D72CD2A7}"/>
              </a:ext>
            </a:extLst>
          </p:cNvPr>
          <p:cNvSpPr/>
          <p:nvPr/>
        </p:nvSpPr>
        <p:spPr>
          <a:xfrm>
            <a:off x="4309110" y="3994255"/>
            <a:ext cx="81975" cy="81975"/>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28" name="Oval 31">
            <a:extLst>
              <a:ext uri="{FF2B5EF4-FFF2-40B4-BE49-F238E27FC236}">
                <a16:creationId xmlns:a16="http://schemas.microsoft.com/office/drawing/2014/main" id="{078A50FF-2156-4BDC-5938-D9B5C10DA15A}"/>
              </a:ext>
            </a:extLst>
          </p:cNvPr>
          <p:cNvSpPr/>
          <p:nvPr/>
        </p:nvSpPr>
        <p:spPr>
          <a:xfrm>
            <a:off x="4309110" y="4136323"/>
            <a:ext cx="81975" cy="81975"/>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Garamond"/>
            </a:endParaRPr>
          </a:p>
        </p:txBody>
      </p:sp>
      <p:sp>
        <p:nvSpPr>
          <p:cNvPr id="230" name="TextBox 33">
            <a:extLst>
              <a:ext uri="{FF2B5EF4-FFF2-40B4-BE49-F238E27FC236}">
                <a16:creationId xmlns:a16="http://schemas.microsoft.com/office/drawing/2014/main" id="{EF78846A-FDCF-91A0-1B57-1FCD313F02F8}"/>
              </a:ext>
            </a:extLst>
          </p:cNvPr>
          <p:cNvSpPr txBox="1"/>
          <p:nvPr/>
        </p:nvSpPr>
        <p:spPr>
          <a:xfrm>
            <a:off x="1783080" y="4663440"/>
            <a:ext cx="6766560" cy="104452"/>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p>
        </p:txBody>
      </p:sp>
      <p:sp>
        <p:nvSpPr>
          <p:cNvPr id="231" name="Slide Number Placeholder">
            <a:extLst>
              <a:ext uri="{FF2B5EF4-FFF2-40B4-BE49-F238E27FC236}">
                <a16:creationId xmlns:a16="http://schemas.microsoft.com/office/drawing/2014/main" id="{2B1FEE4E-C44E-7656-EA3E-DE1296F6484B}"/>
              </a:ext>
            </a:extLst>
          </p:cNvPr>
          <p:cNvSpPr>
            <a:spLocks noGrp="1"/>
          </p:cNvSpPr>
          <p:nvPr>
            <p:ph type="sldNum" sz="quarter" idx="12"/>
          </p:nvPr>
        </p:nvSpPr>
        <p:spPr/>
        <p:txBody>
          <a:bodyPr/>
          <a:lstStyle/>
          <a:p>
            <a:fld id="{F6B70E3D-0A47-44A9-8B13-A3D1BC88A914}" type="slidenum">
              <a:rPr lang="en-US"/>
              <a:t>7</a:t>
            </a:fld>
            <a:endParaRPr lang="en-US"/>
          </a:p>
        </p:txBody>
      </p:sp>
    </p:spTree>
    <p:extLst>
      <p:ext uri="{BB962C8B-B14F-4D97-AF65-F5344CB8AC3E}">
        <p14:creationId xmlns:p14="http://schemas.microsoft.com/office/powerpoint/2010/main" val="295980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Risk: Italy and Spain During Euro Crisis</a:t>
            </a:r>
          </a:p>
        </p:txBody>
      </p:sp>
      <p:sp>
        <p:nvSpPr>
          <p:cNvPr id="202" name="Subheading"/>
          <p:cNvSpPr txBox="1"/>
          <p:nvPr/>
        </p:nvSpPr>
        <p:spPr>
          <a:xfrm>
            <a:off x="720090" y="1219200"/>
            <a:ext cx="7955279" cy="274320"/>
          </a:xfrm>
          <a:prstGeom prst="rect">
            <a:avLst/>
          </a:prstGeom>
          <a:noFill/>
        </p:spPr>
        <p:txBody>
          <a:bodyPr wrap="square" lIns="0" tIns="0" rIns="0" bIns="0" anchor="t">
            <a:normAutofit/>
          </a:bodyPr>
          <a:lstStyle/>
          <a:p>
            <a:pPr algn="l">
              <a:lnSpc>
                <a:spcPct val="95000"/>
              </a:lnSpc>
            </a:pPr>
            <a:r>
              <a:rPr lang="en-US" sz="1200" b="1" dirty="0">
                <a:solidFill>
                  <a:srgbClr val="262626"/>
                </a:solidFill>
                <a:latin typeface="Garamond"/>
              </a:rPr>
              <a:t>Our structure rolls into a 1-year swap spread at expiry</a:t>
            </a:r>
          </a:p>
        </p:txBody>
      </p:sp>
      <p:graphicFrame>
        <p:nvGraphicFramePr>
          <p:cNvPr id="203" name="Chart 6"/>
          <p:cNvGraphicFramePr>
            <a:graphicFrameLocks noGrp="1"/>
          </p:cNvGraphicFramePr>
          <p:nvPr>
            <p:extLst>
              <p:ext uri="{D42A27DB-BD31-4B8C-83A1-F6EECF244321}">
                <p14:modId xmlns:p14="http://schemas.microsoft.com/office/powerpoint/2010/main" val="4114620348"/>
              </p:ext>
            </p:extLst>
          </p:nvPr>
        </p:nvGraphicFramePr>
        <p:xfrm>
          <a:off x="1691641" y="1694857"/>
          <a:ext cx="5464454" cy="2898407"/>
        </p:xfrm>
        <a:graphic>
          <a:graphicData uri="http://schemas.openxmlformats.org/drawingml/2006/chart">
            <c:chart xmlns:c="http://schemas.openxmlformats.org/drawingml/2006/chart" xmlns:r="http://schemas.openxmlformats.org/officeDocument/2006/relationships" r:id="rId2"/>
          </a:graphicData>
        </a:graphic>
      </p:graphicFrame>
      <p:sp>
        <p:nvSpPr>
          <p:cNvPr id="213" name="TextBox 16"/>
          <p:cNvSpPr txBox="1"/>
          <p:nvPr/>
        </p:nvSpPr>
        <p:spPr>
          <a:xfrm>
            <a:off x="1783080" y="4663440"/>
            <a:ext cx="4826000" cy="104452"/>
          </a:xfrm>
          <a:prstGeom prst="rect">
            <a:avLst/>
          </a:prstGeom>
          <a:noFill/>
        </p:spPr>
        <p:txBody>
          <a:bodyPr wrap="square" lIns="0" tIns="0" rIns="0" bIns="0" anchor="t">
            <a:spAutoFit/>
          </a:bodyPr>
          <a:lstStyle/>
          <a:p>
            <a:pPr algn="l">
              <a:lnSpc>
                <a:spcPct val="108000"/>
              </a:lnSpc>
              <a:spcAft>
                <a:spcPts val="0"/>
              </a:spcAft>
            </a:pPr>
            <a:r>
              <a:rPr sz="650" b="0" i="0" dirty="0">
                <a:solidFill>
                  <a:srgbClr val="595959"/>
                </a:solidFill>
                <a:latin typeface="Garamond"/>
              </a:rPr>
              <a:t>Source: Bloomberg, Liminality calculations.</a:t>
            </a:r>
          </a:p>
        </p:txBody>
      </p:sp>
      <p:sp>
        <p:nvSpPr>
          <p:cNvPr id="214" name="Slide Number Placeholder"/>
          <p:cNvSpPr>
            <a:spLocks noGrp="1"/>
          </p:cNvSpPr>
          <p:nvPr>
            <p:ph type="sldNum" sz="quarter" idx="12"/>
          </p:nvPr>
        </p:nvSpPr>
        <p:spPr/>
        <p:txBody>
          <a:bodyPr/>
          <a:lstStyle/>
          <a:p>
            <a:fld id="{F6B70E3D-0A47-44A9-8B13-A3D1BC88A914}" type="slidenum">
              <a:rPr lang="en-US"/>
              <a:t>8</a:t>
            </a:fld>
            <a:endParaRPr lang="en-US"/>
          </a:p>
        </p:txBody>
      </p:sp>
      <p:sp>
        <p:nvSpPr>
          <p:cNvPr id="7" name="Subheading">
            <a:extLst>
              <a:ext uri="{FF2B5EF4-FFF2-40B4-BE49-F238E27FC236}">
                <a16:creationId xmlns:a16="http://schemas.microsoft.com/office/drawing/2014/main" id="{F178C60A-FAB8-A6D2-2B73-B9CFF269A9DD}"/>
              </a:ext>
            </a:extLst>
          </p:cNvPr>
          <p:cNvSpPr txBox="1"/>
          <p:nvPr/>
        </p:nvSpPr>
        <p:spPr>
          <a:xfrm>
            <a:off x="2476846" y="1560245"/>
            <a:ext cx="7955279" cy="274320"/>
          </a:xfrm>
          <a:prstGeom prst="rect">
            <a:avLst/>
          </a:prstGeom>
          <a:noFill/>
        </p:spPr>
        <p:txBody>
          <a:bodyPr wrap="square" lIns="0" tIns="0" rIns="0" bIns="0" anchor="t">
            <a:normAutofit/>
          </a:bodyPr>
          <a:lstStyle/>
          <a:p>
            <a:pPr algn="l">
              <a:lnSpc>
                <a:spcPct val="95000"/>
              </a:lnSpc>
            </a:pPr>
            <a:r>
              <a:rPr lang="en-US" sz="1100" b="1" dirty="0">
                <a:solidFill>
                  <a:srgbClr val="262626"/>
                </a:solidFill>
                <a:latin typeface="Garamond"/>
              </a:rPr>
              <a:t>1-year swap spreads versus 6m Euribor, weekly, 2010 to 2013</a:t>
            </a:r>
          </a:p>
        </p:txBody>
      </p:sp>
    </p:spTree>
    <p:extLst>
      <p:ext uri="{BB962C8B-B14F-4D97-AF65-F5344CB8AC3E}">
        <p14:creationId xmlns:p14="http://schemas.microsoft.com/office/powerpoint/2010/main" val="2901244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a:spLocks noGrp="1"/>
          </p:cNvSpPr>
          <p:nvPr>
            <p:ph type="title"/>
          </p:nvPr>
        </p:nvSpPr>
        <p:spPr/>
        <p:txBody>
          <a:bodyPr>
            <a:normAutofit/>
          </a:bodyPr>
          <a:lstStyle/>
          <a:p>
            <a:r>
              <a:rPr lang="en-US" sz="2400" dirty="0"/>
              <a:t>[Risks]</a:t>
            </a:r>
          </a:p>
        </p:txBody>
      </p:sp>
      <p:sp>
        <p:nvSpPr>
          <p:cNvPr id="216" name="Slide Number Placeholder"/>
          <p:cNvSpPr>
            <a:spLocks noGrp="1"/>
          </p:cNvSpPr>
          <p:nvPr>
            <p:ph type="sldNum" sz="quarter" idx="12"/>
          </p:nvPr>
        </p:nvSpPr>
        <p:spPr/>
        <p:txBody>
          <a:bodyPr/>
          <a:lstStyle/>
          <a:p>
            <a:fld id="{F6B70E3D-0A47-44A9-8B13-A3D1BC88A914}" type="slidenum">
              <a:rPr lang="en-US"/>
              <a:t>9</a:t>
            </a:fld>
            <a:endParaRPr lang="en-US"/>
          </a:p>
        </p:txBody>
      </p:sp>
      <p:sp>
        <p:nvSpPr>
          <p:cNvPr id="7" name="TextBox 9">
            <a:extLst>
              <a:ext uri="{FF2B5EF4-FFF2-40B4-BE49-F238E27FC236}">
                <a16:creationId xmlns:a16="http://schemas.microsoft.com/office/drawing/2014/main" id="{17AC5491-CEC7-F6EA-E813-5D29A7E8076B}"/>
              </a:ext>
            </a:extLst>
          </p:cNvPr>
          <p:cNvSpPr txBox="1"/>
          <p:nvPr/>
        </p:nvSpPr>
        <p:spPr>
          <a:xfrm>
            <a:off x="986184" y="1403522"/>
            <a:ext cx="5162571" cy="1381597"/>
          </a:xfrm>
          <a:prstGeom prst="rect">
            <a:avLst/>
          </a:prstGeom>
          <a:noFill/>
        </p:spPr>
        <p:txBody>
          <a:bodyPr wrap="square" lIns="0" tIns="0" rIns="0" bIns="0" anchor="t">
            <a:spAutoFit/>
          </a:bodyPr>
          <a:lstStyle/>
          <a:p>
            <a:pPr marL="228600" indent="-228600" algn="l">
              <a:lnSpc>
                <a:spcPct val="112000"/>
              </a:lnSpc>
              <a:spcAft>
                <a:spcPts val="0"/>
              </a:spcAft>
              <a:buFont typeface="Arial" panose="020B0604020202020204" pitchFamily="34" charset="0"/>
              <a:buChar char="•"/>
            </a:pPr>
            <a:r>
              <a:rPr lang="en-US" sz="1200" b="1" i="0" dirty="0">
                <a:solidFill>
                  <a:srgbClr val="011C40"/>
                </a:solidFill>
                <a:latin typeface="Garamond"/>
              </a:rPr>
              <a:t>Near Term Mark to Market</a:t>
            </a:r>
          </a:p>
          <a:p>
            <a:pPr marL="228600" indent="-228600" algn="l">
              <a:lnSpc>
                <a:spcPct val="112000"/>
              </a:lnSpc>
              <a:spcAft>
                <a:spcPts val="0"/>
              </a:spcAft>
              <a:buFont typeface="Arial" panose="020B0604020202020204" pitchFamily="34" charset="0"/>
              <a:buChar char="•"/>
            </a:pPr>
            <a:endParaRPr lang="en-US" sz="1200" dirty="0">
              <a:solidFill>
                <a:srgbClr val="011C40"/>
              </a:solidFill>
              <a:latin typeface="Garamond"/>
            </a:endParaRPr>
          </a:p>
          <a:p>
            <a:pPr marL="228600" indent="-228600">
              <a:lnSpc>
                <a:spcPct val="112000"/>
              </a:lnSpc>
              <a:buFont typeface="Arial" panose="020B0604020202020204" pitchFamily="34" charset="0"/>
              <a:buChar char="•"/>
            </a:pPr>
            <a:r>
              <a:rPr lang="en-US" sz="1200" b="1" dirty="0">
                <a:solidFill>
                  <a:srgbClr val="011C40"/>
                </a:solidFill>
                <a:latin typeface="Garamond"/>
              </a:rPr>
              <a:t>At Expiry Dislocation to [Italy 2011 Levels] on our expiry date in Feb of 2031</a:t>
            </a:r>
            <a:endParaRPr lang="en-US" sz="1200" dirty="0">
              <a:solidFill>
                <a:srgbClr val="011C40"/>
              </a:solidFill>
              <a:latin typeface="Garamond"/>
            </a:endParaRPr>
          </a:p>
          <a:p>
            <a:pPr marL="228600" indent="-228600">
              <a:lnSpc>
                <a:spcPct val="112000"/>
              </a:lnSpc>
              <a:buFont typeface="Arial" panose="020B0604020202020204" pitchFamily="34" charset="0"/>
              <a:buChar char="•"/>
            </a:pPr>
            <a:endParaRPr lang="en-US" sz="1200" dirty="0">
              <a:solidFill>
                <a:srgbClr val="011C40"/>
              </a:solidFill>
              <a:latin typeface="Garamond"/>
            </a:endParaRPr>
          </a:p>
          <a:p>
            <a:pPr marL="228600" indent="-228600">
              <a:lnSpc>
                <a:spcPct val="112000"/>
              </a:lnSpc>
              <a:buFont typeface="Arial" panose="020B0604020202020204" pitchFamily="34" charset="0"/>
              <a:buChar char="•"/>
            </a:pPr>
            <a:r>
              <a:rPr lang="en-US" sz="1200" b="1" dirty="0">
                <a:solidFill>
                  <a:srgbClr val="011C40"/>
                </a:solidFill>
                <a:latin typeface="Garamond"/>
              </a:rPr>
              <a:t>Prior to Expiry crisis that leads to EU exit or default</a:t>
            </a:r>
            <a:endParaRPr lang="en-US" sz="1200" dirty="0">
              <a:solidFill>
                <a:srgbClr val="011C40"/>
              </a:solidFill>
              <a:latin typeface="Garamond"/>
            </a:endParaRPr>
          </a:p>
          <a:p>
            <a:pPr marL="228600" indent="-228600">
              <a:lnSpc>
                <a:spcPct val="112000"/>
              </a:lnSpc>
              <a:buFont typeface="Arial"/>
              <a:buAutoNum type="arabicPeriod"/>
            </a:pPr>
            <a:endParaRPr lang="en-US" sz="1200" dirty="0">
              <a:solidFill>
                <a:srgbClr val="011C40"/>
              </a:solidFill>
              <a:latin typeface="Garamond"/>
            </a:endParaRPr>
          </a:p>
          <a:p>
            <a:pPr marL="228600" indent="-228600" algn="l">
              <a:lnSpc>
                <a:spcPct val="112000"/>
              </a:lnSpc>
              <a:spcAft>
                <a:spcPts val="0"/>
              </a:spcAft>
              <a:buAutoNum type="arabicPeriod"/>
            </a:pPr>
            <a:endParaRPr sz="850" b="0" i="0" dirty="0">
              <a:solidFill>
                <a:srgbClr val="011C40"/>
              </a:solidFill>
              <a:latin typeface="Garamond"/>
            </a:endParaRPr>
          </a:p>
        </p:txBody>
      </p:sp>
    </p:spTree>
    <p:extLst>
      <p:ext uri="{BB962C8B-B14F-4D97-AF65-F5344CB8AC3E}">
        <p14:creationId xmlns:p14="http://schemas.microsoft.com/office/powerpoint/2010/main" val="335049204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vidends_v2" id="{56D19956-A5E6-4E61-B296-8A0BAA4F67C7}" vid="{BBA9B4DC-5569-4260-A357-39FE9E7D1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3B7708-103C-4AB3-BD83-0C3A963F1603}">
  <we:reference id="WA200010001" version="1.0.0.1" store="Omex" storeType="OMEX"/>
  <we:alternateReferences>
    <we:reference id="WA200010001" version="1.0.0.1" store="WA200010001" storeType="OMEX"/>
  </we:alternateReferences>
  <we:properties>
    <we:property name="claude.fileId" value="&quot;feb735f2-bf62-4664-b1d7-59656c52649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0b1cd37-714f-4ee7-8d09-352e1c2211e5" xsi:nil="true"/>
    <lcf76f155ced4ddcb4097134ff3c332f xmlns="ee892943-9abb-4ecc-84c4-6c4ebc2a981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6C65B0F106080448CC440CD0B47B642" ma:contentTypeVersion="15" ma:contentTypeDescription="Create a new document." ma:contentTypeScope="" ma:versionID="23b60c0138c00645af4788556affe79e">
  <xsd:schema xmlns:xsd="http://www.w3.org/2001/XMLSchema" xmlns:xs="http://www.w3.org/2001/XMLSchema" xmlns:p="http://schemas.microsoft.com/office/2006/metadata/properties" xmlns:ns2="ee892943-9abb-4ecc-84c4-6c4ebc2a981f" xmlns:ns3="c0b1cd37-714f-4ee7-8d09-352e1c2211e5" targetNamespace="http://schemas.microsoft.com/office/2006/metadata/properties" ma:root="true" ma:fieldsID="c477f695ed6b55cbc0570e427ce9046c" ns2:_="" ns3:_="">
    <xsd:import namespace="ee892943-9abb-4ecc-84c4-6c4ebc2a981f"/>
    <xsd:import namespace="c0b1cd37-714f-4ee7-8d09-352e1c2211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92943-9abb-4ecc-84c4-6c4ebc2a9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31d2bf-6c71-4737-8a02-ebc0833cf04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b1cd37-714f-4ee7-8d09-352e1c2211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58845c6b-5f9d-4c18-b6fe-ad977bf02bbd}" ma:internalName="TaxCatchAll" ma:showField="CatchAllData" ma:web="c0b1cd37-714f-4ee7-8d09-352e1c2211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386CA3-872E-4B23-960A-B564860DA50A}">
  <ds:schemaRefs>
    <ds:schemaRef ds:uri="http://schemas.microsoft.com/sharepoint/v3/contenttype/forms"/>
  </ds:schemaRefs>
</ds:datastoreItem>
</file>

<file path=customXml/itemProps2.xml><?xml version="1.0" encoding="utf-8"?>
<ds:datastoreItem xmlns:ds="http://schemas.openxmlformats.org/officeDocument/2006/customXml" ds:itemID="{9D238523-C039-4774-8025-800A7A57634C}">
  <ds:schemaRefs>
    <ds:schemaRef ds:uri="http://www.w3.org/XML/1998/namespace"/>
    <ds:schemaRef ds:uri="ee892943-9abb-4ecc-84c4-6c4ebc2a981f"/>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c0b1cd37-714f-4ee7-8d09-352e1c2211e5"/>
    <ds:schemaRef ds:uri="http://schemas.microsoft.com/office/2006/metadata/properties"/>
  </ds:schemaRefs>
</ds:datastoreItem>
</file>

<file path=customXml/itemProps3.xml><?xml version="1.0" encoding="utf-8"?>
<ds:datastoreItem xmlns:ds="http://schemas.openxmlformats.org/officeDocument/2006/customXml" ds:itemID="{706E7466-A0AC-4A00-9673-E73941EEB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92943-9abb-4ecc-84c4-6c4ebc2a981f"/>
    <ds:schemaRef ds:uri="c0b1cd37-714f-4ee7-8d09-352e1c2211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62625</TotalTime>
  <Words>1075</Words>
  <Application>Microsoft Office PowerPoint</Application>
  <PresentationFormat>On-screen Show (16:9)</PresentationFormat>
  <Paragraphs>104</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Garamond</vt:lpstr>
      <vt:lpstr>Cambria</vt:lpstr>
      <vt:lpstr>Helvetica Neue</vt:lpstr>
      <vt:lpstr>Custom Design</vt:lpstr>
      <vt:lpstr>French swap spreads A four-year option on the OAT swap spread, with non-recourse financing</vt:lpstr>
      <vt:lpstr>Disclaimer</vt:lpstr>
      <vt:lpstr>Liminality Capital</vt:lpstr>
      <vt:lpstr>Executive Summary: French Swap Spread Opportunity</vt:lpstr>
      <vt:lpstr>What is a Swap Spread?</vt:lpstr>
      <vt:lpstr>Current Dislocation</vt:lpstr>
      <vt:lpstr>Scenario Analysis: 4.4-Year IRR and Multiple of Capital At Expiry</vt:lpstr>
      <vt:lpstr>Risk: Italy and Spain During Euro Crisis</vt:lpstr>
      <vt:lpstr>[Risks]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Derr</dc:creator>
  <cp:lastModifiedBy>Jeffrey Begley</cp:lastModifiedBy>
  <cp:revision>106</cp:revision>
  <cp:lastPrinted>2025-06-25T14:55:21Z</cp:lastPrinted>
  <dcterms:modified xsi:type="dcterms:W3CDTF">2026-10-07T10:32:52Z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0x01010076C65B0F106080448CC440CD0B47B642</vt:lpwstr>
  </property>
  <property fmtid="{D5CDD505-2E9C-101B-9397-08002B2CF9AE}" pid="3" name="MediaServiceImageTags">
    <vt:lpwstr/>
  </property>
</Properties>
</file>