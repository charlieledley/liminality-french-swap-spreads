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pack is a review proposal. It replaces selected pages, not the entire original deck. Model values are carried over from the source and remain unverified. Final pricing, documentation, capital composition and event settlement must be supplied before circulation. See the companion review for all 23 original slide assessments.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“roll alone returns 42%” with comparison against the no-roll scenario. At 4.05x no roll and 4.75x roll-to-spot, most modelled return is attributable to the financed package. Investment maximum loss is not validated without the contract. Multiples are gross of fees and conditional on the full model assumptions. They are not expected returns.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deck does not specify whether the floor is on terminal value, cumulative TRS return, a bond price or a spread. Add actual forward level, strike, premium/collateral split, no-margin terms, bank identity/credit support, early-termination and credit-event provisions. Do not equate investment break-even with option strike. The funding base and swap hedge notional are missing. The actual contract must specify settlement at expiry, not assume a further year of funded holding.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correct euro reconciliation needs actual clean/dirty entry price, €100m face, swap fixed rate/notional and schedules, funding principal/rate/reset/payment convention, coupon reinvestment/distribution, floor settlement, premium and collateral, fees and exit costs. Do not claim current par-curve basis equals future realized six-month Euribor minus €STR carry. Do not fabricate a waterfall from the scenario multiples.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deck unnecessarily treats swap spreads as either credit or plumbing. Euribor benchmark, sovereign fundamentals, bond liquidity/collateral, supply and swap demand all matter. Bulgaria joined on 1 January 2026, bringing the euro area to 21 members; 2025 annual data can still use EA20. Sources: Eurostat April 2026 release; EMMI Euribor methodology; ECB redenomination research. Do not infer absence of any credit risk for US/UK debt.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points below are a schematic using the deck’s approximate matched entry and interpolated one-year scenario. They are not a newly observed yield/spread curve. On the source table, 4.75x versus 4.05x is a 0.70x difference. Pull-to-par concerns a performing bond’s price, not a necessary narrowing of its yield spread. Retain an explicit default/credit-event scenario.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values are copied from the original table, not independently repriced. The line only joins supplied scenario points and is not a contractual payoff formula. Do not add IRR until dated cash flows reconcile. At terminal-only 4.40-year holding period, 1.82x is about 14.6%, not 14.0%; 4.75x is about 42.5%, versus 42.3% shown. The spread thresholds are model outcomes and are not established contractual strike levels.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ECB TPI announcement of 21 July 2022, OMT technical features of 6 September 2012, ECB programme pages, European Commission France EDP page. The exact TPI fiscal criterion allows an EDP country if it has not been assessed as failing effective action; do not call France automatically ineligible. OMT requires an appropriate EFSF/ESM programme. APP/PEPP reinvestments have ended. Systemic importance is a judgment supporting low default probability, not a repayment guarantee. Redenomination outcome is contract- and law-dependent.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election dates: French Ministry of Interior, 18 April and 2 May 2027. The October Budget 2027 dossier separates €54bn total effort from €43bn in financial bills. Exact poll snapshots and legal timetables belong in the appendix with archived primary evidence. Do not equate cancelling central-bank-held bonds with private OAT repudiation; explain any proposed connection. Retain current court advice for Le Pen eligibility and cassation timing.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risk slide contains [x] and bracketed drafting placeholders. Replace them completely. Default or EU exit is not necessary to lose all invested capital under the model; sufficiently adverse spread at expiry can do so. The maximum-loss and no-margin claims must be validated across all contractual events. Counterparty/sovereign wrong-way risk is relevant if the bank is exposed to the same crisis. Fund redemptions or liquidity needs can force early exit despite term financing.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allocation recommendation is made. If A percent of fund NAV is invested as the sleeve’s capital, a 4.75x gross result contributes A × (4.75−1), and total sleeve loss contributes −A, with other portfolio values unchanged and protection as intended. Outcomes are over the trade life, not annual NAV returns. Ignore fees, taxes, FX, rebalancing and other positions only for this pedagogical illustration. Replace with the actual proposal and liquidity/capacity details.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Quoted prices from the original: low 55.63 and high 93.75. At exact 141/100 face, common clean-price payoff net = 1.41(R−55.63)+(93.75−R). € terms per 100 face short. Approximate coupon-aware DV01 ratio 1.406 is consistent with 141 rounded. Cash coupons total −3.795 per year before cash interest/financing; at 2.2% on released clean-price cash 15.3117, net is around −3.458 before financing. This is not the full economic carry. Include actual dirty prices, repo, short-borrow cost/recall, convexity/curve, event treatment and recovery conventions. Financing may prevent access to released cash. Common recovery is a hypothesis, not guaranteed by similar yields.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10312"/>
            <a:ext cx="9144000" cy="228600"/>
          </a:xfrm>
          <a:prstGeom prst="rect">
            <a:avLst/>
          </a:prstGeom>
          <a:noFill/>
        </p:spPr>
        <p:txBody>
          <a:bodyPr wrap="square" lIns="0" rIns="0" tIns="0" bIns="0">
            <a:spAutoFit/>
          </a:bodyPr>
          <a:lstStyle/>
          <a:p>
            <a:pPr>
              <a:spcAft>
                <a:spcPts val="800"/>
              </a:spcAft>
              <a:defRPr sz="1000" b="0">
                <a:solidFill>
                  <a:srgbClr val="677281"/>
                </a:solidFill>
                <a:latin typeface="Aptos"/>
              </a:defRPr>
            </a:pPr>
            <a:r>
              <a:t>LIMINALITY CAPITAL  /  PROPOSED REVISION</a:t>
            </a:r>
          </a:p>
        </p:txBody>
      </p:sp>
      <p:sp>
        <p:nvSpPr>
          <p:cNvPr id="3" name="TextBox 2"/>
          <p:cNvSpPr txBox="1"/>
          <p:nvPr/>
        </p:nvSpPr>
        <p:spPr>
          <a:xfrm>
            <a:off x="457200" y="685800"/>
            <a:ext cx="11155680" cy="868680"/>
          </a:xfrm>
          <a:prstGeom prst="rect">
            <a:avLst/>
          </a:prstGeom>
          <a:noFill/>
        </p:spPr>
        <p:txBody>
          <a:bodyPr wrap="square" lIns="0" rIns="0" tIns="0" bIns="0">
            <a:spAutoFit/>
          </a:bodyPr>
          <a:lstStyle/>
          <a:p>
            <a:pPr>
              <a:spcAft>
                <a:spcPts val="800"/>
              </a:spcAft>
              <a:defRPr sz="3000" b="1">
                <a:solidFill>
                  <a:srgbClr val="171F46"/>
                </a:solidFill>
                <a:latin typeface="Aptos"/>
              </a:defRPr>
            </a:pPr>
            <a:r>
              <a:t>Proposed slide replacements</a:t>
            </a:r>
          </a:p>
        </p:txBody>
      </p:sp>
      <p:sp>
        <p:nvSpPr>
          <p:cNvPr id="4" name="TextBox 3"/>
          <p:cNvSpPr txBox="1"/>
          <p:nvPr/>
        </p:nvSpPr>
        <p:spPr>
          <a:xfrm>
            <a:off x="457200" y="1490472"/>
            <a:ext cx="11155680" cy="640080"/>
          </a:xfrm>
          <a:prstGeom prst="rect">
            <a:avLst/>
          </a:prstGeom>
          <a:noFill/>
        </p:spPr>
        <p:txBody>
          <a:bodyPr wrap="square" lIns="0" rIns="0" tIns="0" bIns="0">
            <a:spAutoFit/>
          </a:bodyPr>
          <a:lstStyle/>
          <a:p>
            <a:pPr>
              <a:spcAft>
                <a:spcPts val="800"/>
              </a:spcAft>
              <a:defRPr sz="1600" b="0">
                <a:solidFill>
                  <a:srgbClr val="677281"/>
                </a:solidFill>
                <a:latin typeface="Aptos"/>
              </a:defRPr>
            </a:pPr>
            <a:r>
              <a:t>A clearer account of the trade, its assumptions and its downside</a:t>
            </a:r>
          </a:p>
        </p:txBody>
      </p:sp>
      <p:sp>
        <p:nvSpPr>
          <p:cNvPr id="5" name="Rectangle 4"/>
          <p:cNvSpPr/>
          <p:nvPr/>
        </p:nvSpPr>
        <p:spPr>
          <a:xfrm>
            <a:off x="457200" y="6382512"/>
            <a:ext cx="11247120" cy="18288"/>
          </a:xfrm>
          <a:prstGeom prst="rect">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1051560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Reviewer draft • Replacement pack • 6 October 2026</a:t>
            </a:r>
          </a:p>
        </p:txBody>
      </p:sp>
      <p:sp>
        <p:nvSpPr>
          <p:cNvPr id="7" name="TextBox 6"/>
          <p:cNvSpPr txBox="1"/>
          <p:nvPr/>
        </p:nvSpPr>
        <p:spPr>
          <a:xfrm>
            <a:off x="11292840" y="6473952"/>
            <a:ext cx="41148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1</a:t>
            </a:r>
          </a:p>
        </p:txBody>
      </p:sp>
      <p:sp>
        <p:nvSpPr>
          <p:cNvPr id="8" name="TextBox 7"/>
          <p:cNvSpPr txBox="1"/>
          <p:nvPr/>
        </p:nvSpPr>
        <p:spPr>
          <a:xfrm>
            <a:off x="640080" y="2560320"/>
            <a:ext cx="10789920" cy="1097280"/>
          </a:xfrm>
          <a:prstGeom prst="rect">
            <a:avLst/>
          </a:prstGeom>
          <a:noFill/>
        </p:spPr>
        <p:txBody>
          <a:bodyPr wrap="square" lIns="0" rIns="0" tIns="0" bIns="0">
            <a:spAutoFit/>
          </a:bodyPr>
          <a:lstStyle/>
          <a:p>
            <a:pPr>
              <a:spcAft>
                <a:spcPts val="800"/>
              </a:spcAft>
              <a:defRPr sz="2900" b="1">
                <a:solidFill>
                  <a:srgbClr val="171F46"/>
                </a:solidFill>
                <a:latin typeface="Aptos"/>
              </a:defRPr>
            </a:pPr>
            <a:r>
              <a:t>The investment case should lead with the financed package and its documented payoff.</a:t>
            </a:r>
          </a:p>
        </p:txBody>
      </p:sp>
      <p:sp>
        <p:nvSpPr>
          <p:cNvPr id="9" name="TextBox 8"/>
          <p:cNvSpPr txBox="1"/>
          <p:nvPr/>
        </p:nvSpPr>
        <p:spPr>
          <a:xfrm>
            <a:off x="640080" y="3931920"/>
            <a:ext cx="10789920" cy="914400"/>
          </a:xfrm>
          <a:prstGeom prst="rect">
            <a:avLst/>
          </a:prstGeom>
          <a:noFill/>
        </p:spPr>
        <p:txBody>
          <a:bodyPr wrap="square" lIns="0" rIns="0" tIns="0" bIns="0">
            <a:spAutoFit/>
          </a:bodyPr>
          <a:lstStyle/>
          <a:p>
            <a:pPr>
              <a:spcAft>
                <a:spcPts val="800"/>
              </a:spcAft>
              <a:defRPr sz="2200" b="0">
                <a:solidFill>
                  <a:srgbClr val="263344"/>
                </a:solidFill>
                <a:latin typeface="Aptos"/>
              </a:defRPr>
            </a:pPr>
            <a:r>
              <a:t>Keep the thesis and visual identity. Rebuild the mechanics, return attribution, policy argument, scenario page and risk page.</a:t>
            </a:r>
          </a:p>
        </p:txBody>
      </p:sp>
      <p:sp>
        <p:nvSpPr>
          <p:cNvPr id="10" name="Rectangle 9"/>
          <p:cNvSpPr/>
          <p:nvPr/>
        </p:nvSpPr>
        <p:spPr>
          <a:xfrm>
            <a:off x="640080" y="5257800"/>
            <a:ext cx="10789920" cy="685800"/>
          </a:xfrm>
          <a:prstGeom prst="rect">
            <a:avLst/>
          </a:prstGeom>
          <a:solidFill>
            <a:srgbClr val="FF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468112"/>
            <a:ext cx="10378440" cy="320040"/>
          </a:xfrm>
          <a:prstGeom prst="rect">
            <a:avLst/>
          </a:prstGeom>
          <a:noFill/>
        </p:spPr>
        <p:txBody>
          <a:bodyPr wrap="square" lIns="0" rIns="0" tIns="0" bIns="0">
            <a:spAutoFit/>
          </a:bodyPr>
          <a:lstStyle/>
          <a:p>
            <a:pPr>
              <a:spcAft>
                <a:spcPts val="800"/>
              </a:spcAft>
              <a:defRPr sz="1500" b="1">
                <a:solidFill>
                  <a:srgbClr val="865B17"/>
                </a:solidFill>
                <a:latin typeface="Aptos"/>
              </a:defRPr>
            </a:pPr>
            <a:r>
              <a:t>Model outcomes remain manager-supplied. This is not an investor-ready final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10312"/>
            <a:ext cx="9144000" cy="228600"/>
          </a:xfrm>
          <a:prstGeom prst="rect">
            <a:avLst/>
          </a:prstGeom>
          <a:noFill/>
        </p:spPr>
        <p:txBody>
          <a:bodyPr wrap="square" lIns="0" rIns="0" tIns="0" bIns="0">
            <a:spAutoFit/>
          </a:bodyPr>
          <a:lstStyle/>
          <a:p>
            <a:pPr>
              <a:spcAft>
                <a:spcPts val="800"/>
              </a:spcAft>
              <a:defRPr sz="1000" b="0">
                <a:solidFill>
                  <a:srgbClr val="677281"/>
                </a:solidFill>
                <a:latin typeface="Aptos"/>
              </a:defRPr>
            </a:pPr>
            <a:r>
              <a:t>LIMINALITY CAPITAL  /  PROPOSED REVISION</a:t>
            </a:r>
          </a:p>
        </p:txBody>
      </p:sp>
      <p:sp>
        <p:nvSpPr>
          <p:cNvPr id="3" name="TextBox 2"/>
          <p:cNvSpPr txBox="1"/>
          <p:nvPr/>
        </p:nvSpPr>
        <p:spPr>
          <a:xfrm>
            <a:off x="457200" y="685800"/>
            <a:ext cx="11155680" cy="868680"/>
          </a:xfrm>
          <a:prstGeom prst="rect">
            <a:avLst/>
          </a:prstGeom>
          <a:noFill/>
        </p:spPr>
        <p:txBody>
          <a:bodyPr wrap="square" lIns="0" rIns="0" tIns="0" bIns="0">
            <a:spAutoFit/>
          </a:bodyPr>
          <a:lstStyle/>
          <a:p>
            <a:pPr>
              <a:spcAft>
                <a:spcPts val="800"/>
              </a:spcAft>
              <a:defRPr sz="3000" b="1">
                <a:solidFill>
                  <a:srgbClr val="171F46"/>
                </a:solidFill>
                <a:latin typeface="Aptos"/>
              </a:defRPr>
            </a:pPr>
            <a:r>
              <a:t>A financed French spread opportunity</a:t>
            </a:r>
          </a:p>
        </p:txBody>
      </p:sp>
      <p:sp>
        <p:nvSpPr>
          <p:cNvPr id="4" name="TextBox 3"/>
          <p:cNvSpPr txBox="1"/>
          <p:nvPr/>
        </p:nvSpPr>
        <p:spPr>
          <a:xfrm>
            <a:off x="457200" y="1490472"/>
            <a:ext cx="11155680" cy="640080"/>
          </a:xfrm>
          <a:prstGeom prst="rect">
            <a:avLst/>
          </a:prstGeom>
          <a:noFill/>
        </p:spPr>
        <p:txBody>
          <a:bodyPr wrap="square" lIns="0" rIns="0" tIns="0" bIns="0">
            <a:spAutoFit/>
          </a:bodyPr>
          <a:lstStyle/>
          <a:p>
            <a:pPr>
              <a:spcAft>
                <a:spcPts val="800"/>
              </a:spcAft>
              <a:defRPr sz="1600" b="0">
                <a:solidFill>
                  <a:srgbClr val="677281"/>
                </a:solidFill>
                <a:latin typeface="Aptos"/>
              </a:defRPr>
            </a:pPr>
            <a:r>
              <a:t>Indicative exposure through 25 February 2031; market inputs 2 October 2026</a:t>
            </a:r>
          </a:p>
        </p:txBody>
      </p:sp>
      <p:sp>
        <p:nvSpPr>
          <p:cNvPr id="5" name="Rectangle 4"/>
          <p:cNvSpPr/>
          <p:nvPr/>
        </p:nvSpPr>
        <p:spPr>
          <a:xfrm>
            <a:off x="457200" y="6382512"/>
            <a:ext cx="11247120" cy="18288"/>
          </a:xfrm>
          <a:prstGeom prst="rect">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1051560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Reviewer draft • Replaces original slide 4 • 6 October 2026</a:t>
            </a:r>
          </a:p>
        </p:txBody>
      </p:sp>
      <p:sp>
        <p:nvSpPr>
          <p:cNvPr id="7" name="TextBox 6"/>
          <p:cNvSpPr txBox="1"/>
          <p:nvPr/>
        </p:nvSpPr>
        <p:spPr>
          <a:xfrm>
            <a:off x="11292840" y="6473952"/>
            <a:ext cx="41148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2</a:t>
            </a:r>
          </a:p>
        </p:txBody>
      </p:sp>
      <p:sp>
        <p:nvSpPr>
          <p:cNvPr id="8" name="Rectangle 7"/>
          <p:cNvSpPr/>
          <p:nvPr/>
        </p:nvSpPr>
        <p:spPr>
          <a:xfrm>
            <a:off x="457200" y="2286000"/>
            <a:ext cx="3566160" cy="356616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468880"/>
            <a:ext cx="3163824" cy="502920"/>
          </a:xfrm>
          <a:prstGeom prst="rect">
            <a:avLst/>
          </a:prstGeom>
          <a:noFill/>
        </p:spPr>
        <p:txBody>
          <a:bodyPr wrap="square" lIns="0" rIns="0" tIns="0" bIns="0">
            <a:spAutoFit/>
          </a:bodyPr>
          <a:lstStyle/>
          <a:p>
            <a:pPr>
              <a:spcAft>
                <a:spcPts val="800"/>
              </a:spcAft>
              <a:defRPr sz="1500" b="1">
                <a:solidFill>
                  <a:srgbClr val="171F46"/>
                </a:solidFill>
                <a:latin typeface="Aptos"/>
              </a:defRPr>
            </a:pPr>
            <a:r>
              <a:t>ENTRY VALUATION</a:t>
            </a:r>
          </a:p>
        </p:txBody>
      </p:sp>
      <p:sp>
        <p:nvSpPr>
          <p:cNvPr id="10" name="TextBox 9"/>
          <p:cNvSpPr txBox="1"/>
          <p:nvPr/>
        </p:nvSpPr>
        <p:spPr>
          <a:xfrm>
            <a:off x="658368" y="3090672"/>
            <a:ext cx="3163824" cy="731520"/>
          </a:xfrm>
          <a:prstGeom prst="rect">
            <a:avLst/>
          </a:prstGeom>
          <a:noFill/>
        </p:spPr>
        <p:txBody>
          <a:bodyPr wrap="square" lIns="0" rIns="0" tIns="0" bIns="0">
            <a:spAutoFit/>
          </a:bodyPr>
          <a:lstStyle/>
          <a:p>
            <a:pPr>
              <a:spcAft>
                <a:spcPts val="800"/>
              </a:spcAft>
              <a:defRPr sz="3400" b="1">
                <a:solidFill>
                  <a:srgbClr val="B4393B"/>
                </a:solidFill>
                <a:latin typeface="Aptos"/>
              </a:defRPr>
            </a:pPr>
            <a:r>
              <a:t>−83 bp</a:t>
            </a:r>
          </a:p>
        </p:txBody>
      </p:sp>
      <p:sp>
        <p:nvSpPr>
          <p:cNvPr id="11" name="TextBox 10"/>
          <p:cNvSpPr txBox="1"/>
          <p:nvPr/>
        </p:nvSpPr>
        <p:spPr>
          <a:xfrm>
            <a:off x="658368" y="3959352"/>
            <a:ext cx="3163824" cy="1737360"/>
          </a:xfrm>
          <a:prstGeom prst="rect">
            <a:avLst/>
          </a:prstGeom>
          <a:noFill/>
        </p:spPr>
        <p:txBody>
          <a:bodyPr wrap="square" lIns="0" rIns="0" tIns="0" bIns="0">
            <a:spAutoFit/>
          </a:bodyPr>
          <a:lstStyle/>
          <a:p>
            <a:pPr>
              <a:spcAft>
                <a:spcPts val="800"/>
              </a:spcAft>
              <a:defRPr sz="1800" b="0">
                <a:solidFill>
                  <a:srgbClr val="263344"/>
                </a:solidFill>
                <a:latin typeface="Aptos"/>
              </a:defRPr>
            </a:pPr>
            <a:r>
              <a:t>French benchmark yield exceeds the Euribor swap rate by about 83 bp.</a:t>
            </a:r>
          </a:p>
        </p:txBody>
      </p:sp>
      <p:sp>
        <p:nvSpPr>
          <p:cNvPr id="12" name="Rectangle 11"/>
          <p:cNvSpPr/>
          <p:nvPr/>
        </p:nvSpPr>
        <p:spPr>
          <a:xfrm>
            <a:off x="4297680" y="2286000"/>
            <a:ext cx="3566160" cy="356616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2468880"/>
            <a:ext cx="3163824" cy="502920"/>
          </a:xfrm>
          <a:prstGeom prst="rect">
            <a:avLst/>
          </a:prstGeom>
          <a:noFill/>
        </p:spPr>
        <p:txBody>
          <a:bodyPr wrap="square" lIns="0" rIns="0" tIns="0" bIns="0">
            <a:spAutoFit/>
          </a:bodyPr>
          <a:lstStyle/>
          <a:p>
            <a:pPr>
              <a:spcAft>
                <a:spcPts val="800"/>
              </a:spcAft>
              <a:defRPr sz="1500" b="1">
                <a:solidFill>
                  <a:srgbClr val="171F46"/>
                </a:solidFill>
                <a:latin typeface="Aptos"/>
              </a:defRPr>
            </a:pPr>
            <a:r>
              <a:t>MANAGER MODEL</a:t>
            </a:r>
          </a:p>
        </p:txBody>
      </p:sp>
      <p:sp>
        <p:nvSpPr>
          <p:cNvPr id="14" name="TextBox 13"/>
          <p:cNvSpPr txBox="1"/>
          <p:nvPr/>
        </p:nvSpPr>
        <p:spPr>
          <a:xfrm>
            <a:off x="4498848" y="3090672"/>
            <a:ext cx="3163824" cy="731520"/>
          </a:xfrm>
          <a:prstGeom prst="rect">
            <a:avLst/>
          </a:prstGeom>
          <a:noFill/>
        </p:spPr>
        <p:txBody>
          <a:bodyPr wrap="square" lIns="0" rIns="0" tIns="0" bIns="0">
            <a:spAutoFit/>
          </a:bodyPr>
          <a:lstStyle/>
          <a:p>
            <a:pPr>
              <a:spcAft>
                <a:spcPts val="800"/>
              </a:spcAft>
              <a:defRPr sz="3400" b="1">
                <a:solidFill>
                  <a:srgbClr val="217A63"/>
                </a:solidFill>
                <a:latin typeface="Aptos"/>
              </a:defRPr>
            </a:pPr>
            <a:r>
              <a:t>4.75x</a:t>
            </a:r>
          </a:p>
        </p:txBody>
      </p:sp>
      <p:sp>
        <p:nvSpPr>
          <p:cNvPr id="15" name="TextBox 14"/>
          <p:cNvSpPr txBox="1"/>
          <p:nvPr/>
        </p:nvSpPr>
        <p:spPr>
          <a:xfrm>
            <a:off x="4498848" y="3959352"/>
            <a:ext cx="3163824" cy="1737360"/>
          </a:xfrm>
          <a:prstGeom prst="rect">
            <a:avLst/>
          </a:prstGeom>
          <a:noFill/>
        </p:spPr>
        <p:txBody>
          <a:bodyPr wrap="square" lIns="0" rIns="0" tIns="0" bIns="0">
            <a:spAutoFit/>
          </a:bodyPr>
          <a:lstStyle/>
          <a:p>
            <a:pPr>
              <a:spcAft>
                <a:spcPts val="800"/>
              </a:spcAft>
              <a:defRPr sz="1800" b="0">
                <a:solidFill>
                  <a:srgbClr val="263344"/>
                </a:solidFill>
                <a:latin typeface="Aptos"/>
              </a:defRPr>
            </a:pPr>
            <a:r>
              <a:t>Gross multiple at roll-to-spot; 4.05x if the spread stays at −83 bp.</a:t>
            </a:r>
          </a:p>
        </p:txBody>
      </p:sp>
      <p:sp>
        <p:nvSpPr>
          <p:cNvPr id="16" name="Rectangle 15"/>
          <p:cNvSpPr/>
          <p:nvPr/>
        </p:nvSpPr>
        <p:spPr>
          <a:xfrm>
            <a:off x="8138160" y="2286000"/>
            <a:ext cx="3566160" cy="356616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8" y="2468880"/>
            <a:ext cx="3163824" cy="502920"/>
          </a:xfrm>
          <a:prstGeom prst="rect">
            <a:avLst/>
          </a:prstGeom>
          <a:noFill/>
        </p:spPr>
        <p:txBody>
          <a:bodyPr wrap="square" lIns="0" rIns="0" tIns="0" bIns="0">
            <a:spAutoFit/>
          </a:bodyPr>
          <a:lstStyle/>
          <a:p>
            <a:pPr>
              <a:spcAft>
                <a:spcPts val="800"/>
              </a:spcAft>
              <a:defRPr sz="1500" b="1">
                <a:solidFill>
                  <a:srgbClr val="171F46"/>
                </a:solidFill>
                <a:latin typeface="Aptos"/>
              </a:defRPr>
            </a:pPr>
            <a:r>
              <a:t>CAPITAL AT RISK</a:t>
            </a:r>
          </a:p>
        </p:txBody>
      </p:sp>
      <p:sp>
        <p:nvSpPr>
          <p:cNvPr id="18" name="TextBox 17"/>
          <p:cNvSpPr txBox="1"/>
          <p:nvPr/>
        </p:nvSpPr>
        <p:spPr>
          <a:xfrm>
            <a:off x="8339328" y="3090672"/>
            <a:ext cx="3163824" cy="731520"/>
          </a:xfrm>
          <a:prstGeom prst="rect">
            <a:avLst/>
          </a:prstGeom>
          <a:noFill/>
        </p:spPr>
        <p:txBody>
          <a:bodyPr wrap="square" lIns="0" rIns="0" tIns="0" bIns="0">
            <a:spAutoFit/>
          </a:bodyPr>
          <a:lstStyle/>
          <a:p>
            <a:pPr>
              <a:spcAft>
                <a:spcPts val="800"/>
              </a:spcAft>
              <a:defRPr sz="3400" b="1">
                <a:solidFill>
                  <a:srgbClr val="B4393B"/>
                </a:solidFill>
                <a:latin typeface="Aptos"/>
              </a:defRPr>
            </a:pPr>
            <a:r>
              <a:t>€1.1m</a:t>
            </a:r>
          </a:p>
        </p:txBody>
      </p:sp>
      <p:sp>
        <p:nvSpPr>
          <p:cNvPr id="19" name="TextBox 18"/>
          <p:cNvSpPr txBox="1"/>
          <p:nvPr/>
        </p:nvSpPr>
        <p:spPr>
          <a:xfrm>
            <a:off x="8339328" y="3959352"/>
            <a:ext cx="3163824" cy="1737360"/>
          </a:xfrm>
          <a:prstGeom prst="rect">
            <a:avLst/>
          </a:prstGeom>
          <a:noFill/>
        </p:spPr>
        <p:txBody>
          <a:bodyPr wrap="square" lIns="0" rIns="0" tIns="0" bIns="0">
            <a:spAutoFit/>
          </a:bodyPr>
          <a:lstStyle/>
          <a:p>
            <a:pPr>
              <a:spcAft>
                <a:spcPts val="800"/>
              </a:spcAft>
              <a:defRPr sz="1800" b="0">
                <a:solidFill>
                  <a:srgbClr val="263344"/>
                </a:solidFill>
                <a:latin typeface="Aptos"/>
              </a:defRPr>
            </a:pPr>
            <a:r>
              <a:t>Per €100m face, including premium. The entire commitment can be lost.</a:t>
            </a:r>
          </a:p>
        </p:txBody>
      </p:sp>
      <p:sp>
        <p:nvSpPr>
          <p:cNvPr id="20" name="TextBox 19"/>
          <p:cNvSpPr txBox="1"/>
          <p:nvPr/>
        </p:nvSpPr>
        <p:spPr>
          <a:xfrm>
            <a:off x="502920" y="5998464"/>
            <a:ext cx="10972800" cy="274320"/>
          </a:xfrm>
          <a:prstGeom prst="rect">
            <a:avLst/>
          </a:prstGeom>
          <a:noFill/>
        </p:spPr>
        <p:txBody>
          <a:bodyPr wrap="square" lIns="0" rIns="0" tIns="0" bIns="0">
            <a:spAutoFit/>
          </a:bodyPr>
          <a:lstStyle/>
          <a:p>
            <a:pPr>
              <a:spcAft>
                <a:spcPts val="800"/>
              </a:spcAft>
              <a:defRPr sz="1200" b="0">
                <a:solidFill>
                  <a:srgbClr val="677281"/>
                </a:solidFill>
                <a:latin typeface="Aptos"/>
              </a:defRPr>
            </a:pPr>
            <a:r>
              <a:t>Quoted financing: €STR + 17 bp. Protection and settlement remain subject to final documentation.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10312"/>
            <a:ext cx="9144000" cy="228600"/>
          </a:xfrm>
          <a:prstGeom prst="rect">
            <a:avLst/>
          </a:prstGeom>
          <a:noFill/>
        </p:spPr>
        <p:txBody>
          <a:bodyPr wrap="square" lIns="0" rIns="0" tIns="0" bIns="0">
            <a:spAutoFit/>
          </a:bodyPr>
          <a:lstStyle/>
          <a:p>
            <a:pPr>
              <a:spcAft>
                <a:spcPts val="800"/>
              </a:spcAft>
              <a:defRPr sz="1000" b="0">
                <a:solidFill>
                  <a:srgbClr val="677281"/>
                </a:solidFill>
                <a:latin typeface="Aptos"/>
              </a:defRPr>
            </a:pPr>
            <a:r>
              <a:t>LIMINALITY CAPITAL  /  PROPOSED REVISION</a:t>
            </a:r>
          </a:p>
        </p:txBody>
      </p:sp>
      <p:sp>
        <p:nvSpPr>
          <p:cNvPr id="3" name="TextBox 2"/>
          <p:cNvSpPr txBox="1"/>
          <p:nvPr/>
        </p:nvSpPr>
        <p:spPr>
          <a:xfrm>
            <a:off x="457200" y="685800"/>
            <a:ext cx="11155680" cy="868680"/>
          </a:xfrm>
          <a:prstGeom prst="rect">
            <a:avLst/>
          </a:prstGeom>
          <a:noFill/>
        </p:spPr>
        <p:txBody>
          <a:bodyPr wrap="square" lIns="0" rIns="0" tIns="0" bIns="0">
            <a:spAutoFit/>
          </a:bodyPr>
          <a:lstStyle/>
          <a:p>
            <a:pPr>
              <a:spcAft>
                <a:spcPts val="800"/>
              </a:spcAft>
              <a:defRPr sz="3000" b="1">
                <a:solidFill>
                  <a:srgbClr val="171F46"/>
                </a:solidFill>
                <a:latin typeface="Aptos"/>
              </a:defRPr>
            </a:pPr>
            <a:r>
              <a:t>Specify the package and the protection</a:t>
            </a:r>
          </a:p>
        </p:txBody>
      </p:sp>
      <p:sp>
        <p:nvSpPr>
          <p:cNvPr id="4" name="TextBox 3"/>
          <p:cNvSpPr txBox="1"/>
          <p:nvPr/>
        </p:nvSpPr>
        <p:spPr>
          <a:xfrm>
            <a:off x="457200" y="1490472"/>
            <a:ext cx="11155680" cy="640080"/>
          </a:xfrm>
          <a:prstGeom prst="rect">
            <a:avLst/>
          </a:prstGeom>
          <a:noFill/>
        </p:spPr>
        <p:txBody>
          <a:bodyPr wrap="square" lIns="0" rIns="0" tIns="0" bIns="0">
            <a:spAutoFit/>
          </a:bodyPr>
          <a:lstStyle/>
          <a:p>
            <a:pPr>
              <a:spcAft>
                <a:spcPts val="800"/>
              </a:spcAft>
              <a:defRPr sz="1600" b="0">
                <a:solidFill>
                  <a:srgbClr val="677281"/>
                </a:solidFill>
                <a:latin typeface="Aptos"/>
              </a:defRPr>
            </a:pPr>
            <a:r>
              <a:t>Financing margin is fixed for the term; the €STR rate remains floating</a:t>
            </a:r>
          </a:p>
        </p:txBody>
      </p:sp>
      <p:sp>
        <p:nvSpPr>
          <p:cNvPr id="5" name="Rectangle 4"/>
          <p:cNvSpPr/>
          <p:nvPr/>
        </p:nvSpPr>
        <p:spPr>
          <a:xfrm>
            <a:off x="457200" y="6382512"/>
            <a:ext cx="11247120" cy="18288"/>
          </a:xfrm>
          <a:prstGeom prst="rect">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1051560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Reviewer draft • Replaces original slide 8 • 6 October 2026</a:t>
            </a:r>
          </a:p>
        </p:txBody>
      </p:sp>
      <p:sp>
        <p:nvSpPr>
          <p:cNvPr id="7" name="TextBox 6"/>
          <p:cNvSpPr txBox="1"/>
          <p:nvPr/>
        </p:nvSpPr>
        <p:spPr>
          <a:xfrm>
            <a:off x="11292840" y="6473952"/>
            <a:ext cx="41148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3</a:t>
            </a:r>
          </a:p>
        </p:txBody>
      </p:sp>
      <p:graphicFrame>
        <p:nvGraphicFramePr>
          <p:cNvPr id="8" name="Table 7"/>
          <p:cNvGraphicFramePr>
            <a:graphicFrameLocks noGrp="1"/>
          </p:cNvGraphicFramePr>
          <p:nvPr/>
        </p:nvGraphicFramePr>
        <p:xfrm>
          <a:off x="502920" y="2240280"/>
          <a:ext cx="6858000" cy="3520440"/>
        </p:xfrm>
        <a:graphic>
          <a:graphicData uri="http://schemas.openxmlformats.org/drawingml/2006/table">
            <a:tbl>
              <a:tblPr firstRow="1" bandRow="1">
                <a:tableStyleId>{5C22544A-7EE6-4342-B048-85BDC9FD1C3A}</a:tableStyleId>
              </a:tblPr>
              <a:tblGrid>
                <a:gridCol w="1371600"/>
                <a:gridCol w="5486400"/>
              </a:tblGrid>
              <a:tr h="586740">
                <a:tc>
                  <a:txBody>
                    <a:bodyPr/>
                    <a:lstStyle/>
                    <a:p>
                      <a:pPr>
                        <a:defRPr sz="1600" b="1">
                          <a:solidFill>
                            <a:srgbClr val="FFFFFF"/>
                          </a:solidFill>
                          <a:latin typeface="Aptos"/>
                        </a:defRPr>
                      </a:pPr>
                      <a:r>
                        <a:t>Leg</a:t>
                      </a:r>
                    </a:p>
                  </a:txBody>
                  <a:tcPr marL="109728" marR="91440" marT="82296" marB="64008">
                    <a:solidFill>
                      <a:srgbClr val="171F46"/>
                    </a:solidFill>
                  </a:tcPr>
                </a:tc>
                <a:tc>
                  <a:txBody>
                    <a:bodyPr/>
                    <a:lstStyle/>
                    <a:p>
                      <a:pPr>
                        <a:defRPr sz="1600" b="1">
                          <a:solidFill>
                            <a:srgbClr val="FFFFFF"/>
                          </a:solidFill>
                          <a:latin typeface="Aptos"/>
                        </a:defRPr>
                      </a:pPr>
                      <a:r>
                        <a:t>Indicative description</a:t>
                      </a:r>
                    </a:p>
                  </a:txBody>
                  <a:tcPr marL="109728" marR="91440" marT="82296" marB="64008">
                    <a:solidFill>
                      <a:srgbClr val="171F46"/>
                    </a:solidFill>
                  </a:tcPr>
                </a:tc>
              </a:tr>
              <a:tr h="586740">
                <a:tc>
                  <a:txBody>
                    <a:bodyPr/>
                    <a:lstStyle/>
                    <a:p>
                      <a:pPr>
                        <a:defRPr sz="1600" b="0">
                          <a:solidFill>
                            <a:srgbClr val="263344"/>
                          </a:solidFill>
                          <a:latin typeface="Aptos"/>
                        </a:defRPr>
                      </a:pPr>
                      <a:r>
                        <a:t>Bond</a:t>
                      </a:r>
                    </a:p>
                  </a:txBody>
                  <a:tcPr marL="109728" marR="91440" marT="82296" marB="64008">
                    <a:solidFill>
                      <a:srgbClr val="EFF3F8"/>
                    </a:solidFill>
                  </a:tcPr>
                </a:tc>
                <a:tc>
                  <a:txBody>
                    <a:bodyPr/>
                    <a:lstStyle/>
                    <a:p>
                      <a:pPr>
                        <a:defRPr sz="1600" b="0">
                          <a:solidFill>
                            <a:srgbClr val="263344"/>
                          </a:solidFill>
                          <a:latin typeface="Aptos"/>
                        </a:defRPr>
                      </a:pPr>
                      <a:r>
                        <a:t>OAT 3.25% due 25 February 2032</a:t>
                      </a:r>
                    </a:p>
                  </a:txBody>
                  <a:tcPr marL="109728" marR="91440" marT="82296" marB="64008">
                    <a:solidFill>
                      <a:srgbClr val="EFF3F8"/>
                    </a:solidFill>
                  </a:tcPr>
                </a:tc>
              </a:tr>
              <a:tr h="586740">
                <a:tc>
                  <a:txBody>
                    <a:bodyPr/>
                    <a:lstStyle/>
                    <a:p>
                      <a:pPr>
                        <a:defRPr sz="1600" b="0">
                          <a:solidFill>
                            <a:srgbClr val="263344"/>
                          </a:solidFill>
                          <a:latin typeface="Aptos"/>
                        </a:defRPr>
                      </a:pPr>
                      <a:r>
                        <a:t>Rate hedge</a:t>
                      </a:r>
                    </a:p>
                  </a:txBody>
                  <a:tcPr marL="109728" marR="91440" marT="82296" marB="64008">
                    <a:solidFill>
                      <a:srgbClr val="FFFFFF"/>
                    </a:solidFill>
                  </a:tcPr>
                </a:tc>
                <a:tc>
                  <a:txBody>
                    <a:bodyPr/>
                    <a:lstStyle/>
                    <a:p>
                      <a:pPr>
                        <a:defRPr sz="1600" b="0">
                          <a:solidFill>
                            <a:srgbClr val="263344"/>
                          </a:solidFill>
                          <a:latin typeface="Aptos"/>
                        </a:defRPr>
                      </a:pPr>
                      <a:r>
                        <a:t>Pay fixed / receive 6m Euribor; hedge notional specified by DV01</a:t>
                      </a:r>
                    </a:p>
                  </a:txBody>
                  <a:tcPr marL="109728" marR="91440" marT="82296" marB="64008">
                    <a:solidFill>
                      <a:srgbClr val="FFFFFF"/>
                    </a:solidFill>
                  </a:tcPr>
                </a:tc>
              </a:tr>
              <a:tr h="586740">
                <a:tc>
                  <a:txBody>
                    <a:bodyPr/>
                    <a:lstStyle/>
                    <a:p>
                      <a:pPr>
                        <a:defRPr sz="1600" b="0">
                          <a:solidFill>
                            <a:srgbClr val="263344"/>
                          </a:solidFill>
                          <a:latin typeface="Aptos"/>
                        </a:defRPr>
                      </a:pPr>
                      <a:r>
                        <a:t>Financing</a:t>
                      </a:r>
                    </a:p>
                  </a:txBody>
                  <a:tcPr marL="109728" marR="91440" marT="82296" marB="64008">
                    <a:solidFill>
                      <a:srgbClr val="EFF3F8"/>
                    </a:solidFill>
                  </a:tcPr>
                </a:tc>
                <a:tc>
                  <a:txBody>
                    <a:bodyPr/>
                    <a:lstStyle/>
                    <a:p>
                      <a:pPr>
                        <a:defRPr sz="1600" b="0">
                          <a:solidFill>
                            <a:srgbClr val="263344"/>
                          </a:solidFill>
                          <a:latin typeface="Aptos"/>
                        </a:defRPr>
                      </a:pPr>
                      <a:r>
                        <a:t>€STR + 17 bp to 25 February 2031</a:t>
                      </a:r>
                    </a:p>
                  </a:txBody>
                  <a:tcPr marL="109728" marR="91440" marT="82296" marB="64008">
                    <a:solidFill>
                      <a:srgbClr val="EFF3F8"/>
                    </a:solidFill>
                  </a:tcPr>
                </a:tc>
              </a:tr>
              <a:tr h="586740">
                <a:tc>
                  <a:txBody>
                    <a:bodyPr/>
                    <a:lstStyle/>
                    <a:p>
                      <a:pPr>
                        <a:defRPr sz="1600" b="0">
                          <a:solidFill>
                            <a:srgbClr val="263344"/>
                          </a:solidFill>
                          <a:latin typeface="Aptos"/>
                        </a:defRPr>
                      </a:pPr>
                      <a:r>
                        <a:t>Capital</a:t>
                      </a:r>
                    </a:p>
                  </a:txBody>
                  <a:tcPr marL="109728" marR="91440" marT="82296" marB="64008">
                    <a:solidFill>
                      <a:srgbClr val="FFFFFF"/>
                    </a:solidFill>
                  </a:tcPr>
                </a:tc>
                <a:tc>
                  <a:txBody>
                    <a:bodyPr/>
                    <a:lstStyle/>
                    <a:p>
                      <a:pPr>
                        <a:defRPr sz="1600" b="0">
                          <a:solidFill>
                            <a:srgbClr val="263344"/>
                          </a:solidFill>
                          <a:latin typeface="Aptos"/>
                        </a:defRPr>
                      </a:pPr>
                      <a:r>
                        <a:t>€1.1m per €100m bond face, including premium</a:t>
                      </a:r>
                    </a:p>
                  </a:txBody>
                  <a:tcPr marL="109728" marR="91440" marT="82296" marB="64008">
                    <a:solidFill>
                      <a:srgbClr val="FFFFFF"/>
                    </a:solidFill>
                  </a:tcPr>
                </a:tc>
              </a:tr>
              <a:tr h="586740">
                <a:tc>
                  <a:txBody>
                    <a:bodyPr/>
                    <a:lstStyle/>
                    <a:p>
                      <a:pPr>
                        <a:defRPr sz="1600" b="0">
                          <a:solidFill>
                            <a:srgbClr val="263344"/>
                          </a:solidFill>
                          <a:latin typeface="Aptos"/>
                        </a:defRPr>
                      </a:pPr>
                      <a:r>
                        <a:t>Floor</a:t>
                      </a:r>
                    </a:p>
                  </a:txBody>
                  <a:tcPr marL="109728" marR="91440" marT="82296" marB="64008">
                    <a:solidFill>
                      <a:srgbClr val="EFF3F8"/>
                    </a:solidFill>
                  </a:tcPr>
                </a:tc>
                <a:tc>
                  <a:txBody>
                    <a:bodyPr/>
                    <a:lstStyle/>
                    <a:p>
                      <a:pPr>
                        <a:defRPr sz="1600" b="0">
                          <a:solidFill>
                            <a:srgbClr val="263344"/>
                          </a:solidFill>
                          <a:latin typeface="Aptos"/>
                        </a:defRPr>
                      </a:pPr>
                      <a:r>
                        <a:t>Exact payoff, forward and strike to be stated in the term sheet</a:t>
                      </a:r>
                    </a:p>
                  </a:txBody>
                  <a:tcPr marL="109728" marR="91440" marT="82296" marB="64008">
                    <a:solidFill>
                      <a:srgbClr val="EFF3F8"/>
                    </a:solidFill>
                  </a:tcPr>
                </a:tc>
              </a:tr>
            </a:tbl>
          </a:graphicData>
        </a:graphic>
      </p:graphicFrame>
      <p:sp>
        <p:nvSpPr>
          <p:cNvPr id="9" name="Rectangle 8"/>
          <p:cNvSpPr/>
          <p:nvPr/>
        </p:nvSpPr>
        <p:spPr>
          <a:xfrm>
            <a:off x="7680960" y="2240280"/>
            <a:ext cx="3977639" cy="352044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2468880"/>
            <a:ext cx="3474720" cy="365760"/>
          </a:xfrm>
          <a:prstGeom prst="rect">
            <a:avLst/>
          </a:prstGeom>
          <a:noFill/>
        </p:spPr>
        <p:txBody>
          <a:bodyPr wrap="square" lIns="0" rIns="0" tIns="0" bIns="0">
            <a:spAutoFit/>
          </a:bodyPr>
          <a:lstStyle/>
          <a:p>
            <a:pPr>
              <a:spcAft>
                <a:spcPts val="800"/>
              </a:spcAft>
              <a:defRPr sz="1600" b="1">
                <a:solidFill>
                  <a:srgbClr val="171F46"/>
                </a:solidFill>
                <a:latin typeface="Aptos"/>
              </a:defRPr>
            </a:pPr>
            <a:r>
              <a:t>THE INVESTOR NEEDS</a:t>
            </a:r>
          </a:p>
        </p:txBody>
      </p:sp>
      <p:sp>
        <p:nvSpPr>
          <p:cNvPr id="11" name="TextBox 10"/>
          <p:cNvSpPr txBox="1"/>
          <p:nvPr/>
        </p:nvSpPr>
        <p:spPr>
          <a:xfrm>
            <a:off x="7909560" y="3017520"/>
            <a:ext cx="3474720" cy="2468880"/>
          </a:xfrm>
          <a:prstGeom prst="rect">
            <a:avLst/>
          </a:prstGeom>
          <a:noFill/>
        </p:spPr>
        <p:txBody>
          <a:bodyPr wrap="square" lIns="0" rIns="0" tIns="0" bIns="0">
            <a:spAutoFit/>
          </a:bodyPr>
          <a:lstStyle/>
          <a:p>
            <a:pPr>
              <a:spcAft>
                <a:spcPts val="800"/>
              </a:spcAft>
              <a:defRPr sz="1900" b="0">
                <a:solidFill>
                  <a:srgbClr val="263344"/>
                </a:solidFill>
                <a:latin typeface="Aptos"/>
              </a:defRPr>
            </a:pPr>
            <a:r>
              <a:t>Premium vs collateral</a:t>
            </a:r>
          </a:p>
          <a:p>
            <a:pPr>
              <a:spcAft>
                <a:spcPts val="800"/>
              </a:spcAft>
              <a:defRPr sz="1900" b="0">
                <a:solidFill>
                  <a:srgbClr val="263344"/>
                </a:solidFill>
                <a:latin typeface="Aptos"/>
              </a:defRPr>
            </a:pPr>
            <a:r>
              <a:t>Coupon treatment</a:t>
            </a:r>
          </a:p>
          <a:p>
            <a:pPr>
              <a:spcAft>
                <a:spcPts val="800"/>
              </a:spcAft>
              <a:defRPr sz="1900" b="0">
                <a:solidFill>
                  <a:srgbClr val="263344"/>
                </a:solidFill>
                <a:latin typeface="Aptos"/>
              </a:defRPr>
            </a:pPr>
            <a:r>
              <a:t>No-margin obligation</a:t>
            </a:r>
          </a:p>
          <a:p>
            <a:pPr>
              <a:spcAft>
                <a:spcPts val="800"/>
              </a:spcAft>
              <a:defRPr sz="1900" b="0">
                <a:solidFill>
                  <a:srgbClr val="263344"/>
                </a:solidFill>
                <a:latin typeface="Aptos"/>
              </a:defRPr>
            </a:pPr>
            <a:r>
              <a:t>Bank and sovereign event settlement</a:t>
            </a:r>
          </a:p>
          <a:p>
            <a:pPr>
              <a:spcAft>
                <a:spcPts val="800"/>
              </a:spcAft>
              <a:defRPr sz="1900" b="0">
                <a:solidFill>
                  <a:srgbClr val="263344"/>
                </a:solidFill>
                <a:latin typeface="Aptos"/>
              </a:defRPr>
            </a:pPr>
            <a:r>
              <a:t>Close-out at option expiry</a:t>
            </a:r>
          </a:p>
        </p:txBody>
      </p:sp>
      <p:sp>
        <p:nvSpPr>
          <p:cNvPr id="12" name="TextBox 11"/>
          <p:cNvSpPr txBox="1"/>
          <p:nvPr/>
        </p:nvSpPr>
        <p:spPr>
          <a:xfrm>
            <a:off x="548640" y="5925312"/>
            <a:ext cx="11064240" cy="320040"/>
          </a:xfrm>
          <a:prstGeom prst="rect">
            <a:avLst/>
          </a:prstGeom>
          <a:noFill/>
        </p:spPr>
        <p:txBody>
          <a:bodyPr wrap="square" lIns="0" rIns="0" tIns="0" bIns="0">
            <a:spAutoFit/>
          </a:bodyPr>
          <a:lstStyle/>
          <a:p>
            <a:pPr>
              <a:spcAft>
                <a:spcPts val="800"/>
              </a:spcAft>
              <a:defRPr sz="1800" b="1">
                <a:solidFill>
                  <a:srgbClr val="171F46"/>
                </a:solidFill>
                <a:latin typeface="Aptos"/>
              </a:defRPr>
            </a:pPr>
            <a:r>
              <a:t>2026 entry  →  2031 option settlement  →  2032 bond maturity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10312"/>
            <a:ext cx="9144000" cy="228600"/>
          </a:xfrm>
          <a:prstGeom prst="rect">
            <a:avLst/>
          </a:prstGeom>
          <a:noFill/>
        </p:spPr>
        <p:txBody>
          <a:bodyPr wrap="square" lIns="0" rIns="0" tIns="0" bIns="0">
            <a:spAutoFit/>
          </a:bodyPr>
          <a:lstStyle/>
          <a:p>
            <a:pPr>
              <a:spcAft>
                <a:spcPts val="800"/>
              </a:spcAft>
              <a:defRPr sz="1000" b="0">
                <a:solidFill>
                  <a:srgbClr val="677281"/>
                </a:solidFill>
                <a:latin typeface="Aptos"/>
              </a:defRPr>
            </a:pPr>
            <a:r>
              <a:t>LIMINALITY CAPITAL  /  PROPOSED REVISION</a:t>
            </a:r>
          </a:p>
        </p:txBody>
      </p:sp>
      <p:sp>
        <p:nvSpPr>
          <p:cNvPr id="3" name="TextBox 2"/>
          <p:cNvSpPr txBox="1"/>
          <p:nvPr/>
        </p:nvSpPr>
        <p:spPr>
          <a:xfrm>
            <a:off x="457200" y="685800"/>
            <a:ext cx="11155680" cy="868680"/>
          </a:xfrm>
          <a:prstGeom prst="rect">
            <a:avLst/>
          </a:prstGeom>
          <a:noFill/>
        </p:spPr>
        <p:txBody>
          <a:bodyPr wrap="square" lIns="0" rIns="0" tIns="0" bIns="0">
            <a:spAutoFit/>
          </a:bodyPr>
          <a:lstStyle/>
          <a:p>
            <a:pPr>
              <a:spcAft>
                <a:spcPts val="800"/>
              </a:spcAft>
              <a:defRPr sz="3000" b="1">
                <a:solidFill>
                  <a:srgbClr val="171F46"/>
                </a:solidFill>
                <a:latin typeface="Aptos"/>
              </a:defRPr>
            </a:pPr>
            <a:r>
              <a:t>Explain returns with cash flows</a:t>
            </a:r>
          </a:p>
        </p:txBody>
      </p:sp>
      <p:sp>
        <p:nvSpPr>
          <p:cNvPr id="4" name="TextBox 3"/>
          <p:cNvSpPr txBox="1"/>
          <p:nvPr/>
        </p:nvSpPr>
        <p:spPr>
          <a:xfrm>
            <a:off x="457200" y="1490472"/>
            <a:ext cx="11155680" cy="640080"/>
          </a:xfrm>
          <a:prstGeom prst="rect">
            <a:avLst/>
          </a:prstGeom>
          <a:noFill/>
        </p:spPr>
        <p:txBody>
          <a:bodyPr wrap="square" lIns="0" rIns="0" tIns="0" bIns="0">
            <a:spAutoFit/>
          </a:bodyPr>
          <a:lstStyle/>
          <a:p>
            <a:pPr>
              <a:spcAft>
                <a:spcPts val="800"/>
              </a:spcAft>
              <a:defRPr sz="1600" b="0">
                <a:solidFill>
                  <a:srgbClr val="677281"/>
                </a:solidFill>
                <a:latin typeface="Aptos"/>
              </a:defRPr>
            </a:pPr>
            <a:r>
              <a:t>The 4.33% yield is an economic yield; the bond’s annual cash coupon is 3.25%</a:t>
            </a:r>
          </a:p>
        </p:txBody>
      </p:sp>
      <p:sp>
        <p:nvSpPr>
          <p:cNvPr id="5" name="Rectangle 4"/>
          <p:cNvSpPr/>
          <p:nvPr/>
        </p:nvSpPr>
        <p:spPr>
          <a:xfrm>
            <a:off x="457200" y="6382512"/>
            <a:ext cx="11247120" cy="18288"/>
          </a:xfrm>
          <a:prstGeom prst="rect">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1051560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Reviewer draft • Replaces original slide 9 • 6 October 2026</a:t>
            </a:r>
          </a:p>
        </p:txBody>
      </p:sp>
      <p:sp>
        <p:nvSpPr>
          <p:cNvPr id="7" name="TextBox 6"/>
          <p:cNvSpPr txBox="1"/>
          <p:nvPr/>
        </p:nvSpPr>
        <p:spPr>
          <a:xfrm>
            <a:off x="11292840" y="6473952"/>
            <a:ext cx="41148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4</a:t>
            </a:r>
          </a:p>
        </p:txBody>
      </p:sp>
      <p:graphicFrame>
        <p:nvGraphicFramePr>
          <p:cNvPr id="8" name="Table 7"/>
          <p:cNvGraphicFramePr>
            <a:graphicFrameLocks noGrp="1"/>
          </p:cNvGraphicFramePr>
          <p:nvPr/>
        </p:nvGraphicFramePr>
        <p:xfrm>
          <a:off x="502920" y="2267712"/>
          <a:ext cx="11155680" cy="2971800"/>
        </p:xfrm>
        <a:graphic>
          <a:graphicData uri="http://schemas.openxmlformats.org/drawingml/2006/table">
            <a:tbl>
              <a:tblPr firstRow="1" bandRow="1">
                <a:tableStyleId>{5C22544A-7EE6-4342-B048-85BDC9FD1C3A}</a:tableStyleId>
              </a:tblPr>
              <a:tblGrid>
                <a:gridCol w="3017520"/>
                <a:gridCol w="8138160"/>
              </a:tblGrid>
              <a:tr h="594360">
                <a:tc>
                  <a:txBody>
                    <a:bodyPr/>
                    <a:lstStyle/>
                    <a:p>
                      <a:pPr>
                        <a:defRPr sz="2000" b="1">
                          <a:solidFill>
                            <a:srgbClr val="FFFFFF"/>
                          </a:solidFill>
                          <a:latin typeface="Aptos"/>
                        </a:defRPr>
                      </a:pPr>
                      <a:r>
                        <a:t>Cash-flow source</a:t>
                      </a:r>
                    </a:p>
                  </a:txBody>
                  <a:tcPr marL="109728" marR="91440" marT="82296" marB="64008">
                    <a:solidFill>
                      <a:srgbClr val="171F46"/>
                    </a:solidFill>
                  </a:tcPr>
                </a:tc>
                <a:tc>
                  <a:txBody>
                    <a:bodyPr/>
                    <a:lstStyle/>
                    <a:p>
                      <a:pPr>
                        <a:defRPr sz="2000" b="1">
                          <a:solidFill>
                            <a:srgbClr val="FFFFFF"/>
                          </a:solidFill>
                          <a:latin typeface="Aptos"/>
                        </a:defRPr>
                      </a:pPr>
                      <a:r>
                        <a:t>What belongs in the model</a:t>
                      </a:r>
                    </a:p>
                  </a:txBody>
                  <a:tcPr marL="109728" marR="91440" marT="82296" marB="64008">
                    <a:solidFill>
                      <a:srgbClr val="171F46"/>
                    </a:solidFill>
                  </a:tcPr>
                </a:tc>
              </a:tr>
              <a:tr h="594360">
                <a:tc>
                  <a:txBody>
                    <a:bodyPr/>
                    <a:lstStyle/>
                    <a:p>
                      <a:pPr>
                        <a:defRPr sz="2000" b="0">
                          <a:solidFill>
                            <a:srgbClr val="263344"/>
                          </a:solidFill>
                          <a:latin typeface="Aptos"/>
                        </a:defRPr>
                      </a:pPr>
                      <a:r>
                        <a:t>OAT</a:t>
                      </a:r>
                    </a:p>
                  </a:txBody>
                  <a:tcPr marL="109728" marR="91440" marT="82296" marB="64008">
                    <a:solidFill>
                      <a:srgbClr val="EFF3F8"/>
                    </a:solidFill>
                  </a:tcPr>
                </a:tc>
                <a:tc>
                  <a:txBody>
                    <a:bodyPr/>
                    <a:lstStyle/>
                    <a:p>
                      <a:pPr>
                        <a:defRPr sz="2000" b="0">
                          <a:solidFill>
                            <a:srgbClr val="263344"/>
                          </a:solidFill>
                          <a:latin typeface="Aptos"/>
                        </a:defRPr>
                      </a:pPr>
                      <a:r>
                        <a:t>Coupon receipts + change in bond value, including accretion</a:t>
                      </a:r>
                    </a:p>
                  </a:txBody>
                  <a:tcPr marL="109728" marR="91440" marT="82296" marB="64008">
                    <a:solidFill>
                      <a:srgbClr val="EFF3F8"/>
                    </a:solidFill>
                  </a:tcPr>
                </a:tc>
              </a:tr>
              <a:tr h="594360">
                <a:tc>
                  <a:txBody>
                    <a:bodyPr/>
                    <a:lstStyle/>
                    <a:p>
                      <a:pPr>
                        <a:defRPr sz="2000" b="0">
                          <a:solidFill>
                            <a:srgbClr val="263344"/>
                          </a:solidFill>
                          <a:latin typeface="Aptos"/>
                        </a:defRPr>
                      </a:pPr>
                      <a:r>
                        <a:t>Interest-rate swap</a:t>
                      </a:r>
                    </a:p>
                  </a:txBody>
                  <a:tcPr marL="109728" marR="91440" marT="82296" marB="64008">
                    <a:solidFill>
                      <a:srgbClr val="FFFFFF"/>
                    </a:solidFill>
                  </a:tcPr>
                </a:tc>
                <a:tc>
                  <a:txBody>
                    <a:bodyPr/>
                    <a:lstStyle/>
                    <a:p>
                      <a:pPr>
                        <a:defRPr sz="2000" b="0">
                          <a:solidFill>
                            <a:srgbClr val="263344"/>
                          </a:solidFill>
                          <a:latin typeface="Aptos"/>
                        </a:defRPr>
                      </a:pPr>
                      <a:r>
                        <a:t>Six-month Euribor receipts − fixed payments</a:t>
                      </a:r>
                    </a:p>
                  </a:txBody>
                  <a:tcPr marL="109728" marR="91440" marT="82296" marB="64008">
                    <a:solidFill>
                      <a:srgbClr val="FFFFFF"/>
                    </a:solidFill>
                  </a:tcPr>
                </a:tc>
              </a:tr>
              <a:tr h="594360">
                <a:tc>
                  <a:txBody>
                    <a:bodyPr/>
                    <a:lstStyle/>
                    <a:p>
                      <a:pPr>
                        <a:defRPr sz="2000" b="0">
                          <a:solidFill>
                            <a:srgbClr val="263344"/>
                          </a:solidFill>
                          <a:latin typeface="Aptos"/>
                        </a:defRPr>
                      </a:pPr>
                      <a:r>
                        <a:t>Financing</a:t>
                      </a:r>
                    </a:p>
                  </a:txBody>
                  <a:tcPr marL="109728" marR="91440" marT="82296" marB="64008">
                    <a:solidFill>
                      <a:srgbClr val="EFF3F8"/>
                    </a:solidFill>
                  </a:tcPr>
                </a:tc>
                <a:tc>
                  <a:txBody>
                    <a:bodyPr/>
                    <a:lstStyle/>
                    <a:p>
                      <a:pPr>
                        <a:defRPr sz="2000" b="0">
                          <a:solidFill>
                            <a:srgbClr val="263344"/>
                          </a:solidFill>
                          <a:latin typeface="Aptos"/>
                        </a:defRPr>
                      </a:pPr>
                      <a:r>
                        <a:t>€STR-based charges + the 17 bp funding margin</a:t>
                      </a:r>
                    </a:p>
                  </a:txBody>
                  <a:tcPr marL="109728" marR="91440" marT="82296" marB="64008">
                    <a:solidFill>
                      <a:srgbClr val="EFF3F8"/>
                    </a:solidFill>
                  </a:tcPr>
                </a:tc>
              </a:tr>
              <a:tr h="594360">
                <a:tc>
                  <a:txBody>
                    <a:bodyPr/>
                    <a:lstStyle/>
                    <a:p>
                      <a:pPr>
                        <a:defRPr sz="2000" b="0">
                          <a:solidFill>
                            <a:srgbClr val="263344"/>
                          </a:solidFill>
                          <a:latin typeface="Aptos"/>
                        </a:defRPr>
                      </a:pPr>
                      <a:r>
                        <a:t>Floor / option</a:t>
                      </a:r>
                    </a:p>
                  </a:txBody>
                  <a:tcPr marL="109728" marR="91440" marT="82296" marB="64008">
                    <a:solidFill>
                      <a:srgbClr val="FFFFFF"/>
                    </a:solidFill>
                  </a:tcPr>
                </a:tc>
                <a:tc>
                  <a:txBody>
                    <a:bodyPr/>
                    <a:lstStyle/>
                    <a:p>
                      <a:pPr>
                        <a:defRPr sz="2000" b="0">
                          <a:solidFill>
                            <a:srgbClr val="263344"/>
                          </a:solidFill>
                          <a:latin typeface="Aptos"/>
                        </a:defRPr>
                      </a:pPr>
                      <a:r>
                        <a:t>Premium at entry + contract-defined event/expiry settlement</a:t>
                      </a:r>
                    </a:p>
                  </a:txBody>
                  <a:tcPr marL="109728" marR="91440" marT="82296" marB="64008">
                    <a:solidFill>
                      <a:srgbClr val="FFFFFF"/>
                    </a:solidFill>
                  </a:tcPr>
                </a:tc>
              </a:tr>
            </a:tbl>
          </a:graphicData>
        </a:graphic>
      </p:graphicFrame>
      <p:sp>
        <p:nvSpPr>
          <p:cNvPr id="9" name="Rectangle 8"/>
          <p:cNvSpPr/>
          <p:nvPr/>
        </p:nvSpPr>
        <p:spPr>
          <a:xfrm>
            <a:off x="502920" y="5486400"/>
            <a:ext cx="11155680" cy="640080"/>
          </a:xfrm>
          <a:prstGeom prst="rect">
            <a:avLst/>
          </a:prstGeom>
          <a:solidFill>
            <a:srgbClr val="EA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660136"/>
            <a:ext cx="10698480" cy="320040"/>
          </a:xfrm>
          <a:prstGeom prst="rect">
            <a:avLst/>
          </a:prstGeom>
          <a:noFill/>
        </p:spPr>
        <p:txBody>
          <a:bodyPr wrap="square" lIns="0" rIns="0" tIns="0" bIns="0">
            <a:spAutoFit/>
          </a:bodyPr>
          <a:lstStyle/>
          <a:p>
            <a:pPr>
              <a:spcAft>
                <a:spcPts val="800"/>
              </a:spcAft>
              <a:defRPr sz="2100" b="1">
                <a:solidFill>
                  <a:srgbClr val="217A63"/>
                </a:solidFill>
                <a:latin typeface="Aptos"/>
              </a:defRPr>
            </a:pPr>
            <a:r>
              <a:t>Roll-to-spot adds 0.70x in the supplied model: 4.05x → 4.75x gross multiple.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10312"/>
            <a:ext cx="9144000" cy="228600"/>
          </a:xfrm>
          <a:prstGeom prst="rect">
            <a:avLst/>
          </a:prstGeom>
          <a:noFill/>
        </p:spPr>
        <p:txBody>
          <a:bodyPr wrap="square" lIns="0" rIns="0" tIns="0" bIns="0">
            <a:spAutoFit/>
          </a:bodyPr>
          <a:lstStyle/>
          <a:p>
            <a:pPr>
              <a:spcAft>
                <a:spcPts val="800"/>
              </a:spcAft>
              <a:defRPr sz="1000" b="0">
                <a:solidFill>
                  <a:srgbClr val="677281"/>
                </a:solidFill>
                <a:latin typeface="Aptos"/>
              </a:defRPr>
            </a:pPr>
            <a:r>
              <a:t>LIMINALITY CAPITAL  /  PROPOSED REVISION</a:t>
            </a:r>
          </a:p>
        </p:txBody>
      </p:sp>
      <p:sp>
        <p:nvSpPr>
          <p:cNvPr id="3" name="TextBox 2"/>
          <p:cNvSpPr txBox="1"/>
          <p:nvPr/>
        </p:nvSpPr>
        <p:spPr>
          <a:xfrm>
            <a:off x="457200" y="685800"/>
            <a:ext cx="11155680" cy="868680"/>
          </a:xfrm>
          <a:prstGeom prst="rect">
            <a:avLst/>
          </a:prstGeom>
          <a:noFill/>
        </p:spPr>
        <p:txBody>
          <a:bodyPr wrap="square" lIns="0" rIns="0" tIns="0" bIns="0">
            <a:spAutoFit/>
          </a:bodyPr>
          <a:lstStyle/>
          <a:p>
            <a:pPr>
              <a:spcAft>
                <a:spcPts val="800"/>
              </a:spcAft>
              <a:defRPr sz="3000" b="1">
                <a:solidFill>
                  <a:srgbClr val="171F46"/>
                </a:solidFill>
                <a:latin typeface="Aptos"/>
              </a:defRPr>
            </a:pPr>
            <a:r>
              <a:t>French spreads price several kinds of risk</a:t>
            </a:r>
          </a:p>
        </p:txBody>
      </p:sp>
      <p:sp>
        <p:nvSpPr>
          <p:cNvPr id="4" name="TextBox 3"/>
          <p:cNvSpPr txBox="1"/>
          <p:nvPr/>
        </p:nvSpPr>
        <p:spPr>
          <a:xfrm>
            <a:off x="457200" y="1490472"/>
            <a:ext cx="11155680" cy="640080"/>
          </a:xfrm>
          <a:prstGeom prst="rect">
            <a:avLst/>
          </a:prstGeom>
          <a:noFill/>
        </p:spPr>
        <p:txBody>
          <a:bodyPr wrap="square" lIns="0" rIns="0" tIns="0" bIns="0">
            <a:spAutoFit/>
          </a:bodyPr>
          <a:lstStyle/>
          <a:p>
            <a:pPr>
              <a:spcAft>
                <a:spcPts val="800"/>
              </a:spcAft>
              <a:defRPr sz="1600" b="0">
                <a:solidFill>
                  <a:srgbClr val="677281"/>
                </a:solidFill>
                <a:latin typeface="Aptos"/>
              </a:defRPr>
            </a:pPr>
            <a:r>
              <a:t>France has a national central bank, but no independent monetary backstop</a:t>
            </a:r>
          </a:p>
        </p:txBody>
      </p:sp>
      <p:sp>
        <p:nvSpPr>
          <p:cNvPr id="5" name="Rectangle 4"/>
          <p:cNvSpPr/>
          <p:nvPr/>
        </p:nvSpPr>
        <p:spPr>
          <a:xfrm>
            <a:off x="457200" y="6382512"/>
            <a:ext cx="11247120" cy="18288"/>
          </a:xfrm>
          <a:prstGeom prst="rect">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1051560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Reviewer draft • Combines original slides 10 and 11 • 6 October 2026</a:t>
            </a:r>
          </a:p>
        </p:txBody>
      </p:sp>
      <p:sp>
        <p:nvSpPr>
          <p:cNvPr id="7" name="TextBox 6"/>
          <p:cNvSpPr txBox="1"/>
          <p:nvPr/>
        </p:nvSpPr>
        <p:spPr>
          <a:xfrm>
            <a:off x="11292840" y="6473952"/>
            <a:ext cx="41148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5</a:t>
            </a:r>
          </a:p>
        </p:txBody>
      </p:sp>
      <p:sp>
        <p:nvSpPr>
          <p:cNvPr id="8" name="Rectangle 7"/>
          <p:cNvSpPr/>
          <p:nvPr/>
        </p:nvSpPr>
        <p:spPr>
          <a:xfrm>
            <a:off x="502920" y="2286000"/>
            <a:ext cx="3547872" cy="347472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468880"/>
            <a:ext cx="3145536" cy="502920"/>
          </a:xfrm>
          <a:prstGeom prst="rect">
            <a:avLst/>
          </a:prstGeom>
          <a:noFill/>
        </p:spPr>
        <p:txBody>
          <a:bodyPr wrap="square" lIns="0" rIns="0" tIns="0" bIns="0">
            <a:spAutoFit/>
          </a:bodyPr>
          <a:lstStyle/>
          <a:p>
            <a:pPr>
              <a:spcAft>
                <a:spcPts val="800"/>
              </a:spcAft>
              <a:defRPr sz="1500" b="1">
                <a:solidFill>
                  <a:srgbClr val="171F46"/>
                </a:solidFill>
                <a:latin typeface="Aptos"/>
              </a:defRPr>
            </a:pPr>
            <a:r>
              <a:t>SOVEREIGN RISK</a:t>
            </a:r>
          </a:p>
        </p:txBody>
      </p:sp>
      <p:sp>
        <p:nvSpPr>
          <p:cNvPr id="10" name="TextBox 9"/>
          <p:cNvSpPr txBox="1"/>
          <p:nvPr/>
        </p:nvSpPr>
        <p:spPr>
          <a:xfrm>
            <a:off x="704088" y="3090672"/>
            <a:ext cx="3145536" cy="731520"/>
          </a:xfrm>
          <a:prstGeom prst="rect">
            <a:avLst/>
          </a:prstGeom>
          <a:noFill/>
        </p:spPr>
        <p:txBody>
          <a:bodyPr wrap="square" lIns="0" rIns="0" tIns="0" bIns="0">
            <a:spAutoFit/>
          </a:bodyPr>
          <a:lstStyle/>
          <a:p>
            <a:pPr>
              <a:spcAft>
                <a:spcPts val="800"/>
              </a:spcAft>
              <a:defRPr sz="3400" b="1">
                <a:solidFill>
                  <a:srgbClr val="B4393B"/>
                </a:solidFill>
                <a:latin typeface="Aptos"/>
              </a:defRPr>
            </a:pPr>
            <a:r>
              <a:t>Fiscal path</a:t>
            </a:r>
          </a:p>
        </p:txBody>
      </p:sp>
      <p:sp>
        <p:nvSpPr>
          <p:cNvPr id="11" name="TextBox 10"/>
          <p:cNvSpPr txBox="1"/>
          <p:nvPr/>
        </p:nvSpPr>
        <p:spPr>
          <a:xfrm>
            <a:off x="704088" y="3959352"/>
            <a:ext cx="3145536" cy="1645919"/>
          </a:xfrm>
          <a:prstGeom prst="rect">
            <a:avLst/>
          </a:prstGeom>
          <a:noFill/>
        </p:spPr>
        <p:txBody>
          <a:bodyPr wrap="square" lIns="0" rIns="0" tIns="0" bIns="0">
            <a:spAutoFit/>
          </a:bodyPr>
          <a:lstStyle/>
          <a:p>
            <a:pPr>
              <a:spcAft>
                <a:spcPts val="800"/>
              </a:spcAft>
              <a:defRPr sz="1800" b="0">
                <a:solidFill>
                  <a:srgbClr val="263344"/>
                </a:solidFill>
                <a:latin typeface="Aptos"/>
              </a:defRPr>
            </a:pPr>
            <a:r>
              <a:t>Debt sustainability, political choices and possible credit or currency events.</a:t>
            </a:r>
          </a:p>
        </p:txBody>
      </p:sp>
      <p:sp>
        <p:nvSpPr>
          <p:cNvPr id="12" name="Rectangle 11"/>
          <p:cNvSpPr/>
          <p:nvPr/>
        </p:nvSpPr>
        <p:spPr>
          <a:xfrm>
            <a:off x="4315968" y="2286000"/>
            <a:ext cx="3547872" cy="347472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7136" y="2468880"/>
            <a:ext cx="3145536" cy="502920"/>
          </a:xfrm>
          <a:prstGeom prst="rect">
            <a:avLst/>
          </a:prstGeom>
          <a:noFill/>
        </p:spPr>
        <p:txBody>
          <a:bodyPr wrap="square" lIns="0" rIns="0" tIns="0" bIns="0">
            <a:spAutoFit/>
          </a:bodyPr>
          <a:lstStyle/>
          <a:p>
            <a:pPr>
              <a:spcAft>
                <a:spcPts val="800"/>
              </a:spcAft>
              <a:defRPr sz="1500" b="1">
                <a:solidFill>
                  <a:srgbClr val="171F46"/>
                </a:solidFill>
                <a:latin typeface="Aptos"/>
              </a:defRPr>
            </a:pPr>
            <a:r>
              <a:t>MARKET STRUCTURE</a:t>
            </a:r>
          </a:p>
        </p:txBody>
      </p:sp>
      <p:sp>
        <p:nvSpPr>
          <p:cNvPr id="14" name="TextBox 13"/>
          <p:cNvSpPr txBox="1"/>
          <p:nvPr/>
        </p:nvSpPr>
        <p:spPr>
          <a:xfrm>
            <a:off x="4517136" y="3090672"/>
            <a:ext cx="3145536" cy="731520"/>
          </a:xfrm>
          <a:prstGeom prst="rect">
            <a:avLst/>
          </a:prstGeom>
          <a:noFill/>
        </p:spPr>
        <p:txBody>
          <a:bodyPr wrap="square" lIns="0" rIns="0" tIns="0" bIns="0">
            <a:spAutoFit/>
          </a:bodyPr>
          <a:lstStyle/>
          <a:p>
            <a:pPr>
              <a:spcAft>
                <a:spcPts val="800"/>
              </a:spcAft>
              <a:defRPr sz="3400" b="1">
                <a:solidFill>
                  <a:srgbClr val="171F46"/>
                </a:solidFill>
                <a:latin typeface="Aptos"/>
              </a:defRPr>
            </a:pPr>
            <a:r>
              <a:t>Supply</a:t>
            </a:r>
          </a:p>
        </p:txBody>
      </p:sp>
      <p:sp>
        <p:nvSpPr>
          <p:cNvPr id="15" name="TextBox 14"/>
          <p:cNvSpPr txBox="1"/>
          <p:nvPr/>
        </p:nvSpPr>
        <p:spPr>
          <a:xfrm>
            <a:off x="4517136" y="3959352"/>
            <a:ext cx="3145536" cy="1645919"/>
          </a:xfrm>
          <a:prstGeom prst="rect">
            <a:avLst/>
          </a:prstGeom>
          <a:noFill/>
        </p:spPr>
        <p:txBody>
          <a:bodyPr wrap="square" lIns="0" rIns="0" tIns="0" bIns="0">
            <a:spAutoFit/>
          </a:bodyPr>
          <a:lstStyle/>
          <a:p>
            <a:pPr>
              <a:spcAft>
                <a:spcPts val="800"/>
              </a:spcAft>
              <a:defRPr sz="1800" b="0">
                <a:solidFill>
                  <a:srgbClr val="263344"/>
                </a:solidFill>
                <a:latin typeface="Aptos"/>
              </a:defRPr>
            </a:pPr>
            <a:r>
              <a:t>Investor flows, collateral value, liquidity and constrained balance sheets.</a:t>
            </a:r>
          </a:p>
        </p:txBody>
      </p:sp>
      <p:sp>
        <p:nvSpPr>
          <p:cNvPr id="16" name="Rectangle 15"/>
          <p:cNvSpPr/>
          <p:nvPr/>
        </p:nvSpPr>
        <p:spPr>
          <a:xfrm>
            <a:off x="8138160" y="2286000"/>
            <a:ext cx="3547872" cy="347472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8" y="2468880"/>
            <a:ext cx="3145536" cy="502920"/>
          </a:xfrm>
          <a:prstGeom prst="rect">
            <a:avLst/>
          </a:prstGeom>
          <a:noFill/>
        </p:spPr>
        <p:txBody>
          <a:bodyPr wrap="square" lIns="0" rIns="0" tIns="0" bIns="0">
            <a:spAutoFit/>
          </a:bodyPr>
          <a:lstStyle/>
          <a:p>
            <a:pPr>
              <a:spcAft>
                <a:spcPts val="800"/>
              </a:spcAft>
              <a:defRPr sz="1500" b="1">
                <a:solidFill>
                  <a:srgbClr val="171F46"/>
                </a:solidFill>
                <a:latin typeface="Aptos"/>
              </a:defRPr>
            </a:pPr>
            <a:r>
              <a:t>REFERENCE CURVE</a:t>
            </a:r>
          </a:p>
        </p:txBody>
      </p:sp>
      <p:sp>
        <p:nvSpPr>
          <p:cNvPr id="18" name="TextBox 17"/>
          <p:cNvSpPr txBox="1"/>
          <p:nvPr/>
        </p:nvSpPr>
        <p:spPr>
          <a:xfrm>
            <a:off x="8339328" y="3090672"/>
            <a:ext cx="3145536" cy="731520"/>
          </a:xfrm>
          <a:prstGeom prst="rect">
            <a:avLst/>
          </a:prstGeom>
          <a:noFill/>
        </p:spPr>
        <p:txBody>
          <a:bodyPr wrap="square" lIns="0" rIns="0" tIns="0" bIns="0">
            <a:spAutoFit/>
          </a:bodyPr>
          <a:lstStyle/>
          <a:p>
            <a:pPr>
              <a:spcAft>
                <a:spcPts val="800"/>
              </a:spcAft>
              <a:defRPr sz="3400" b="1">
                <a:solidFill>
                  <a:srgbClr val="267C9D"/>
                </a:solidFill>
                <a:latin typeface="Aptos"/>
              </a:defRPr>
            </a:pPr>
            <a:r>
              <a:t>Euribor</a:t>
            </a:r>
          </a:p>
        </p:txBody>
      </p:sp>
      <p:sp>
        <p:nvSpPr>
          <p:cNvPr id="19" name="TextBox 18"/>
          <p:cNvSpPr txBox="1"/>
          <p:nvPr/>
        </p:nvSpPr>
        <p:spPr>
          <a:xfrm>
            <a:off x="8339328" y="3959352"/>
            <a:ext cx="3145536" cy="1645919"/>
          </a:xfrm>
          <a:prstGeom prst="rect">
            <a:avLst/>
          </a:prstGeom>
          <a:noFill/>
        </p:spPr>
        <p:txBody>
          <a:bodyPr wrap="square" lIns="0" rIns="0" tIns="0" bIns="0">
            <a:spAutoFit/>
          </a:bodyPr>
          <a:lstStyle/>
          <a:p>
            <a:pPr>
              <a:spcAft>
                <a:spcPts val="800"/>
              </a:spcAft>
              <a:defRPr sz="1800" b="0">
                <a:solidFill>
                  <a:srgbClr val="263344"/>
                </a:solidFill>
                <a:latin typeface="Aptos"/>
              </a:defRPr>
            </a:pPr>
            <a:r>
              <a:t>The bank-funding swap curve differs from €STR OIS and leaves basis exposure.</a:t>
            </a:r>
          </a:p>
        </p:txBody>
      </p:sp>
      <p:sp>
        <p:nvSpPr>
          <p:cNvPr id="20" name="TextBox 19"/>
          <p:cNvSpPr txBox="1"/>
          <p:nvPr/>
        </p:nvSpPr>
        <p:spPr>
          <a:xfrm>
            <a:off x="548640" y="5943600"/>
            <a:ext cx="10972800" cy="320040"/>
          </a:xfrm>
          <a:prstGeom prst="rect">
            <a:avLst/>
          </a:prstGeom>
          <a:noFill/>
        </p:spPr>
        <p:txBody>
          <a:bodyPr wrap="square" lIns="0" rIns="0" tIns="0" bIns="0">
            <a:spAutoFit/>
          </a:bodyPr>
          <a:lstStyle/>
          <a:p>
            <a:pPr>
              <a:spcAft>
                <a:spcPts val="800"/>
              </a:spcAft>
              <a:defRPr sz="1900" b="1">
                <a:solidFill>
                  <a:srgbClr val="171F46"/>
                </a:solidFill>
                <a:latin typeface="Aptos"/>
              </a:defRPr>
            </a:pPr>
            <a:r>
              <a:t>The financing structure changes how these risks are held. It does not remove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10312"/>
            <a:ext cx="9144000" cy="228600"/>
          </a:xfrm>
          <a:prstGeom prst="rect">
            <a:avLst/>
          </a:prstGeom>
          <a:noFill/>
        </p:spPr>
        <p:txBody>
          <a:bodyPr wrap="square" lIns="0" rIns="0" tIns="0" bIns="0">
            <a:spAutoFit/>
          </a:bodyPr>
          <a:lstStyle/>
          <a:p>
            <a:pPr>
              <a:spcAft>
                <a:spcPts val="800"/>
              </a:spcAft>
              <a:defRPr sz="1000" b="0">
                <a:solidFill>
                  <a:srgbClr val="677281"/>
                </a:solidFill>
                <a:latin typeface="Aptos"/>
              </a:defRPr>
            </a:pPr>
            <a:r>
              <a:t>LIMINALITY CAPITAL  /  PROPOSED REVISION</a:t>
            </a:r>
          </a:p>
        </p:txBody>
      </p:sp>
      <p:sp>
        <p:nvSpPr>
          <p:cNvPr id="3" name="TextBox 2"/>
          <p:cNvSpPr txBox="1"/>
          <p:nvPr/>
        </p:nvSpPr>
        <p:spPr>
          <a:xfrm>
            <a:off x="457200" y="685800"/>
            <a:ext cx="11155680" cy="868680"/>
          </a:xfrm>
          <a:prstGeom prst="rect">
            <a:avLst/>
          </a:prstGeom>
          <a:noFill/>
        </p:spPr>
        <p:txBody>
          <a:bodyPr wrap="square" lIns="0" rIns="0" tIns="0" bIns="0">
            <a:spAutoFit/>
          </a:bodyPr>
          <a:lstStyle/>
          <a:p>
            <a:pPr>
              <a:spcAft>
                <a:spcPts val="800"/>
              </a:spcAft>
              <a:defRPr sz="3000" b="1">
                <a:solidFill>
                  <a:srgbClr val="171F46"/>
                </a:solidFill>
                <a:latin typeface="Aptos"/>
              </a:defRPr>
            </a:pPr>
            <a:r>
              <a:t>Roll-down improves the modelled outcome</a:t>
            </a:r>
          </a:p>
        </p:txBody>
      </p:sp>
      <p:sp>
        <p:nvSpPr>
          <p:cNvPr id="4" name="TextBox 3"/>
          <p:cNvSpPr txBox="1"/>
          <p:nvPr/>
        </p:nvSpPr>
        <p:spPr>
          <a:xfrm>
            <a:off x="457200" y="1490472"/>
            <a:ext cx="11155680" cy="640080"/>
          </a:xfrm>
          <a:prstGeom prst="rect">
            <a:avLst/>
          </a:prstGeom>
          <a:noFill/>
        </p:spPr>
        <p:txBody>
          <a:bodyPr wrap="square" lIns="0" rIns="0" tIns="0" bIns="0">
            <a:spAutoFit/>
          </a:bodyPr>
          <a:lstStyle/>
          <a:p>
            <a:pPr>
              <a:spcAft>
                <a:spcPts val="800"/>
              </a:spcAft>
              <a:defRPr sz="1600" b="0">
                <a:solidFill>
                  <a:srgbClr val="677281"/>
                </a:solidFill>
                <a:latin typeface="Aptos"/>
              </a:defRPr>
            </a:pPr>
            <a:r>
              <a:t>A roll-to-spot assumption concerns the future curve; it is not a guarantee</a:t>
            </a:r>
          </a:p>
        </p:txBody>
      </p:sp>
      <p:sp>
        <p:nvSpPr>
          <p:cNvPr id="5" name="Rectangle 4"/>
          <p:cNvSpPr/>
          <p:nvPr/>
        </p:nvSpPr>
        <p:spPr>
          <a:xfrm>
            <a:off x="457200" y="6382512"/>
            <a:ext cx="11247120" cy="18288"/>
          </a:xfrm>
          <a:prstGeom prst="rect">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1051560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Reviewer draft • Replaces original slide 16 • 6 October 2026</a:t>
            </a:r>
          </a:p>
        </p:txBody>
      </p:sp>
      <p:sp>
        <p:nvSpPr>
          <p:cNvPr id="7" name="TextBox 6"/>
          <p:cNvSpPr txBox="1"/>
          <p:nvPr/>
        </p:nvSpPr>
        <p:spPr>
          <a:xfrm>
            <a:off x="11292840" y="6473952"/>
            <a:ext cx="41148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6</a:t>
            </a:r>
          </a:p>
        </p:txBody>
      </p:sp>
      <p:pic>
        <p:nvPicPr>
          <p:cNvPr id="8" name="Picture 7" descr="roll_schematic.png"/>
          <p:cNvPicPr>
            <a:picLocks noChangeAspect="1"/>
          </p:cNvPicPr>
          <p:nvPr/>
        </p:nvPicPr>
        <p:blipFill>
          <a:blip r:embed="rId3"/>
          <a:stretch>
            <a:fillRect/>
          </a:stretch>
        </p:blipFill>
        <p:spPr>
          <a:xfrm>
            <a:off x="502920" y="2304288"/>
            <a:ext cx="7315200" cy="3337560"/>
          </a:xfrm>
          <a:prstGeom prst="rect">
            <a:avLst/>
          </a:prstGeom>
        </p:spPr>
      </p:pic>
      <p:sp>
        <p:nvSpPr>
          <p:cNvPr id="9" name="Rectangle 8"/>
          <p:cNvSpPr/>
          <p:nvPr/>
        </p:nvSpPr>
        <p:spPr>
          <a:xfrm>
            <a:off x="8138160" y="2423160"/>
            <a:ext cx="3520440" cy="333756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60" y="2743200"/>
            <a:ext cx="3063240" cy="685800"/>
          </a:xfrm>
          <a:prstGeom prst="rect">
            <a:avLst/>
          </a:prstGeom>
          <a:noFill/>
        </p:spPr>
        <p:txBody>
          <a:bodyPr wrap="square" lIns="0" rIns="0" tIns="0" bIns="0">
            <a:spAutoFit/>
          </a:bodyPr>
          <a:lstStyle/>
          <a:p>
            <a:pPr>
              <a:spcAft>
                <a:spcPts val="800"/>
              </a:spcAft>
              <a:defRPr sz="3000" b="1">
                <a:solidFill>
                  <a:srgbClr val="217A63"/>
                </a:solidFill>
                <a:latin typeface="Aptos"/>
              </a:defRPr>
            </a:pPr>
            <a:r>
              <a:t>4.05x → 4.75x</a:t>
            </a:r>
          </a:p>
        </p:txBody>
      </p:sp>
      <p:sp>
        <p:nvSpPr>
          <p:cNvPr id="11" name="TextBox 10"/>
          <p:cNvSpPr txBox="1"/>
          <p:nvPr/>
        </p:nvSpPr>
        <p:spPr>
          <a:xfrm>
            <a:off x="8366760" y="3584448"/>
            <a:ext cx="3063240" cy="822960"/>
          </a:xfrm>
          <a:prstGeom prst="rect">
            <a:avLst/>
          </a:prstGeom>
          <a:noFill/>
        </p:spPr>
        <p:txBody>
          <a:bodyPr wrap="square" lIns="0" rIns="0" tIns="0" bIns="0">
            <a:spAutoFit/>
          </a:bodyPr>
          <a:lstStyle/>
          <a:p>
            <a:pPr>
              <a:spcAft>
                <a:spcPts val="800"/>
              </a:spcAft>
              <a:defRPr sz="2000" b="0">
                <a:solidFill>
                  <a:srgbClr val="263344"/>
                </a:solidFill>
                <a:latin typeface="Aptos"/>
              </a:defRPr>
            </a:pPr>
            <a:r>
              <a:t>+0.70x incremental</a:t>
            </a:r>
          </a:p>
          <a:p>
            <a:pPr>
              <a:spcAft>
                <a:spcPts val="800"/>
              </a:spcAft>
              <a:defRPr sz="2000" b="0">
                <a:solidFill>
                  <a:srgbClr val="263344"/>
                </a:solidFill>
                <a:latin typeface="Aptos"/>
              </a:defRPr>
            </a:pPr>
            <a:r>
              <a:t>capital multiple</a:t>
            </a:r>
          </a:p>
        </p:txBody>
      </p:sp>
      <p:sp>
        <p:nvSpPr>
          <p:cNvPr id="12" name="TextBox 11"/>
          <p:cNvSpPr txBox="1"/>
          <p:nvPr/>
        </p:nvSpPr>
        <p:spPr>
          <a:xfrm>
            <a:off x="8366760" y="4645152"/>
            <a:ext cx="3063240" cy="914400"/>
          </a:xfrm>
          <a:prstGeom prst="rect">
            <a:avLst/>
          </a:prstGeom>
          <a:noFill/>
        </p:spPr>
        <p:txBody>
          <a:bodyPr wrap="square" lIns="0" rIns="0" tIns="0" bIns="0">
            <a:spAutoFit/>
          </a:bodyPr>
          <a:lstStyle/>
          <a:p>
            <a:pPr>
              <a:spcAft>
                <a:spcPts val="800"/>
              </a:spcAft>
              <a:defRPr sz="1700" b="0">
                <a:solidFill>
                  <a:srgbClr val="263344"/>
                </a:solidFill>
                <a:latin typeface="Aptos"/>
              </a:defRPr>
            </a:pPr>
            <a:r>
              <a:t>Shorter maturity reduces price sensitivity. Credit risk remains.</a:t>
            </a:r>
          </a:p>
        </p:txBody>
      </p:sp>
      <p:sp>
        <p:nvSpPr>
          <p:cNvPr id="13" name="TextBox 12"/>
          <p:cNvSpPr txBox="1"/>
          <p:nvPr/>
        </p:nvSpPr>
        <p:spPr>
          <a:xfrm>
            <a:off x="548640" y="5971032"/>
            <a:ext cx="10972800" cy="274320"/>
          </a:xfrm>
          <a:prstGeom prst="rect">
            <a:avLst/>
          </a:prstGeom>
          <a:noFill/>
        </p:spPr>
        <p:txBody>
          <a:bodyPr wrap="square" lIns="0" rIns="0" tIns="0" bIns="0">
            <a:spAutoFit/>
          </a:bodyPr>
          <a:lstStyle/>
          <a:p>
            <a:pPr>
              <a:spcAft>
                <a:spcPts val="800"/>
              </a:spcAft>
              <a:defRPr sz="1200" b="0">
                <a:solidFill>
                  <a:srgbClr val="677281"/>
                </a:solidFill>
                <a:latin typeface="Aptos"/>
              </a:defRPr>
            </a:pPr>
            <a:r>
              <a:t>Schematic, not a measured curve. Source: deck scenarios; other model assumptions unchanged.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10312"/>
            <a:ext cx="9144000" cy="228600"/>
          </a:xfrm>
          <a:prstGeom prst="rect">
            <a:avLst/>
          </a:prstGeom>
          <a:noFill/>
        </p:spPr>
        <p:txBody>
          <a:bodyPr wrap="square" lIns="0" rIns="0" tIns="0" bIns="0">
            <a:spAutoFit/>
          </a:bodyPr>
          <a:lstStyle/>
          <a:p>
            <a:pPr>
              <a:spcAft>
                <a:spcPts val="800"/>
              </a:spcAft>
              <a:defRPr sz="1000" b="0">
                <a:solidFill>
                  <a:srgbClr val="677281"/>
                </a:solidFill>
                <a:latin typeface="Aptos"/>
              </a:defRPr>
            </a:pPr>
            <a:r>
              <a:t>LIMINALITY CAPITAL  /  PROPOSED REVISION</a:t>
            </a:r>
          </a:p>
        </p:txBody>
      </p:sp>
      <p:sp>
        <p:nvSpPr>
          <p:cNvPr id="3" name="TextBox 2"/>
          <p:cNvSpPr txBox="1"/>
          <p:nvPr/>
        </p:nvSpPr>
        <p:spPr>
          <a:xfrm>
            <a:off x="457200" y="685800"/>
            <a:ext cx="11155680" cy="868680"/>
          </a:xfrm>
          <a:prstGeom prst="rect">
            <a:avLst/>
          </a:prstGeom>
          <a:noFill/>
        </p:spPr>
        <p:txBody>
          <a:bodyPr wrap="square" lIns="0" rIns="0" tIns="0" bIns="0">
            <a:spAutoFit/>
          </a:bodyPr>
          <a:lstStyle/>
          <a:p>
            <a:pPr>
              <a:spcAft>
                <a:spcPts val="800"/>
              </a:spcAft>
              <a:defRPr sz="3000" b="1">
                <a:solidFill>
                  <a:srgbClr val="171F46"/>
                </a:solidFill>
                <a:latin typeface="Aptos"/>
              </a:defRPr>
            </a:pPr>
            <a:r>
              <a:t>Show capital outcomes directly</a:t>
            </a:r>
          </a:p>
        </p:txBody>
      </p:sp>
      <p:sp>
        <p:nvSpPr>
          <p:cNvPr id="4" name="TextBox 3"/>
          <p:cNvSpPr txBox="1"/>
          <p:nvPr/>
        </p:nvSpPr>
        <p:spPr>
          <a:xfrm>
            <a:off x="457200" y="1490472"/>
            <a:ext cx="11155680" cy="640080"/>
          </a:xfrm>
          <a:prstGeom prst="rect">
            <a:avLst/>
          </a:prstGeom>
          <a:noFill/>
        </p:spPr>
        <p:txBody>
          <a:bodyPr wrap="square" lIns="0" rIns="0" tIns="0" bIns="0">
            <a:spAutoFit/>
          </a:bodyPr>
          <a:lstStyle/>
          <a:p>
            <a:pPr>
              <a:spcAft>
                <a:spcPts val="800"/>
              </a:spcAft>
              <a:defRPr sz="1600" b="0">
                <a:solidFill>
                  <a:srgbClr val="677281"/>
                </a:solidFill>
                <a:latin typeface="Aptos"/>
              </a:defRPr>
            </a:pPr>
            <a:r>
              <a:t>Illustrative gross multiples from the manager model; all other assumptions held constant</a:t>
            </a:r>
          </a:p>
        </p:txBody>
      </p:sp>
      <p:sp>
        <p:nvSpPr>
          <p:cNvPr id="5" name="Rectangle 4"/>
          <p:cNvSpPr/>
          <p:nvPr/>
        </p:nvSpPr>
        <p:spPr>
          <a:xfrm>
            <a:off x="457200" y="6382512"/>
            <a:ext cx="11247120" cy="18288"/>
          </a:xfrm>
          <a:prstGeom prst="rect">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1051560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Reviewer draft • Replaces original slide 17 • 6 October 2026</a:t>
            </a:r>
          </a:p>
        </p:txBody>
      </p:sp>
      <p:sp>
        <p:nvSpPr>
          <p:cNvPr id="7" name="TextBox 6"/>
          <p:cNvSpPr txBox="1"/>
          <p:nvPr/>
        </p:nvSpPr>
        <p:spPr>
          <a:xfrm>
            <a:off x="11292840" y="6473952"/>
            <a:ext cx="41148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7</a:t>
            </a:r>
          </a:p>
        </p:txBody>
      </p:sp>
      <p:pic>
        <p:nvPicPr>
          <p:cNvPr id="8" name="Picture 7" descr="scenario_plot.png"/>
          <p:cNvPicPr>
            <a:picLocks noChangeAspect="1"/>
          </p:cNvPicPr>
          <p:nvPr/>
        </p:nvPicPr>
        <p:blipFill>
          <a:blip r:embed="rId3"/>
          <a:stretch>
            <a:fillRect/>
          </a:stretch>
        </p:blipFill>
        <p:spPr>
          <a:xfrm>
            <a:off x="457200" y="2267712"/>
            <a:ext cx="5943600" cy="3566160"/>
          </a:xfrm>
          <a:prstGeom prst="rect">
            <a:avLst/>
          </a:prstGeom>
        </p:spPr>
      </p:pic>
      <p:graphicFrame>
        <p:nvGraphicFramePr>
          <p:cNvPr id="9" name="Table 8"/>
          <p:cNvGraphicFramePr>
            <a:graphicFrameLocks noGrp="1"/>
          </p:cNvGraphicFramePr>
          <p:nvPr/>
        </p:nvGraphicFramePr>
        <p:xfrm>
          <a:off x="6629400" y="2331720"/>
          <a:ext cx="5029200" cy="3520440"/>
        </p:xfrm>
        <a:graphic>
          <a:graphicData uri="http://schemas.openxmlformats.org/drawingml/2006/table">
            <a:tbl>
              <a:tblPr firstRow="1" bandRow="1">
                <a:tableStyleId>{5C22544A-7EE6-4342-B048-85BDC9FD1C3A}</a:tableStyleId>
              </a:tblPr>
              <a:tblGrid>
                <a:gridCol w="3383280"/>
                <a:gridCol w="1645920"/>
              </a:tblGrid>
              <a:tr h="502920">
                <a:tc>
                  <a:txBody>
                    <a:bodyPr/>
                    <a:lstStyle/>
                    <a:p>
                      <a:pPr>
                        <a:defRPr sz="1700" b="1">
                          <a:solidFill>
                            <a:srgbClr val="FFFFFF"/>
                          </a:solidFill>
                          <a:latin typeface="Aptos"/>
                        </a:defRPr>
                      </a:pPr>
                      <a:r>
                        <a:t>Expiry spread</a:t>
                      </a:r>
                    </a:p>
                  </a:txBody>
                  <a:tcPr marL="109728" marR="91440" marT="82296" marB="64008">
                    <a:solidFill>
                      <a:srgbClr val="171F46"/>
                    </a:solidFill>
                  </a:tcPr>
                </a:tc>
                <a:tc>
                  <a:txBody>
                    <a:bodyPr/>
                    <a:lstStyle/>
                    <a:p>
                      <a:pPr>
                        <a:defRPr sz="1700" b="1">
                          <a:solidFill>
                            <a:srgbClr val="FFFFFF"/>
                          </a:solidFill>
                          <a:latin typeface="Aptos"/>
                        </a:defRPr>
                      </a:pPr>
                      <a:r>
                        <a:t>Gross MOIC</a:t>
                      </a:r>
                    </a:p>
                  </a:txBody>
                  <a:tcPr marL="109728" marR="91440" marT="82296" marB="64008">
                    <a:solidFill>
                      <a:srgbClr val="171F46"/>
                    </a:solidFill>
                  </a:tcPr>
                </a:tc>
              </a:tr>
              <a:tr h="502920">
                <a:tc>
                  <a:txBody>
                    <a:bodyPr/>
                    <a:lstStyle/>
                    <a:p>
                      <a:pPr>
                        <a:defRPr sz="1700" b="0">
                          <a:solidFill>
                            <a:srgbClr val="263344"/>
                          </a:solidFill>
                          <a:latin typeface="Aptos"/>
                        </a:defRPr>
                      </a:pPr>
                      <a:r>
                        <a:t>+28 bp</a:t>
                      </a:r>
                    </a:p>
                  </a:txBody>
                  <a:tcPr marL="109728" marR="91440" marT="82296" marB="64008">
                    <a:solidFill>
                      <a:srgbClr val="EFF3F8"/>
                    </a:solidFill>
                  </a:tcPr>
                </a:tc>
                <a:tc>
                  <a:txBody>
                    <a:bodyPr/>
                    <a:lstStyle/>
                    <a:p>
                      <a:pPr>
                        <a:defRPr sz="1700" b="0">
                          <a:solidFill>
                            <a:srgbClr val="263344"/>
                          </a:solidFill>
                          <a:latin typeface="Aptos"/>
                        </a:defRPr>
                      </a:pPr>
                      <a:r>
                        <a:t>5.01x</a:t>
                      </a:r>
                    </a:p>
                  </a:txBody>
                  <a:tcPr marL="109728" marR="91440" marT="82296" marB="64008">
                    <a:solidFill>
                      <a:srgbClr val="EFF3F8"/>
                    </a:solidFill>
                  </a:tcPr>
                </a:tc>
              </a:tr>
              <a:tr h="502920">
                <a:tc>
                  <a:txBody>
                    <a:bodyPr/>
                    <a:lstStyle/>
                    <a:p>
                      <a:pPr>
                        <a:defRPr sz="1700" b="0">
                          <a:solidFill>
                            <a:srgbClr val="263344"/>
                          </a:solidFill>
                          <a:latin typeface="Aptos"/>
                        </a:defRPr>
                      </a:pPr>
                      <a:r>
                        <a:t>−1.3 bp: roll to spot</a:t>
                      </a:r>
                    </a:p>
                  </a:txBody>
                  <a:tcPr marL="109728" marR="91440" marT="82296" marB="64008">
                    <a:solidFill>
                      <a:srgbClr val="FFFFFF"/>
                    </a:solidFill>
                  </a:tcPr>
                </a:tc>
                <a:tc>
                  <a:txBody>
                    <a:bodyPr/>
                    <a:lstStyle/>
                    <a:p>
                      <a:pPr>
                        <a:defRPr sz="1700" b="0">
                          <a:solidFill>
                            <a:srgbClr val="263344"/>
                          </a:solidFill>
                          <a:latin typeface="Aptos"/>
                        </a:defRPr>
                      </a:pPr>
                      <a:r>
                        <a:t>4.75x</a:t>
                      </a:r>
                    </a:p>
                  </a:txBody>
                  <a:tcPr marL="109728" marR="91440" marT="82296" marB="64008">
                    <a:solidFill>
                      <a:srgbClr val="FFFFFF"/>
                    </a:solidFill>
                  </a:tcPr>
                </a:tc>
              </a:tr>
              <a:tr h="502920">
                <a:tc>
                  <a:txBody>
                    <a:bodyPr/>
                    <a:lstStyle/>
                    <a:p>
                      <a:pPr>
                        <a:defRPr sz="1700" b="0">
                          <a:solidFill>
                            <a:srgbClr val="263344"/>
                          </a:solidFill>
                          <a:latin typeface="Aptos"/>
                        </a:defRPr>
                      </a:pPr>
                      <a:r>
                        <a:t>−83 bp: no spread change</a:t>
                      </a:r>
                    </a:p>
                  </a:txBody>
                  <a:tcPr marL="109728" marR="91440" marT="82296" marB="64008">
                    <a:solidFill>
                      <a:srgbClr val="EFF3F8"/>
                    </a:solidFill>
                  </a:tcPr>
                </a:tc>
                <a:tc>
                  <a:txBody>
                    <a:bodyPr/>
                    <a:lstStyle/>
                    <a:p>
                      <a:pPr>
                        <a:defRPr sz="1700" b="0">
                          <a:solidFill>
                            <a:srgbClr val="263344"/>
                          </a:solidFill>
                          <a:latin typeface="Aptos"/>
                        </a:defRPr>
                      </a:pPr>
                      <a:r>
                        <a:t>4.05x</a:t>
                      </a:r>
                    </a:p>
                  </a:txBody>
                  <a:tcPr marL="109728" marR="91440" marT="82296" marB="64008">
                    <a:solidFill>
                      <a:srgbClr val="EFF3F8"/>
                    </a:solidFill>
                  </a:tcPr>
                </a:tc>
              </a:tr>
              <a:tr h="502920">
                <a:tc>
                  <a:txBody>
                    <a:bodyPr/>
                    <a:lstStyle/>
                    <a:p>
                      <a:pPr>
                        <a:defRPr sz="1700" b="0">
                          <a:solidFill>
                            <a:srgbClr val="263344"/>
                          </a:solidFill>
                          <a:latin typeface="Aptos"/>
                        </a:defRPr>
                      </a:pPr>
                      <a:r>
                        <a:t>−350 bp: stress</a:t>
                      </a:r>
                    </a:p>
                  </a:txBody>
                  <a:tcPr marL="109728" marR="91440" marT="82296" marB="64008">
                    <a:solidFill>
                      <a:srgbClr val="FFFFFF"/>
                    </a:solidFill>
                  </a:tcPr>
                </a:tc>
                <a:tc>
                  <a:txBody>
                    <a:bodyPr/>
                    <a:lstStyle/>
                    <a:p>
                      <a:pPr>
                        <a:defRPr sz="1700" b="0">
                          <a:solidFill>
                            <a:srgbClr val="263344"/>
                          </a:solidFill>
                          <a:latin typeface="Aptos"/>
                        </a:defRPr>
                      </a:pPr>
                      <a:r>
                        <a:t>1.82x</a:t>
                      </a:r>
                    </a:p>
                  </a:txBody>
                  <a:tcPr marL="109728" marR="91440" marT="82296" marB="64008">
                    <a:solidFill>
                      <a:srgbClr val="FFFFFF"/>
                    </a:solidFill>
                  </a:tcPr>
                </a:tc>
              </a:tr>
              <a:tr h="502920">
                <a:tc>
                  <a:txBody>
                    <a:bodyPr/>
                    <a:lstStyle/>
                    <a:p>
                      <a:pPr>
                        <a:defRPr sz="1700" b="0">
                          <a:solidFill>
                            <a:srgbClr val="263344"/>
                          </a:solidFill>
                          <a:latin typeface="Aptos"/>
                        </a:defRPr>
                      </a:pPr>
                      <a:r>
                        <a:t>−445 bp: break-even</a:t>
                      </a:r>
                    </a:p>
                  </a:txBody>
                  <a:tcPr marL="109728" marR="91440" marT="82296" marB="64008">
                    <a:solidFill>
                      <a:srgbClr val="EFF3F8"/>
                    </a:solidFill>
                  </a:tcPr>
                </a:tc>
                <a:tc>
                  <a:txBody>
                    <a:bodyPr/>
                    <a:lstStyle/>
                    <a:p>
                      <a:pPr>
                        <a:defRPr sz="1700" b="0">
                          <a:solidFill>
                            <a:srgbClr val="263344"/>
                          </a:solidFill>
                          <a:latin typeface="Aptos"/>
                        </a:defRPr>
                      </a:pPr>
                      <a:r>
                        <a:t>1.00x</a:t>
                      </a:r>
                    </a:p>
                  </a:txBody>
                  <a:tcPr marL="109728" marR="91440" marT="82296" marB="64008">
                    <a:solidFill>
                      <a:srgbClr val="EFF3F8"/>
                    </a:solidFill>
                  </a:tcPr>
                </a:tc>
              </a:tr>
              <a:tr h="502920">
                <a:tc>
                  <a:txBody>
                    <a:bodyPr/>
                    <a:lstStyle/>
                    <a:p>
                      <a:pPr>
                        <a:defRPr sz="1700" b="0">
                          <a:solidFill>
                            <a:srgbClr val="263344"/>
                          </a:solidFill>
                          <a:latin typeface="Aptos"/>
                        </a:defRPr>
                      </a:pPr>
                      <a:r>
                        <a:t>−572 bp or below</a:t>
                      </a:r>
                    </a:p>
                  </a:txBody>
                  <a:tcPr marL="109728" marR="91440" marT="82296" marB="64008">
                    <a:solidFill>
                      <a:srgbClr val="FFFFFF"/>
                    </a:solidFill>
                  </a:tcPr>
                </a:tc>
                <a:tc>
                  <a:txBody>
                    <a:bodyPr/>
                    <a:lstStyle/>
                    <a:p>
                      <a:pPr>
                        <a:defRPr sz="1700" b="0">
                          <a:solidFill>
                            <a:srgbClr val="263344"/>
                          </a:solidFill>
                          <a:latin typeface="Aptos"/>
                        </a:defRPr>
                      </a:pPr>
                      <a:r>
                        <a:t>0.00x</a:t>
                      </a:r>
                    </a:p>
                  </a:txBody>
                  <a:tcPr marL="109728" marR="91440" marT="82296" marB="64008">
                    <a:solidFill>
                      <a:srgbClr val="FFFFFF"/>
                    </a:solidFill>
                  </a:tcPr>
                </a:tc>
              </a:tr>
            </a:tbl>
          </a:graphicData>
        </a:graphic>
      </p:graphicFrame>
      <p:sp>
        <p:nvSpPr>
          <p:cNvPr id="10" name="TextBox 9"/>
          <p:cNvSpPr txBox="1"/>
          <p:nvPr/>
        </p:nvSpPr>
        <p:spPr>
          <a:xfrm>
            <a:off x="502920" y="6025896"/>
            <a:ext cx="10972800" cy="228600"/>
          </a:xfrm>
          <a:prstGeom prst="rect">
            <a:avLst/>
          </a:prstGeom>
          <a:noFill/>
        </p:spPr>
        <p:txBody>
          <a:bodyPr wrap="square" lIns="0" rIns="0" tIns="0" bIns="0">
            <a:spAutoFit/>
          </a:bodyPr>
          <a:lstStyle/>
          <a:p>
            <a:pPr>
              <a:spcAft>
                <a:spcPts val="800"/>
              </a:spcAft>
              <a:defRPr sz="1100" b="0">
                <a:solidFill>
                  <a:srgbClr val="677281"/>
                </a:solidFill>
                <a:latin typeface="Aptos"/>
              </a:defRPr>
            </a:pPr>
            <a:r>
              <a:t>Illustrative connectors, not a validated payoff formula. Model and documentation remain to be reconciled.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10312"/>
            <a:ext cx="9144000" cy="228600"/>
          </a:xfrm>
          <a:prstGeom prst="rect">
            <a:avLst/>
          </a:prstGeom>
          <a:noFill/>
        </p:spPr>
        <p:txBody>
          <a:bodyPr wrap="square" lIns="0" rIns="0" tIns="0" bIns="0">
            <a:spAutoFit/>
          </a:bodyPr>
          <a:lstStyle/>
          <a:p>
            <a:pPr>
              <a:spcAft>
                <a:spcPts val="800"/>
              </a:spcAft>
              <a:defRPr sz="1000" b="0">
                <a:solidFill>
                  <a:srgbClr val="677281"/>
                </a:solidFill>
                <a:latin typeface="Aptos"/>
              </a:defRPr>
            </a:pPr>
            <a:r>
              <a:t>LIMINALITY CAPITAL  /  PROPOSED REVISION</a:t>
            </a:r>
          </a:p>
        </p:txBody>
      </p:sp>
      <p:sp>
        <p:nvSpPr>
          <p:cNvPr id="3" name="TextBox 2"/>
          <p:cNvSpPr txBox="1"/>
          <p:nvPr/>
        </p:nvSpPr>
        <p:spPr>
          <a:xfrm>
            <a:off x="457200" y="685800"/>
            <a:ext cx="11155680" cy="868680"/>
          </a:xfrm>
          <a:prstGeom prst="rect">
            <a:avLst/>
          </a:prstGeom>
          <a:noFill/>
        </p:spPr>
        <p:txBody>
          <a:bodyPr wrap="square" lIns="0" rIns="0" tIns="0" bIns="0">
            <a:spAutoFit/>
          </a:bodyPr>
          <a:lstStyle/>
          <a:p>
            <a:pPr>
              <a:spcAft>
                <a:spcPts val="800"/>
              </a:spcAft>
              <a:defRPr sz="3000" b="1">
                <a:solidFill>
                  <a:srgbClr val="171F46"/>
                </a:solidFill>
                <a:latin typeface="Aptos"/>
              </a:defRPr>
            </a:pPr>
            <a:r>
              <a:t>European support is conditional</a:t>
            </a:r>
          </a:p>
        </p:txBody>
      </p:sp>
      <p:sp>
        <p:nvSpPr>
          <p:cNvPr id="4" name="TextBox 3"/>
          <p:cNvSpPr txBox="1"/>
          <p:nvPr/>
        </p:nvSpPr>
        <p:spPr>
          <a:xfrm>
            <a:off x="457200" y="1490472"/>
            <a:ext cx="11155680" cy="640080"/>
          </a:xfrm>
          <a:prstGeom prst="rect">
            <a:avLst/>
          </a:prstGeom>
          <a:noFill/>
        </p:spPr>
        <p:txBody>
          <a:bodyPr wrap="square" lIns="0" rIns="0" tIns="0" bIns="0">
            <a:spAutoFit/>
          </a:bodyPr>
          <a:lstStyle/>
          <a:p>
            <a:pPr>
              <a:spcAft>
                <a:spcPts val="800"/>
              </a:spcAft>
              <a:defRPr sz="1600" b="0">
                <a:solidFill>
                  <a:srgbClr val="677281"/>
                </a:solidFill>
                <a:latin typeface="Aptos"/>
              </a:defRPr>
            </a:pPr>
            <a:r>
              <a:t>Institutional incentives matter; they are separate from the contractual floor</a:t>
            </a:r>
          </a:p>
        </p:txBody>
      </p:sp>
      <p:sp>
        <p:nvSpPr>
          <p:cNvPr id="5" name="Rectangle 4"/>
          <p:cNvSpPr/>
          <p:nvPr/>
        </p:nvSpPr>
        <p:spPr>
          <a:xfrm>
            <a:off x="457200" y="6382512"/>
            <a:ext cx="11247120" cy="18288"/>
          </a:xfrm>
          <a:prstGeom prst="rect">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1051560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Reviewer draft • Replaces original slides 14 and 15 • 6 October 2026</a:t>
            </a:r>
          </a:p>
        </p:txBody>
      </p:sp>
      <p:sp>
        <p:nvSpPr>
          <p:cNvPr id="7" name="TextBox 6"/>
          <p:cNvSpPr txBox="1"/>
          <p:nvPr/>
        </p:nvSpPr>
        <p:spPr>
          <a:xfrm>
            <a:off x="11292840" y="6473952"/>
            <a:ext cx="41148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8</a:t>
            </a:r>
          </a:p>
        </p:txBody>
      </p:sp>
      <p:graphicFrame>
        <p:nvGraphicFramePr>
          <p:cNvPr id="8" name="Table 7"/>
          <p:cNvGraphicFramePr>
            <a:graphicFrameLocks noGrp="1"/>
          </p:cNvGraphicFramePr>
          <p:nvPr/>
        </p:nvGraphicFramePr>
        <p:xfrm>
          <a:off x="502920" y="2286000"/>
          <a:ext cx="11155680" cy="3291840"/>
        </p:xfrm>
        <a:graphic>
          <a:graphicData uri="http://schemas.openxmlformats.org/drawingml/2006/table">
            <a:tbl>
              <a:tblPr firstRow="1" bandRow="1">
                <a:tableStyleId>{5C22544A-7EE6-4342-B048-85BDC9FD1C3A}</a:tableStyleId>
              </a:tblPr>
              <a:tblGrid>
                <a:gridCol w="2103120"/>
                <a:gridCol w="3657600"/>
                <a:gridCol w="5394960"/>
              </a:tblGrid>
              <a:tr h="658368">
                <a:tc>
                  <a:txBody>
                    <a:bodyPr/>
                    <a:lstStyle/>
                    <a:p>
                      <a:pPr>
                        <a:defRPr sz="1700" b="1">
                          <a:solidFill>
                            <a:srgbClr val="FFFFFF"/>
                          </a:solidFill>
                          <a:latin typeface="Aptos"/>
                        </a:defRPr>
                      </a:pPr>
                      <a:r>
                        <a:t>Tool / consideration</a:t>
                      </a:r>
                    </a:p>
                  </a:txBody>
                  <a:tcPr marL="109728" marR="91440" marT="82296" marB="64008">
                    <a:solidFill>
                      <a:srgbClr val="171F46"/>
                    </a:solidFill>
                  </a:tcPr>
                </a:tc>
                <a:tc>
                  <a:txBody>
                    <a:bodyPr/>
                    <a:lstStyle/>
                    <a:p>
                      <a:pPr>
                        <a:defRPr sz="1700" b="1">
                          <a:solidFill>
                            <a:srgbClr val="FFFFFF"/>
                          </a:solidFill>
                          <a:latin typeface="Aptos"/>
                        </a:defRPr>
                      </a:pPr>
                      <a:r>
                        <a:t>Why it may help</a:t>
                      </a:r>
                    </a:p>
                  </a:txBody>
                  <a:tcPr marL="109728" marR="91440" marT="82296" marB="64008">
                    <a:solidFill>
                      <a:srgbClr val="171F46"/>
                    </a:solidFill>
                  </a:tcPr>
                </a:tc>
                <a:tc>
                  <a:txBody>
                    <a:bodyPr/>
                    <a:lstStyle/>
                    <a:p>
                      <a:pPr>
                        <a:defRPr sz="1700" b="1">
                          <a:solidFill>
                            <a:srgbClr val="FFFFFF"/>
                          </a:solidFill>
                          <a:latin typeface="Aptos"/>
                        </a:defRPr>
                      </a:pPr>
                      <a:r>
                        <a:t>What limits the argument</a:t>
                      </a:r>
                    </a:p>
                  </a:txBody>
                  <a:tcPr marL="109728" marR="91440" marT="82296" marB="64008">
                    <a:solidFill>
                      <a:srgbClr val="171F46"/>
                    </a:solidFill>
                  </a:tcPr>
                </a:tc>
              </a:tr>
              <a:tr h="658368">
                <a:tc>
                  <a:txBody>
                    <a:bodyPr/>
                    <a:lstStyle/>
                    <a:p>
                      <a:pPr>
                        <a:defRPr sz="1700" b="0">
                          <a:solidFill>
                            <a:srgbClr val="263344"/>
                          </a:solidFill>
                          <a:latin typeface="Aptos"/>
                        </a:defRPr>
                      </a:pPr>
                      <a:r>
                        <a:t>TPI</a:t>
                      </a:r>
                    </a:p>
                  </a:txBody>
                  <a:tcPr marL="109728" marR="91440" marT="82296" marB="64008">
                    <a:solidFill>
                      <a:srgbClr val="EFF3F8"/>
                    </a:solidFill>
                  </a:tcPr>
                </a:tc>
                <a:tc>
                  <a:txBody>
                    <a:bodyPr/>
                    <a:lstStyle/>
                    <a:p>
                      <a:pPr>
                        <a:defRPr sz="1700" b="0">
                          <a:solidFill>
                            <a:srgbClr val="263344"/>
                          </a:solidFill>
                          <a:latin typeface="Aptos"/>
                        </a:defRPr>
                      </a:pPr>
                      <a:r>
                        <a:t>Counter disorderly fragmentation</a:t>
                      </a:r>
                    </a:p>
                  </a:txBody>
                  <a:tcPr marL="109728" marR="91440" marT="82296" marB="64008">
                    <a:solidFill>
                      <a:srgbClr val="EFF3F8"/>
                    </a:solidFill>
                  </a:tcPr>
                </a:tc>
                <a:tc>
                  <a:txBody>
                    <a:bodyPr/>
                    <a:lstStyle/>
                    <a:p>
                      <a:pPr>
                        <a:defRPr sz="1700" b="0">
                          <a:solidFill>
                            <a:srgbClr val="263344"/>
                          </a:solidFill>
                          <a:latin typeface="Aptos"/>
                        </a:defRPr>
                      </a:pPr>
                      <a:r>
                        <a:t>Fiscal, sustainability and transmission assessment; ECB discretion</a:t>
                      </a:r>
                    </a:p>
                  </a:txBody>
                  <a:tcPr marL="109728" marR="91440" marT="82296" marB="64008">
                    <a:solidFill>
                      <a:srgbClr val="EFF3F8"/>
                    </a:solidFill>
                  </a:tcPr>
                </a:tc>
              </a:tr>
              <a:tr h="658368">
                <a:tc>
                  <a:txBody>
                    <a:bodyPr/>
                    <a:lstStyle/>
                    <a:p>
                      <a:pPr>
                        <a:defRPr sz="1700" b="0">
                          <a:solidFill>
                            <a:srgbClr val="263344"/>
                          </a:solidFill>
                          <a:latin typeface="Aptos"/>
                        </a:defRPr>
                      </a:pPr>
                      <a:r>
                        <a:t>OMT</a:t>
                      </a:r>
                    </a:p>
                  </a:txBody>
                  <a:tcPr marL="109728" marR="91440" marT="82296" marB="64008">
                    <a:solidFill>
                      <a:srgbClr val="FFFFFF"/>
                    </a:solidFill>
                  </a:tcPr>
                </a:tc>
                <a:tc>
                  <a:txBody>
                    <a:bodyPr/>
                    <a:lstStyle/>
                    <a:p>
                      <a:pPr>
                        <a:defRPr sz="1700" b="0">
                          <a:solidFill>
                            <a:srgbClr val="263344"/>
                          </a:solidFill>
                          <a:latin typeface="Aptos"/>
                        </a:defRPr>
                      </a:pPr>
                      <a:r>
                        <a:t>Short-maturity sovereign purchases</a:t>
                      </a:r>
                    </a:p>
                  </a:txBody>
                  <a:tcPr marL="109728" marR="91440" marT="82296" marB="64008">
                    <a:solidFill>
                      <a:srgbClr val="FFFFFF"/>
                    </a:solidFill>
                  </a:tcPr>
                </a:tc>
                <a:tc>
                  <a:txBody>
                    <a:bodyPr/>
                    <a:lstStyle/>
                    <a:p>
                      <a:pPr>
                        <a:defRPr sz="1700" b="0">
                          <a:solidFill>
                            <a:srgbClr val="263344"/>
                          </a:solidFill>
                          <a:latin typeface="Aptos"/>
                        </a:defRPr>
                      </a:pPr>
                      <a:r>
                        <a:t>Qualifying programme, conditionality and ECB discretion</a:t>
                      </a:r>
                    </a:p>
                  </a:txBody>
                  <a:tcPr marL="109728" marR="91440" marT="82296" marB="64008">
                    <a:solidFill>
                      <a:srgbClr val="FFFFFF"/>
                    </a:solidFill>
                  </a:tcPr>
                </a:tc>
              </a:tr>
              <a:tr h="658368">
                <a:tc>
                  <a:txBody>
                    <a:bodyPr/>
                    <a:lstStyle/>
                    <a:p>
                      <a:pPr>
                        <a:defRPr sz="1700" b="0">
                          <a:solidFill>
                            <a:srgbClr val="263344"/>
                          </a:solidFill>
                          <a:latin typeface="Aptos"/>
                        </a:defRPr>
                      </a:pPr>
                      <a:r>
                        <a:t>APP / PEPP history</a:t>
                      </a:r>
                    </a:p>
                  </a:txBody>
                  <a:tcPr marL="109728" marR="91440" marT="82296" marB="64008">
                    <a:solidFill>
                      <a:srgbClr val="EFF3F8"/>
                    </a:solidFill>
                  </a:tcPr>
                </a:tc>
                <a:tc>
                  <a:txBody>
                    <a:bodyPr/>
                    <a:lstStyle/>
                    <a:p>
                      <a:pPr>
                        <a:defRPr sz="1700" b="0">
                          <a:solidFill>
                            <a:srgbClr val="263344"/>
                          </a:solidFill>
                          <a:latin typeface="Aptos"/>
                        </a:defRPr>
                      </a:pPr>
                      <a:r>
                        <a:t>Evidence of policy capacity</a:t>
                      </a:r>
                    </a:p>
                  </a:txBody>
                  <a:tcPr marL="109728" marR="91440" marT="82296" marB="64008">
                    <a:solidFill>
                      <a:srgbClr val="EFF3F8"/>
                    </a:solidFill>
                  </a:tcPr>
                </a:tc>
                <a:tc>
                  <a:txBody>
                    <a:bodyPr/>
                    <a:lstStyle/>
                    <a:p>
                      <a:pPr>
                        <a:defRPr sz="1700" b="0">
                          <a:solidFill>
                            <a:srgbClr val="263344"/>
                          </a:solidFill>
                          <a:latin typeface="Aptos"/>
                        </a:defRPr>
                      </a:pPr>
                      <a:r>
                        <a:t>Past programmes do not guarantee new purchases</a:t>
                      </a:r>
                    </a:p>
                  </a:txBody>
                  <a:tcPr marL="109728" marR="91440" marT="82296" marB="64008">
                    <a:solidFill>
                      <a:srgbClr val="EFF3F8"/>
                    </a:solidFill>
                  </a:tcPr>
                </a:tc>
              </a:tr>
              <a:tr h="658368">
                <a:tc>
                  <a:txBody>
                    <a:bodyPr/>
                    <a:lstStyle/>
                    <a:p>
                      <a:pPr>
                        <a:defRPr sz="1700" b="0">
                          <a:solidFill>
                            <a:srgbClr val="263344"/>
                          </a:solidFill>
                          <a:latin typeface="Aptos"/>
                        </a:defRPr>
                      </a:pPr>
                      <a:r>
                        <a:t>France’s systemic importance</a:t>
                      </a:r>
                    </a:p>
                  </a:txBody>
                  <a:tcPr marL="109728" marR="91440" marT="82296" marB="64008">
                    <a:solidFill>
                      <a:srgbClr val="FFFFFF"/>
                    </a:solidFill>
                  </a:tcPr>
                </a:tc>
                <a:tc>
                  <a:txBody>
                    <a:bodyPr/>
                    <a:lstStyle/>
                    <a:p>
                      <a:pPr>
                        <a:defRPr sz="1700" b="0">
                          <a:solidFill>
                            <a:srgbClr val="263344"/>
                          </a:solidFill>
                          <a:latin typeface="Aptos"/>
                        </a:defRPr>
                      </a:pPr>
                      <a:r>
                        <a:t>Strong incentives to stabilize</a:t>
                      </a:r>
                    </a:p>
                  </a:txBody>
                  <a:tcPr marL="109728" marR="91440" marT="82296" marB="64008">
                    <a:solidFill>
                      <a:srgbClr val="FFFFFF"/>
                    </a:solidFill>
                  </a:tcPr>
                </a:tc>
                <a:tc>
                  <a:txBody>
                    <a:bodyPr/>
                    <a:lstStyle/>
                    <a:p>
                      <a:pPr>
                        <a:defRPr sz="1700" b="0">
                          <a:solidFill>
                            <a:srgbClr val="263344"/>
                          </a:solidFill>
                          <a:latin typeface="Aptos"/>
                        </a:defRPr>
                      </a:pPr>
                      <a:r>
                        <a:t>No guarantee against loss, restructuring or redenomination</a:t>
                      </a:r>
                    </a:p>
                  </a:txBody>
                  <a:tcPr marL="109728" marR="91440" marT="82296" marB="64008">
                    <a:solidFill>
                      <a:srgbClr val="FFFFFF"/>
                    </a:solidFill>
                  </a:tcPr>
                </a:tc>
              </a:tr>
            </a:tbl>
          </a:graphicData>
        </a:graphic>
      </p:graphicFrame>
      <p:sp>
        <p:nvSpPr>
          <p:cNvPr id="9" name="Rectangle 8"/>
          <p:cNvSpPr/>
          <p:nvPr/>
        </p:nvSpPr>
        <p:spPr>
          <a:xfrm>
            <a:off x="502920" y="5733288"/>
            <a:ext cx="11155680" cy="475488"/>
          </a:xfrm>
          <a:prstGeom prst="rect">
            <a:avLst/>
          </a:prstGeom>
          <a:solidFill>
            <a:srgbClr val="FF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870448"/>
            <a:ext cx="10698480" cy="274320"/>
          </a:xfrm>
          <a:prstGeom prst="rect">
            <a:avLst/>
          </a:prstGeom>
          <a:noFill/>
        </p:spPr>
        <p:txBody>
          <a:bodyPr wrap="square" lIns="0" rIns="0" tIns="0" bIns="0">
            <a:spAutoFit/>
          </a:bodyPr>
          <a:lstStyle/>
          <a:p>
            <a:pPr>
              <a:spcAft>
                <a:spcPts val="800"/>
              </a:spcAft>
              <a:defRPr sz="1800" b="1">
                <a:solidFill>
                  <a:srgbClr val="865B17"/>
                </a:solidFill>
                <a:latin typeface="Aptos"/>
              </a:defRPr>
            </a:pPr>
            <a:r>
              <a:t>Policy support is an investment judgment. The floor depends on the actual contract.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10312"/>
            <a:ext cx="9144000" cy="228600"/>
          </a:xfrm>
          <a:prstGeom prst="rect">
            <a:avLst/>
          </a:prstGeom>
          <a:noFill/>
        </p:spPr>
        <p:txBody>
          <a:bodyPr wrap="square" lIns="0" rIns="0" tIns="0" bIns="0">
            <a:spAutoFit/>
          </a:bodyPr>
          <a:lstStyle/>
          <a:p>
            <a:pPr>
              <a:spcAft>
                <a:spcPts val="800"/>
              </a:spcAft>
              <a:defRPr sz="1000" b="0">
                <a:solidFill>
                  <a:srgbClr val="677281"/>
                </a:solidFill>
                <a:latin typeface="Aptos"/>
              </a:defRPr>
            </a:pPr>
            <a:r>
              <a:t>LIMINALITY CAPITAL  /  PROPOSED REVISION</a:t>
            </a:r>
          </a:p>
        </p:txBody>
      </p:sp>
      <p:sp>
        <p:nvSpPr>
          <p:cNvPr id="3" name="TextBox 2"/>
          <p:cNvSpPr txBox="1"/>
          <p:nvPr/>
        </p:nvSpPr>
        <p:spPr>
          <a:xfrm>
            <a:off x="457200" y="685800"/>
            <a:ext cx="11155680" cy="868680"/>
          </a:xfrm>
          <a:prstGeom prst="rect">
            <a:avLst/>
          </a:prstGeom>
          <a:noFill/>
        </p:spPr>
        <p:txBody>
          <a:bodyPr wrap="square" lIns="0" rIns="0" tIns="0" bIns="0">
            <a:spAutoFit/>
          </a:bodyPr>
          <a:lstStyle/>
          <a:p>
            <a:pPr>
              <a:spcAft>
                <a:spcPts val="800"/>
              </a:spcAft>
              <a:defRPr sz="3000" b="1">
                <a:solidFill>
                  <a:srgbClr val="171F46"/>
                </a:solidFill>
                <a:latin typeface="Aptos"/>
              </a:defRPr>
            </a:pPr>
            <a:r>
              <a:t>Politics matters through transmission to the trade</a:t>
            </a:r>
          </a:p>
        </p:txBody>
      </p:sp>
      <p:sp>
        <p:nvSpPr>
          <p:cNvPr id="4" name="TextBox 3"/>
          <p:cNvSpPr txBox="1"/>
          <p:nvPr/>
        </p:nvSpPr>
        <p:spPr>
          <a:xfrm>
            <a:off x="457200" y="1490472"/>
            <a:ext cx="11155680" cy="640080"/>
          </a:xfrm>
          <a:prstGeom prst="rect">
            <a:avLst/>
          </a:prstGeom>
          <a:noFill/>
        </p:spPr>
        <p:txBody>
          <a:bodyPr wrap="square" lIns="0" rIns="0" tIns="0" bIns="0">
            <a:spAutoFit/>
          </a:bodyPr>
          <a:lstStyle/>
          <a:p>
            <a:pPr>
              <a:spcAft>
                <a:spcPts val="800"/>
              </a:spcAft>
              <a:defRPr sz="1600" b="0">
                <a:solidFill>
                  <a:srgbClr val="677281"/>
                </a:solidFill>
                <a:latin typeface="Aptos"/>
              </a:defRPr>
            </a:pPr>
            <a:r>
              <a:t>The 2027 election is a catalyst; the investment continues to February 2031</a:t>
            </a:r>
          </a:p>
        </p:txBody>
      </p:sp>
      <p:sp>
        <p:nvSpPr>
          <p:cNvPr id="5" name="Rectangle 4"/>
          <p:cNvSpPr/>
          <p:nvPr/>
        </p:nvSpPr>
        <p:spPr>
          <a:xfrm>
            <a:off x="457200" y="6382512"/>
            <a:ext cx="11247120" cy="18288"/>
          </a:xfrm>
          <a:prstGeom prst="rect">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1051560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Reviewer draft • Replaces original slide 13 • 6 October 2026</a:t>
            </a:r>
          </a:p>
        </p:txBody>
      </p:sp>
      <p:sp>
        <p:nvSpPr>
          <p:cNvPr id="7" name="TextBox 6"/>
          <p:cNvSpPr txBox="1"/>
          <p:nvPr/>
        </p:nvSpPr>
        <p:spPr>
          <a:xfrm>
            <a:off x="11292840" y="6473952"/>
            <a:ext cx="41148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9</a:t>
            </a:r>
          </a:p>
        </p:txBody>
      </p:sp>
      <p:graphicFrame>
        <p:nvGraphicFramePr>
          <p:cNvPr id="8" name="Table 7"/>
          <p:cNvGraphicFramePr>
            <a:graphicFrameLocks noGrp="1"/>
          </p:cNvGraphicFramePr>
          <p:nvPr/>
        </p:nvGraphicFramePr>
        <p:xfrm>
          <a:off x="502920" y="2286000"/>
          <a:ext cx="11155680" cy="3474720"/>
        </p:xfrm>
        <a:graphic>
          <a:graphicData uri="http://schemas.openxmlformats.org/drawingml/2006/table">
            <a:tbl>
              <a:tblPr firstRow="1" bandRow="1">
                <a:tableStyleId>{5C22544A-7EE6-4342-B048-85BDC9FD1C3A}</a:tableStyleId>
              </a:tblPr>
              <a:tblGrid>
                <a:gridCol w="2194560"/>
                <a:gridCol w="4114800"/>
                <a:gridCol w="4846320"/>
              </a:tblGrid>
              <a:tr h="868680">
                <a:tc>
                  <a:txBody>
                    <a:bodyPr/>
                    <a:lstStyle/>
                    <a:p>
                      <a:pPr>
                        <a:defRPr sz="1900" b="1">
                          <a:solidFill>
                            <a:srgbClr val="FFFFFF"/>
                          </a:solidFill>
                          <a:latin typeface="Aptos"/>
                        </a:defRPr>
                      </a:pPr>
                      <a:r>
                        <a:t>Channel</a:t>
                      </a:r>
                    </a:p>
                  </a:txBody>
                  <a:tcPr marL="109728" marR="91440" marT="82296" marB="64008">
                    <a:solidFill>
                      <a:srgbClr val="171F46"/>
                    </a:solidFill>
                  </a:tcPr>
                </a:tc>
                <a:tc>
                  <a:txBody>
                    <a:bodyPr/>
                    <a:lstStyle/>
                    <a:p>
                      <a:pPr>
                        <a:defRPr sz="1900" b="1">
                          <a:solidFill>
                            <a:srgbClr val="FFFFFF"/>
                          </a:solidFill>
                          <a:latin typeface="Aptos"/>
                        </a:defRPr>
                      </a:pPr>
                      <a:r>
                        <a:t>Potential development</a:t>
                      </a:r>
                    </a:p>
                  </a:txBody>
                  <a:tcPr marL="109728" marR="91440" marT="82296" marB="64008">
                    <a:solidFill>
                      <a:srgbClr val="171F46"/>
                    </a:solidFill>
                  </a:tcPr>
                </a:tc>
                <a:tc>
                  <a:txBody>
                    <a:bodyPr/>
                    <a:lstStyle/>
                    <a:p>
                      <a:pPr>
                        <a:defRPr sz="1900" b="1">
                          <a:solidFill>
                            <a:srgbClr val="FFFFFF"/>
                          </a:solidFill>
                          <a:latin typeface="Aptos"/>
                        </a:defRPr>
                      </a:pPr>
                      <a:r>
                        <a:t>Relevance to the position</a:t>
                      </a:r>
                    </a:p>
                  </a:txBody>
                  <a:tcPr marL="109728" marR="91440" marT="82296" marB="64008">
                    <a:solidFill>
                      <a:srgbClr val="171F46"/>
                    </a:solidFill>
                  </a:tcPr>
                </a:tc>
              </a:tr>
              <a:tr h="868680">
                <a:tc>
                  <a:txBody>
                    <a:bodyPr/>
                    <a:lstStyle/>
                    <a:p>
                      <a:pPr>
                        <a:defRPr sz="1900" b="0">
                          <a:solidFill>
                            <a:srgbClr val="263344"/>
                          </a:solidFill>
                          <a:latin typeface="Aptos"/>
                        </a:defRPr>
                      </a:pPr>
                      <a:r>
                        <a:t>Fiscal path</a:t>
                      </a:r>
                    </a:p>
                  </a:txBody>
                  <a:tcPr marL="109728" marR="91440" marT="82296" marB="64008">
                    <a:solidFill>
                      <a:srgbClr val="EFF3F8"/>
                    </a:solidFill>
                  </a:tcPr>
                </a:tc>
                <a:tc>
                  <a:txBody>
                    <a:bodyPr/>
                    <a:lstStyle/>
                    <a:p>
                      <a:pPr>
                        <a:defRPr sz="1900" b="0">
                          <a:solidFill>
                            <a:srgbClr val="263344"/>
                          </a:solidFill>
                          <a:latin typeface="Aptos"/>
                        </a:defRPr>
                      </a:pPr>
                      <a:r>
                        <a:t>Budget compromise or renewed slippage</a:t>
                      </a:r>
                    </a:p>
                  </a:txBody>
                  <a:tcPr marL="109728" marR="91440" marT="82296" marB="64008">
                    <a:solidFill>
                      <a:srgbClr val="EFF3F8"/>
                    </a:solidFill>
                  </a:tcPr>
                </a:tc>
                <a:tc>
                  <a:txBody>
                    <a:bodyPr/>
                    <a:lstStyle/>
                    <a:p>
                      <a:pPr>
                        <a:defRPr sz="1900" b="0">
                          <a:solidFill>
                            <a:srgbClr val="263344"/>
                          </a:solidFill>
                          <a:latin typeface="Aptos"/>
                        </a:defRPr>
                      </a:pPr>
                      <a:r>
                        <a:t>Bond issuance, debt sustainability and spread valuation</a:t>
                      </a:r>
                    </a:p>
                  </a:txBody>
                  <a:tcPr marL="109728" marR="91440" marT="82296" marB="64008">
                    <a:solidFill>
                      <a:srgbClr val="EFF3F8"/>
                    </a:solidFill>
                  </a:tcPr>
                </a:tc>
              </a:tr>
              <a:tr h="868680">
                <a:tc>
                  <a:txBody>
                    <a:bodyPr/>
                    <a:lstStyle/>
                    <a:p>
                      <a:pPr>
                        <a:defRPr sz="1900" b="0">
                          <a:solidFill>
                            <a:srgbClr val="263344"/>
                          </a:solidFill>
                          <a:latin typeface="Aptos"/>
                        </a:defRPr>
                      </a:pPr>
                      <a:r>
                        <a:t>European support</a:t>
                      </a:r>
                    </a:p>
                  </a:txBody>
                  <a:tcPr marL="109728" marR="91440" marT="82296" marB="64008">
                    <a:solidFill>
                      <a:srgbClr val="FFFFFF"/>
                    </a:solidFill>
                  </a:tcPr>
                </a:tc>
                <a:tc>
                  <a:txBody>
                    <a:bodyPr/>
                    <a:lstStyle/>
                    <a:p>
                      <a:pPr>
                        <a:defRPr sz="1900" b="0">
                          <a:solidFill>
                            <a:srgbClr val="263344"/>
                          </a:solidFill>
                          <a:latin typeface="Aptos"/>
                        </a:defRPr>
                      </a:pPr>
                      <a:r>
                        <a:t>Compliance or conflict over policy conditions</a:t>
                      </a:r>
                    </a:p>
                  </a:txBody>
                  <a:tcPr marL="109728" marR="91440" marT="82296" marB="64008">
                    <a:solidFill>
                      <a:srgbClr val="FFFFFF"/>
                    </a:solidFill>
                  </a:tcPr>
                </a:tc>
                <a:tc>
                  <a:txBody>
                    <a:bodyPr/>
                    <a:lstStyle/>
                    <a:p>
                      <a:pPr>
                        <a:defRPr sz="1900" b="0">
                          <a:solidFill>
                            <a:srgbClr val="263344"/>
                          </a:solidFill>
                          <a:latin typeface="Aptos"/>
                        </a:defRPr>
                      </a:pPr>
                      <a:r>
                        <a:t>Timing and availability of stabilizing intervention</a:t>
                      </a:r>
                    </a:p>
                  </a:txBody>
                  <a:tcPr marL="109728" marR="91440" marT="82296" marB="64008">
                    <a:solidFill>
                      <a:srgbClr val="FFFFFF"/>
                    </a:solidFill>
                  </a:tcPr>
                </a:tc>
              </a:tr>
              <a:tr h="868680">
                <a:tc>
                  <a:txBody>
                    <a:bodyPr/>
                    <a:lstStyle/>
                    <a:p>
                      <a:pPr>
                        <a:defRPr sz="1900" b="0">
                          <a:solidFill>
                            <a:srgbClr val="263344"/>
                          </a:solidFill>
                          <a:latin typeface="Aptos"/>
                        </a:defRPr>
                      </a:pPr>
                      <a:r>
                        <a:t>Debt / currency regime</a:t>
                      </a:r>
                    </a:p>
                  </a:txBody>
                  <a:tcPr marL="109728" marR="91440" marT="82296" marB="64008">
                    <a:solidFill>
                      <a:srgbClr val="EFF3F8"/>
                    </a:solidFill>
                  </a:tcPr>
                </a:tc>
                <a:tc>
                  <a:txBody>
                    <a:bodyPr/>
                    <a:lstStyle/>
                    <a:p>
                      <a:pPr>
                        <a:defRPr sz="1900" b="0">
                          <a:solidFill>
                            <a:srgbClr val="263344"/>
                          </a:solidFill>
                          <a:latin typeface="Aptos"/>
                        </a:defRPr>
                      </a:pPr>
                      <a:r>
                        <a:t>Any challenge to repayment or denomination</a:t>
                      </a:r>
                    </a:p>
                  </a:txBody>
                  <a:tcPr marL="109728" marR="91440" marT="82296" marB="64008">
                    <a:solidFill>
                      <a:srgbClr val="EFF3F8"/>
                    </a:solidFill>
                  </a:tcPr>
                </a:tc>
                <a:tc>
                  <a:txBody>
                    <a:bodyPr/>
                    <a:lstStyle/>
                    <a:p>
                      <a:pPr>
                        <a:defRPr sz="1900" b="0">
                          <a:solidFill>
                            <a:srgbClr val="263344"/>
                          </a:solidFill>
                          <a:latin typeface="Aptos"/>
                        </a:defRPr>
                      </a:pPr>
                      <a:r>
                        <a:t>Tail loss and contract-defined credit-event settlement</a:t>
                      </a:r>
                    </a:p>
                  </a:txBody>
                  <a:tcPr marL="109728" marR="91440" marT="82296" marB="64008">
                    <a:solidFill>
                      <a:srgbClr val="EFF3F8"/>
                    </a:solidFill>
                  </a:tcPr>
                </a:tc>
              </a:tr>
            </a:tbl>
          </a:graphicData>
        </a:graphic>
      </p:graphicFrame>
      <p:sp>
        <p:nvSpPr>
          <p:cNvPr id="9" name="TextBox 8"/>
          <p:cNvSpPr txBox="1"/>
          <p:nvPr/>
        </p:nvSpPr>
        <p:spPr>
          <a:xfrm>
            <a:off x="594360" y="5943600"/>
            <a:ext cx="10972800" cy="320040"/>
          </a:xfrm>
          <a:prstGeom prst="rect">
            <a:avLst/>
          </a:prstGeom>
          <a:noFill/>
        </p:spPr>
        <p:txBody>
          <a:bodyPr wrap="square" lIns="0" rIns="0" tIns="0" bIns="0">
            <a:spAutoFit/>
          </a:bodyPr>
          <a:lstStyle/>
          <a:p>
            <a:pPr>
              <a:spcAft>
                <a:spcPts val="800"/>
              </a:spcAft>
              <a:defRPr sz="1800" b="1">
                <a:solidFill>
                  <a:srgbClr val="171F46"/>
                </a:solidFill>
                <a:latin typeface="Aptos"/>
              </a:defRPr>
            </a:pPr>
            <a:r>
              <a:t>Confirmed election dates: first round 18 April 2027; second round 2 May 2027.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10312"/>
            <a:ext cx="9144000" cy="228600"/>
          </a:xfrm>
          <a:prstGeom prst="rect">
            <a:avLst/>
          </a:prstGeom>
          <a:noFill/>
        </p:spPr>
        <p:txBody>
          <a:bodyPr wrap="square" lIns="0" rIns="0" tIns="0" bIns="0">
            <a:spAutoFit/>
          </a:bodyPr>
          <a:lstStyle/>
          <a:p>
            <a:pPr>
              <a:spcAft>
                <a:spcPts val="800"/>
              </a:spcAft>
              <a:defRPr sz="1000" b="0">
                <a:solidFill>
                  <a:srgbClr val="677281"/>
                </a:solidFill>
                <a:latin typeface="Aptos"/>
              </a:defRPr>
            </a:pPr>
            <a:r>
              <a:t>LIMINALITY CAPITAL  /  PROPOSED REVISION</a:t>
            </a:r>
          </a:p>
        </p:txBody>
      </p:sp>
      <p:sp>
        <p:nvSpPr>
          <p:cNvPr id="3" name="TextBox 2"/>
          <p:cNvSpPr txBox="1"/>
          <p:nvPr/>
        </p:nvSpPr>
        <p:spPr>
          <a:xfrm>
            <a:off x="457200" y="685800"/>
            <a:ext cx="11155680" cy="868680"/>
          </a:xfrm>
          <a:prstGeom prst="rect">
            <a:avLst/>
          </a:prstGeom>
          <a:noFill/>
        </p:spPr>
        <p:txBody>
          <a:bodyPr wrap="square" lIns="0" rIns="0" tIns="0" bIns="0">
            <a:spAutoFit/>
          </a:bodyPr>
          <a:lstStyle/>
          <a:p>
            <a:pPr>
              <a:spcAft>
                <a:spcPts val="800"/>
              </a:spcAft>
              <a:defRPr sz="3000" b="1">
                <a:solidFill>
                  <a:srgbClr val="171F46"/>
                </a:solidFill>
                <a:latin typeface="Aptos"/>
              </a:defRPr>
            </a:pPr>
            <a:r>
              <a:t>The entire capital commitment can be lost</a:t>
            </a:r>
          </a:p>
        </p:txBody>
      </p:sp>
      <p:sp>
        <p:nvSpPr>
          <p:cNvPr id="4" name="TextBox 3"/>
          <p:cNvSpPr txBox="1"/>
          <p:nvPr/>
        </p:nvSpPr>
        <p:spPr>
          <a:xfrm>
            <a:off x="457200" y="1490472"/>
            <a:ext cx="11155680" cy="640080"/>
          </a:xfrm>
          <a:prstGeom prst="rect">
            <a:avLst/>
          </a:prstGeom>
          <a:noFill/>
        </p:spPr>
        <p:txBody>
          <a:bodyPr wrap="square" lIns="0" rIns="0" tIns="0" bIns="0">
            <a:spAutoFit/>
          </a:bodyPr>
          <a:lstStyle/>
          <a:p>
            <a:pPr>
              <a:spcAft>
                <a:spcPts val="800"/>
              </a:spcAft>
              <a:defRPr sz="1600" b="0">
                <a:solidFill>
                  <a:srgbClr val="677281"/>
                </a:solidFill>
                <a:latin typeface="Aptos"/>
              </a:defRPr>
            </a:pPr>
            <a:r>
              <a:t>The intended floor addresses liability and financing risk; it does not make capital safe</a:t>
            </a:r>
          </a:p>
        </p:txBody>
      </p:sp>
      <p:sp>
        <p:nvSpPr>
          <p:cNvPr id="5" name="Rectangle 4"/>
          <p:cNvSpPr/>
          <p:nvPr/>
        </p:nvSpPr>
        <p:spPr>
          <a:xfrm>
            <a:off x="457200" y="6382512"/>
            <a:ext cx="11247120" cy="18288"/>
          </a:xfrm>
          <a:prstGeom prst="rect">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1051560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Reviewer draft • Replaces original slide 19 • 6 October 2026</a:t>
            </a:r>
          </a:p>
        </p:txBody>
      </p:sp>
      <p:sp>
        <p:nvSpPr>
          <p:cNvPr id="7" name="TextBox 6"/>
          <p:cNvSpPr txBox="1"/>
          <p:nvPr/>
        </p:nvSpPr>
        <p:spPr>
          <a:xfrm>
            <a:off x="11292840" y="6473952"/>
            <a:ext cx="41148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10</a:t>
            </a:r>
          </a:p>
        </p:txBody>
      </p:sp>
      <p:graphicFrame>
        <p:nvGraphicFramePr>
          <p:cNvPr id="8" name="Table 7"/>
          <p:cNvGraphicFramePr>
            <a:graphicFrameLocks noGrp="1"/>
          </p:cNvGraphicFramePr>
          <p:nvPr/>
        </p:nvGraphicFramePr>
        <p:xfrm>
          <a:off x="502920" y="2212848"/>
          <a:ext cx="11155680" cy="3813048"/>
        </p:xfrm>
        <a:graphic>
          <a:graphicData uri="http://schemas.openxmlformats.org/drawingml/2006/table">
            <a:tbl>
              <a:tblPr firstRow="1" bandRow="1">
                <a:tableStyleId>{5C22544A-7EE6-4342-B048-85BDC9FD1C3A}</a:tableStyleId>
              </a:tblPr>
              <a:tblGrid>
                <a:gridCol w="2194560"/>
                <a:gridCol w="4114800"/>
                <a:gridCol w="4846320"/>
              </a:tblGrid>
              <a:tr h="635508">
                <a:tc>
                  <a:txBody>
                    <a:bodyPr/>
                    <a:lstStyle/>
                    <a:p>
                      <a:pPr>
                        <a:defRPr sz="1700" b="1">
                          <a:solidFill>
                            <a:srgbClr val="FFFFFF"/>
                          </a:solidFill>
                          <a:latin typeface="Aptos"/>
                        </a:defRPr>
                      </a:pPr>
                      <a:r>
                        <a:t>Risk</a:t>
                      </a:r>
                    </a:p>
                  </a:txBody>
                  <a:tcPr marL="109728" marR="91440" marT="82296" marB="64008">
                    <a:solidFill>
                      <a:srgbClr val="171F46"/>
                    </a:solidFill>
                  </a:tcPr>
                </a:tc>
                <a:tc>
                  <a:txBody>
                    <a:bodyPr/>
                    <a:lstStyle/>
                    <a:p>
                      <a:pPr>
                        <a:defRPr sz="1700" b="1">
                          <a:solidFill>
                            <a:srgbClr val="FFFFFF"/>
                          </a:solidFill>
                          <a:latin typeface="Aptos"/>
                        </a:defRPr>
                      </a:pPr>
                      <a:r>
                        <a:t>Structure is intended to address</a:t>
                      </a:r>
                    </a:p>
                  </a:txBody>
                  <a:tcPr marL="109728" marR="91440" marT="82296" marB="64008">
                    <a:solidFill>
                      <a:srgbClr val="171F46"/>
                    </a:solidFill>
                  </a:tcPr>
                </a:tc>
                <a:tc>
                  <a:txBody>
                    <a:bodyPr/>
                    <a:lstStyle/>
                    <a:p>
                      <a:pPr>
                        <a:defRPr sz="1700" b="1">
                          <a:solidFill>
                            <a:srgbClr val="FFFFFF"/>
                          </a:solidFill>
                          <a:latin typeface="Aptos"/>
                        </a:defRPr>
                      </a:pPr>
                      <a:r>
                        <a:t>Residual exposure</a:t>
                      </a:r>
                    </a:p>
                  </a:txBody>
                  <a:tcPr marL="109728" marR="91440" marT="82296" marB="64008">
                    <a:solidFill>
                      <a:srgbClr val="171F46"/>
                    </a:solidFill>
                  </a:tcPr>
                </a:tc>
              </a:tr>
              <a:tr h="635508">
                <a:tc>
                  <a:txBody>
                    <a:bodyPr/>
                    <a:lstStyle/>
                    <a:p>
                      <a:pPr>
                        <a:defRPr sz="1700" b="0">
                          <a:solidFill>
                            <a:srgbClr val="263344"/>
                          </a:solidFill>
                          <a:latin typeface="Aptos"/>
                        </a:defRPr>
                      </a:pPr>
                      <a:r>
                        <a:t>Expiry spread</a:t>
                      </a:r>
                    </a:p>
                  </a:txBody>
                  <a:tcPr marL="109728" marR="91440" marT="82296" marB="64008">
                    <a:solidFill>
                      <a:srgbClr val="EFF3F8"/>
                    </a:solidFill>
                  </a:tcPr>
                </a:tc>
                <a:tc>
                  <a:txBody>
                    <a:bodyPr/>
                    <a:lstStyle/>
                    <a:p>
                      <a:pPr>
                        <a:defRPr sz="1700" b="0">
                          <a:solidFill>
                            <a:srgbClr val="263344"/>
                          </a:solidFill>
                          <a:latin typeface="Aptos"/>
                        </a:defRPr>
                      </a:pPr>
                      <a:r>
                        <a:t>Floor limits trade liability</a:t>
                      </a:r>
                    </a:p>
                  </a:txBody>
                  <a:tcPr marL="109728" marR="91440" marT="82296" marB="64008">
                    <a:solidFill>
                      <a:srgbClr val="EFF3F8"/>
                    </a:solidFill>
                  </a:tcPr>
                </a:tc>
                <a:tc>
                  <a:txBody>
                    <a:bodyPr/>
                    <a:lstStyle/>
                    <a:p>
                      <a:pPr>
                        <a:defRPr sz="1700" b="0">
                          <a:solidFill>
                            <a:srgbClr val="263344"/>
                          </a:solidFill>
                          <a:latin typeface="Aptos"/>
                        </a:defRPr>
                      </a:pPr>
                      <a:r>
                        <a:t>Partial or full loss of committed capital</a:t>
                      </a:r>
                    </a:p>
                  </a:txBody>
                  <a:tcPr marL="109728" marR="91440" marT="82296" marB="64008">
                    <a:solidFill>
                      <a:srgbClr val="EFF3F8"/>
                    </a:solidFill>
                  </a:tcPr>
                </a:tc>
              </a:tr>
              <a:tr h="635508">
                <a:tc>
                  <a:txBody>
                    <a:bodyPr/>
                    <a:lstStyle/>
                    <a:p>
                      <a:pPr>
                        <a:defRPr sz="1700" b="0">
                          <a:solidFill>
                            <a:srgbClr val="263344"/>
                          </a:solidFill>
                          <a:latin typeface="Aptos"/>
                        </a:defRPr>
                      </a:pPr>
                      <a:r>
                        <a:t>Funding / margin</a:t>
                      </a:r>
                    </a:p>
                  </a:txBody>
                  <a:tcPr marL="109728" marR="91440" marT="82296" marB="64008">
                    <a:solidFill>
                      <a:srgbClr val="FFFFFF"/>
                    </a:solidFill>
                  </a:tcPr>
                </a:tc>
                <a:tc>
                  <a:txBody>
                    <a:bodyPr/>
                    <a:lstStyle/>
                    <a:p>
                      <a:pPr>
                        <a:defRPr sz="1700" b="0">
                          <a:solidFill>
                            <a:srgbClr val="263344"/>
                          </a:solidFill>
                          <a:latin typeface="Aptos"/>
                        </a:defRPr>
                      </a:pPr>
                      <a:r>
                        <a:t>Term margin and no additional margin</a:t>
                      </a:r>
                    </a:p>
                  </a:txBody>
                  <a:tcPr marL="109728" marR="91440" marT="82296" marB="64008">
                    <a:solidFill>
                      <a:srgbClr val="FFFFFF"/>
                    </a:solidFill>
                  </a:tcPr>
                </a:tc>
                <a:tc>
                  <a:txBody>
                    <a:bodyPr/>
                    <a:lstStyle/>
                    <a:p>
                      <a:pPr>
                        <a:defRPr sz="1700" b="0">
                          <a:solidFill>
                            <a:srgbClr val="263344"/>
                          </a:solidFill>
                          <a:latin typeface="Aptos"/>
                        </a:defRPr>
                      </a:pPr>
                      <a:r>
                        <a:t>Contract exceptions and early termination</a:t>
                      </a:r>
                    </a:p>
                  </a:txBody>
                  <a:tcPr marL="109728" marR="91440" marT="82296" marB="64008">
                    <a:solidFill>
                      <a:srgbClr val="FFFFFF"/>
                    </a:solidFill>
                  </a:tcPr>
                </a:tc>
              </a:tr>
              <a:tr h="635508">
                <a:tc>
                  <a:txBody>
                    <a:bodyPr/>
                    <a:lstStyle/>
                    <a:p>
                      <a:pPr>
                        <a:defRPr sz="1700" b="0">
                          <a:solidFill>
                            <a:srgbClr val="263344"/>
                          </a:solidFill>
                          <a:latin typeface="Aptos"/>
                        </a:defRPr>
                      </a:pPr>
                      <a:r>
                        <a:t>Counterparty / legal</a:t>
                      </a:r>
                    </a:p>
                  </a:txBody>
                  <a:tcPr marL="109728" marR="91440" marT="82296" marB="64008">
                    <a:solidFill>
                      <a:srgbClr val="EFF3F8"/>
                    </a:solidFill>
                  </a:tcPr>
                </a:tc>
                <a:tc>
                  <a:txBody>
                    <a:bodyPr/>
                    <a:lstStyle/>
                    <a:p>
                      <a:pPr>
                        <a:defRPr sz="1700" b="0">
                          <a:solidFill>
                            <a:srgbClr val="263344"/>
                          </a:solidFill>
                          <a:latin typeface="Aptos"/>
                        </a:defRPr>
                      </a:pPr>
                      <a:r>
                        <a:t>Documented non-recourse provisions</a:t>
                      </a:r>
                    </a:p>
                  </a:txBody>
                  <a:tcPr marL="109728" marR="91440" marT="82296" marB="64008">
                    <a:solidFill>
                      <a:srgbClr val="EFF3F8"/>
                    </a:solidFill>
                  </a:tcPr>
                </a:tc>
                <a:tc>
                  <a:txBody>
                    <a:bodyPr/>
                    <a:lstStyle/>
                    <a:p>
                      <a:pPr>
                        <a:defRPr sz="1700" b="0">
                          <a:solidFill>
                            <a:srgbClr val="263344"/>
                          </a:solidFill>
                          <a:latin typeface="Aptos"/>
                        </a:defRPr>
                      </a:pPr>
                      <a:r>
                        <a:t>Bank failure, enforceability and event settlement</a:t>
                      </a:r>
                    </a:p>
                  </a:txBody>
                  <a:tcPr marL="109728" marR="91440" marT="82296" marB="64008">
                    <a:solidFill>
                      <a:srgbClr val="EFF3F8"/>
                    </a:solidFill>
                  </a:tcPr>
                </a:tc>
              </a:tr>
              <a:tr h="635508">
                <a:tc>
                  <a:txBody>
                    <a:bodyPr/>
                    <a:lstStyle/>
                    <a:p>
                      <a:pPr>
                        <a:defRPr sz="1700" b="0">
                          <a:solidFill>
                            <a:srgbClr val="263344"/>
                          </a:solidFill>
                          <a:latin typeface="Aptos"/>
                        </a:defRPr>
                      </a:pPr>
                      <a:r>
                        <a:t>Liquidity / valuation</a:t>
                      </a:r>
                    </a:p>
                  </a:txBody>
                  <a:tcPr marL="109728" marR="91440" marT="82296" marB="64008">
                    <a:solidFill>
                      <a:srgbClr val="FFFFFF"/>
                    </a:solidFill>
                  </a:tcPr>
                </a:tc>
                <a:tc>
                  <a:txBody>
                    <a:bodyPr/>
                    <a:lstStyle/>
                    <a:p>
                      <a:pPr>
                        <a:defRPr sz="1700" b="0">
                          <a:solidFill>
                            <a:srgbClr val="263344"/>
                          </a:solidFill>
                          <a:latin typeface="Aptos"/>
                        </a:defRPr>
                      </a:pPr>
                      <a:r>
                        <a:t>Ability to hold to expiry</a:t>
                      </a:r>
                    </a:p>
                  </a:txBody>
                  <a:tcPr marL="109728" marR="91440" marT="82296" marB="64008">
                    <a:solidFill>
                      <a:srgbClr val="FFFFFF"/>
                    </a:solidFill>
                  </a:tcPr>
                </a:tc>
                <a:tc>
                  <a:txBody>
                    <a:bodyPr/>
                    <a:lstStyle/>
                    <a:p>
                      <a:pPr>
                        <a:defRPr sz="1700" b="0">
                          <a:solidFill>
                            <a:srgbClr val="263344"/>
                          </a:solidFill>
                          <a:latin typeface="Aptos"/>
                        </a:defRPr>
                      </a:pPr>
                      <a:r>
                        <a:t>NAV drawdowns, early exit and fund redemptions</a:t>
                      </a:r>
                    </a:p>
                  </a:txBody>
                  <a:tcPr marL="109728" marR="91440" marT="82296" marB="64008">
                    <a:solidFill>
                      <a:srgbClr val="FFFFFF"/>
                    </a:solidFill>
                  </a:tcPr>
                </a:tc>
              </a:tr>
              <a:tr h="635508">
                <a:tc>
                  <a:txBody>
                    <a:bodyPr/>
                    <a:lstStyle/>
                    <a:p>
                      <a:pPr>
                        <a:defRPr sz="1700" b="0">
                          <a:solidFill>
                            <a:srgbClr val="263344"/>
                          </a:solidFill>
                          <a:latin typeface="Aptos"/>
                        </a:defRPr>
                      </a:pPr>
                      <a:r>
                        <a:t>Rates / currency / basis</a:t>
                      </a:r>
                    </a:p>
                  </a:txBody>
                  <a:tcPr marL="109728" marR="91440" marT="82296" marB="64008">
                    <a:solidFill>
                      <a:srgbClr val="EFF3F8"/>
                    </a:solidFill>
                  </a:tcPr>
                </a:tc>
                <a:tc>
                  <a:txBody>
                    <a:bodyPr/>
                    <a:lstStyle/>
                    <a:p>
                      <a:pPr>
                        <a:defRPr sz="1700" b="0">
                          <a:solidFill>
                            <a:srgbClr val="263344"/>
                          </a:solidFill>
                          <a:latin typeface="Aptos"/>
                        </a:defRPr>
                      </a:pPr>
                      <a:r>
                        <a:t>Initial DV01 hedge</a:t>
                      </a:r>
                    </a:p>
                  </a:txBody>
                  <a:tcPr marL="109728" marR="91440" marT="82296" marB="64008">
                    <a:solidFill>
                      <a:srgbClr val="EFF3F8"/>
                    </a:solidFill>
                  </a:tcPr>
                </a:tc>
                <a:tc>
                  <a:txBody>
                    <a:bodyPr/>
                    <a:lstStyle/>
                    <a:p>
                      <a:pPr>
                        <a:defRPr sz="1700" b="0">
                          <a:solidFill>
                            <a:srgbClr val="263344"/>
                          </a:solidFill>
                          <a:latin typeface="Aptos"/>
                        </a:defRPr>
                      </a:pPr>
                      <a:r>
                        <a:t>Curve, convexity, floating basis, FX and costs</a:t>
                      </a:r>
                    </a:p>
                  </a:txBody>
                  <a:tcPr marL="109728" marR="91440" marT="82296" marB="64008">
                    <a:solidFill>
                      <a:srgbClr val="EFF3F8"/>
                    </a:solidFill>
                  </a:tcPr>
                </a:tc>
              </a:tr>
            </a:tbl>
          </a:graphicData>
        </a:graphic>
      </p:graphicFrame>
      <p:sp>
        <p:nvSpPr>
          <p:cNvPr id="9" name="TextBox 8"/>
          <p:cNvSpPr txBox="1"/>
          <p:nvPr/>
        </p:nvSpPr>
        <p:spPr>
          <a:xfrm>
            <a:off x="548640" y="6144768"/>
            <a:ext cx="10972800" cy="228600"/>
          </a:xfrm>
          <a:prstGeom prst="rect">
            <a:avLst/>
          </a:prstGeom>
          <a:noFill/>
        </p:spPr>
        <p:txBody>
          <a:bodyPr wrap="square" lIns="0" rIns="0" tIns="0" bIns="0">
            <a:spAutoFit/>
          </a:bodyPr>
          <a:lstStyle/>
          <a:p>
            <a:pPr>
              <a:spcAft>
                <a:spcPts val="800"/>
              </a:spcAft>
              <a:defRPr sz="1200" b="1">
                <a:solidFill>
                  <a:srgbClr val="B4393B"/>
                </a:solidFill>
                <a:latin typeface="Aptos"/>
              </a:defRPr>
            </a:pPr>
            <a:r>
              <a:t>A complete risk statement needs the final contract, not just a spread-history comparison.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10312"/>
            <a:ext cx="9144000" cy="228600"/>
          </a:xfrm>
          <a:prstGeom prst="rect">
            <a:avLst/>
          </a:prstGeom>
          <a:noFill/>
        </p:spPr>
        <p:txBody>
          <a:bodyPr wrap="square" lIns="0" rIns="0" tIns="0" bIns="0">
            <a:spAutoFit/>
          </a:bodyPr>
          <a:lstStyle/>
          <a:p>
            <a:pPr>
              <a:spcAft>
                <a:spcPts val="800"/>
              </a:spcAft>
              <a:defRPr sz="1000" b="0">
                <a:solidFill>
                  <a:srgbClr val="677281"/>
                </a:solidFill>
                <a:latin typeface="Aptos"/>
              </a:defRPr>
            </a:pPr>
            <a:r>
              <a:t>LIMINALITY CAPITAL  /  PROPOSED REVISION</a:t>
            </a:r>
          </a:p>
        </p:txBody>
      </p:sp>
      <p:sp>
        <p:nvSpPr>
          <p:cNvPr id="3" name="TextBox 2"/>
          <p:cNvSpPr txBox="1"/>
          <p:nvPr/>
        </p:nvSpPr>
        <p:spPr>
          <a:xfrm>
            <a:off x="457200" y="685800"/>
            <a:ext cx="11155680" cy="868680"/>
          </a:xfrm>
          <a:prstGeom prst="rect">
            <a:avLst/>
          </a:prstGeom>
          <a:noFill/>
        </p:spPr>
        <p:txBody>
          <a:bodyPr wrap="square" lIns="0" rIns="0" tIns="0" bIns="0">
            <a:spAutoFit/>
          </a:bodyPr>
          <a:lstStyle/>
          <a:p>
            <a:pPr>
              <a:spcAft>
                <a:spcPts val="800"/>
              </a:spcAft>
              <a:defRPr sz="3000" b="1">
                <a:solidFill>
                  <a:srgbClr val="171F46"/>
                </a:solidFill>
                <a:latin typeface="Aptos"/>
              </a:defRPr>
            </a:pPr>
            <a:r>
              <a:t>Connect the trade to the investor’s exposure</a:t>
            </a:r>
          </a:p>
        </p:txBody>
      </p:sp>
      <p:sp>
        <p:nvSpPr>
          <p:cNvPr id="4" name="TextBox 3"/>
          <p:cNvSpPr txBox="1"/>
          <p:nvPr/>
        </p:nvSpPr>
        <p:spPr>
          <a:xfrm>
            <a:off x="457200" y="1490472"/>
            <a:ext cx="11155680" cy="640080"/>
          </a:xfrm>
          <a:prstGeom prst="rect">
            <a:avLst/>
          </a:prstGeom>
          <a:noFill/>
        </p:spPr>
        <p:txBody>
          <a:bodyPr wrap="square" lIns="0" rIns="0" tIns="0" bIns="0">
            <a:spAutoFit/>
          </a:bodyPr>
          <a:lstStyle/>
          <a:p>
            <a:pPr>
              <a:spcAft>
                <a:spcPts val="800"/>
              </a:spcAft>
              <a:defRPr sz="1600" b="0">
                <a:solidFill>
                  <a:srgbClr val="677281"/>
                </a:solidFill>
                <a:latin typeface="Aptos"/>
              </a:defRPr>
            </a:pPr>
            <a:r>
              <a:t>Illustration only: proposed allocation and fund terms have not been supplied</a:t>
            </a:r>
          </a:p>
        </p:txBody>
      </p:sp>
      <p:sp>
        <p:nvSpPr>
          <p:cNvPr id="5" name="Rectangle 4"/>
          <p:cNvSpPr/>
          <p:nvPr/>
        </p:nvSpPr>
        <p:spPr>
          <a:xfrm>
            <a:off x="457200" y="6382512"/>
            <a:ext cx="11247120" cy="18288"/>
          </a:xfrm>
          <a:prstGeom prst="rect">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1051560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Reviewer draft • New portfolio-context slide • 6 October 2026</a:t>
            </a:r>
          </a:p>
        </p:txBody>
      </p:sp>
      <p:sp>
        <p:nvSpPr>
          <p:cNvPr id="7" name="TextBox 6"/>
          <p:cNvSpPr txBox="1"/>
          <p:nvPr/>
        </p:nvSpPr>
        <p:spPr>
          <a:xfrm>
            <a:off x="11292840" y="6473952"/>
            <a:ext cx="41148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11</a:t>
            </a:r>
          </a:p>
        </p:txBody>
      </p:sp>
      <p:graphicFrame>
        <p:nvGraphicFramePr>
          <p:cNvPr id="8" name="Table 7"/>
          <p:cNvGraphicFramePr>
            <a:graphicFrameLocks noGrp="1"/>
          </p:cNvGraphicFramePr>
          <p:nvPr/>
        </p:nvGraphicFramePr>
        <p:xfrm>
          <a:off x="548640" y="2286000"/>
          <a:ext cx="11064240" cy="2514600"/>
        </p:xfrm>
        <a:graphic>
          <a:graphicData uri="http://schemas.openxmlformats.org/drawingml/2006/table">
            <a:tbl>
              <a:tblPr firstRow="1" bandRow="1">
                <a:tableStyleId>{5C22544A-7EE6-4342-B048-85BDC9FD1C3A}</a:tableStyleId>
              </a:tblPr>
              <a:tblGrid>
                <a:gridCol w="3383280"/>
                <a:gridCol w="3840480"/>
                <a:gridCol w="3840480"/>
              </a:tblGrid>
              <a:tr h="628650">
                <a:tc>
                  <a:txBody>
                    <a:bodyPr/>
                    <a:lstStyle/>
                    <a:p>
                      <a:pPr>
                        <a:defRPr sz="2200" b="1">
                          <a:solidFill>
                            <a:srgbClr val="FFFFFF"/>
                          </a:solidFill>
                          <a:latin typeface="Aptos"/>
                        </a:defRPr>
                      </a:pPr>
                      <a:r>
                        <a:t>Capital as % of NAV</a:t>
                      </a:r>
                    </a:p>
                  </a:txBody>
                  <a:tcPr marL="109728" marR="91440" marT="82296" marB="64008">
                    <a:solidFill>
                      <a:srgbClr val="171F46"/>
                    </a:solidFill>
                  </a:tcPr>
                </a:tc>
                <a:tc>
                  <a:txBody>
                    <a:bodyPr/>
                    <a:lstStyle/>
                    <a:p>
                      <a:pPr>
                        <a:defRPr sz="2200" b="1">
                          <a:solidFill>
                            <a:srgbClr val="FFFFFF"/>
                          </a:solidFill>
                          <a:latin typeface="Aptos"/>
                        </a:defRPr>
                      </a:pPr>
                      <a:r>
                        <a:t>4.75x outcome: NAV gain</a:t>
                      </a:r>
                    </a:p>
                  </a:txBody>
                  <a:tcPr marL="109728" marR="91440" marT="82296" marB="64008">
                    <a:solidFill>
                      <a:srgbClr val="171F46"/>
                    </a:solidFill>
                  </a:tcPr>
                </a:tc>
                <a:tc>
                  <a:txBody>
                    <a:bodyPr/>
                    <a:lstStyle/>
                    <a:p>
                      <a:pPr>
                        <a:defRPr sz="2200" b="1">
                          <a:solidFill>
                            <a:srgbClr val="FFFFFF"/>
                          </a:solidFill>
                          <a:latin typeface="Aptos"/>
                        </a:defRPr>
                      </a:pPr>
                      <a:r>
                        <a:t>0.00x outcome: NAV loss</a:t>
                      </a:r>
                    </a:p>
                  </a:txBody>
                  <a:tcPr marL="109728" marR="91440" marT="82296" marB="64008">
                    <a:solidFill>
                      <a:srgbClr val="171F46"/>
                    </a:solidFill>
                  </a:tcPr>
                </a:tc>
              </a:tr>
              <a:tr h="628650">
                <a:tc>
                  <a:txBody>
                    <a:bodyPr/>
                    <a:lstStyle/>
                    <a:p>
                      <a:pPr>
                        <a:defRPr sz="2200" b="0">
                          <a:solidFill>
                            <a:srgbClr val="263344"/>
                          </a:solidFill>
                          <a:latin typeface="Aptos"/>
                        </a:defRPr>
                      </a:pPr>
                      <a:r>
                        <a:t>2%</a:t>
                      </a:r>
                    </a:p>
                  </a:txBody>
                  <a:tcPr marL="109728" marR="91440" marT="82296" marB="64008">
                    <a:solidFill>
                      <a:srgbClr val="EFF3F8"/>
                    </a:solidFill>
                  </a:tcPr>
                </a:tc>
                <a:tc>
                  <a:txBody>
                    <a:bodyPr/>
                    <a:lstStyle/>
                    <a:p>
                      <a:pPr>
                        <a:defRPr sz="2200" b="0">
                          <a:solidFill>
                            <a:srgbClr val="263344"/>
                          </a:solidFill>
                          <a:latin typeface="Aptos"/>
                        </a:defRPr>
                      </a:pPr>
                      <a:r>
                        <a:t>+7.5%</a:t>
                      </a:r>
                    </a:p>
                  </a:txBody>
                  <a:tcPr marL="109728" marR="91440" marT="82296" marB="64008">
                    <a:solidFill>
                      <a:srgbClr val="EFF3F8"/>
                    </a:solidFill>
                  </a:tcPr>
                </a:tc>
                <a:tc>
                  <a:txBody>
                    <a:bodyPr/>
                    <a:lstStyle/>
                    <a:p>
                      <a:pPr>
                        <a:defRPr sz="2200" b="0">
                          <a:solidFill>
                            <a:srgbClr val="263344"/>
                          </a:solidFill>
                          <a:latin typeface="Aptos"/>
                        </a:defRPr>
                      </a:pPr>
                      <a:r>
                        <a:t>−2.0%</a:t>
                      </a:r>
                    </a:p>
                  </a:txBody>
                  <a:tcPr marL="109728" marR="91440" marT="82296" marB="64008">
                    <a:solidFill>
                      <a:srgbClr val="EFF3F8"/>
                    </a:solidFill>
                  </a:tcPr>
                </a:tc>
              </a:tr>
              <a:tr h="628650">
                <a:tc>
                  <a:txBody>
                    <a:bodyPr/>
                    <a:lstStyle/>
                    <a:p>
                      <a:pPr>
                        <a:defRPr sz="2200" b="0">
                          <a:solidFill>
                            <a:srgbClr val="263344"/>
                          </a:solidFill>
                          <a:latin typeface="Aptos"/>
                        </a:defRPr>
                      </a:pPr>
                      <a:r>
                        <a:t>5%</a:t>
                      </a:r>
                    </a:p>
                  </a:txBody>
                  <a:tcPr marL="109728" marR="91440" marT="82296" marB="64008">
                    <a:solidFill>
                      <a:srgbClr val="FFFFFF"/>
                    </a:solidFill>
                  </a:tcPr>
                </a:tc>
                <a:tc>
                  <a:txBody>
                    <a:bodyPr/>
                    <a:lstStyle/>
                    <a:p>
                      <a:pPr>
                        <a:defRPr sz="2200" b="0">
                          <a:solidFill>
                            <a:srgbClr val="263344"/>
                          </a:solidFill>
                          <a:latin typeface="Aptos"/>
                        </a:defRPr>
                      </a:pPr>
                      <a:r>
                        <a:t>+18.75%</a:t>
                      </a:r>
                    </a:p>
                  </a:txBody>
                  <a:tcPr marL="109728" marR="91440" marT="82296" marB="64008">
                    <a:solidFill>
                      <a:srgbClr val="FFFFFF"/>
                    </a:solidFill>
                  </a:tcPr>
                </a:tc>
                <a:tc>
                  <a:txBody>
                    <a:bodyPr/>
                    <a:lstStyle/>
                    <a:p>
                      <a:pPr>
                        <a:defRPr sz="2200" b="0">
                          <a:solidFill>
                            <a:srgbClr val="263344"/>
                          </a:solidFill>
                          <a:latin typeface="Aptos"/>
                        </a:defRPr>
                      </a:pPr>
                      <a:r>
                        <a:t>−5.0%</a:t>
                      </a:r>
                    </a:p>
                  </a:txBody>
                  <a:tcPr marL="109728" marR="91440" marT="82296" marB="64008">
                    <a:solidFill>
                      <a:srgbClr val="FFFFFF"/>
                    </a:solidFill>
                  </a:tcPr>
                </a:tc>
              </a:tr>
              <a:tr h="628650">
                <a:tc>
                  <a:txBody>
                    <a:bodyPr/>
                    <a:lstStyle/>
                    <a:p>
                      <a:pPr>
                        <a:defRPr sz="2200" b="0">
                          <a:solidFill>
                            <a:srgbClr val="263344"/>
                          </a:solidFill>
                          <a:latin typeface="Aptos"/>
                        </a:defRPr>
                      </a:pPr>
                      <a:r>
                        <a:t>10%</a:t>
                      </a:r>
                    </a:p>
                  </a:txBody>
                  <a:tcPr marL="109728" marR="91440" marT="82296" marB="64008">
                    <a:solidFill>
                      <a:srgbClr val="EFF3F8"/>
                    </a:solidFill>
                  </a:tcPr>
                </a:tc>
                <a:tc>
                  <a:txBody>
                    <a:bodyPr/>
                    <a:lstStyle/>
                    <a:p>
                      <a:pPr>
                        <a:defRPr sz="2200" b="0">
                          <a:solidFill>
                            <a:srgbClr val="263344"/>
                          </a:solidFill>
                          <a:latin typeface="Aptos"/>
                        </a:defRPr>
                      </a:pPr>
                      <a:r>
                        <a:t>+37.5%</a:t>
                      </a:r>
                    </a:p>
                  </a:txBody>
                  <a:tcPr marL="109728" marR="91440" marT="82296" marB="64008">
                    <a:solidFill>
                      <a:srgbClr val="EFF3F8"/>
                    </a:solidFill>
                  </a:tcPr>
                </a:tc>
                <a:tc>
                  <a:txBody>
                    <a:bodyPr/>
                    <a:lstStyle/>
                    <a:p>
                      <a:pPr>
                        <a:defRPr sz="2200" b="0">
                          <a:solidFill>
                            <a:srgbClr val="263344"/>
                          </a:solidFill>
                          <a:latin typeface="Aptos"/>
                        </a:defRPr>
                      </a:pPr>
                      <a:r>
                        <a:t>−10.0%</a:t>
                      </a:r>
                    </a:p>
                  </a:txBody>
                  <a:tcPr marL="109728" marR="91440" marT="82296" marB="64008">
                    <a:solidFill>
                      <a:srgbClr val="EFF3F8"/>
                    </a:solidFill>
                  </a:tcPr>
                </a:tc>
              </a:tr>
            </a:tbl>
          </a:graphicData>
        </a:graphic>
      </p:graphicFrame>
      <p:sp>
        <p:nvSpPr>
          <p:cNvPr id="9" name="TextBox 8"/>
          <p:cNvSpPr txBox="1"/>
          <p:nvPr/>
        </p:nvSpPr>
        <p:spPr>
          <a:xfrm>
            <a:off x="594360" y="5138928"/>
            <a:ext cx="10972800" cy="822960"/>
          </a:xfrm>
          <a:prstGeom prst="rect">
            <a:avLst/>
          </a:prstGeom>
          <a:noFill/>
        </p:spPr>
        <p:txBody>
          <a:bodyPr wrap="square" lIns="0" rIns="0" tIns="0" bIns="0">
            <a:spAutoFit/>
          </a:bodyPr>
          <a:lstStyle/>
          <a:p>
            <a:pPr>
              <a:spcAft>
                <a:spcPts val="800"/>
              </a:spcAft>
              <a:defRPr sz="2400" b="1">
                <a:solidFill>
                  <a:srgbClr val="171F46"/>
                </a:solidFill>
                <a:latin typeface="Aptos"/>
              </a:defRPr>
            </a:pPr>
            <a:r>
              <a:t>Add the actual investment vehicle, allocation, loss budget, fees, liquidity and capacity.</a:t>
            </a:r>
          </a:p>
        </p:txBody>
      </p:sp>
      <p:sp>
        <p:nvSpPr>
          <p:cNvPr id="10" name="TextBox 9"/>
          <p:cNvSpPr txBox="1"/>
          <p:nvPr/>
        </p:nvSpPr>
        <p:spPr>
          <a:xfrm>
            <a:off x="594360" y="6080760"/>
            <a:ext cx="10972800" cy="228600"/>
          </a:xfrm>
          <a:prstGeom prst="rect">
            <a:avLst/>
          </a:prstGeom>
          <a:noFill/>
        </p:spPr>
        <p:txBody>
          <a:bodyPr wrap="square" lIns="0" rIns="0" tIns="0" bIns="0">
            <a:spAutoFit/>
          </a:bodyPr>
          <a:lstStyle/>
          <a:p>
            <a:pPr>
              <a:spcAft>
                <a:spcPts val="800"/>
              </a:spcAft>
              <a:defRPr sz="1200" b="0">
                <a:solidFill>
                  <a:srgbClr val="677281"/>
                </a:solidFill>
                <a:latin typeface="Aptos"/>
              </a:defRPr>
            </a:pPr>
            <a:r>
              <a:t>Total contribution over the life of the trade; excludes fees, taxes, FX and other portfolio effects.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10312"/>
            <a:ext cx="9144000" cy="228600"/>
          </a:xfrm>
          <a:prstGeom prst="rect">
            <a:avLst/>
          </a:prstGeom>
          <a:noFill/>
        </p:spPr>
        <p:txBody>
          <a:bodyPr wrap="square" lIns="0" rIns="0" tIns="0" bIns="0">
            <a:spAutoFit/>
          </a:bodyPr>
          <a:lstStyle/>
          <a:p>
            <a:pPr>
              <a:spcAft>
                <a:spcPts val="800"/>
              </a:spcAft>
              <a:defRPr sz="1000" b="0">
                <a:solidFill>
                  <a:srgbClr val="677281"/>
                </a:solidFill>
                <a:latin typeface="Aptos"/>
              </a:defRPr>
            </a:pPr>
            <a:r>
              <a:t>LIMINALITY CAPITAL  /  PROPOSED REVISION</a:t>
            </a:r>
          </a:p>
        </p:txBody>
      </p:sp>
      <p:sp>
        <p:nvSpPr>
          <p:cNvPr id="3" name="TextBox 2"/>
          <p:cNvSpPr txBox="1"/>
          <p:nvPr/>
        </p:nvSpPr>
        <p:spPr>
          <a:xfrm>
            <a:off x="457200" y="685800"/>
            <a:ext cx="11155680" cy="868680"/>
          </a:xfrm>
          <a:prstGeom prst="rect">
            <a:avLst/>
          </a:prstGeom>
          <a:noFill/>
        </p:spPr>
        <p:txBody>
          <a:bodyPr wrap="square" lIns="0" rIns="0" tIns="0" bIns="0">
            <a:spAutoFit/>
          </a:bodyPr>
          <a:lstStyle/>
          <a:p>
            <a:pPr>
              <a:spcAft>
                <a:spcPts val="800"/>
              </a:spcAft>
              <a:defRPr sz="3000" b="1">
                <a:solidFill>
                  <a:srgbClr val="171F46"/>
                </a:solidFill>
                <a:latin typeface="Aptos"/>
              </a:defRPr>
            </a:pPr>
            <a:r>
              <a:t>An optional hedge needs its own risk model</a:t>
            </a:r>
          </a:p>
        </p:txBody>
      </p:sp>
      <p:sp>
        <p:nvSpPr>
          <p:cNvPr id="4" name="TextBox 3"/>
          <p:cNvSpPr txBox="1"/>
          <p:nvPr/>
        </p:nvSpPr>
        <p:spPr>
          <a:xfrm>
            <a:off x="457200" y="1490472"/>
            <a:ext cx="11155680" cy="640080"/>
          </a:xfrm>
          <a:prstGeom prst="rect">
            <a:avLst/>
          </a:prstGeom>
          <a:noFill/>
        </p:spPr>
        <p:txBody>
          <a:bodyPr wrap="square" lIns="0" rIns="0" tIns="0" bIns="0">
            <a:spAutoFit/>
          </a:bodyPr>
          <a:lstStyle/>
          <a:p>
            <a:pPr>
              <a:spcAft>
                <a:spcPts val="800"/>
              </a:spcAft>
              <a:defRPr sz="1600" b="0">
                <a:solidFill>
                  <a:srgbClr val="677281"/>
                </a:solidFill>
                <a:latin typeface="Aptos"/>
              </a:defRPr>
            </a:pPr>
            <a:r>
              <a:t>Low-coupon long / high-coupon short: an equal-recovery convergence idea</a:t>
            </a:r>
          </a:p>
        </p:txBody>
      </p:sp>
      <p:sp>
        <p:nvSpPr>
          <p:cNvPr id="5" name="Rectangle 4"/>
          <p:cNvSpPr/>
          <p:nvPr/>
        </p:nvSpPr>
        <p:spPr>
          <a:xfrm>
            <a:off x="457200" y="6382512"/>
            <a:ext cx="11247120" cy="18288"/>
          </a:xfrm>
          <a:prstGeom prst="rect">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1051560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Reviewer draft • Replaces original slide 21; appendix • 6 October 2026</a:t>
            </a:r>
          </a:p>
        </p:txBody>
      </p:sp>
      <p:sp>
        <p:nvSpPr>
          <p:cNvPr id="7" name="TextBox 6"/>
          <p:cNvSpPr txBox="1"/>
          <p:nvPr/>
        </p:nvSpPr>
        <p:spPr>
          <a:xfrm>
            <a:off x="11292840" y="6473952"/>
            <a:ext cx="411480" cy="182880"/>
          </a:xfrm>
          <a:prstGeom prst="rect">
            <a:avLst/>
          </a:prstGeom>
          <a:noFill/>
        </p:spPr>
        <p:txBody>
          <a:bodyPr wrap="square" lIns="0" rIns="0" tIns="0" bIns="0">
            <a:spAutoFit/>
          </a:bodyPr>
          <a:lstStyle/>
          <a:p>
            <a:pPr>
              <a:spcAft>
                <a:spcPts val="800"/>
              </a:spcAft>
              <a:defRPr sz="900" b="0">
                <a:solidFill>
                  <a:srgbClr val="677281"/>
                </a:solidFill>
                <a:latin typeface="Aptos"/>
              </a:defRPr>
            </a:pPr>
            <a:r>
              <a:t>12</a:t>
            </a:r>
          </a:p>
        </p:txBody>
      </p:sp>
      <p:sp>
        <p:nvSpPr>
          <p:cNvPr id="8" name="TextBox 7"/>
          <p:cNvSpPr txBox="1"/>
          <p:nvPr/>
        </p:nvSpPr>
        <p:spPr>
          <a:xfrm>
            <a:off x="594360" y="2286000"/>
            <a:ext cx="6035040" cy="1508760"/>
          </a:xfrm>
          <a:prstGeom prst="rect">
            <a:avLst/>
          </a:prstGeom>
          <a:noFill/>
        </p:spPr>
        <p:txBody>
          <a:bodyPr wrap="square" lIns="0" rIns="0" tIns="0" bIns="0">
            <a:spAutoFit/>
          </a:bodyPr>
          <a:lstStyle/>
          <a:p>
            <a:pPr>
              <a:spcAft>
                <a:spcPts val="800"/>
              </a:spcAft>
              <a:defRPr sz="2200" b="1">
                <a:solidFill>
                  <a:srgbClr val="171F46"/>
                </a:solidFill>
                <a:latin typeface="Aptos"/>
              </a:defRPr>
            </a:pPr>
            <a:r>
              <a:t>Long: OAT 0.5% May 2040</a:t>
            </a:r>
          </a:p>
          <a:p>
            <a:pPr>
              <a:spcAft>
                <a:spcPts val="800"/>
              </a:spcAft>
              <a:defRPr sz="2200" b="1">
                <a:solidFill>
                  <a:srgbClr val="171F46"/>
                </a:solidFill>
                <a:latin typeface="Aptos"/>
              </a:defRPr>
            </a:pPr>
            <a:r>
              <a:t>Short: OAT 4.5% April 2041</a:t>
            </a:r>
          </a:p>
          <a:p>
            <a:pPr>
              <a:spcAft>
                <a:spcPts val="800"/>
              </a:spcAft>
              <a:defRPr sz="2200" b="1">
                <a:solidFill>
                  <a:srgbClr val="171F46"/>
                </a:solidFill>
                <a:latin typeface="Aptos"/>
              </a:defRPr>
            </a:pPr>
            <a:r>
              <a:t>Entry hedge: about 141 face long / 100 short</a:t>
            </a:r>
          </a:p>
        </p:txBody>
      </p:sp>
      <p:graphicFrame>
        <p:nvGraphicFramePr>
          <p:cNvPr id="9" name="Table 8"/>
          <p:cNvGraphicFramePr>
            <a:graphicFrameLocks noGrp="1"/>
          </p:cNvGraphicFramePr>
          <p:nvPr/>
        </p:nvGraphicFramePr>
        <p:xfrm>
          <a:off x="6903720" y="2286000"/>
          <a:ext cx="4663440" cy="2331720"/>
        </p:xfrm>
        <a:graphic>
          <a:graphicData uri="http://schemas.openxmlformats.org/drawingml/2006/table">
            <a:tbl>
              <a:tblPr firstRow="1" bandRow="1">
                <a:tableStyleId>{5C22544A-7EE6-4342-B048-85BDC9FD1C3A}</a:tableStyleId>
              </a:tblPr>
              <a:tblGrid>
                <a:gridCol w="2286000"/>
                <a:gridCol w="2377440"/>
              </a:tblGrid>
              <a:tr h="582930">
                <a:tc>
                  <a:txBody>
                    <a:bodyPr/>
                    <a:lstStyle/>
                    <a:p>
                      <a:pPr>
                        <a:defRPr sz="2000" b="1">
                          <a:solidFill>
                            <a:srgbClr val="FFFFFF"/>
                          </a:solidFill>
                          <a:latin typeface="Aptos"/>
                        </a:defRPr>
                      </a:pPr>
                      <a:r>
                        <a:t>Common price</a:t>
                      </a:r>
                    </a:p>
                  </a:txBody>
                  <a:tcPr marL="109728" marR="91440" marT="82296" marB="64008">
                    <a:solidFill>
                      <a:srgbClr val="171F46"/>
                    </a:solidFill>
                  </a:tcPr>
                </a:tc>
                <a:tc>
                  <a:txBody>
                    <a:bodyPr/>
                    <a:lstStyle/>
                    <a:p>
                      <a:pPr>
                        <a:defRPr sz="2000" b="1">
                          <a:solidFill>
                            <a:srgbClr val="FFFFFF"/>
                          </a:solidFill>
                          <a:latin typeface="Aptos"/>
                        </a:defRPr>
                      </a:pPr>
                      <a:r>
                        <a:t>Net gain*</a:t>
                      </a:r>
                    </a:p>
                  </a:txBody>
                  <a:tcPr marL="109728" marR="91440" marT="82296" marB="64008">
                    <a:solidFill>
                      <a:srgbClr val="171F46"/>
                    </a:solidFill>
                  </a:tcPr>
                </a:tc>
              </a:tr>
              <a:tr h="582930">
                <a:tc>
                  <a:txBody>
                    <a:bodyPr/>
                    <a:lstStyle/>
                    <a:p>
                      <a:pPr>
                        <a:defRPr sz="2000" b="0">
                          <a:solidFill>
                            <a:srgbClr val="263344"/>
                          </a:solidFill>
                          <a:latin typeface="Aptos"/>
                        </a:defRPr>
                      </a:pPr>
                      <a:r>
                        <a:t>90</a:t>
                      </a:r>
                    </a:p>
                  </a:txBody>
                  <a:tcPr marL="109728" marR="91440" marT="82296" marB="64008">
                    <a:solidFill>
                      <a:srgbClr val="EFF3F8"/>
                    </a:solidFill>
                  </a:tcPr>
                </a:tc>
                <a:tc>
                  <a:txBody>
                    <a:bodyPr/>
                    <a:lstStyle/>
                    <a:p>
                      <a:pPr>
                        <a:defRPr sz="2000" b="0">
                          <a:solidFill>
                            <a:srgbClr val="263344"/>
                          </a:solidFill>
                          <a:latin typeface="Aptos"/>
                        </a:defRPr>
                      </a:pPr>
                      <a:r>
                        <a:t>+52.21</a:t>
                      </a:r>
                    </a:p>
                  </a:txBody>
                  <a:tcPr marL="109728" marR="91440" marT="82296" marB="64008">
                    <a:solidFill>
                      <a:srgbClr val="EFF3F8"/>
                    </a:solidFill>
                  </a:tcPr>
                </a:tc>
              </a:tr>
              <a:tr h="582930">
                <a:tc>
                  <a:txBody>
                    <a:bodyPr/>
                    <a:lstStyle/>
                    <a:p>
                      <a:pPr>
                        <a:defRPr sz="2000" b="0">
                          <a:solidFill>
                            <a:srgbClr val="263344"/>
                          </a:solidFill>
                          <a:latin typeface="Aptos"/>
                        </a:defRPr>
                      </a:pPr>
                      <a:r>
                        <a:t>75</a:t>
                      </a:r>
                    </a:p>
                  </a:txBody>
                  <a:tcPr marL="109728" marR="91440" marT="82296" marB="64008">
                    <a:solidFill>
                      <a:srgbClr val="FFFFFF"/>
                    </a:solidFill>
                  </a:tcPr>
                </a:tc>
                <a:tc>
                  <a:txBody>
                    <a:bodyPr/>
                    <a:lstStyle/>
                    <a:p>
                      <a:pPr>
                        <a:defRPr sz="2000" b="0">
                          <a:solidFill>
                            <a:srgbClr val="263344"/>
                          </a:solidFill>
                          <a:latin typeface="Aptos"/>
                        </a:defRPr>
                      </a:pPr>
                      <a:r>
                        <a:t>+46.06</a:t>
                      </a:r>
                    </a:p>
                  </a:txBody>
                  <a:tcPr marL="109728" marR="91440" marT="82296" marB="64008">
                    <a:solidFill>
                      <a:srgbClr val="FFFFFF"/>
                    </a:solidFill>
                  </a:tcPr>
                </a:tc>
              </a:tr>
              <a:tr h="582930">
                <a:tc>
                  <a:txBody>
                    <a:bodyPr/>
                    <a:lstStyle/>
                    <a:p>
                      <a:pPr>
                        <a:defRPr sz="2000" b="0">
                          <a:solidFill>
                            <a:srgbClr val="263344"/>
                          </a:solidFill>
                          <a:latin typeface="Aptos"/>
                        </a:defRPr>
                      </a:pPr>
                      <a:r>
                        <a:t>40</a:t>
                      </a:r>
                    </a:p>
                  </a:txBody>
                  <a:tcPr marL="109728" marR="91440" marT="82296" marB="64008">
                    <a:solidFill>
                      <a:srgbClr val="EFF3F8"/>
                    </a:solidFill>
                  </a:tcPr>
                </a:tc>
                <a:tc>
                  <a:txBody>
                    <a:bodyPr/>
                    <a:lstStyle/>
                    <a:p>
                      <a:pPr>
                        <a:defRPr sz="2000" b="0">
                          <a:solidFill>
                            <a:srgbClr val="263344"/>
                          </a:solidFill>
                          <a:latin typeface="Aptos"/>
                        </a:defRPr>
                      </a:pPr>
                      <a:r>
                        <a:t>+31.71</a:t>
                      </a:r>
                    </a:p>
                  </a:txBody>
                  <a:tcPr marL="109728" marR="91440" marT="82296" marB="64008">
                    <a:solidFill>
                      <a:srgbClr val="EFF3F8"/>
                    </a:solidFill>
                  </a:tcPr>
                </a:tc>
              </a:tr>
            </a:tbl>
          </a:graphicData>
        </a:graphic>
      </p:graphicFrame>
      <p:sp>
        <p:nvSpPr>
          <p:cNvPr id="10" name="Rectangle 9"/>
          <p:cNvSpPr/>
          <p:nvPr/>
        </p:nvSpPr>
        <p:spPr>
          <a:xfrm>
            <a:off x="594360" y="4224528"/>
            <a:ext cx="6035040" cy="1508760"/>
          </a:xfrm>
          <a:prstGeom prst="rect">
            <a:avLst/>
          </a:prstGeom>
          <a:solidFill>
            <a:srgbClr val="FF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434840"/>
            <a:ext cx="5577840" cy="1005840"/>
          </a:xfrm>
          <a:prstGeom prst="rect">
            <a:avLst/>
          </a:prstGeom>
          <a:noFill/>
        </p:spPr>
        <p:txBody>
          <a:bodyPr wrap="square" lIns="0" rIns="0" tIns="0" bIns="0">
            <a:spAutoFit/>
          </a:bodyPr>
          <a:lstStyle/>
          <a:p>
            <a:pPr>
              <a:spcAft>
                <a:spcPts val="800"/>
              </a:spcAft>
              <a:defRPr sz="2000" b="1">
                <a:solidFill>
                  <a:srgbClr val="865B17"/>
                </a:solidFill>
                <a:latin typeface="Aptos"/>
              </a:defRPr>
            </a:pPr>
            <a:r>
              <a:t>Equal recovery is an assumption.</a:t>
            </a:r>
          </a:p>
          <a:p>
            <a:pPr>
              <a:spcAft>
                <a:spcPts val="800"/>
              </a:spcAft>
              <a:defRPr sz="2000" b="1">
                <a:solidFill>
                  <a:srgbClr val="865B17"/>
                </a:solidFill>
                <a:latin typeface="Aptos"/>
              </a:defRPr>
            </a:pPr>
            <a:r>
              <a:t>DV01 neutrality leaves other risks.</a:t>
            </a:r>
          </a:p>
          <a:p>
            <a:pPr>
              <a:spcAft>
                <a:spcPts val="800"/>
              </a:spcAft>
              <a:defRPr sz="2000" b="1">
                <a:solidFill>
                  <a:srgbClr val="865B17"/>
                </a:solidFill>
                <a:latin typeface="Aptos"/>
              </a:defRPr>
            </a:pPr>
            <a:r>
              <a:t>Economic carry differs from coupon cash.</a:t>
            </a:r>
          </a:p>
        </p:txBody>
      </p:sp>
      <p:sp>
        <p:nvSpPr>
          <p:cNvPr id="12" name="TextBox 11"/>
          <p:cNvSpPr txBox="1"/>
          <p:nvPr/>
        </p:nvSpPr>
        <p:spPr>
          <a:xfrm>
            <a:off x="6949440" y="4892040"/>
            <a:ext cx="4480560" cy="914400"/>
          </a:xfrm>
          <a:prstGeom prst="rect">
            <a:avLst/>
          </a:prstGeom>
          <a:noFill/>
        </p:spPr>
        <p:txBody>
          <a:bodyPr wrap="square" lIns="0" rIns="0" tIns="0" bIns="0">
            <a:spAutoFit/>
          </a:bodyPr>
          <a:lstStyle/>
          <a:p>
            <a:pPr>
              <a:spcAft>
                <a:spcPts val="800"/>
              </a:spcAft>
              <a:defRPr sz="1300" b="0">
                <a:solidFill>
                  <a:srgbClr val="677281"/>
                </a:solidFill>
                <a:latin typeface="Aptos"/>
              </a:defRPr>
            </a:pPr>
            <a:r>
              <a:t>*Per 100 face short, using displayed clean prices and immediate convergence. Excludes carry, accrued interest, financing and costs.</a:t>
            </a:r>
          </a:p>
        </p:txBody>
      </p:sp>
      <p:sp>
        <p:nvSpPr>
          <p:cNvPr id="13" name="TextBox 12"/>
          <p:cNvSpPr txBox="1"/>
          <p:nvPr/>
        </p:nvSpPr>
        <p:spPr>
          <a:xfrm>
            <a:off x="594360" y="6044184"/>
            <a:ext cx="10972800" cy="228600"/>
          </a:xfrm>
          <a:prstGeom prst="rect">
            <a:avLst/>
          </a:prstGeom>
          <a:noFill/>
        </p:spPr>
        <p:txBody>
          <a:bodyPr wrap="square" lIns="0" rIns="0" tIns="0" bIns="0">
            <a:spAutoFit/>
          </a:bodyPr>
          <a:lstStyle/>
          <a:p>
            <a:pPr>
              <a:spcAft>
                <a:spcPts val="800"/>
              </a:spcAft>
              <a:defRPr sz="1200" b="0">
                <a:solidFill>
                  <a:srgbClr val="677281"/>
                </a:solidFill>
                <a:latin typeface="Aptos"/>
              </a:defRPr>
            </a:pPr>
            <a:r>
              <a:t>Keep optional. Establish financing, recovery treatment and sizing before adding it to the main strategy.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