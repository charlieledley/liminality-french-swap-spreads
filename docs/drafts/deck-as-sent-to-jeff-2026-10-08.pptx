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4"/>
  </p:sldMasterIdLst>
  <p:notesMasterIdLst>
    <p:notesMasterId r:id="rId1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2192000" cy="6858000"/>
  <p:notesSz cx="7315200" cy="9601200"/>
  <p:embeddedFontLst>
    <p:embeddedFont>
      <p:font typeface="Garamond" panose="02020404030301010803" pitchFamily="18" charset="0"/>
      <p:regular r:id="rId19"/>
      <p:bold r:id="rId20"/>
      <p:italic r:id="rId21"/>
    </p:embeddedFont>
    <p:embeddedFont>
      <p:font typeface="Helvetica Neue"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E9EBF5"/>
    <a:srgbClr val="6A6A6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59" autoAdjust="0"/>
    <p:restoredTop sz="94404" autoAdjust="0"/>
  </p:normalViewPr>
  <p:slideViewPr>
    <p:cSldViewPr snapToGrid="0">
      <p:cViewPr varScale="1">
        <p:scale>
          <a:sx n="74" d="100"/>
          <a:sy n="74" d="100"/>
        </p:scale>
        <p:origin x="480"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7.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6.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lie Ledley" userId="4fd6789a-5b68-4c67-b2dd-741fccd174a7" providerId="ADAL" clId="{ADEF4E80-B48C-4EE4-8026-C9587D54C67A}"/>
    <pc:docChg chg="custSel modSld">
      <pc:chgData name="Charlie Ledley" userId="4fd6789a-5b68-4c67-b2dd-741fccd174a7" providerId="ADAL" clId="{ADEF4E80-B48C-4EE4-8026-C9587D54C67A}" dt="2026-10-08T14:29:32.347" v="4" actId="20577"/>
      <pc:docMkLst>
        <pc:docMk/>
      </pc:docMkLst>
      <pc:sldChg chg="modSp mod">
        <pc:chgData name="Charlie Ledley" userId="4fd6789a-5b68-4c67-b2dd-741fccd174a7" providerId="ADAL" clId="{ADEF4E80-B48C-4EE4-8026-C9587D54C67A}" dt="2026-10-08T14:29:32.347" v="4" actId="20577"/>
        <pc:sldMkLst>
          <pc:docMk/>
          <pc:sldMk cId="0" sldId="268"/>
        </pc:sldMkLst>
        <pc:spChg chg="mod">
          <ac:chgData name="Charlie Ledley" userId="4fd6789a-5b68-4c67-b2dd-741fccd174a7" providerId="ADAL" clId="{ADEF4E80-B48C-4EE4-8026-C9587D54C67A}" dt="2026-10-08T14:29:32.347" v="4" actId="20577"/>
          <ac:spMkLst>
            <pc:docMk/>
            <pc:sldMk cId="0" sldId="268"/>
            <ac:spMk id="12" creationId="{00000000-0000-0000-0000-000000000000}"/>
          </ac:spMkLst>
        </pc:spChg>
      </pc:sldChg>
    </pc:docChg>
  </pc:docChgLst>
  <pc:docChgLst>
    <pc:chgData name="Jeffrey Begley" userId="564f9d2a-7ee5-456c-b7e6-c2bc7973e706" providerId="ADAL" clId="{8A4155C2-D434-4B57-874E-5A12940C5C46}"/>
    <pc:docChg chg="modSld">
      <pc:chgData name="Jeffrey Begley" userId="564f9d2a-7ee5-456c-b7e6-c2bc7973e706" providerId="ADAL" clId="{8A4155C2-D434-4B57-874E-5A12940C5C46}" dt="2026-10-07T10:32:18.317" v="2"/>
      <pc:docMkLst>
        <pc:docMk/>
      </pc:docMkLst>
      <pc:sldChg chg="modSp">
        <pc:chgData name="Jeffrey Begley" userId="564f9d2a-7ee5-456c-b7e6-c2bc7973e706" providerId="ADAL" clId="{8A4155C2-D434-4B57-874E-5A12940C5C46}" dt="2026-10-07T10:32:18.317" v="2"/>
        <pc:sldMkLst>
          <pc:docMk/>
          <pc:sldMk cId="2115922203" sldId="675"/>
        </pc:sldMkLst>
        <pc:spChg chg="mod">
          <ac:chgData name="Jeffrey Begley" userId="564f9d2a-7ee5-456c-b7e6-c2bc7973e706" providerId="ADAL" clId="{8A4155C2-D434-4B57-874E-5A12940C5C46}" dt="2026-10-07T10:32:18.317" v="2"/>
          <ac:spMkLst>
            <pc:docMk/>
            <pc:sldMk cId="2115922203" sldId="675"/>
            <ac:spMk id="3" creationId="{71732438-1678-8ACE-8939-3F8415D0B689}"/>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OAT yield</c:v>
                </c:pt>
              </c:strCache>
            </c:strRef>
          </c:tx>
          <c:spPr>
            <a:ln w="25400">
              <a:solidFill>
                <a:srgbClr val="011C40"/>
              </a:solidFill>
            </a:ln>
          </c:spPr>
          <c:marker>
            <c:symbol val="circle"/>
            <c:size val="6"/>
            <c:spPr>
              <a:solidFill>
                <a:srgbClr val="011C40"/>
              </a:solidFill>
              <a:ln>
                <a:noFill/>
              </a:ln>
            </c:spPr>
          </c:marker>
          <c:xVal>
            <c:numRef>
              <c:f>Sheet1!$A$2:$A$15</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Sheet1!$B$2:$B$15</c:f>
              <c:numCache>
                <c:formatCode>General</c:formatCode>
                <c:ptCount val="14"/>
                <c:pt idx="0">
                  <c:v>3.3</c:v>
                </c:pt>
                <c:pt idx="1">
                  <c:v>3.7227000000000001</c:v>
                </c:pt>
                <c:pt idx="2">
                  <c:v>3.9298999999999999</c:v>
                </c:pt>
                <c:pt idx="3">
                  <c:v>4.1136999999999997</c:v>
                </c:pt>
                <c:pt idx="4">
                  <c:v>4.3259999999999996</c:v>
                </c:pt>
                <c:pt idx="5">
                  <c:v>4.4177</c:v>
                </c:pt>
                <c:pt idx="6">
                  <c:v>4.5434000000000001</c:v>
                </c:pt>
                <c:pt idx="7">
                  <c:v>4.6585999999999999</c:v>
                </c:pt>
                <c:pt idx="8">
                  <c:v>4.7630999999999997</c:v>
                </c:pt>
                <c:pt idx="9">
                  <c:v>4.867</c:v>
                </c:pt>
                <c:pt idx="10">
                  <c:v>5.1856</c:v>
                </c:pt>
                <c:pt idx="11">
                  <c:v>5.2824999999999998</c:v>
                </c:pt>
                <c:pt idx="12">
                  <c:v>5.2896999999999998</c:v>
                </c:pt>
                <c:pt idx="13">
                  <c:v>5.4263000000000003</c:v>
                </c:pt>
              </c:numCache>
            </c:numRef>
          </c:yVal>
          <c:smooth val="0"/>
          <c:extLst>
            <c:ext xmlns:c16="http://schemas.microsoft.com/office/drawing/2014/chart" uri="{C3380CC4-5D6E-409C-BE32-E72D297353CC}">
              <c16:uniqueId val="{00000000-EB50-47A9-8F93-528173B1F6BB}"/>
            </c:ext>
          </c:extLst>
        </c:ser>
        <c:ser>
          <c:idx val="1"/>
          <c:order val="1"/>
          <c:tx>
            <c:strRef>
              <c:f>Sheet1!$B$17</c:f>
              <c:strCache>
                <c:ptCount val="1"/>
                <c:pt idx="0">
                  <c:v>6m Euribor swap rate</c:v>
                </c:pt>
              </c:strCache>
            </c:strRef>
          </c:tx>
          <c:spPr>
            <a:ln w="25400">
              <a:solidFill>
                <a:srgbClr val="3C8DBC"/>
              </a:solidFill>
            </a:ln>
          </c:spPr>
          <c:marker>
            <c:symbol val="circle"/>
            <c:size val="6"/>
            <c:spPr>
              <a:solidFill>
                <a:srgbClr val="3C8DBC"/>
              </a:solidFill>
              <a:ln>
                <a:noFill/>
              </a:ln>
            </c:spPr>
          </c:marker>
          <c:xVal>
            <c:numRef>
              <c:f>Sheet1!$A$18:$A$31</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Sheet1!$B$18:$B$31</c:f>
              <c:numCache>
                <c:formatCode>General</c:formatCode>
                <c:ptCount val="14"/>
                <c:pt idx="0">
                  <c:v>3.3006000000000002</c:v>
                </c:pt>
                <c:pt idx="1">
                  <c:v>3.4529999999999998</c:v>
                </c:pt>
                <c:pt idx="2">
                  <c:v>3.4899</c:v>
                </c:pt>
                <c:pt idx="3">
                  <c:v>3.4992000000000001</c:v>
                </c:pt>
                <c:pt idx="4">
                  <c:v>3.5009999999999999</c:v>
                </c:pt>
                <c:pt idx="5">
                  <c:v>3.5110999999999999</c:v>
                </c:pt>
                <c:pt idx="6">
                  <c:v>3.5261999999999998</c:v>
                </c:pt>
                <c:pt idx="7">
                  <c:v>3.548</c:v>
                </c:pt>
                <c:pt idx="8">
                  <c:v>3.5625</c:v>
                </c:pt>
                <c:pt idx="9">
                  <c:v>3.5830000000000002</c:v>
                </c:pt>
                <c:pt idx="10">
                  <c:v>3.6423000000000001</c:v>
                </c:pt>
                <c:pt idx="11">
                  <c:v>3.6093000000000002</c:v>
                </c:pt>
                <c:pt idx="12">
                  <c:v>3.5251999999999999</c:v>
                </c:pt>
                <c:pt idx="13">
                  <c:v>3.4348000000000001</c:v>
                </c:pt>
              </c:numCache>
            </c:numRef>
          </c:yVal>
          <c:smooth val="0"/>
          <c:extLst>
            <c:ext xmlns:c16="http://schemas.microsoft.com/office/drawing/2014/chart" uri="{C3380CC4-5D6E-409C-BE32-E72D297353CC}">
              <c16:uniqueId val="{00000001-EB50-47A9-8F93-528173B1F6BB}"/>
            </c:ext>
          </c:extLst>
        </c:ser>
        <c:dLbls>
          <c:showLegendKey val="0"/>
          <c:showVal val="0"/>
          <c:showCatName val="0"/>
          <c:showSerName val="0"/>
          <c:showPercent val="0"/>
          <c:showBubbleSize val="0"/>
        </c:dLbls>
        <c:axId val="-2128940872"/>
        <c:axId val="-2129643912"/>
      </c:scatterChart>
      <c:valAx>
        <c:axId val="-2128940872"/>
        <c:scaling>
          <c:orientation val="minMax"/>
          <c:max val="30"/>
          <c:min val="0"/>
        </c:scaling>
        <c:delete val="0"/>
        <c:axPos val="b"/>
        <c:numFmt formatCode="0&quot;y&quot;" sourceLinked="0"/>
        <c:majorTickMark val="out"/>
        <c:minorTickMark val="none"/>
        <c:tickLblPos val="low"/>
        <c:spPr>
          <a:ln>
            <a:solidFill>
              <a:srgbClr val="DCE3EF"/>
            </a:solidFill>
          </a:ln>
        </c:spPr>
        <c:txPr>
          <a:bodyPr/>
          <a:lstStyle/>
          <a:p>
            <a:pPr>
              <a:defRPr sz="900">
                <a:solidFill>
                  <a:srgbClr val="5A6172"/>
                </a:solidFill>
              </a:defRPr>
            </a:pPr>
            <a:endParaRPr lang="en-US"/>
          </a:p>
        </c:txPr>
        <c:crossAx val="-2129643912"/>
        <c:crosses val="autoZero"/>
        <c:crossBetween val="midCat"/>
        <c:majorUnit val="5"/>
      </c:valAx>
      <c:valAx>
        <c:axId val="-2129643912"/>
        <c:scaling>
          <c:orientation val="minMax"/>
          <c:max val="5.5"/>
          <c:min val="3"/>
        </c:scaling>
        <c:delete val="0"/>
        <c:axPos val="l"/>
        <c:majorGridlines>
          <c:spPr>
            <a:ln w="7620">
              <a:solidFill>
                <a:srgbClr val="DCE3EF"/>
              </a:solidFill>
            </a:ln>
          </c:spPr>
        </c:majorGridlines>
        <c:numFmt formatCode="0.0&quot;%&quot;" sourceLinked="0"/>
        <c:majorTickMark val="out"/>
        <c:minorTickMark val="none"/>
        <c:tickLblPos val="low"/>
        <c:spPr>
          <a:ln>
            <a:noFill/>
          </a:ln>
        </c:spPr>
        <c:txPr>
          <a:bodyPr/>
          <a:lstStyle/>
          <a:p>
            <a:pPr>
              <a:defRPr sz="900">
                <a:solidFill>
                  <a:srgbClr val="5A6172"/>
                </a:solidFill>
              </a:defRPr>
            </a:pPr>
            <a:endParaRPr lang="en-US"/>
          </a:p>
        </c:txPr>
        <c:crossAx val="-2128940872"/>
        <c:crosses val="autoZero"/>
        <c:crossBetween val="midCat"/>
      </c:valAx>
    </c:plotArea>
    <c:legend>
      <c:legendPos val="t"/>
      <c:overlay val="0"/>
      <c:txPr>
        <a:bodyPr/>
        <a:lstStyle/>
        <a:p>
          <a:pPr>
            <a:defRPr sz="1050">
              <a:solidFill>
                <a:srgbClr val="5A6172"/>
              </a:solidFill>
            </a:defRPr>
          </a:pPr>
          <a:endParaRPr lang="en-US"/>
        </a:p>
      </c:txPr>
    </c:legend>
    <c:plotVisOnly val="1"/>
    <c:dispBlanksAs val="gap"/>
    <c:showDLblsOverMax val="0"/>
  </c:chart>
  <c:txPr>
    <a:bodyPr/>
    <a:lstStyle/>
    <a:p>
      <a:pPr>
        <a:defRPr sz="900">
          <a:latin typeface="Garamond"/>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Swap spread</c:v>
                </c:pt>
              </c:strCache>
            </c:strRef>
          </c:tx>
          <c:spPr>
            <a:ln w="25400">
              <a:solidFill>
                <a:srgbClr val="B3332E"/>
              </a:solidFill>
            </a:ln>
          </c:spPr>
          <c:marker>
            <c:symbol val="circle"/>
            <c:size val="6"/>
            <c:spPr>
              <a:solidFill>
                <a:srgbClr val="B3332E"/>
              </a:solidFill>
              <a:ln>
                <a:noFill/>
              </a:ln>
            </c:spPr>
          </c:marker>
          <c:xVal>
            <c:numRef>
              <c:f>Sheet1!$A$2:$A$15</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Sheet1!$B$2:$B$15</c:f>
              <c:numCache>
                <c:formatCode>General</c:formatCode>
                <c:ptCount val="14"/>
                <c:pt idx="0">
                  <c:v>0.06</c:v>
                </c:pt>
                <c:pt idx="1">
                  <c:v>-26.97</c:v>
                </c:pt>
                <c:pt idx="2">
                  <c:v>-44</c:v>
                </c:pt>
                <c:pt idx="3">
                  <c:v>-61.45</c:v>
                </c:pt>
                <c:pt idx="4">
                  <c:v>-82.5</c:v>
                </c:pt>
                <c:pt idx="5">
                  <c:v>-90.66</c:v>
                </c:pt>
                <c:pt idx="6">
                  <c:v>-101.72</c:v>
                </c:pt>
                <c:pt idx="7">
                  <c:v>-111.06</c:v>
                </c:pt>
                <c:pt idx="8">
                  <c:v>-120.06</c:v>
                </c:pt>
                <c:pt idx="9">
                  <c:v>-128.4</c:v>
                </c:pt>
                <c:pt idx="10">
                  <c:v>-154.33000000000001</c:v>
                </c:pt>
                <c:pt idx="11">
                  <c:v>-167.32</c:v>
                </c:pt>
                <c:pt idx="12">
                  <c:v>-176.45</c:v>
                </c:pt>
                <c:pt idx="13">
                  <c:v>-199.15</c:v>
                </c:pt>
              </c:numCache>
            </c:numRef>
          </c:yVal>
          <c:smooth val="0"/>
          <c:extLst>
            <c:ext xmlns:c16="http://schemas.microsoft.com/office/drawing/2014/chart" uri="{C3380CC4-5D6E-409C-BE32-E72D297353CC}">
              <c16:uniqueId val="{00000000-0BA8-4B06-A4A4-A166123C23E8}"/>
            </c:ext>
          </c:extLst>
        </c:ser>
        <c:dLbls>
          <c:showLegendKey val="0"/>
          <c:showVal val="0"/>
          <c:showCatName val="0"/>
          <c:showSerName val="0"/>
          <c:showPercent val="0"/>
          <c:showBubbleSize val="0"/>
        </c:dLbls>
        <c:axId val="-2128940872"/>
        <c:axId val="-2129643912"/>
      </c:scatterChart>
      <c:valAx>
        <c:axId val="-2128940872"/>
        <c:scaling>
          <c:orientation val="minMax"/>
          <c:max val="30"/>
          <c:min val="0"/>
        </c:scaling>
        <c:delete val="0"/>
        <c:axPos val="b"/>
        <c:numFmt formatCode="0&quot;y&quot;" sourceLinked="0"/>
        <c:majorTickMark val="out"/>
        <c:minorTickMark val="none"/>
        <c:tickLblPos val="low"/>
        <c:spPr>
          <a:ln>
            <a:solidFill>
              <a:srgbClr val="DCE3EF"/>
            </a:solidFill>
          </a:ln>
        </c:spPr>
        <c:txPr>
          <a:bodyPr/>
          <a:lstStyle/>
          <a:p>
            <a:pPr>
              <a:defRPr sz="900">
                <a:solidFill>
                  <a:srgbClr val="5A6172"/>
                </a:solidFill>
              </a:defRPr>
            </a:pPr>
            <a:endParaRPr lang="en-US"/>
          </a:p>
        </c:txPr>
        <c:crossAx val="-2129643912"/>
        <c:crosses val="autoZero"/>
        <c:crossBetween val="midCat"/>
        <c:majorUnit val="5"/>
      </c:valAx>
      <c:valAx>
        <c:axId val="-2129643912"/>
        <c:scaling>
          <c:orientation val="minMax"/>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900">
                <a:solidFill>
                  <a:srgbClr val="5A6172"/>
                </a:solidFill>
              </a:defRPr>
            </a:pPr>
            <a:endParaRPr lang="en-US"/>
          </a:p>
        </c:txPr>
        <c:crossAx val="-2128940872"/>
        <c:crosses val="autoZero"/>
        <c:crossBetween val="midCat"/>
      </c:valAx>
    </c:plotArea>
    <c:plotVisOnly val="1"/>
    <c:dispBlanksAs val="gap"/>
    <c:showDLblsOverMax val="0"/>
  </c:chart>
  <c:txPr>
    <a:bodyPr/>
    <a:lstStyle/>
    <a:p>
      <a:pPr>
        <a:defRPr sz="900">
          <a:latin typeface="Garamond"/>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5-year</c:v>
                </c:pt>
              </c:strCache>
            </c:strRef>
          </c:tx>
          <c:spPr>
            <a:ln w="25400">
              <a:solidFill>
                <a:srgbClr val="011C40"/>
              </a:solidFill>
            </a:ln>
          </c:spPr>
          <c:marker>
            <c:symbol val="none"/>
          </c:marker>
          <c:dLbls>
            <c:dLbl>
              <c:idx val="874"/>
              <c:tx>
                <c:rich>
                  <a:bodyPr/>
                  <a:lstStyle/>
                  <a:p>
                    <a:r>
                      <a:rPr lang="en-US" sz="950" b="1">
                        <a:solidFill>
                          <a:srgbClr val="011C40"/>
                        </a:solidFill>
                        <a:latin typeface="Garamond"/>
                      </a:rPr>
                      <a:t>5-year −83bp, the cheapest since 2010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208-4920-88EE-D94B76ED916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Sheet1!$A$2:$A$876</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Sheet1!$B$2:$B$876</c:f>
              <c:numCache>
                <c:formatCode>General</c:formatCode>
                <c:ptCount val="875"/>
                <c:pt idx="0">
                  <c:v>33</c:v>
                </c:pt>
                <c:pt idx="1">
                  <c:v>28.8</c:v>
                </c:pt>
                <c:pt idx="2">
                  <c:v>30.9</c:v>
                </c:pt>
                <c:pt idx="3">
                  <c:v>12.1</c:v>
                </c:pt>
                <c:pt idx="4">
                  <c:v>15.02</c:v>
                </c:pt>
                <c:pt idx="5">
                  <c:v>16.100000000000001</c:v>
                </c:pt>
                <c:pt idx="6">
                  <c:v>15.68</c:v>
                </c:pt>
                <c:pt idx="7">
                  <c:v>15.1</c:v>
                </c:pt>
                <c:pt idx="8">
                  <c:v>16.899999999999999</c:v>
                </c:pt>
                <c:pt idx="9">
                  <c:v>15.7</c:v>
                </c:pt>
                <c:pt idx="10">
                  <c:v>15.35</c:v>
                </c:pt>
                <c:pt idx="11">
                  <c:v>17.38</c:v>
                </c:pt>
                <c:pt idx="12">
                  <c:v>12.71</c:v>
                </c:pt>
                <c:pt idx="13">
                  <c:v>13.1</c:v>
                </c:pt>
                <c:pt idx="14">
                  <c:v>15.09</c:v>
                </c:pt>
                <c:pt idx="15">
                  <c:v>15.4</c:v>
                </c:pt>
                <c:pt idx="16">
                  <c:v>15.1</c:v>
                </c:pt>
                <c:pt idx="17">
                  <c:v>21.9</c:v>
                </c:pt>
                <c:pt idx="18">
                  <c:v>35.6</c:v>
                </c:pt>
                <c:pt idx="19">
                  <c:v>36.1</c:v>
                </c:pt>
                <c:pt idx="20">
                  <c:v>43.9</c:v>
                </c:pt>
                <c:pt idx="21">
                  <c:v>37.700000000000003</c:v>
                </c:pt>
                <c:pt idx="22">
                  <c:v>34.4</c:v>
                </c:pt>
                <c:pt idx="23">
                  <c:v>28.4</c:v>
                </c:pt>
                <c:pt idx="24">
                  <c:v>6.7</c:v>
                </c:pt>
                <c:pt idx="25">
                  <c:v>7.43</c:v>
                </c:pt>
                <c:pt idx="26">
                  <c:v>15.4</c:v>
                </c:pt>
                <c:pt idx="27">
                  <c:v>13.4</c:v>
                </c:pt>
                <c:pt idx="28">
                  <c:v>13.6</c:v>
                </c:pt>
                <c:pt idx="29">
                  <c:v>21</c:v>
                </c:pt>
                <c:pt idx="30">
                  <c:v>19.7</c:v>
                </c:pt>
                <c:pt idx="31">
                  <c:v>23.2</c:v>
                </c:pt>
                <c:pt idx="32">
                  <c:v>19.05</c:v>
                </c:pt>
                <c:pt idx="33">
                  <c:v>19.399999999999999</c:v>
                </c:pt>
                <c:pt idx="34">
                  <c:v>16.899999999999999</c:v>
                </c:pt>
                <c:pt idx="35">
                  <c:v>29</c:v>
                </c:pt>
                <c:pt idx="36">
                  <c:v>20.3</c:v>
                </c:pt>
                <c:pt idx="37">
                  <c:v>21.2</c:v>
                </c:pt>
                <c:pt idx="38">
                  <c:v>25.87</c:v>
                </c:pt>
                <c:pt idx="39">
                  <c:v>22.3</c:v>
                </c:pt>
                <c:pt idx="40">
                  <c:v>25.7</c:v>
                </c:pt>
                <c:pt idx="41">
                  <c:v>30.6</c:v>
                </c:pt>
                <c:pt idx="42">
                  <c:v>23.7</c:v>
                </c:pt>
                <c:pt idx="43">
                  <c:v>24.85</c:v>
                </c:pt>
                <c:pt idx="44">
                  <c:v>29.1</c:v>
                </c:pt>
                <c:pt idx="45">
                  <c:v>31.1</c:v>
                </c:pt>
                <c:pt idx="46">
                  <c:v>29.88</c:v>
                </c:pt>
                <c:pt idx="47">
                  <c:v>31.5</c:v>
                </c:pt>
                <c:pt idx="48">
                  <c:v>32.049999999999997</c:v>
                </c:pt>
                <c:pt idx="49">
                  <c:v>37.590000000000003</c:v>
                </c:pt>
                <c:pt idx="50">
                  <c:v>32.450000000000003</c:v>
                </c:pt>
                <c:pt idx="51">
                  <c:v>37.299999999999997</c:v>
                </c:pt>
                <c:pt idx="52">
                  <c:v>35.4</c:v>
                </c:pt>
                <c:pt idx="53">
                  <c:v>31.85</c:v>
                </c:pt>
                <c:pt idx="54">
                  <c:v>35.799999999999997</c:v>
                </c:pt>
                <c:pt idx="55">
                  <c:v>16.25</c:v>
                </c:pt>
                <c:pt idx="56">
                  <c:v>11.4</c:v>
                </c:pt>
                <c:pt idx="57">
                  <c:v>17.600000000000001</c:v>
                </c:pt>
                <c:pt idx="58">
                  <c:v>15.3</c:v>
                </c:pt>
                <c:pt idx="59">
                  <c:v>14.8</c:v>
                </c:pt>
                <c:pt idx="60">
                  <c:v>15.7</c:v>
                </c:pt>
                <c:pt idx="61">
                  <c:v>11.4</c:v>
                </c:pt>
                <c:pt idx="62">
                  <c:v>16.8</c:v>
                </c:pt>
                <c:pt idx="63">
                  <c:v>19.399999999999999</c:v>
                </c:pt>
                <c:pt idx="64">
                  <c:v>16.95</c:v>
                </c:pt>
                <c:pt idx="65">
                  <c:v>14.9</c:v>
                </c:pt>
                <c:pt idx="66">
                  <c:v>18.3</c:v>
                </c:pt>
                <c:pt idx="67">
                  <c:v>14.2</c:v>
                </c:pt>
                <c:pt idx="68">
                  <c:v>15.6</c:v>
                </c:pt>
                <c:pt idx="69">
                  <c:v>16.3</c:v>
                </c:pt>
                <c:pt idx="70">
                  <c:v>11.7</c:v>
                </c:pt>
                <c:pt idx="71">
                  <c:v>16.5</c:v>
                </c:pt>
                <c:pt idx="72">
                  <c:v>13.2</c:v>
                </c:pt>
                <c:pt idx="73">
                  <c:v>18.2</c:v>
                </c:pt>
                <c:pt idx="74">
                  <c:v>18.3</c:v>
                </c:pt>
                <c:pt idx="75">
                  <c:v>16.899999999999999</c:v>
                </c:pt>
                <c:pt idx="76">
                  <c:v>8</c:v>
                </c:pt>
                <c:pt idx="77">
                  <c:v>5.75</c:v>
                </c:pt>
                <c:pt idx="78">
                  <c:v>9.5</c:v>
                </c:pt>
                <c:pt idx="79">
                  <c:v>13.1</c:v>
                </c:pt>
                <c:pt idx="80">
                  <c:v>6.15</c:v>
                </c:pt>
                <c:pt idx="81">
                  <c:v>11.3</c:v>
                </c:pt>
                <c:pt idx="82">
                  <c:v>17.899999999999999</c:v>
                </c:pt>
                <c:pt idx="83">
                  <c:v>31.1</c:v>
                </c:pt>
                <c:pt idx="84">
                  <c:v>23</c:v>
                </c:pt>
                <c:pt idx="85">
                  <c:v>30.4</c:v>
                </c:pt>
                <c:pt idx="86">
                  <c:v>32.6</c:v>
                </c:pt>
                <c:pt idx="87">
                  <c:v>22.8</c:v>
                </c:pt>
                <c:pt idx="88">
                  <c:v>30.7</c:v>
                </c:pt>
                <c:pt idx="89">
                  <c:v>20.7</c:v>
                </c:pt>
                <c:pt idx="90">
                  <c:v>15.8</c:v>
                </c:pt>
                <c:pt idx="91">
                  <c:v>22.6</c:v>
                </c:pt>
                <c:pt idx="92">
                  <c:v>13.7</c:v>
                </c:pt>
                <c:pt idx="93">
                  <c:v>-4.2</c:v>
                </c:pt>
                <c:pt idx="94">
                  <c:v>-23.3</c:v>
                </c:pt>
                <c:pt idx="95">
                  <c:v>-2.7</c:v>
                </c:pt>
                <c:pt idx="96">
                  <c:v>-9</c:v>
                </c:pt>
                <c:pt idx="97">
                  <c:v>-42.5</c:v>
                </c:pt>
                <c:pt idx="98">
                  <c:v>-48.2</c:v>
                </c:pt>
                <c:pt idx="99">
                  <c:v>-71.849999999999994</c:v>
                </c:pt>
                <c:pt idx="100">
                  <c:v>-21.1</c:v>
                </c:pt>
                <c:pt idx="101">
                  <c:v>-25</c:v>
                </c:pt>
                <c:pt idx="102">
                  <c:v>-16.100000000000001</c:v>
                </c:pt>
                <c:pt idx="103">
                  <c:v>-2.5</c:v>
                </c:pt>
                <c:pt idx="104">
                  <c:v>-14.7</c:v>
                </c:pt>
                <c:pt idx="105">
                  <c:v>-56.8</c:v>
                </c:pt>
                <c:pt idx="106">
                  <c:v>-32.1</c:v>
                </c:pt>
                <c:pt idx="107">
                  <c:v>-18.5</c:v>
                </c:pt>
                <c:pt idx="108">
                  <c:v>-15.3</c:v>
                </c:pt>
                <c:pt idx="109">
                  <c:v>-1</c:v>
                </c:pt>
                <c:pt idx="110">
                  <c:v>-7</c:v>
                </c:pt>
                <c:pt idx="111">
                  <c:v>-16</c:v>
                </c:pt>
                <c:pt idx="112">
                  <c:v>-5.9</c:v>
                </c:pt>
                <c:pt idx="113">
                  <c:v>2.8</c:v>
                </c:pt>
                <c:pt idx="114">
                  <c:v>-19</c:v>
                </c:pt>
                <c:pt idx="115">
                  <c:v>-11.65</c:v>
                </c:pt>
                <c:pt idx="116">
                  <c:v>-16.649999999999999</c:v>
                </c:pt>
                <c:pt idx="117">
                  <c:v>-7.77</c:v>
                </c:pt>
                <c:pt idx="118">
                  <c:v>-25.43</c:v>
                </c:pt>
                <c:pt idx="119">
                  <c:v>-30.4</c:v>
                </c:pt>
                <c:pt idx="120">
                  <c:v>-35.299999999999997</c:v>
                </c:pt>
                <c:pt idx="121">
                  <c:v>-25.12</c:v>
                </c:pt>
                <c:pt idx="122">
                  <c:v>-26.35</c:v>
                </c:pt>
                <c:pt idx="123">
                  <c:v>-25.58</c:v>
                </c:pt>
                <c:pt idx="124">
                  <c:v>-29.55</c:v>
                </c:pt>
                <c:pt idx="125">
                  <c:v>-8.1999999999999993</c:v>
                </c:pt>
                <c:pt idx="126">
                  <c:v>3.63</c:v>
                </c:pt>
                <c:pt idx="127">
                  <c:v>-9.33</c:v>
                </c:pt>
                <c:pt idx="128">
                  <c:v>-8.74</c:v>
                </c:pt>
                <c:pt idx="129">
                  <c:v>-5.21</c:v>
                </c:pt>
                <c:pt idx="130">
                  <c:v>-9.6999999999999993</c:v>
                </c:pt>
                <c:pt idx="131">
                  <c:v>9.06</c:v>
                </c:pt>
                <c:pt idx="132">
                  <c:v>17.100000000000001</c:v>
                </c:pt>
                <c:pt idx="133">
                  <c:v>10.9</c:v>
                </c:pt>
                <c:pt idx="134">
                  <c:v>7.53</c:v>
                </c:pt>
                <c:pt idx="135">
                  <c:v>23.37</c:v>
                </c:pt>
                <c:pt idx="136">
                  <c:v>17.68</c:v>
                </c:pt>
                <c:pt idx="137">
                  <c:v>11.73</c:v>
                </c:pt>
                <c:pt idx="138">
                  <c:v>9.1999999999999993</c:v>
                </c:pt>
                <c:pt idx="139">
                  <c:v>1.7</c:v>
                </c:pt>
                <c:pt idx="140">
                  <c:v>7.5</c:v>
                </c:pt>
                <c:pt idx="141">
                  <c:v>9.5</c:v>
                </c:pt>
                <c:pt idx="142">
                  <c:v>-4.4800000000000004</c:v>
                </c:pt>
                <c:pt idx="143">
                  <c:v>4.0999999999999996</c:v>
                </c:pt>
                <c:pt idx="144">
                  <c:v>1.52</c:v>
                </c:pt>
                <c:pt idx="145">
                  <c:v>7.45</c:v>
                </c:pt>
                <c:pt idx="146">
                  <c:v>8.6999999999999993</c:v>
                </c:pt>
                <c:pt idx="147">
                  <c:v>5.45</c:v>
                </c:pt>
                <c:pt idx="148">
                  <c:v>2.5</c:v>
                </c:pt>
                <c:pt idx="149">
                  <c:v>4.7</c:v>
                </c:pt>
                <c:pt idx="150">
                  <c:v>9.1999999999999993</c:v>
                </c:pt>
                <c:pt idx="151">
                  <c:v>8</c:v>
                </c:pt>
                <c:pt idx="152">
                  <c:v>12.2</c:v>
                </c:pt>
                <c:pt idx="153">
                  <c:v>12.05</c:v>
                </c:pt>
                <c:pt idx="154">
                  <c:v>21.07</c:v>
                </c:pt>
                <c:pt idx="155">
                  <c:v>19.399999999999999</c:v>
                </c:pt>
                <c:pt idx="156">
                  <c:v>15.14</c:v>
                </c:pt>
                <c:pt idx="157">
                  <c:v>11.77</c:v>
                </c:pt>
                <c:pt idx="158">
                  <c:v>14.8</c:v>
                </c:pt>
                <c:pt idx="159">
                  <c:v>16.350000000000001</c:v>
                </c:pt>
                <c:pt idx="160">
                  <c:v>-6.25</c:v>
                </c:pt>
                <c:pt idx="161">
                  <c:v>2.0499999999999998</c:v>
                </c:pt>
                <c:pt idx="162">
                  <c:v>-3.95</c:v>
                </c:pt>
                <c:pt idx="163">
                  <c:v>-7.05</c:v>
                </c:pt>
                <c:pt idx="164">
                  <c:v>-6.8</c:v>
                </c:pt>
                <c:pt idx="165">
                  <c:v>-5.75</c:v>
                </c:pt>
                <c:pt idx="166">
                  <c:v>-4.1500000000000004</c:v>
                </c:pt>
                <c:pt idx="167">
                  <c:v>-0.45</c:v>
                </c:pt>
                <c:pt idx="168">
                  <c:v>1.5</c:v>
                </c:pt>
                <c:pt idx="169">
                  <c:v>3.43</c:v>
                </c:pt>
                <c:pt idx="170">
                  <c:v>14.25</c:v>
                </c:pt>
                <c:pt idx="171">
                  <c:v>5.45</c:v>
                </c:pt>
                <c:pt idx="172">
                  <c:v>5</c:v>
                </c:pt>
                <c:pt idx="173">
                  <c:v>4.4000000000000004</c:v>
                </c:pt>
                <c:pt idx="174">
                  <c:v>8.3000000000000007</c:v>
                </c:pt>
                <c:pt idx="175">
                  <c:v>3.75</c:v>
                </c:pt>
                <c:pt idx="176">
                  <c:v>8.4</c:v>
                </c:pt>
                <c:pt idx="177">
                  <c:v>9.6999999999999993</c:v>
                </c:pt>
                <c:pt idx="178">
                  <c:v>4.2</c:v>
                </c:pt>
                <c:pt idx="179">
                  <c:v>6.1</c:v>
                </c:pt>
                <c:pt idx="180">
                  <c:v>6.9</c:v>
                </c:pt>
                <c:pt idx="181">
                  <c:v>7.4</c:v>
                </c:pt>
                <c:pt idx="182">
                  <c:v>-10</c:v>
                </c:pt>
                <c:pt idx="183">
                  <c:v>-3.6</c:v>
                </c:pt>
                <c:pt idx="184">
                  <c:v>-5.7</c:v>
                </c:pt>
                <c:pt idx="185">
                  <c:v>-2.7</c:v>
                </c:pt>
                <c:pt idx="186">
                  <c:v>1.7</c:v>
                </c:pt>
                <c:pt idx="187">
                  <c:v>5.47</c:v>
                </c:pt>
                <c:pt idx="188">
                  <c:v>1.75</c:v>
                </c:pt>
                <c:pt idx="189">
                  <c:v>5.85</c:v>
                </c:pt>
                <c:pt idx="190">
                  <c:v>1.35</c:v>
                </c:pt>
                <c:pt idx="191">
                  <c:v>1.9</c:v>
                </c:pt>
                <c:pt idx="192">
                  <c:v>0.96</c:v>
                </c:pt>
                <c:pt idx="193">
                  <c:v>-1.71</c:v>
                </c:pt>
                <c:pt idx="194">
                  <c:v>3.6</c:v>
                </c:pt>
                <c:pt idx="195">
                  <c:v>2.2000000000000002</c:v>
                </c:pt>
                <c:pt idx="196">
                  <c:v>4.7</c:v>
                </c:pt>
                <c:pt idx="197">
                  <c:v>4.9000000000000004</c:v>
                </c:pt>
                <c:pt idx="198">
                  <c:v>4.0999999999999996</c:v>
                </c:pt>
                <c:pt idx="199">
                  <c:v>4.9000000000000004</c:v>
                </c:pt>
                <c:pt idx="200">
                  <c:v>10.4</c:v>
                </c:pt>
                <c:pt idx="201">
                  <c:v>5.75</c:v>
                </c:pt>
                <c:pt idx="202">
                  <c:v>4.46</c:v>
                </c:pt>
                <c:pt idx="203">
                  <c:v>5.31</c:v>
                </c:pt>
                <c:pt idx="204">
                  <c:v>5.8</c:v>
                </c:pt>
                <c:pt idx="205">
                  <c:v>5.0599999999999996</c:v>
                </c:pt>
                <c:pt idx="206">
                  <c:v>2.4500000000000002</c:v>
                </c:pt>
                <c:pt idx="207">
                  <c:v>4.7</c:v>
                </c:pt>
                <c:pt idx="208">
                  <c:v>4.45</c:v>
                </c:pt>
                <c:pt idx="209">
                  <c:v>6.5</c:v>
                </c:pt>
                <c:pt idx="210">
                  <c:v>3.58</c:v>
                </c:pt>
                <c:pt idx="211">
                  <c:v>4.5599999999999996</c:v>
                </c:pt>
                <c:pt idx="212">
                  <c:v>5</c:v>
                </c:pt>
                <c:pt idx="213">
                  <c:v>13.2</c:v>
                </c:pt>
                <c:pt idx="214">
                  <c:v>10.09</c:v>
                </c:pt>
                <c:pt idx="215">
                  <c:v>5.85</c:v>
                </c:pt>
                <c:pt idx="216">
                  <c:v>-5.56</c:v>
                </c:pt>
                <c:pt idx="217">
                  <c:v>-5.41</c:v>
                </c:pt>
                <c:pt idx="218">
                  <c:v>-2.27</c:v>
                </c:pt>
                <c:pt idx="219">
                  <c:v>-2.4500000000000002</c:v>
                </c:pt>
                <c:pt idx="220">
                  <c:v>-0.45</c:v>
                </c:pt>
                <c:pt idx="221">
                  <c:v>1.4</c:v>
                </c:pt>
                <c:pt idx="222">
                  <c:v>5.41</c:v>
                </c:pt>
                <c:pt idx="223">
                  <c:v>2.78</c:v>
                </c:pt>
                <c:pt idx="224">
                  <c:v>5.15</c:v>
                </c:pt>
                <c:pt idx="225">
                  <c:v>4.95</c:v>
                </c:pt>
                <c:pt idx="226">
                  <c:v>7.46</c:v>
                </c:pt>
                <c:pt idx="227">
                  <c:v>9.1</c:v>
                </c:pt>
                <c:pt idx="228">
                  <c:v>7.8</c:v>
                </c:pt>
                <c:pt idx="229">
                  <c:v>9.39</c:v>
                </c:pt>
                <c:pt idx="230">
                  <c:v>8.8000000000000007</c:v>
                </c:pt>
                <c:pt idx="231">
                  <c:v>14.68</c:v>
                </c:pt>
                <c:pt idx="232">
                  <c:v>10.65</c:v>
                </c:pt>
                <c:pt idx="233">
                  <c:v>11.3</c:v>
                </c:pt>
                <c:pt idx="234">
                  <c:v>1.3</c:v>
                </c:pt>
                <c:pt idx="235">
                  <c:v>3.4</c:v>
                </c:pt>
                <c:pt idx="236">
                  <c:v>5.5</c:v>
                </c:pt>
                <c:pt idx="237">
                  <c:v>6.07</c:v>
                </c:pt>
                <c:pt idx="238">
                  <c:v>9.7100000000000009</c:v>
                </c:pt>
                <c:pt idx="239">
                  <c:v>11.9</c:v>
                </c:pt>
                <c:pt idx="240">
                  <c:v>14.69</c:v>
                </c:pt>
                <c:pt idx="241">
                  <c:v>16.7</c:v>
                </c:pt>
                <c:pt idx="242">
                  <c:v>11.45</c:v>
                </c:pt>
                <c:pt idx="243">
                  <c:v>13.75</c:v>
                </c:pt>
                <c:pt idx="244">
                  <c:v>16.809999999999999</c:v>
                </c:pt>
                <c:pt idx="245">
                  <c:v>10.8</c:v>
                </c:pt>
                <c:pt idx="246">
                  <c:v>9.6</c:v>
                </c:pt>
                <c:pt idx="247">
                  <c:v>12.25</c:v>
                </c:pt>
                <c:pt idx="248">
                  <c:v>11.05</c:v>
                </c:pt>
                <c:pt idx="249">
                  <c:v>11.7</c:v>
                </c:pt>
                <c:pt idx="250">
                  <c:v>6.1</c:v>
                </c:pt>
                <c:pt idx="251">
                  <c:v>10.050000000000001</c:v>
                </c:pt>
                <c:pt idx="252">
                  <c:v>14.6</c:v>
                </c:pt>
                <c:pt idx="253">
                  <c:v>13.3</c:v>
                </c:pt>
                <c:pt idx="254">
                  <c:v>12.8</c:v>
                </c:pt>
                <c:pt idx="255">
                  <c:v>13.1</c:v>
                </c:pt>
                <c:pt idx="256">
                  <c:v>13.29</c:v>
                </c:pt>
                <c:pt idx="257">
                  <c:v>15.7</c:v>
                </c:pt>
                <c:pt idx="258">
                  <c:v>15</c:v>
                </c:pt>
                <c:pt idx="259">
                  <c:v>16.5</c:v>
                </c:pt>
                <c:pt idx="260">
                  <c:v>18.8</c:v>
                </c:pt>
                <c:pt idx="261">
                  <c:v>20.399999999999999</c:v>
                </c:pt>
                <c:pt idx="262">
                  <c:v>19.75</c:v>
                </c:pt>
                <c:pt idx="263">
                  <c:v>23.39</c:v>
                </c:pt>
                <c:pt idx="264">
                  <c:v>20.56</c:v>
                </c:pt>
                <c:pt idx="265">
                  <c:v>25.7</c:v>
                </c:pt>
                <c:pt idx="266">
                  <c:v>24.4</c:v>
                </c:pt>
                <c:pt idx="267">
                  <c:v>25.4</c:v>
                </c:pt>
                <c:pt idx="268">
                  <c:v>26.38</c:v>
                </c:pt>
                <c:pt idx="269">
                  <c:v>21.3</c:v>
                </c:pt>
                <c:pt idx="270">
                  <c:v>24.14</c:v>
                </c:pt>
                <c:pt idx="271">
                  <c:v>23.15</c:v>
                </c:pt>
                <c:pt idx="272">
                  <c:v>21.4</c:v>
                </c:pt>
                <c:pt idx="273">
                  <c:v>20.23</c:v>
                </c:pt>
                <c:pt idx="274">
                  <c:v>19.7</c:v>
                </c:pt>
                <c:pt idx="275">
                  <c:v>21.65</c:v>
                </c:pt>
                <c:pt idx="276">
                  <c:v>18.86</c:v>
                </c:pt>
                <c:pt idx="277">
                  <c:v>19.5</c:v>
                </c:pt>
                <c:pt idx="278">
                  <c:v>16.190000000000001</c:v>
                </c:pt>
                <c:pt idx="279">
                  <c:v>17.3</c:v>
                </c:pt>
                <c:pt idx="280">
                  <c:v>17.14</c:v>
                </c:pt>
                <c:pt idx="281">
                  <c:v>18.47</c:v>
                </c:pt>
                <c:pt idx="282">
                  <c:v>20.3</c:v>
                </c:pt>
                <c:pt idx="283">
                  <c:v>18.22</c:v>
                </c:pt>
                <c:pt idx="284">
                  <c:v>18.8</c:v>
                </c:pt>
                <c:pt idx="285">
                  <c:v>16.89</c:v>
                </c:pt>
                <c:pt idx="286">
                  <c:v>19.440000000000001</c:v>
                </c:pt>
                <c:pt idx="287">
                  <c:v>16.62</c:v>
                </c:pt>
                <c:pt idx="288">
                  <c:v>18.649999999999999</c:v>
                </c:pt>
                <c:pt idx="289">
                  <c:v>18.829999999999998</c:v>
                </c:pt>
                <c:pt idx="290">
                  <c:v>22.2</c:v>
                </c:pt>
                <c:pt idx="291">
                  <c:v>22.85</c:v>
                </c:pt>
                <c:pt idx="292">
                  <c:v>23.72</c:v>
                </c:pt>
                <c:pt idx="293">
                  <c:v>23.8</c:v>
                </c:pt>
                <c:pt idx="294">
                  <c:v>19.78</c:v>
                </c:pt>
                <c:pt idx="295">
                  <c:v>17.34</c:v>
                </c:pt>
                <c:pt idx="296">
                  <c:v>20.28</c:v>
                </c:pt>
                <c:pt idx="297">
                  <c:v>20.5</c:v>
                </c:pt>
                <c:pt idx="298">
                  <c:v>22.87</c:v>
                </c:pt>
                <c:pt idx="299">
                  <c:v>13.9</c:v>
                </c:pt>
                <c:pt idx="300">
                  <c:v>16.559999999999999</c:v>
                </c:pt>
                <c:pt idx="301">
                  <c:v>15.1</c:v>
                </c:pt>
                <c:pt idx="302">
                  <c:v>16.71</c:v>
                </c:pt>
                <c:pt idx="303">
                  <c:v>19.399999999999999</c:v>
                </c:pt>
                <c:pt idx="304">
                  <c:v>18.09</c:v>
                </c:pt>
                <c:pt idx="305">
                  <c:v>14.96</c:v>
                </c:pt>
                <c:pt idx="306">
                  <c:v>17.72</c:v>
                </c:pt>
                <c:pt idx="307">
                  <c:v>16.39</c:v>
                </c:pt>
                <c:pt idx="308">
                  <c:v>18.3</c:v>
                </c:pt>
                <c:pt idx="309">
                  <c:v>16.63</c:v>
                </c:pt>
                <c:pt idx="310">
                  <c:v>19.64</c:v>
                </c:pt>
                <c:pt idx="311">
                  <c:v>21.5</c:v>
                </c:pt>
                <c:pt idx="312">
                  <c:v>23.5</c:v>
                </c:pt>
                <c:pt idx="313">
                  <c:v>25.18</c:v>
                </c:pt>
                <c:pt idx="314">
                  <c:v>21.12</c:v>
                </c:pt>
                <c:pt idx="315">
                  <c:v>18.670000000000002</c:v>
                </c:pt>
                <c:pt idx="316">
                  <c:v>18.5</c:v>
                </c:pt>
                <c:pt idx="317">
                  <c:v>22.25</c:v>
                </c:pt>
                <c:pt idx="318">
                  <c:v>19.079999999999998</c:v>
                </c:pt>
                <c:pt idx="319">
                  <c:v>18.850000000000001</c:v>
                </c:pt>
                <c:pt idx="320">
                  <c:v>21</c:v>
                </c:pt>
                <c:pt idx="321">
                  <c:v>21.15</c:v>
                </c:pt>
                <c:pt idx="322">
                  <c:v>18</c:v>
                </c:pt>
                <c:pt idx="323">
                  <c:v>22.32</c:v>
                </c:pt>
                <c:pt idx="324">
                  <c:v>20.62</c:v>
                </c:pt>
                <c:pt idx="325">
                  <c:v>22.15</c:v>
                </c:pt>
                <c:pt idx="326">
                  <c:v>23.3</c:v>
                </c:pt>
                <c:pt idx="327">
                  <c:v>24.4</c:v>
                </c:pt>
                <c:pt idx="328">
                  <c:v>24.7</c:v>
                </c:pt>
                <c:pt idx="329">
                  <c:v>24.03</c:v>
                </c:pt>
                <c:pt idx="330">
                  <c:v>17</c:v>
                </c:pt>
                <c:pt idx="331">
                  <c:v>19.100000000000001</c:v>
                </c:pt>
                <c:pt idx="332">
                  <c:v>17.8</c:v>
                </c:pt>
                <c:pt idx="333">
                  <c:v>18.48</c:v>
                </c:pt>
                <c:pt idx="334">
                  <c:v>19.8</c:v>
                </c:pt>
                <c:pt idx="335">
                  <c:v>17.82</c:v>
                </c:pt>
                <c:pt idx="336">
                  <c:v>17.5</c:v>
                </c:pt>
                <c:pt idx="337">
                  <c:v>13.59</c:v>
                </c:pt>
                <c:pt idx="338">
                  <c:v>20</c:v>
                </c:pt>
                <c:pt idx="339">
                  <c:v>25.5</c:v>
                </c:pt>
                <c:pt idx="340">
                  <c:v>24.4</c:v>
                </c:pt>
                <c:pt idx="341">
                  <c:v>22.84</c:v>
                </c:pt>
                <c:pt idx="342">
                  <c:v>22.65</c:v>
                </c:pt>
                <c:pt idx="343">
                  <c:v>25.1</c:v>
                </c:pt>
                <c:pt idx="344">
                  <c:v>26.97</c:v>
                </c:pt>
                <c:pt idx="345">
                  <c:v>28.5</c:v>
                </c:pt>
                <c:pt idx="346">
                  <c:v>27.16</c:v>
                </c:pt>
                <c:pt idx="347">
                  <c:v>27.89</c:v>
                </c:pt>
                <c:pt idx="348">
                  <c:v>26.05</c:v>
                </c:pt>
                <c:pt idx="349">
                  <c:v>24.77</c:v>
                </c:pt>
                <c:pt idx="350">
                  <c:v>26.5</c:v>
                </c:pt>
                <c:pt idx="351">
                  <c:v>27.1</c:v>
                </c:pt>
                <c:pt idx="352">
                  <c:v>30.3</c:v>
                </c:pt>
                <c:pt idx="353">
                  <c:v>28.2</c:v>
                </c:pt>
                <c:pt idx="354">
                  <c:v>30.7</c:v>
                </c:pt>
                <c:pt idx="355">
                  <c:v>31.87</c:v>
                </c:pt>
                <c:pt idx="356">
                  <c:v>28.9</c:v>
                </c:pt>
                <c:pt idx="357">
                  <c:v>31.93</c:v>
                </c:pt>
                <c:pt idx="358">
                  <c:v>26.9</c:v>
                </c:pt>
                <c:pt idx="359">
                  <c:v>28.6</c:v>
                </c:pt>
                <c:pt idx="360">
                  <c:v>11.2</c:v>
                </c:pt>
                <c:pt idx="361">
                  <c:v>16.899999999999999</c:v>
                </c:pt>
                <c:pt idx="362">
                  <c:v>19.7</c:v>
                </c:pt>
                <c:pt idx="363">
                  <c:v>20.3</c:v>
                </c:pt>
                <c:pt idx="364">
                  <c:v>22.2</c:v>
                </c:pt>
                <c:pt idx="365">
                  <c:v>20.6</c:v>
                </c:pt>
                <c:pt idx="366">
                  <c:v>14.3</c:v>
                </c:pt>
                <c:pt idx="367">
                  <c:v>11.5</c:v>
                </c:pt>
                <c:pt idx="368">
                  <c:v>14.8</c:v>
                </c:pt>
                <c:pt idx="369">
                  <c:v>7.6</c:v>
                </c:pt>
                <c:pt idx="370">
                  <c:v>8</c:v>
                </c:pt>
                <c:pt idx="371">
                  <c:v>2.2000000000000002</c:v>
                </c:pt>
                <c:pt idx="372">
                  <c:v>4.2</c:v>
                </c:pt>
                <c:pt idx="373">
                  <c:v>8.1999999999999993</c:v>
                </c:pt>
                <c:pt idx="374">
                  <c:v>13.5</c:v>
                </c:pt>
                <c:pt idx="375">
                  <c:v>9.9</c:v>
                </c:pt>
                <c:pt idx="376">
                  <c:v>1</c:v>
                </c:pt>
                <c:pt idx="377">
                  <c:v>15.1</c:v>
                </c:pt>
                <c:pt idx="378">
                  <c:v>6.85</c:v>
                </c:pt>
                <c:pt idx="379">
                  <c:v>15.4</c:v>
                </c:pt>
                <c:pt idx="380">
                  <c:v>4.9000000000000004</c:v>
                </c:pt>
                <c:pt idx="381">
                  <c:v>7.6</c:v>
                </c:pt>
                <c:pt idx="382">
                  <c:v>29.9</c:v>
                </c:pt>
                <c:pt idx="383">
                  <c:v>30.15</c:v>
                </c:pt>
                <c:pt idx="384">
                  <c:v>28.2</c:v>
                </c:pt>
                <c:pt idx="385">
                  <c:v>31.8</c:v>
                </c:pt>
                <c:pt idx="386">
                  <c:v>34.85</c:v>
                </c:pt>
                <c:pt idx="387">
                  <c:v>37</c:v>
                </c:pt>
                <c:pt idx="388">
                  <c:v>39.5</c:v>
                </c:pt>
                <c:pt idx="389">
                  <c:v>35.68</c:v>
                </c:pt>
                <c:pt idx="390">
                  <c:v>34.81</c:v>
                </c:pt>
                <c:pt idx="391">
                  <c:v>32.049999999999997</c:v>
                </c:pt>
                <c:pt idx="392">
                  <c:v>30.55</c:v>
                </c:pt>
                <c:pt idx="393">
                  <c:v>31.05</c:v>
                </c:pt>
                <c:pt idx="394">
                  <c:v>32.51</c:v>
                </c:pt>
                <c:pt idx="395">
                  <c:v>35.700000000000003</c:v>
                </c:pt>
                <c:pt idx="396">
                  <c:v>35.15</c:v>
                </c:pt>
                <c:pt idx="397">
                  <c:v>35.25</c:v>
                </c:pt>
                <c:pt idx="398">
                  <c:v>34.97</c:v>
                </c:pt>
                <c:pt idx="399">
                  <c:v>35.5</c:v>
                </c:pt>
                <c:pt idx="400">
                  <c:v>37.5</c:v>
                </c:pt>
                <c:pt idx="401">
                  <c:v>40.1</c:v>
                </c:pt>
                <c:pt idx="402">
                  <c:v>38.799999999999997</c:v>
                </c:pt>
                <c:pt idx="403">
                  <c:v>40</c:v>
                </c:pt>
                <c:pt idx="404">
                  <c:v>26.12</c:v>
                </c:pt>
                <c:pt idx="405">
                  <c:v>25.11</c:v>
                </c:pt>
                <c:pt idx="406">
                  <c:v>26.7</c:v>
                </c:pt>
                <c:pt idx="407">
                  <c:v>26.51</c:v>
                </c:pt>
                <c:pt idx="408">
                  <c:v>31.07</c:v>
                </c:pt>
                <c:pt idx="409">
                  <c:v>30.4</c:v>
                </c:pt>
                <c:pt idx="410">
                  <c:v>30.38</c:v>
                </c:pt>
                <c:pt idx="411">
                  <c:v>33.200000000000003</c:v>
                </c:pt>
                <c:pt idx="412">
                  <c:v>30.95</c:v>
                </c:pt>
                <c:pt idx="413">
                  <c:v>35.049999999999997</c:v>
                </c:pt>
                <c:pt idx="414">
                  <c:v>36.049999999999997</c:v>
                </c:pt>
                <c:pt idx="415">
                  <c:v>33.47</c:v>
                </c:pt>
                <c:pt idx="416">
                  <c:v>33.450000000000003</c:v>
                </c:pt>
                <c:pt idx="417">
                  <c:v>32.6</c:v>
                </c:pt>
                <c:pt idx="418">
                  <c:v>30.2</c:v>
                </c:pt>
                <c:pt idx="419">
                  <c:v>28.95</c:v>
                </c:pt>
                <c:pt idx="420">
                  <c:v>30</c:v>
                </c:pt>
                <c:pt idx="421">
                  <c:v>27.45</c:v>
                </c:pt>
                <c:pt idx="422">
                  <c:v>26.42</c:v>
                </c:pt>
                <c:pt idx="423">
                  <c:v>27.75</c:v>
                </c:pt>
                <c:pt idx="424">
                  <c:v>29.7</c:v>
                </c:pt>
                <c:pt idx="425">
                  <c:v>29.78</c:v>
                </c:pt>
                <c:pt idx="426">
                  <c:v>30.45</c:v>
                </c:pt>
                <c:pt idx="427">
                  <c:v>30.15</c:v>
                </c:pt>
                <c:pt idx="428">
                  <c:v>32.950000000000003</c:v>
                </c:pt>
                <c:pt idx="429">
                  <c:v>35.61</c:v>
                </c:pt>
                <c:pt idx="430">
                  <c:v>35.82</c:v>
                </c:pt>
                <c:pt idx="431">
                  <c:v>35.1</c:v>
                </c:pt>
                <c:pt idx="432">
                  <c:v>33.65</c:v>
                </c:pt>
                <c:pt idx="433">
                  <c:v>34.15</c:v>
                </c:pt>
                <c:pt idx="434">
                  <c:v>34.950000000000003</c:v>
                </c:pt>
                <c:pt idx="435">
                  <c:v>34.049999999999997</c:v>
                </c:pt>
                <c:pt idx="436">
                  <c:v>35.549999999999997</c:v>
                </c:pt>
                <c:pt idx="437">
                  <c:v>35.67</c:v>
                </c:pt>
                <c:pt idx="438">
                  <c:v>38.6</c:v>
                </c:pt>
                <c:pt idx="439">
                  <c:v>38.4</c:v>
                </c:pt>
                <c:pt idx="440">
                  <c:v>38.65</c:v>
                </c:pt>
                <c:pt idx="441">
                  <c:v>39.67</c:v>
                </c:pt>
                <c:pt idx="442">
                  <c:v>42.13</c:v>
                </c:pt>
                <c:pt idx="443">
                  <c:v>24.88</c:v>
                </c:pt>
                <c:pt idx="444">
                  <c:v>26.3</c:v>
                </c:pt>
                <c:pt idx="445">
                  <c:v>25.7</c:v>
                </c:pt>
                <c:pt idx="446">
                  <c:v>24.81</c:v>
                </c:pt>
                <c:pt idx="447">
                  <c:v>24.65</c:v>
                </c:pt>
                <c:pt idx="448">
                  <c:v>23.5</c:v>
                </c:pt>
                <c:pt idx="449">
                  <c:v>26.4</c:v>
                </c:pt>
                <c:pt idx="450">
                  <c:v>25.75</c:v>
                </c:pt>
                <c:pt idx="451">
                  <c:v>25.47</c:v>
                </c:pt>
                <c:pt idx="452">
                  <c:v>24.35</c:v>
                </c:pt>
                <c:pt idx="453">
                  <c:v>23.5</c:v>
                </c:pt>
                <c:pt idx="454">
                  <c:v>20.9</c:v>
                </c:pt>
                <c:pt idx="455">
                  <c:v>21.82</c:v>
                </c:pt>
                <c:pt idx="456">
                  <c:v>22.6</c:v>
                </c:pt>
                <c:pt idx="457">
                  <c:v>22.02</c:v>
                </c:pt>
                <c:pt idx="458">
                  <c:v>21.9</c:v>
                </c:pt>
                <c:pt idx="459">
                  <c:v>21.68</c:v>
                </c:pt>
                <c:pt idx="460">
                  <c:v>24.45</c:v>
                </c:pt>
                <c:pt idx="461">
                  <c:v>25.1</c:v>
                </c:pt>
                <c:pt idx="462">
                  <c:v>23.5</c:v>
                </c:pt>
                <c:pt idx="463">
                  <c:v>24.13</c:v>
                </c:pt>
                <c:pt idx="464">
                  <c:v>24.39</c:v>
                </c:pt>
                <c:pt idx="465">
                  <c:v>25.55</c:v>
                </c:pt>
                <c:pt idx="466">
                  <c:v>24.95</c:v>
                </c:pt>
                <c:pt idx="467">
                  <c:v>24.6</c:v>
                </c:pt>
                <c:pt idx="468">
                  <c:v>19.7</c:v>
                </c:pt>
                <c:pt idx="469">
                  <c:v>16.7</c:v>
                </c:pt>
                <c:pt idx="470">
                  <c:v>17.71</c:v>
                </c:pt>
                <c:pt idx="471">
                  <c:v>20.91</c:v>
                </c:pt>
                <c:pt idx="472">
                  <c:v>22.5</c:v>
                </c:pt>
                <c:pt idx="473">
                  <c:v>23.85</c:v>
                </c:pt>
                <c:pt idx="474">
                  <c:v>23</c:v>
                </c:pt>
                <c:pt idx="475">
                  <c:v>19.7</c:v>
                </c:pt>
                <c:pt idx="476">
                  <c:v>21.9</c:v>
                </c:pt>
                <c:pt idx="477">
                  <c:v>20.77</c:v>
                </c:pt>
                <c:pt idx="478">
                  <c:v>21.32</c:v>
                </c:pt>
                <c:pt idx="479">
                  <c:v>24</c:v>
                </c:pt>
                <c:pt idx="480">
                  <c:v>25.72</c:v>
                </c:pt>
                <c:pt idx="481">
                  <c:v>27</c:v>
                </c:pt>
                <c:pt idx="482">
                  <c:v>28.06</c:v>
                </c:pt>
                <c:pt idx="483">
                  <c:v>27</c:v>
                </c:pt>
                <c:pt idx="484">
                  <c:v>26.42</c:v>
                </c:pt>
                <c:pt idx="485">
                  <c:v>27</c:v>
                </c:pt>
                <c:pt idx="486">
                  <c:v>28.7</c:v>
                </c:pt>
                <c:pt idx="487">
                  <c:v>28.9</c:v>
                </c:pt>
                <c:pt idx="488">
                  <c:v>27.32</c:v>
                </c:pt>
                <c:pt idx="489">
                  <c:v>27.05</c:v>
                </c:pt>
                <c:pt idx="490">
                  <c:v>27.2</c:v>
                </c:pt>
                <c:pt idx="491">
                  <c:v>29.5</c:v>
                </c:pt>
                <c:pt idx="492">
                  <c:v>29.8</c:v>
                </c:pt>
                <c:pt idx="493">
                  <c:v>26.48</c:v>
                </c:pt>
                <c:pt idx="494">
                  <c:v>28.3</c:v>
                </c:pt>
                <c:pt idx="495">
                  <c:v>28.95</c:v>
                </c:pt>
                <c:pt idx="496">
                  <c:v>28.75</c:v>
                </c:pt>
                <c:pt idx="497">
                  <c:v>27.1</c:v>
                </c:pt>
                <c:pt idx="498">
                  <c:v>27.6</c:v>
                </c:pt>
                <c:pt idx="499">
                  <c:v>27.07</c:v>
                </c:pt>
                <c:pt idx="500">
                  <c:v>25.88</c:v>
                </c:pt>
                <c:pt idx="501">
                  <c:v>24.5</c:v>
                </c:pt>
                <c:pt idx="502">
                  <c:v>22.97</c:v>
                </c:pt>
                <c:pt idx="503">
                  <c:v>26.57</c:v>
                </c:pt>
                <c:pt idx="504">
                  <c:v>24.4</c:v>
                </c:pt>
                <c:pt idx="505">
                  <c:v>24.02</c:v>
                </c:pt>
                <c:pt idx="506">
                  <c:v>24.57</c:v>
                </c:pt>
                <c:pt idx="507">
                  <c:v>21.05</c:v>
                </c:pt>
                <c:pt idx="508">
                  <c:v>23.05</c:v>
                </c:pt>
                <c:pt idx="509">
                  <c:v>22.1</c:v>
                </c:pt>
                <c:pt idx="510">
                  <c:v>24.2</c:v>
                </c:pt>
                <c:pt idx="511">
                  <c:v>15.4</c:v>
                </c:pt>
                <c:pt idx="512">
                  <c:v>16.2</c:v>
                </c:pt>
                <c:pt idx="513">
                  <c:v>16.8</c:v>
                </c:pt>
                <c:pt idx="514">
                  <c:v>17.05</c:v>
                </c:pt>
                <c:pt idx="515">
                  <c:v>15.9</c:v>
                </c:pt>
                <c:pt idx="516">
                  <c:v>16.22</c:v>
                </c:pt>
                <c:pt idx="517">
                  <c:v>16.91</c:v>
                </c:pt>
                <c:pt idx="518">
                  <c:v>16.82</c:v>
                </c:pt>
                <c:pt idx="519">
                  <c:v>17.38</c:v>
                </c:pt>
                <c:pt idx="520">
                  <c:v>19.62</c:v>
                </c:pt>
                <c:pt idx="521">
                  <c:v>20.95</c:v>
                </c:pt>
                <c:pt idx="522">
                  <c:v>19.899999999999999</c:v>
                </c:pt>
                <c:pt idx="523">
                  <c:v>19.25</c:v>
                </c:pt>
                <c:pt idx="524">
                  <c:v>17.600000000000001</c:v>
                </c:pt>
                <c:pt idx="525">
                  <c:v>18.899999999999999</c:v>
                </c:pt>
                <c:pt idx="526">
                  <c:v>20.8</c:v>
                </c:pt>
                <c:pt idx="527">
                  <c:v>20.7</c:v>
                </c:pt>
                <c:pt idx="528">
                  <c:v>18.5</c:v>
                </c:pt>
                <c:pt idx="529">
                  <c:v>18.98</c:v>
                </c:pt>
                <c:pt idx="530">
                  <c:v>19.649999999999999</c:v>
                </c:pt>
                <c:pt idx="531">
                  <c:v>19.7</c:v>
                </c:pt>
                <c:pt idx="532">
                  <c:v>2.4700000000000002</c:v>
                </c:pt>
                <c:pt idx="533">
                  <c:v>5.82</c:v>
                </c:pt>
                <c:pt idx="534">
                  <c:v>17.100000000000001</c:v>
                </c:pt>
                <c:pt idx="535">
                  <c:v>4.91</c:v>
                </c:pt>
                <c:pt idx="536">
                  <c:v>6.53</c:v>
                </c:pt>
                <c:pt idx="537">
                  <c:v>5.49</c:v>
                </c:pt>
                <c:pt idx="538">
                  <c:v>10.29</c:v>
                </c:pt>
                <c:pt idx="539">
                  <c:v>14.6</c:v>
                </c:pt>
                <c:pt idx="540">
                  <c:v>14.25</c:v>
                </c:pt>
                <c:pt idx="541">
                  <c:v>9.2799999999999994</c:v>
                </c:pt>
                <c:pt idx="542">
                  <c:v>11.8</c:v>
                </c:pt>
                <c:pt idx="543">
                  <c:v>15.9</c:v>
                </c:pt>
                <c:pt idx="544">
                  <c:v>16.2</c:v>
                </c:pt>
                <c:pt idx="545">
                  <c:v>17.100000000000001</c:v>
                </c:pt>
                <c:pt idx="546">
                  <c:v>16.2</c:v>
                </c:pt>
                <c:pt idx="547">
                  <c:v>17.45</c:v>
                </c:pt>
                <c:pt idx="548">
                  <c:v>16.190000000000001</c:v>
                </c:pt>
                <c:pt idx="549">
                  <c:v>15.55</c:v>
                </c:pt>
                <c:pt idx="550">
                  <c:v>16.79</c:v>
                </c:pt>
                <c:pt idx="551">
                  <c:v>15.65</c:v>
                </c:pt>
                <c:pt idx="552">
                  <c:v>17.5</c:v>
                </c:pt>
                <c:pt idx="553">
                  <c:v>18.100000000000001</c:v>
                </c:pt>
                <c:pt idx="554">
                  <c:v>16</c:v>
                </c:pt>
                <c:pt idx="555">
                  <c:v>16.5</c:v>
                </c:pt>
                <c:pt idx="556">
                  <c:v>16.2</c:v>
                </c:pt>
                <c:pt idx="557">
                  <c:v>16.829999999999998</c:v>
                </c:pt>
                <c:pt idx="558">
                  <c:v>14.5</c:v>
                </c:pt>
                <c:pt idx="559">
                  <c:v>17.52</c:v>
                </c:pt>
                <c:pt idx="560">
                  <c:v>18.07</c:v>
                </c:pt>
                <c:pt idx="561">
                  <c:v>18.8</c:v>
                </c:pt>
                <c:pt idx="562">
                  <c:v>18.2</c:v>
                </c:pt>
                <c:pt idx="563">
                  <c:v>20.37</c:v>
                </c:pt>
                <c:pt idx="564">
                  <c:v>20</c:v>
                </c:pt>
                <c:pt idx="565">
                  <c:v>20.399999999999999</c:v>
                </c:pt>
                <c:pt idx="566">
                  <c:v>21.3</c:v>
                </c:pt>
                <c:pt idx="567">
                  <c:v>19.75</c:v>
                </c:pt>
                <c:pt idx="568">
                  <c:v>20.6</c:v>
                </c:pt>
                <c:pt idx="569">
                  <c:v>20.95</c:v>
                </c:pt>
                <c:pt idx="570">
                  <c:v>20.64</c:v>
                </c:pt>
                <c:pt idx="571">
                  <c:v>21</c:v>
                </c:pt>
                <c:pt idx="572">
                  <c:v>20.8</c:v>
                </c:pt>
                <c:pt idx="573">
                  <c:v>20.8</c:v>
                </c:pt>
                <c:pt idx="574">
                  <c:v>21.7</c:v>
                </c:pt>
                <c:pt idx="575">
                  <c:v>19.8</c:v>
                </c:pt>
                <c:pt idx="576">
                  <c:v>19.649999999999999</c:v>
                </c:pt>
                <c:pt idx="577">
                  <c:v>19.2</c:v>
                </c:pt>
                <c:pt idx="578">
                  <c:v>20.83</c:v>
                </c:pt>
                <c:pt idx="579">
                  <c:v>21.2</c:v>
                </c:pt>
                <c:pt idx="580">
                  <c:v>20.2</c:v>
                </c:pt>
                <c:pt idx="581">
                  <c:v>19.55</c:v>
                </c:pt>
                <c:pt idx="582">
                  <c:v>21.62</c:v>
                </c:pt>
                <c:pt idx="583">
                  <c:v>22.1</c:v>
                </c:pt>
                <c:pt idx="584">
                  <c:v>24.1</c:v>
                </c:pt>
                <c:pt idx="585">
                  <c:v>25.94</c:v>
                </c:pt>
                <c:pt idx="586">
                  <c:v>25.92</c:v>
                </c:pt>
                <c:pt idx="587">
                  <c:v>25.7</c:v>
                </c:pt>
                <c:pt idx="588">
                  <c:v>24.26</c:v>
                </c:pt>
                <c:pt idx="589">
                  <c:v>25.13</c:v>
                </c:pt>
                <c:pt idx="590">
                  <c:v>26.08</c:v>
                </c:pt>
                <c:pt idx="591">
                  <c:v>25.5</c:v>
                </c:pt>
                <c:pt idx="592">
                  <c:v>24.11</c:v>
                </c:pt>
                <c:pt idx="593">
                  <c:v>22.54</c:v>
                </c:pt>
                <c:pt idx="594">
                  <c:v>24.18</c:v>
                </c:pt>
                <c:pt idx="595">
                  <c:v>25.32</c:v>
                </c:pt>
                <c:pt idx="596">
                  <c:v>25.77</c:v>
                </c:pt>
                <c:pt idx="597">
                  <c:v>24.83</c:v>
                </c:pt>
                <c:pt idx="598">
                  <c:v>24.3</c:v>
                </c:pt>
                <c:pt idx="599">
                  <c:v>25.14</c:v>
                </c:pt>
                <c:pt idx="600">
                  <c:v>26.94</c:v>
                </c:pt>
                <c:pt idx="601">
                  <c:v>25.4</c:v>
                </c:pt>
                <c:pt idx="602">
                  <c:v>28.4</c:v>
                </c:pt>
                <c:pt idx="603">
                  <c:v>30.59</c:v>
                </c:pt>
                <c:pt idx="604">
                  <c:v>16.48</c:v>
                </c:pt>
                <c:pt idx="605">
                  <c:v>16.2</c:v>
                </c:pt>
                <c:pt idx="606">
                  <c:v>14.2</c:v>
                </c:pt>
                <c:pt idx="607">
                  <c:v>15.4</c:v>
                </c:pt>
                <c:pt idx="608">
                  <c:v>13.19</c:v>
                </c:pt>
                <c:pt idx="609">
                  <c:v>13.65</c:v>
                </c:pt>
                <c:pt idx="610">
                  <c:v>14</c:v>
                </c:pt>
                <c:pt idx="611">
                  <c:v>15.8</c:v>
                </c:pt>
                <c:pt idx="612">
                  <c:v>16.05</c:v>
                </c:pt>
                <c:pt idx="613">
                  <c:v>15.32</c:v>
                </c:pt>
                <c:pt idx="614">
                  <c:v>18.55</c:v>
                </c:pt>
                <c:pt idx="615">
                  <c:v>18.55</c:v>
                </c:pt>
                <c:pt idx="616">
                  <c:v>20.149999999999999</c:v>
                </c:pt>
                <c:pt idx="617">
                  <c:v>20.95</c:v>
                </c:pt>
                <c:pt idx="618">
                  <c:v>23.23</c:v>
                </c:pt>
                <c:pt idx="619">
                  <c:v>28.58</c:v>
                </c:pt>
                <c:pt idx="620">
                  <c:v>29.48</c:v>
                </c:pt>
                <c:pt idx="621">
                  <c:v>27.4</c:v>
                </c:pt>
                <c:pt idx="622">
                  <c:v>27.84</c:v>
                </c:pt>
                <c:pt idx="623">
                  <c:v>26.38</c:v>
                </c:pt>
                <c:pt idx="624">
                  <c:v>28.55</c:v>
                </c:pt>
                <c:pt idx="625">
                  <c:v>29.1</c:v>
                </c:pt>
                <c:pt idx="626">
                  <c:v>27.9</c:v>
                </c:pt>
                <c:pt idx="627">
                  <c:v>26.38</c:v>
                </c:pt>
                <c:pt idx="628">
                  <c:v>26.4</c:v>
                </c:pt>
                <c:pt idx="629">
                  <c:v>27.15</c:v>
                </c:pt>
                <c:pt idx="630">
                  <c:v>29.7</c:v>
                </c:pt>
                <c:pt idx="631">
                  <c:v>26.1</c:v>
                </c:pt>
                <c:pt idx="632">
                  <c:v>34.700000000000003</c:v>
                </c:pt>
                <c:pt idx="633">
                  <c:v>38.6</c:v>
                </c:pt>
                <c:pt idx="634">
                  <c:v>40.700000000000003</c:v>
                </c:pt>
                <c:pt idx="635">
                  <c:v>52.7</c:v>
                </c:pt>
                <c:pt idx="636">
                  <c:v>47.7</c:v>
                </c:pt>
                <c:pt idx="637">
                  <c:v>44</c:v>
                </c:pt>
                <c:pt idx="638">
                  <c:v>42.5</c:v>
                </c:pt>
                <c:pt idx="639">
                  <c:v>40.700000000000003</c:v>
                </c:pt>
                <c:pt idx="640">
                  <c:v>39.5</c:v>
                </c:pt>
                <c:pt idx="641">
                  <c:v>48.1</c:v>
                </c:pt>
                <c:pt idx="642">
                  <c:v>48.18</c:v>
                </c:pt>
                <c:pt idx="643">
                  <c:v>53.9</c:v>
                </c:pt>
                <c:pt idx="644">
                  <c:v>54.2</c:v>
                </c:pt>
                <c:pt idx="645">
                  <c:v>49.1</c:v>
                </c:pt>
                <c:pt idx="646">
                  <c:v>45.5</c:v>
                </c:pt>
                <c:pt idx="647">
                  <c:v>48.4</c:v>
                </c:pt>
                <c:pt idx="648">
                  <c:v>46.1</c:v>
                </c:pt>
                <c:pt idx="649">
                  <c:v>37.72</c:v>
                </c:pt>
                <c:pt idx="650">
                  <c:v>46.2</c:v>
                </c:pt>
                <c:pt idx="651">
                  <c:v>32.85</c:v>
                </c:pt>
                <c:pt idx="652">
                  <c:v>32.6</c:v>
                </c:pt>
                <c:pt idx="653">
                  <c:v>32</c:v>
                </c:pt>
                <c:pt idx="654">
                  <c:v>36.1</c:v>
                </c:pt>
                <c:pt idx="655">
                  <c:v>39.6</c:v>
                </c:pt>
                <c:pt idx="656">
                  <c:v>44.9</c:v>
                </c:pt>
                <c:pt idx="657">
                  <c:v>50.1</c:v>
                </c:pt>
                <c:pt idx="658">
                  <c:v>47.8</c:v>
                </c:pt>
                <c:pt idx="659">
                  <c:v>47.1</c:v>
                </c:pt>
                <c:pt idx="660">
                  <c:v>53.9</c:v>
                </c:pt>
                <c:pt idx="661">
                  <c:v>50</c:v>
                </c:pt>
                <c:pt idx="662">
                  <c:v>47.4</c:v>
                </c:pt>
                <c:pt idx="663">
                  <c:v>47.8</c:v>
                </c:pt>
                <c:pt idx="664">
                  <c:v>57.4</c:v>
                </c:pt>
                <c:pt idx="665">
                  <c:v>61.8</c:v>
                </c:pt>
                <c:pt idx="666">
                  <c:v>69</c:v>
                </c:pt>
                <c:pt idx="667">
                  <c:v>62.97</c:v>
                </c:pt>
                <c:pt idx="668">
                  <c:v>54.02</c:v>
                </c:pt>
                <c:pt idx="669">
                  <c:v>58.9</c:v>
                </c:pt>
                <c:pt idx="670">
                  <c:v>56.5</c:v>
                </c:pt>
                <c:pt idx="671">
                  <c:v>42.1</c:v>
                </c:pt>
                <c:pt idx="672">
                  <c:v>49.6</c:v>
                </c:pt>
                <c:pt idx="673">
                  <c:v>41.5</c:v>
                </c:pt>
                <c:pt idx="674">
                  <c:v>47.9</c:v>
                </c:pt>
                <c:pt idx="675">
                  <c:v>43.65</c:v>
                </c:pt>
                <c:pt idx="676">
                  <c:v>39.18</c:v>
                </c:pt>
                <c:pt idx="677">
                  <c:v>41.3</c:v>
                </c:pt>
                <c:pt idx="678">
                  <c:v>36.6</c:v>
                </c:pt>
                <c:pt idx="679">
                  <c:v>36.200000000000003</c:v>
                </c:pt>
                <c:pt idx="680">
                  <c:v>28.25</c:v>
                </c:pt>
                <c:pt idx="681">
                  <c:v>33.229999999999997</c:v>
                </c:pt>
                <c:pt idx="682">
                  <c:v>34.380000000000003</c:v>
                </c:pt>
                <c:pt idx="683">
                  <c:v>34.200000000000003</c:v>
                </c:pt>
                <c:pt idx="684">
                  <c:v>29.6</c:v>
                </c:pt>
                <c:pt idx="685">
                  <c:v>32.1</c:v>
                </c:pt>
                <c:pt idx="686">
                  <c:v>33.700000000000003</c:v>
                </c:pt>
                <c:pt idx="687">
                  <c:v>29.22</c:v>
                </c:pt>
                <c:pt idx="688">
                  <c:v>29.1</c:v>
                </c:pt>
                <c:pt idx="689">
                  <c:v>45.27</c:v>
                </c:pt>
                <c:pt idx="690">
                  <c:v>43.65</c:v>
                </c:pt>
                <c:pt idx="691">
                  <c:v>40</c:v>
                </c:pt>
                <c:pt idx="692">
                  <c:v>39</c:v>
                </c:pt>
                <c:pt idx="693">
                  <c:v>31.05</c:v>
                </c:pt>
                <c:pt idx="694">
                  <c:v>36</c:v>
                </c:pt>
                <c:pt idx="695">
                  <c:v>41.05</c:v>
                </c:pt>
                <c:pt idx="696">
                  <c:v>37.5</c:v>
                </c:pt>
                <c:pt idx="697">
                  <c:v>38.15</c:v>
                </c:pt>
                <c:pt idx="698">
                  <c:v>37.450000000000003</c:v>
                </c:pt>
                <c:pt idx="699">
                  <c:v>35.450000000000003</c:v>
                </c:pt>
                <c:pt idx="700">
                  <c:v>38.43</c:v>
                </c:pt>
                <c:pt idx="701">
                  <c:v>32.9</c:v>
                </c:pt>
                <c:pt idx="702">
                  <c:v>34</c:v>
                </c:pt>
                <c:pt idx="703">
                  <c:v>35.79</c:v>
                </c:pt>
                <c:pt idx="704">
                  <c:v>34.93</c:v>
                </c:pt>
                <c:pt idx="705">
                  <c:v>33.729999999999997</c:v>
                </c:pt>
                <c:pt idx="706">
                  <c:v>32.94</c:v>
                </c:pt>
                <c:pt idx="707">
                  <c:v>34.049999999999997</c:v>
                </c:pt>
                <c:pt idx="708">
                  <c:v>31.8</c:v>
                </c:pt>
                <c:pt idx="709">
                  <c:v>33.65</c:v>
                </c:pt>
                <c:pt idx="710">
                  <c:v>33.979999999999997</c:v>
                </c:pt>
                <c:pt idx="711">
                  <c:v>33</c:v>
                </c:pt>
                <c:pt idx="712">
                  <c:v>32.5</c:v>
                </c:pt>
                <c:pt idx="713">
                  <c:v>30.23</c:v>
                </c:pt>
                <c:pt idx="714">
                  <c:v>28.2</c:v>
                </c:pt>
                <c:pt idx="715">
                  <c:v>23.98</c:v>
                </c:pt>
                <c:pt idx="716">
                  <c:v>24.18</c:v>
                </c:pt>
                <c:pt idx="717">
                  <c:v>25.22</c:v>
                </c:pt>
                <c:pt idx="718">
                  <c:v>23.8</c:v>
                </c:pt>
                <c:pt idx="719">
                  <c:v>22.3</c:v>
                </c:pt>
                <c:pt idx="720">
                  <c:v>21.95</c:v>
                </c:pt>
                <c:pt idx="721">
                  <c:v>17.399999999999999</c:v>
                </c:pt>
                <c:pt idx="722">
                  <c:v>15.5</c:v>
                </c:pt>
                <c:pt idx="723">
                  <c:v>12.8</c:v>
                </c:pt>
                <c:pt idx="724">
                  <c:v>16.100000000000001</c:v>
                </c:pt>
                <c:pt idx="725">
                  <c:v>16.850000000000001</c:v>
                </c:pt>
                <c:pt idx="726">
                  <c:v>16</c:v>
                </c:pt>
                <c:pt idx="727">
                  <c:v>14.09</c:v>
                </c:pt>
                <c:pt idx="728">
                  <c:v>16.899999999999999</c:v>
                </c:pt>
                <c:pt idx="729">
                  <c:v>20.07</c:v>
                </c:pt>
                <c:pt idx="730">
                  <c:v>17.600000000000001</c:v>
                </c:pt>
                <c:pt idx="731">
                  <c:v>12.6</c:v>
                </c:pt>
                <c:pt idx="732">
                  <c:v>11.9</c:v>
                </c:pt>
                <c:pt idx="733">
                  <c:v>10.199999999999999</c:v>
                </c:pt>
                <c:pt idx="734">
                  <c:v>10.33</c:v>
                </c:pt>
                <c:pt idx="735">
                  <c:v>10.7</c:v>
                </c:pt>
                <c:pt idx="736">
                  <c:v>8.1199999999999992</c:v>
                </c:pt>
                <c:pt idx="737">
                  <c:v>8.33</c:v>
                </c:pt>
                <c:pt idx="738">
                  <c:v>7.2</c:v>
                </c:pt>
                <c:pt idx="739">
                  <c:v>4.28</c:v>
                </c:pt>
                <c:pt idx="740">
                  <c:v>5.0999999999999996</c:v>
                </c:pt>
                <c:pt idx="741">
                  <c:v>6.17</c:v>
                </c:pt>
                <c:pt idx="742">
                  <c:v>5.94</c:v>
                </c:pt>
                <c:pt idx="743">
                  <c:v>2</c:v>
                </c:pt>
                <c:pt idx="744">
                  <c:v>2.85</c:v>
                </c:pt>
                <c:pt idx="745">
                  <c:v>5.98</c:v>
                </c:pt>
                <c:pt idx="746">
                  <c:v>5.08</c:v>
                </c:pt>
                <c:pt idx="747">
                  <c:v>4</c:v>
                </c:pt>
                <c:pt idx="748">
                  <c:v>4.38</c:v>
                </c:pt>
                <c:pt idx="749">
                  <c:v>3</c:v>
                </c:pt>
                <c:pt idx="750">
                  <c:v>2.15</c:v>
                </c:pt>
                <c:pt idx="751">
                  <c:v>0.69</c:v>
                </c:pt>
                <c:pt idx="752">
                  <c:v>0.3</c:v>
                </c:pt>
                <c:pt idx="753">
                  <c:v>-2.59</c:v>
                </c:pt>
                <c:pt idx="754">
                  <c:v>-14.48</c:v>
                </c:pt>
                <c:pt idx="755">
                  <c:v>-14.75</c:v>
                </c:pt>
                <c:pt idx="756">
                  <c:v>-15.5</c:v>
                </c:pt>
                <c:pt idx="757">
                  <c:v>-10.98</c:v>
                </c:pt>
                <c:pt idx="758">
                  <c:v>-12.1</c:v>
                </c:pt>
                <c:pt idx="759">
                  <c:v>-11.7</c:v>
                </c:pt>
                <c:pt idx="760">
                  <c:v>-12.9</c:v>
                </c:pt>
                <c:pt idx="761">
                  <c:v>-14.65</c:v>
                </c:pt>
                <c:pt idx="762">
                  <c:v>-14.8</c:v>
                </c:pt>
                <c:pt idx="763">
                  <c:v>-16.79</c:v>
                </c:pt>
                <c:pt idx="764">
                  <c:v>-15</c:v>
                </c:pt>
                <c:pt idx="765">
                  <c:v>-16.600000000000001</c:v>
                </c:pt>
                <c:pt idx="766">
                  <c:v>-12.25</c:v>
                </c:pt>
                <c:pt idx="767">
                  <c:v>-15</c:v>
                </c:pt>
                <c:pt idx="768">
                  <c:v>-22</c:v>
                </c:pt>
                <c:pt idx="769">
                  <c:v>-23.23</c:v>
                </c:pt>
                <c:pt idx="770">
                  <c:v>-21.4</c:v>
                </c:pt>
                <c:pt idx="771">
                  <c:v>-23.25</c:v>
                </c:pt>
                <c:pt idx="772">
                  <c:v>-21.89</c:v>
                </c:pt>
                <c:pt idx="773">
                  <c:v>-27.9</c:v>
                </c:pt>
                <c:pt idx="774">
                  <c:v>-35.18</c:v>
                </c:pt>
                <c:pt idx="775">
                  <c:v>-38.96</c:v>
                </c:pt>
                <c:pt idx="776">
                  <c:v>-41</c:v>
                </c:pt>
                <c:pt idx="777">
                  <c:v>-36.9</c:v>
                </c:pt>
                <c:pt idx="778">
                  <c:v>-44.65</c:v>
                </c:pt>
                <c:pt idx="779">
                  <c:v>-44.79</c:v>
                </c:pt>
                <c:pt idx="780">
                  <c:v>-43.2</c:v>
                </c:pt>
                <c:pt idx="781">
                  <c:v>-43.4</c:v>
                </c:pt>
                <c:pt idx="782">
                  <c:v>-46.59</c:v>
                </c:pt>
                <c:pt idx="783">
                  <c:v>-53.35</c:v>
                </c:pt>
                <c:pt idx="784">
                  <c:v>-52</c:v>
                </c:pt>
                <c:pt idx="785">
                  <c:v>-47.9</c:v>
                </c:pt>
                <c:pt idx="786">
                  <c:v>-42.45</c:v>
                </c:pt>
                <c:pt idx="787">
                  <c:v>-42.5</c:v>
                </c:pt>
                <c:pt idx="788">
                  <c:v>-42.8</c:v>
                </c:pt>
                <c:pt idx="789">
                  <c:v>-35.799999999999997</c:v>
                </c:pt>
                <c:pt idx="790">
                  <c:v>-39.85</c:v>
                </c:pt>
                <c:pt idx="791">
                  <c:v>-38.299999999999997</c:v>
                </c:pt>
                <c:pt idx="792">
                  <c:v>-38.200000000000003</c:v>
                </c:pt>
                <c:pt idx="793">
                  <c:v>-36.200000000000003</c:v>
                </c:pt>
                <c:pt idx="794">
                  <c:v>-35.47</c:v>
                </c:pt>
                <c:pt idx="795">
                  <c:v>-32.68</c:v>
                </c:pt>
                <c:pt idx="796">
                  <c:v>-32.21</c:v>
                </c:pt>
                <c:pt idx="797">
                  <c:v>-30.4</c:v>
                </c:pt>
                <c:pt idx="798">
                  <c:v>-30.8</c:v>
                </c:pt>
                <c:pt idx="799">
                  <c:v>-28.77</c:v>
                </c:pt>
                <c:pt idx="800">
                  <c:v>-27.6</c:v>
                </c:pt>
                <c:pt idx="801">
                  <c:v>-28.2</c:v>
                </c:pt>
                <c:pt idx="802">
                  <c:v>-27.76</c:v>
                </c:pt>
                <c:pt idx="803">
                  <c:v>-25.4</c:v>
                </c:pt>
                <c:pt idx="804">
                  <c:v>-41.1</c:v>
                </c:pt>
                <c:pt idx="805">
                  <c:v>-41.65</c:v>
                </c:pt>
                <c:pt idx="806">
                  <c:v>-44.87</c:v>
                </c:pt>
                <c:pt idx="807">
                  <c:v>-45.55</c:v>
                </c:pt>
                <c:pt idx="808">
                  <c:v>-42.5</c:v>
                </c:pt>
                <c:pt idx="809">
                  <c:v>-44.4</c:v>
                </c:pt>
                <c:pt idx="810">
                  <c:v>-46.27</c:v>
                </c:pt>
                <c:pt idx="811">
                  <c:v>-46</c:v>
                </c:pt>
                <c:pt idx="812">
                  <c:v>-43.1</c:v>
                </c:pt>
                <c:pt idx="813">
                  <c:v>-42.07</c:v>
                </c:pt>
                <c:pt idx="814">
                  <c:v>-40.9</c:v>
                </c:pt>
                <c:pt idx="815">
                  <c:v>-44.23</c:v>
                </c:pt>
                <c:pt idx="816">
                  <c:v>-44.74</c:v>
                </c:pt>
                <c:pt idx="817">
                  <c:v>-50.96</c:v>
                </c:pt>
                <c:pt idx="818">
                  <c:v>-48.12</c:v>
                </c:pt>
                <c:pt idx="819">
                  <c:v>-45.21</c:v>
                </c:pt>
                <c:pt idx="820">
                  <c:v>-45.83</c:v>
                </c:pt>
                <c:pt idx="821">
                  <c:v>-43.8</c:v>
                </c:pt>
                <c:pt idx="822">
                  <c:v>-42.67</c:v>
                </c:pt>
                <c:pt idx="823">
                  <c:v>-44</c:v>
                </c:pt>
                <c:pt idx="824">
                  <c:v>-38.549999999999997</c:v>
                </c:pt>
                <c:pt idx="825">
                  <c:v>-41.45</c:v>
                </c:pt>
                <c:pt idx="826">
                  <c:v>-38.5</c:v>
                </c:pt>
                <c:pt idx="827">
                  <c:v>-38.299999999999997</c:v>
                </c:pt>
                <c:pt idx="828">
                  <c:v>-33.880000000000003</c:v>
                </c:pt>
                <c:pt idx="829">
                  <c:v>-36</c:v>
                </c:pt>
                <c:pt idx="830">
                  <c:v>-32.4</c:v>
                </c:pt>
                <c:pt idx="831">
                  <c:v>-32.39</c:v>
                </c:pt>
                <c:pt idx="832">
                  <c:v>-30.66</c:v>
                </c:pt>
                <c:pt idx="833">
                  <c:v>-29.13</c:v>
                </c:pt>
                <c:pt idx="834">
                  <c:v>-26.4</c:v>
                </c:pt>
                <c:pt idx="835">
                  <c:v>-29.2</c:v>
                </c:pt>
                <c:pt idx="836">
                  <c:v>-26.57</c:v>
                </c:pt>
                <c:pt idx="837">
                  <c:v>-27.9</c:v>
                </c:pt>
                <c:pt idx="838">
                  <c:v>-19.899999999999999</c:v>
                </c:pt>
                <c:pt idx="839">
                  <c:v>-20.6</c:v>
                </c:pt>
                <c:pt idx="840">
                  <c:v>-22.31</c:v>
                </c:pt>
                <c:pt idx="841">
                  <c:v>-20.7</c:v>
                </c:pt>
                <c:pt idx="842">
                  <c:v>-19.57</c:v>
                </c:pt>
                <c:pt idx="843">
                  <c:v>-18.71</c:v>
                </c:pt>
                <c:pt idx="844">
                  <c:v>-25.19</c:v>
                </c:pt>
                <c:pt idx="845">
                  <c:v>-26.06</c:v>
                </c:pt>
                <c:pt idx="846">
                  <c:v>-27.1</c:v>
                </c:pt>
                <c:pt idx="847">
                  <c:v>-24.98</c:v>
                </c:pt>
                <c:pt idx="848">
                  <c:v>-23.1</c:v>
                </c:pt>
                <c:pt idx="849">
                  <c:v>-23.2</c:v>
                </c:pt>
                <c:pt idx="850">
                  <c:v>-21</c:v>
                </c:pt>
                <c:pt idx="851">
                  <c:v>-21.5</c:v>
                </c:pt>
                <c:pt idx="852">
                  <c:v>-21.6</c:v>
                </c:pt>
                <c:pt idx="853">
                  <c:v>-20</c:v>
                </c:pt>
                <c:pt idx="854">
                  <c:v>-21.06</c:v>
                </c:pt>
                <c:pt idx="855">
                  <c:v>-18.43</c:v>
                </c:pt>
                <c:pt idx="856">
                  <c:v>-19.149999999999999</c:v>
                </c:pt>
                <c:pt idx="857">
                  <c:v>-21.66</c:v>
                </c:pt>
                <c:pt idx="858">
                  <c:v>-33.409999999999997</c:v>
                </c:pt>
                <c:pt idx="859">
                  <c:v>-32.5</c:v>
                </c:pt>
                <c:pt idx="860">
                  <c:v>-33.71</c:v>
                </c:pt>
                <c:pt idx="861">
                  <c:v>-34</c:v>
                </c:pt>
                <c:pt idx="862">
                  <c:v>-32.799999999999997</c:v>
                </c:pt>
                <c:pt idx="863">
                  <c:v>-33.24</c:v>
                </c:pt>
                <c:pt idx="864">
                  <c:v>-33.729999999999997</c:v>
                </c:pt>
                <c:pt idx="865">
                  <c:v>-33.479999999999997</c:v>
                </c:pt>
                <c:pt idx="866">
                  <c:v>-32.54</c:v>
                </c:pt>
                <c:pt idx="867">
                  <c:v>-38.17</c:v>
                </c:pt>
                <c:pt idx="868">
                  <c:v>-40</c:v>
                </c:pt>
                <c:pt idx="869">
                  <c:v>-36.33</c:v>
                </c:pt>
                <c:pt idx="870">
                  <c:v>-36.82</c:v>
                </c:pt>
                <c:pt idx="871">
                  <c:v>-42.72</c:v>
                </c:pt>
                <c:pt idx="872">
                  <c:v>-48.74</c:v>
                </c:pt>
                <c:pt idx="873">
                  <c:v>-48.84</c:v>
                </c:pt>
                <c:pt idx="874">
                  <c:v>-83.1</c:v>
                </c:pt>
              </c:numCache>
            </c:numRef>
          </c:yVal>
          <c:smooth val="0"/>
          <c:extLst>
            <c:ext xmlns:c16="http://schemas.microsoft.com/office/drawing/2014/chart" uri="{C3380CC4-5D6E-409C-BE32-E72D297353CC}">
              <c16:uniqueId val="{00000001-5208-4920-88EE-D94B76ED916F}"/>
            </c:ext>
          </c:extLst>
        </c:ser>
        <c:ser>
          <c:idx val="1"/>
          <c:order val="1"/>
          <c:tx>
            <c:strRef>
              <c:f>Sheet1!$B$878</c:f>
              <c:strCache>
                <c:ptCount val="1"/>
                <c:pt idx="0">
                  <c:v>1-year</c:v>
                </c:pt>
              </c:strCache>
            </c:strRef>
          </c:tx>
          <c:spPr>
            <a:ln w="25400">
              <a:solidFill>
                <a:srgbClr val="3C8DBC"/>
              </a:solidFill>
            </a:ln>
          </c:spPr>
          <c:marker>
            <c:symbol val="none"/>
          </c:marker>
          <c:dLbls>
            <c:dLbl>
              <c:idx val="874"/>
              <c:tx>
                <c:rich>
                  <a:bodyPr/>
                  <a:lstStyle/>
                  <a:p>
                    <a:r>
                      <a:rPr lang="en-US" sz="950" b="1">
                        <a:solidFill>
                          <a:srgbClr val="3C8DBC"/>
                        </a:solidFill>
                        <a:latin typeface="Garamond"/>
                      </a:rPr>
                      <a:t>1-year −1bp</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208-4920-88EE-D94B76ED916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Sheet1!$A$879:$A$1753</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Sheet1!$B$879:$B$1753</c:f>
              <c:numCache>
                <c:formatCode>General</c:formatCode>
                <c:ptCount val="875"/>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pt idx="209">
                  <c:v>22.3</c:v>
                </c:pt>
                <c:pt idx="210">
                  <c:v>25.8</c:v>
                </c:pt>
                <c:pt idx="211">
                  <c:v>23.5</c:v>
                </c:pt>
                <c:pt idx="212">
                  <c:v>24.3</c:v>
                </c:pt>
                <c:pt idx="213">
                  <c:v>24.4</c:v>
                </c:pt>
                <c:pt idx="214">
                  <c:v>23.5</c:v>
                </c:pt>
                <c:pt idx="215">
                  <c:v>23.1</c:v>
                </c:pt>
                <c:pt idx="216">
                  <c:v>22.45</c:v>
                </c:pt>
                <c:pt idx="217">
                  <c:v>23.7</c:v>
                </c:pt>
                <c:pt idx="218">
                  <c:v>21.6</c:v>
                </c:pt>
                <c:pt idx="219">
                  <c:v>21.3</c:v>
                </c:pt>
                <c:pt idx="220">
                  <c:v>22.6</c:v>
                </c:pt>
                <c:pt idx="221">
                  <c:v>22.4</c:v>
                </c:pt>
                <c:pt idx="222">
                  <c:v>22.9</c:v>
                </c:pt>
                <c:pt idx="223">
                  <c:v>22.8</c:v>
                </c:pt>
                <c:pt idx="224">
                  <c:v>22.18</c:v>
                </c:pt>
                <c:pt idx="225">
                  <c:v>23.35</c:v>
                </c:pt>
                <c:pt idx="226">
                  <c:v>22.32</c:v>
                </c:pt>
                <c:pt idx="227">
                  <c:v>23.2</c:v>
                </c:pt>
                <c:pt idx="228">
                  <c:v>24.08</c:v>
                </c:pt>
                <c:pt idx="229">
                  <c:v>24.9</c:v>
                </c:pt>
                <c:pt idx="230">
                  <c:v>24.7</c:v>
                </c:pt>
                <c:pt idx="231">
                  <c:v>25.17</c:v>
                </c:pt>
                <c:pt idx="232">
                  <c:v>27.1</c:v>
                </c:pt>
                <c:pt idx="233">
                  <c:v>26.1</c:v>
                </c:pt>
                <c:pt idx="234">
                  <c:v>25.4</c:v>
                </c:pt>
                <c:pt idx="235">
                  <c:v>26.3</c:v>
                </c:pt>
                <c:pt idx="236">
                  <c:v>26.8</c:v>
                </c:pt>
                <c:pt idx="237">
                  <c:v>28.1</c:v>
                </c:pt>
                <c:pt idx="238">
                  <c:v>28.9</c:v>
                </c:pt>
                <c:pt idx="239">
                  <c:v>28.4</c:v>
                </c:pt>
                <c:pt idx="240">
                  <c:v>28.7</c:v>
                </c:pt>
                <c:pt idx="241">
                  <c:v>27.65</c:v>
                </c:pt>
                <c:pt idx="242">
                  <c:v>26.9</c:v>
                </c:pt>
                <c:pt idx="243">
                  <c:v>24.9</c:v>
                </c:pt>
                <c:pt idx="244">
                  <c:v>24.6</c:v>
                </c:pt>
                <c:pt idx="245">
                  <c:v>23.3</c:v>
                </c:pt>
                <c:pt idx="246">
                  <c:v>21.4</c:v>
                </c:pt>
                <c:pt idx="247">
                  <c:v>21.1</c:v>
                </c:pt>
                <c:pt idx="248">
                  <c:v>21</c:v>
                </c:pt>
                <c:pt idx="249">
                  <c:v>21.3</c:v>
                </c:pt>
                <c:pt idx="250">
                  <c:v>22.5</c:v>
                </c:pt>
                <c:pt idx="251">
                  <c:v>21.9</c:v>
                </c:pt>
                <c:pt idx="252">
                  <c:v>20.6</c:v>
                </c:pt>
                <c:pt idx="253">
                  <c:v>19.8</c:v>
                </c:pt>
                <c:pt idx="254">
                  <c:v>19.350000000000001</c:v>
                </c:pt>
                <c:pt idx="255">
                  <c:v>18.850000000000001</c:v>
                </c:pt>
                <c:pt idx="256">
                  <c:v>19.2</c:v>
                </c:pt>
                <c:pt idx="257">
                  <c:v>18.850000000000001</c:v>
                </c:pt>
                <c:pt idx="258">
                  <c:v>19.5</c:v>
                </c:pt>
                <c:pt idx="259">
                  <c:v>20.100000000000001</c:v>
                </c:pt>
                <c:pt idx="260">
                  <c:v>19.3</c:v>
                </c:pt>
                <c:pt idx="261">
                  <c:v>19.5</c:v>
                </c:pt>
                <c:pt idx="262">
                  <c:v>24.4</c:v>
                </c:pt>
                <c:pt idx="263">
                  <c:v>25.7</c:v>
                </c:pt>
                <c:pt idx="264">
                  <c:v>24.3</c:v>
                </c:pt>
                <c:pt idx="265">
                  <c:v>24.6</c:v>
                </c:pt>
                <c:pt idx="266">
                  <c:v>25.8</c:v>
                </c:pt>
                <c:pt idx="267">
                  <c:v>24.4</c:v>
                </c:pt>
                <c:pt idx="268">
                  <c:v>25.6</c:v>
                </c:pt>
                <c:pt idx="269">
                  <c:v>22.8</c:v>
                </c:pt>
                <c:pt idx="270">
                  <c:v>23.5</c:v>
                </c:pt>
                <c:pt idx="271">
                  <c:v>23.95</c:v>
                </c:pt>
                <c:pt idx="272">
                  <c:v>24.7</c:v>
                </c:pt>
                <c:pt idx="273">
                  <c:v>25.1</c:v>
                </c:pt>
                <c:pt idx="274">
                  <c:v>25.6</c:v>
                </c:pt>
                <c:pt idx="275">
                  <c:v>26.02</c:v>
                </c:pt>
                <c:pt idx="276">
                  <c:v>26.2</c:v>
                </c:pt>
                <c:pt idx="277">
                  <c:v>25.18</c:v>
                </c:pt>
                <c:pt idx="278">
                  <c:v>25.15</c:v>
                </c:pt>
                <c:pt idx="279">
                  <c:v>24.5</c:v>
                </c:pt>
                <c:pt idx="280">
                  <c:v>24.7</c:v>
                </c:pt>
                <c:pt idx="281">
                  <c:v>25.3</c:v>
                </c:pt>
                <c:pt idx="282">
                  <c:v>25.5</c:v>
                </c:pt>
                <c:pt idx="283">
                  <c:v>25.6</c:v>
                </c:pt>
                <c:pt idx="284">
                  <c:v>26</c:v>
                </c:pt>
                <c:pt idx="285">
                  <c:v>24.8</c:v>
                </c:pt>
                <c:pt idx="286">
                  <c:v>23.8</c:v>
                </c:pt>
                <c:pt idx="287">
                  <c:v>24.2</c:v>
                </c:pt>
                <c:pt idx="288">
                  <c:v>24.08</c:v>
                </c:pt>
                <c:pt idx="289">
                  <c:v>23.5</c:v>
                </c:pt>
                <c:pt idx="290">
                  <c:v>24.7</c:v>
                </c:pt>
                <c:pt idx="291">
                  <c:v>26.05</c:v>
                </c:pt>
                <c:pt idx="292">
                  <c:v>25.55</c:v>
                </c:pt>
                <c:pt idx="293">
                  <c:v>25.1</c:v>
                </c:pt>
                <c:pt idx="294">
                  <c:v>24.2</c:v>
                </c:pt>
                <c:pt idx="295">
                  <c:v>24.45</c:v>
                </c:pt>
                <c:pt idx="296">
                  <c:v>22.7</c:v>
                </c:pt>
                <c:pt idx="297">
                  <c:v>22.8</c:v>
                </c:pt>
                <c:pt idx="298">
                  <c:v>23.1</c:v>
                </c:pt>
                <c:pt idx="299">
                  <c:v>22.7</c:v>
                </c:pt>
                <c:pt idx="300">
                  <c:v>21.5</c:v>
                </c:pt>
                <c:pt idx="301">
                  <c:v>22.2</c:v>
                </c:pt>
                <c:pt idx="302">
                  <c:v>21.7</c:v>
                </c:pt>
                <c:pt idx="303">
                  <c:v>22.9</c:v>
                </c:pt>
                <c:pt idx="304">
                  <c:v>23.3</c:v>
                </c:pt>
                <c:pt idx="305">
                  <c:v>22.8</c:v>
                </c:pt>
                <c:pt idx="306">
                  <c:v>22.6</c:v>
                </c:pt>
                <c:pt idx="307">
                  <c:v>23.15</c:v>
                </c:pt>
                <c:pt idx="308">
                  <c:v>25.6</c:v>
                </c:pt>
                <c:pt idx="309">
                  <c:v>22.6</c:v>
                </c:pt>
                <c:pt idx="310">
                  <c:v>23.8</c:v>
                </c:pt>
                <c:pt idx="311">
                  <c:v>30.6</c:v>
                </c:pt>
                <c:pt idx="312">
                  <c:v>34.520000000000003</c:v>
                </c:pt>
                <c:pt idx="313">
                  <c:v>33.1</c:v>
                </c:pt>
                <c:pt idx="314">
                  <c:v>30.1</c:v>
                </c:pt>
                <c:pt idx="315">
                  <c:v>28.3</c:v>
                </c:pt>
                <c:pt idx="316">
                  <c:v>25.9</c:v>
                </c:pt>
                <c:pt idx="317">
                  <c:v>24.8</c:v>
                </c:pt>
                <c:pt idx="318">
                  <c:v>24.4</c:v>
                </c:pt>
                <c:pt idx="319">
                  <c:v>26</c:v>
                </c:pt>
                <c:pt idx="320">
                  <c:v>23.5</c:v>
                </c:pt>
                <c:pt idx="321">
                  <c:v>25.3</c:v>
                </c:pt>
                <c:pt idx="322">
                  <c:v>28</c:v>
                </c:pt>
                <c:pt idx="323">
                  <c:v>27.1</c:v>
                </c:pt>
                <c:pt idx="324">
                  <c:v>28.2</c:v>
                </c:pt>
                <c:pt idx="325">
                  <c:v>27.4</c:v>
                </c:pt>
                <c:pt idx="326">
                  <c:v>27.93</c:v>
                </c:pt>
                <c:pt idx="327">
                  <c:v>28.7</c:v>
                </c:pt>
                <c:pt idx="328">
                  <c:v>31.8</c:v>
                </c:pt>
                <c:pt idx="329">
                  <c:v>31</c:v>
                </c:pt>
                <c:pt idx="330">
                  <c:v>33.5</c:v>
                </c:pt>
                <c:pt idx="331">
                  <c:v>32.299999999999997</c:v>
                </c:pt>
                <c:pt idx="332">
                  <c:v>34.020000000000003</c:v>
                </c:pt>
                <c:pt idx="333">
                  <c:v>34.1</c:v>
                </c:pt>
                <c:pt idx="334">
                  <c:v>33.700000000000003</c:v>
                </c:pt>
                <c:pt idx="335">
                  <c:v>33.799999999999997</c:v>
                </c:pt>
                <c:pt idx="336">
                  <c:v>33.9</c:v>
                </c:pt>
                <c:pt idx="337">
                  <c:v>32.729999999999997</c:v>
                </c:pt>
                <c:pt idx="338">
                  <c:v>35.200000000000003</c:v>
                </c:pt>
                <c:pt idx="339">
                  <c:v>35</c:v>
                </c:pt>
                <c:pt idx="340">
                  <c:v>35.1</c:v>
                </c:pt>
                <c:pt idx="341">
                  <c:v>35.9</c:v>
                </c:pt>
                <c:pt idx="342">
                  <c:v>35.93</c:v>
                </c:pt>
                <c:pt idx="343">
                  <c:v>37.1</c:v>
                </c:pt>
                <c:pt idx="344">
                  <c:v>37.200000000000003</c:v>
                </c:pt>
                <c:pt idx="345">
                  <c:v>37.65</c:v>
                </c:pt>
                <c:pt idx="346">
                  <c:v>39.200000000000003</c:v>
                </c:pt>
                <c:pt idx="347">
                  <c:v>38.9</c:v>
                </c:pt>
                <c:pt idx="348">
                  <c:v>37.9</c:v>
                </c:pt>
                <c:pt idx="349">
                  <c:v>36</c:v>
                </c:pt>
                <c:pt idx="350">
                  <c:v>36.4</c:v>
                </c:pt>
                <c:pt idx="351">
                  <c:v>37.1</c:v>
                </c:pt>
                <c:pt idx="352">
                  <c:v>43.5</c:v>
                </c:pt>
                <c:pt idx="353">
                  <c:v>42.6</c:v>
                </c:pt>
                <c:pt idx="354">
                  <c:v>41.7</c:v>
                </c:pt>
                <c:pt idx="355">
                  <c:v>42.6</c:v>
                </c:pt>
                <c:pt idx="356">
                  <c:v>44.3</c:v>
                </c:pt>
                <c:pt idx="357">
                  <c:v>47.25</c:v>
                </c:pt>
                <c:pt idx="358">
                  <c:v>50.6</c:v>
                </c:pt>
                <c:pt idx="359">
                  <c:v>44.9</c:v>
                </c:pt>
                <c:pt idx="360">
                  <c:v>47.7</c:v>
                </c:pt>
                <c:pt idx="361">
                  <c:v>47.8</c:v>
                </c:pt>
                <c:pt idx="362">
                  <c:v>47.2</c:v>
                </c:pt>
                <c:pt idx="363">
                  <c:v>58.8</c:v>
                </c:pt>
                <c:pt idx="364">
                  <c:v>59.5</c:v>
                </c:pt>
                <c:pt idx="365">
                  <c:v>54.2</c:v>
                </c:pt>
                <c:pt idx="366">
                  <c:v>42.8</c:v>
                </c:pt>
                <c:pt idx="367">
                  <c:v>34.9</c:v>
                </c:pt>
                <c:pt idx="368">
                  <c:v>30.3</c:v>
                </c:pt>
                <c:pt idx="369">
                  <c:v>30.5</c:v>
                </c:pt>
                <c:pt idx="370">
                  <c:v>34.299999999999997</c:v>
                </c:pt>
                <c:pt idx="371">
                  <c:v>39</c:v>
                </c:pt>
                <c:pt idx="372">
                  <c:v>37.700000000000003</c:v>
                </c:pt>
                <c:pt idx="373">
                  <c:v>33.4</c:v>
                </c:pt>
                <c:pt idx="374">
                  <c:v>35.049999999999997</c:v>
                </c:pt>
                <c:pt idx="375">
                  <c:v>42.5</c:v>
                </c:pt>
                <c:pt idx="376">
                  <c:v>37.4</c:v>
                </c:pt>
                <c:pt idx="377">
                  <c:v>35.93</c:v>
                </c:pt>
                <c:pt idx="378">
                  <c:v>30.28</c:v>
                </c:pt>
                <c:pt idx="379">
                  <c:v>31.8</c:v>
                </c:pt>
                <c:pt idx="380">
                  <c:v>26.35</c:v>
                </c:pt>
                <c:pt idx="381">
                  <c:v>26.8</c:v>
                </c:pt>
                <c:pt idx="382">
                  <c:v>31.5</c:v>
                </c:pt>
                <c:pt idx="383">
                  <c:v>33.4</c:v>
                </c:pt>
                <c:pt idx="384">
                  <c:v>31.8</c:v>
                </c:pt>
                <c:pt idx="385">
                  <c:v>31.8</c:v>
                </c:pt>
                <c:pt idx="386">
                  <c:v>32.200000000000003</c:v>
                </c:pt>
                <c:pt idx="387">
                  <c:v>32.630000000000003</c:v>
                </c:pt>
                <c:pt idx="388">
                  <c:v>35.659999999999997</c:v>
                </c:pt>
                <c:pt idx="389">
                  <c:v>34.200000000000003</c:v>
                </c:pt>
                <c:pt idx="390">
                  <c:v>36</c:v>
                </c:pt>
                <c:pt idx="391">
                  <c:v>33.049999999999997</c:v>
                </c:pt>
                <c:pt idx="392">
                  <c:v>31.86</c:v>
                </c:pt>
                <c:pt idx="393">
                  <c:v>31.5</c:v>
                </c:pt>
                <c:pt idx="394">
                  <c:v>27.8</c:v>
                </c:pt>
                <c:pt idx="395">
                  <c:v>30.55</c:v>
                </c:pt>
                <c:pt idx="396">
                  <c:v>31.4</c:v>
                </c:pt>
                <c:pt idx="397">
                  <c:v>29.7</c:v>
                </c:pt>
                <c:pt idx="398">
                  <c:v>31.6</c:v>
                </c:pt>
                <c:pt idx="399">
                  <c:v>30.5</c:v>
                </c:pt>
                <c:pt idx="400">
                  <c:v>31.5</c:v>
                </c:pt>
                <c:pt idx="401">
                  <c:v>31.8</c:v>
                </c:pt>
                <c:pt idx="402">
                  <c:v>32.18</c:v>
                </c:pt>
                <c:pt idx="403">
                  <c:v>32.700000000000003</c:v>
                </c:pt>
                <c:pt idx="404">
                  <c:v>32.85</c:v>
                </c:pt>
                <c:pt idx="405">
                  <c:v>33.5</c:v>
                </c:pt>
                <c:pt idx="406">
                  <c:v>35.1</c:v>
                </c:pt>
                <c:pt idx="407">
                  <c:v>32.840000000000003</c:v>
                </c:pt>
                <c:pt idx="408">
                  <c:v>33.299999999999997</c:v>
                </c:pt>
                <c:pt idx="409">
                  <c:v>35.299999999999997</c:v>
                </c:pt>
                <c:pt idx="410">
                  <c:v>38.1</c:v>
                </c:pt>
                <c:pt idx="411">
                  <c:v>37.630000000000003</c:v>
                </c:pt>
                <c:pt idx="412">
                  <c:v>36.700000000000003</c:v>
                </c:pt>
                <c:pt idx="413">
                  <c:v>38.520000000000003</c:v>
                </c:pt>
                <c:pt idx="414">
                  <c:v>38.18</c:v>
                </c:pt>
                <c:pt idx="415">
                  <c:v>39.950000000000003</c:v>
                </c:pt>
                <c:pt idx="416">
                  <c:v>40.799999999999997</c:v>
                </c:pt>
                <c:pt idx="417">
                  <c:v>38.28</c:v>
                </c:pt>
                <c:pt idx="418">
                  <c:v>33.450000000000003</c:v>
                </c:pt>
                <c:pt idx="419">
                  <c:v>27.55</c:v>
                </c:pt>
                <c:pt idx="420">
                  <c:v>29.2</c:v>
                </c:pt>
                <c:pt idx="421">
                  <c:v>31.1</c:v>
                </c:pt>
                <c:pt idx="422">
                  <c:v>30.55</c:v>
                </c:pt>
                <c:pt idx="423">
                  <c:v>30.1</c:v>
                </c:pt>
                <c:pt idx="424">
                  <c:v>31.12</c:v>
                </c:pt>
                <c:pt idx="425">
                  <c:v>31.55</c:v>
                </c:pt>
                <c:pt idx="426">
                  <c:v>33.03</c:v>
                </c:pt>
                <c:pt idx="427">
                  <c:v>32.4</c:v>
                </c:pt>
                <c:pt idx="428">
                  <c:v>32</c:v>
                </c:pt>
                <c:pt idx="429">
                  <c:v>30.9</c:v>
                </c:pt>
                <c:pt idx="430">
                  <c:v>31.16</c:v>
                </c:pt>
                <c:pt idx="431">
                  <c:v>32.1</c:v>
                </c:pt>
                <c:pt idx="432">
                  <c:v>29.45</c:v>
                </c:pt>
                <c:pt idx="433">
                  <c:v>29.05</c:v>
                </c:pt>
                <c:pt idx="434">
                  <c:v>30</c:v>
                </c:pt>
                <c:pt idx="435">
                  <c:v>30.35</c:v>
                </c:pt>
                <c:pt idx="436">
                  <c:v>31</c:v>
                </c:pt>
                <c:pt idx="437">
                  <c:v>30.47</c:v>
                </c:pt>
                <c:pt idx="438">
                  <c:v>33.79</c:v>
                </c:pt>
                <c:pt idx="439">
                  <c:v>30.7</c:v>
                </c:pt>
                <c:pt idx="440">
                  <c:v>35.4</c:v>
                </c:pt>
                <c:pt idx="441">
                  <c:v>34.1</c:v>
                </c:pt>
                <c:pt idx="442">
                  <c:v>36.01</c:v>
                </c:pt>
                <c:pt idx="443">
                  <c:v>30.72</c:v>
                </c:pt>
                <c:pt idx="444">
                  <c:v>31.27</c:v>
                </c:pt>
                <c:pt idx="445">
                  <c:v>29.9</c:v>
                </c:pt>
                <c:pt idx="446">
                  <c:v>30.05</c:v>
                </c:pt>
                <c:pt idx="447">
                  <c:v>29.25</c:v>
                </c:pt>
                <c:pt idx="448">
                  <c:v>30.1</c:v>
                </c:pt>
                <c:pt idx="449">
                  <c:v>31.7</c:v>
                </c:pt>
                <c:pt idx="450">
                  <c:v>31.34</c:v>
                </c:pt>
                <c:pt idx="451">
                  <c:v>28.91</c:v>
                </c:pt>
                <c:pt idx="452">
                  <c:v>30.32</c:v>
                </c:pt>
                <c:pt idx="453">
                  <c:v>30.15</c:v>
                </c:pt>
                <c:pt idx="454">
                  <c:v>30.44</c:v>
                </c:pt>
                <c:pt idx="455">
                  <c:v>29.5</c:v>
                </c:pt>
                <c:pt idx="456">
                  <c:v>29.77</c:v>
                </c:pt>
                <c:pt idx="457">
                  <c:v>31.61</c:v>
                </c:pt>
                <c:pt idx="458">
                  <c:v>37.799999999999997</c:v>
                </c:pt>
                <c:pt idx="459">
                  <c:v>40.08</c:v>
                </c:pt>
                <c:pt idx="460">
                  <c:v>38.6</c:v>
                </c:pt>
                <c:pt idx="461">
                  <c:v>38.06</c:v>
                </c:pt>
                <c:pt idx="462">
                  <c:v>36.700000000000003</c:v>
                </c:pt>
                <c:pt idx="463">
                  <c:v>33.799999999999997</c:v>
                </c:pt>
                <c:pt idx="464">
                  <c:v>32.700000000000003</c:v>
                </c:pt>
                <c:pt idx="465">
                  <c:v>33.5</c:v>
                </c:pt>
                <c:pt idx="466">
                  <c:v>35.909999999999997</c:v>
                </c:pt>
                <c:pt idx="467">
                  <c:v>40.340000000000003</c:v>
                </c:pt>
                <c:pt idx="468">
                  <c:v>42.35</c:v>
                </c:pt>
                <c:pt idx="469">
                  <c:v>39.299999999999997</c:v>
                </c:pt>
                <c:pt idx="470">
                  <c:v>34.270000000000003</c:v>
                </c:pt>
                <c:pt idx="471">
                  <c:v>33.82</c:v>
                </c:pt>
                <c:pt idx="472">
                  <c:v>32.74</c:v>
                </c:pt>
                <c:pt idx="473">
                  <c:v>31.5</c:v>
                </c:pt>
                <c:pt idx="474">
                  <c:v>31.4</c:v>
                </c:pt>
                <c:pt idx="475">
                  <c:v>28.1</c:v>
                </c:pt>
                <c:pt idx="476">
                  <c:v>28.35</c:v>
                </c:pt>
                <c:pt idx="477">
                  <c:v>29.3</c:v>
                </c:pt>
                <c:pt idx="478">
                  <c:v>29.9</c:v>
                </c:pt>
                <c:pt idx="479">
                  <c:v>28.55</c:v>
                </c:pt>
                <c:pt idx="480">
                  <c:v>29.35</c:v>
                </c:pt>
                <c:pt idx="481">
                  <c:v>30.65</c:v>
                </c:pt>
                <c:pt idx="482">
                  <c:v>30.83</c:v>
                </c:pt>
                <c:pt idx="483">
                  <c:v>28.2</c:v>
                </c:pt>
                <c:pt idx="484">
                  <c:v>29.05</c:v>
                </c:pt>
                <c:pt idx="485">
                  <c:v>28.8</c:v>
                </c:pt>
                <c:pt idx="486">
                  <c:v>30.81</c:v>
                </c:pt>
                <c:pt idx="487">
                  <c:v>30.9</c:v>
                </c:pt>
                <c:pt idx="488">
                  <c:v>33.549999999999997</c:v>
                </c:pt>
                <c:pt idx="489">
                  <c:v>30.13</c:v>
                </c:pt>
                <c:pt idx="490">
                  <c:v>29.64</c:v>
                </c:pt>
                <c:pt idx="491">
                  <c:v>29.56</c:v>
                </c:pt>
                <c:pt idx="492">
                  <c:v>27.65</c:v>
                </c:pt>
                <c:pt idx="493">
                  <c:v>26.95</c:v>
                </c:pt>
                <c:pt idx="494">
                  <c:v>24.12</c:v>
                </c:pt>
                <c:pt idx="495">
                  <c:v>25.2</c:v>
                </c:pt>
                <c:pt idx="496">
                  <c:v>24.25</c:v>
                </c:pt>
                <c:pt idx="497">
                  <c:v>23.03</c:v>
                </c:pt>
                <c:pt idx="498">
                  <c:v>23.53</c:v>
                </c:pt>
                <c:pt idx="499">
                  <c:v>23.4</c:v>
                </c:pt>
                <c:pt idx="500">
                  <c:v>21.41</c:v>
                </c:pt>
                <c:pt idx="501">
                  <c:v>19.7</c:v>
                </c:pt>
                <c:pt idx="502">
                  <c:v>22.8</c:v>
                </c:pt>
                <c:pt idx="503">
                  <c:v>24.3</c:v>
                </c:pt>
                <c:pt idx="504">
                  <c:v>24.6</c:v>
                </c:pt>
                <c:pt idx="505">
                  <c:v>24.45</c:v>
                </c:pt>
                <c:pt idx="506">
                  <c:v>22.6</c:v>
                </c:pt>
                <c:pt idx="507">
                  <c:v>20.75</c:v>
                </c:pt>
                <c:pt idx="508">
                  <c:v>20.05</c:v>
                </c:pt>
                <c:pt idx="509">
                  <c:v>19.149999999999999</c:v>
                </c:pt>
                <c:pt idx="510">
                  <c:v>21.15</c:v>
                </c:pt>
                <c:pt idx="511">
                  <c:v>22.27</c:v>
                </c:pt>
                <c:pt idx="512">
                  <c:v>26.8</c:v>
                </c:pt>
                <c:pt idx="513">
                  <c:v>25.6</c:v>
                </c:pt>
                <c:pt idx="514">
                  <c:v>26</c:v>
                </c:pt>
                <c:pt idx="515">
                  <c:v>24.64</c:v>
                </c:pt>
                <c:pt idx="516">
                  <c:v>22.4</c:v>
                </c:pt>
                <c:pt idx="517">
                  <c:v>22.75</c:v>
                </c:pt>
                <c:pt idx="518">
                  <c:v>25.95</c:v>
                </c:pt>
                <c:pt idx="519">
                  <c:v>25.22</c:v>
                </c:pt>
                <c:pt idx="520">
                  <c:v>28.25</c:v>
                </c:pt>
                <c:pt idx="521">
                  <c:v>27.73</c:v>
                </c:pt>
                <c:pt idx="522">
                  <c:v>28.39</c:v>
                </c:pt>
                <c:pt idx="523">
                  <c:v>25.2</c:v>
                </c:pt>
                <c:pt idx="524">
                  <c:v>24.55</c:v>
                </c:pt>
                <c:pt idx="525">
                  <c:v>23.6</c:v>
                </c:pt>
                <c:pt idx="526">
                  <c:v>22.29</c:v>
                </c:pt>
                <c:pt idx="527">
                  <c:v>22.4</c:v>
                </c:pt>
                <c:pt idx="528">
                  <c:v>21.05</c:v>
                </c:pt>
                <c:pt idx="529">
                  <c:v>20.440000000000001</c:v>
                </c:pt>
                <c:pt idx="530">
                  <c:v>19.899999999999999</c:v>
                </c:pt>
                <c:pt idx="531">
                  <c:v>21.95</c:v>
                </c:pt>
                <c:pt idx="532">
                  <c:v>28.95</c:v>
                </c:pt>
                <c:pt idx="533">
                  <c:v>23.33</c:v>
                </c:pt>
                <c:pt idx="534">
                  <c:v>19.43</c:v>
                </c:pt>
                <c:pt idx="535">
                  <c:v>19.32</c:v>
                </c:pt>
                <c:pt idx="536">
                  <c:v>22.3</c:v>
                </c:pt>
                <c:pt idx="537">
                  <c:v>17.05</c:v>
                </c:pt>
                <c:pt idx="538">
                  <c:v>21.65</c:v>
                </c:pt>
                <c:pt idx="539">
                  <c:v>20.6</c:v>
                </c:pt>
                <c:pt idx="540">
                  <c:v>23.91</c:v>
                </c:pt>
                <c:pt idx="541">
                  <c:v>26.61</c:v>
                </c:pt>
                <c:pt idx="542">
                  <c:v>29.6</c:v>
                </c:pt>
                <c:pt idx="543">
                  <c:v>26.4</c:v>
                </c:pt>
                <c:pt idx="544">
                  <c:v>22.05</c:v>
                </c:pt>
                <c:pt idx="545">
                  <c:v>20.5</c:v>
                </c:pt>
                <c:pt idx="546">
                  <c:v>21.75</c:v>
                </c:pt>
                <c:pt idx="547">
                  <c:v>18.3</c:v>
                </c:pt>
                <c:pt idx="548">
                  <c:v>17.8</c:v>
                </c:pt>
                <c:pt idx="549">
                  <c:v>19.55</c:v>
                </c:pt>
                <c:pt idx="550">
                  <c:v>19.7</c:v>
                </c:pt>
                <c:pt idx="551">
                  <c:v>17.579999999999998</c:v>
                </c:pt>
                <c:pt idx="552">
                  <c:v>14.4</c:v>
                </c:pt>
                <c:pt idx="553">
                  <c:v>14.16</c:v>
                </c:pt>
                <c:pt idx="554">
                  <c:v>13.76</c:v>
                </c:pt>
                <c:pt idx="555">
                  <c:v>12.39</c:v>
                </c:pt>
                <c:pt idx="556">
                  <c:v>11.76</c:v>
                </c:pt>
                <c:pt idx="557">
                  <c:v>10.44</c:v>
                </c:pt>
                <c:pt idx="558">
                  <c:v>10.55</c:v>
                </c:pt>
                <c:pt idx="559">
                  <c:v>9.6</c:v>
                </c:pt>
                <c:pt idx="560">
                  <c:v>11.59</c:v>
                </c:pt>
                <c:pt idx="561">
                  <c:v>11.45</c:v>
                </c:pt>
                <c:pt idx="562">
                  <c:v>12.55</c:v>
                </c:pt>
                <c:pt idx="563">
                  <c:v>12.3</c:v>
                </c:pt>
                <c:pt idx="564">
                  <c:v>13.21</c:v>
                </c:pt>
                <c:pt idx="565">
                  <c:v>11.12</c:v>
                </c:pt>
                <c:pt idx="566">
                  <c:v>10.9</c:v>
                </c:pt>
                <c:pt idx="567">
                  <c:v>10.62</c:v>
                </c:pt>
                <c:pt idx="568">
                  <c:v>9.25</c:v>
                </c:pt>
                <c:pt idx="569">
                  <c:v>11.69</c:v>
                </c:pt>
                <c:pt idx="570">
                  <c:v>15.95</c:v>
                </c:pt>
                <c:pt idx="571">
                  <c:v>14.94</c:v>
                </c:pt>
                <c:pt idx="572">
                  <c:v>14.48</c:v>
                </c:pt>
                <c:pt idx="573">
                  <c:v>14.71</c:v>
                </c:pt>
                <c:pt idx="574">
                  <c:v>14</c:v>
                </c:pt>
                <c:pt idx="575">
                  <c:v>8.92</c:v>
                </c:pt>
                <c:pt idx="576">
                  <c:v>8.33</c:v>
                </c:pt>
                <c:pt idx="577">
                  <c:v>8.6</c:v>
                </c:pt>
                <c:pt idx="578">
                  <c:v>8.6999999999999993</c:v>
                </c:pt>
                <c:pt idx="579">
                  <c:v>11.93</c:v>
                </c:pt>
                <c:pt idx="580">
                  <c:v>11.44</c:v>
                </c:pt>
                <c:pt idx="581">
                  <c:v>10.18</c:v>
                </c:pt>
                <c:pt idx="582">
                  <c:v>9.8000000000000007</c:v>
                </c:pt>
                <c:pt idx="583">
                  <c:v>9.3800000000000008</c:v>
                </c:pt>
                <c:pt idx="584">
                  <c:v>8.92</c:v>
                </c:pt>
                <c:pt idx="585">
                  <c:v>9.6999999999999993</c:v>
                </c:pt>
                <c:pt idx="586">
                  <c:v>10.95</c:v>
                </c:pt>
                <c:pt idx="587">
                  <c:v>11.19</c:v>
                </c:pt>
                <c:pt idx="588">
                  <c:v>9.92</c:v>
                </c:pt>
                <c:pt idx="589">
                  <c:v>11.1</c:v>
                </c:pt>
                <c:pt idx="590">
                  <c:v>10.8</c:v>
                </c:pt>
                <c:pt idx="591">
                  <c:v>10.42</c:v>
                </c:pt>
                <c:pt idx="592">
                  <c:v>11.69</c:v>
                </c:pt>
                <c:pt idx="593">
                  <c:v>12.1</c:v>
                </c:pt>
                <c:pt idx="594">
                  <c:v>12.71</c:v>
                </c:pt>
                <c:pt idx="595">
                  <c:v>12.71</c:v>
                </c:pt>
                <c:pt idx="596">
                  <c:v>12.92</c:v>
                </c:pt>
                <c:pt idx="597">
                  <c:v>11.95</c:v>
                </c:pt>
                <c:pt idx="598">
                  <c:v>13.15</c:v>
                </c:pt>
                <c:pt idx="599">
                  <c:v>13.83</c:v>
                </c:pt>
                <c:pt idx="600">
                  <c:v>12.81</c:v>
                </c:pt>
                <c:pt idx="601">
                  <c:v>12.84</c:v>
                </c:pt>
                <c:pt idx="602">
                  <c:v>14.3</c:v>
                </c:pt>
                <c:pt idx="603">
                  <c:v>12.36</c:v>
                </c:pt>
                <c:pt idx="604">
                  <c:v>11.94</c:v>
                </c:pt>
                <c:pt idx="605">
                  <c:v>11.83</c:v>
                </c:pt>
                <c:pt idx="606">
                  <c:v>12.11</c:v>
                </c:pt>
                <c:pt idx="607">
                  <c:v>12.45</c:v>
                </c:pt>
                <c:pt idx="608">
                  <c:v>12.6</c:v>
                </c:pt>
                <c:pt idx="609">
                  <c:v>13.07</c:v>
                </c:pt>
                <c:pt idx="610">
                  <c:v>14.22</c:v>
                </c:pt>
                <c:pt idx="611">
                  <c:v>13.91</c:v>
                </c:pt>
                <c:pt idx="612">
                  <c:v>14.72</c:v>
                </c:pt>
                <c:pt idx="613">
                  <c:v>14.16</c:v>
                </c:pt>
                <c:pt idx="614">
                  <c:v>15.71</c:v>
                </c:pt>
                <c:pt idx="615">
                  <c:v>14</c:v>
                </c:pt>
                <c:pt idx="616">
                  <c:v>14.47</c:v>
                </c:pt>
                <c:pt idx="617">
                  <c:v>19.45</c:v>
                </c:pt>
                <c:pt idx="618">
                  <c:v>18.14</c:v>
                </c:pt>
                <c:pt idx="619">
                  <c:v>26.28</c:v>
                </c:pt>
                <c:pt idx="620">
                  <c:v>25.3</c:v>
                </c:pt>
                <c:pt idx="621">
                  <c:v>25.2</c:v>
                </c:pt>
                <c:pt idx="622">
                  <c:v>32.43</c:v>
                </c:pt>
                <c:pt idx="623">
                  <c:v>18.23</c:v>
                </c:pt>
                <c:pt idx="624">
                  <c:v>16.59</c:v>
                </c:pt>
                <c:pt idx="625">
                  <c:v>14.65</c:v>
                </c:pt>
                <c:pt idx="626">
                  <c:v>17.2</c:v>
                </c:pt>
                <c:pt idx="627">
                  <c:v>16.600000000000001</c:v>
                </c:pt>
                <c:pt idx="628">
                  <c:v>17.27</c:v>
                </c:pt>
                <c:pt idx="629">
                  <c:v>19.32</c:v>
                </c:pt>
                <c:pt idx="630">
                  <c:v>22.13</c:v>
                </c:pt>
                <c:pt idx="631">
                  <c:v>23.83</c:v>
                </c:pt>
                <c:pt idx="632">
                  <c:v>28.39</c:v>
                </c:pt>
                <c:pt idx="633">
                  <c:v>28</c:v>
                </c:pt>
                <c:pt idx="634">
                  <c:v>29.37</c:v>
                </c:pt>
                <c:pt idx="635">
                  <c:v>32.770000000000003</c:v>
                </c:pt>
                <c:pt idx="636">
                  <c:v>37.799999999999997</c:v>
                </c:pt>
                <c:pt idx="637">
                  <c:v>43.17</c:v>
                </c:pt>
                <c:pt idx="638">
                  <c:v>42.43</c:v>
                </c:pt>
                <c:pt idx="639">
                  <c:v>33.42</c:v>
                </c:pt>
                <c:pt idx="640">
                  <c:v>33.200000000000003</c:v>
                </c:pt>
                <c:pt idx="641">
                  <c:v>31.9</c:v>
                </c:pt>
                <c:pt idx="642">
                  <c:v>41.27</c:v>
                </c:pt>
                <c:pt idx="643">
                  <c:v>41</c:v>
                </c:pt>
                <c:pt idx="644">
                  <c:v>42.88</c:v>
                </c:pt>
                <c:pt idx="645">
                  <c:v>37.78</c:v>
                </c:pt>
                <c:pt idx="646">
                  <c:v>42.66</c:v>
                </c:pt>
                <c:pt idx="647">
                  <c:v>35.33</c:v>
                </c:pt>
                <c:pt idx="648">
                  <c:v>41.27</c:v>
                </c:pt>
                <c:pt idx="649">
                  <c:v>48.3</c:v>
                </c:pt>
                <c:pt idx="650">
                  <c:v>56.14</c:v>
                </c:pt>
                <c:pt idx="651">
                  <c:v>34.81</c:v>
                </c:pt>
                <c:pt idx="652">
                  <c:v>31.61</c:v>
                </c:pt>
                <c:pt idx="653">
                  <c:v>44.01</c:v>
                </c:pt>
                <c:pt idx="654">
                  <c:v>67.39</c:v>
                </c:pt>
                <c:pt idx="655">
                  <c:v>66.150000000000006</c:v>
                </c:pt>
                <c:pt idx="656">
                  <c:v>53</c:v>
                </c:pt>
                <c:pt idx="657">
                  <c:v>57.27</c:v>
                </c:pt>
                <c:pt idx="658">
                  <c:v>61.9</c:v>
                </c:pt>
                <c:pt idx="659">
                  <c:v>62.83</c:v>
                </c:pt>
                <c:pt idx="660">
                  <c:v>94</c:v>
                </c:pt>
                <c:pt idx="661">
                  <c:v>113.27</c:v>
                </c:pt>
                <c:pt idx="662">
                  <c:v>81.23</c:v>
                </c:pt>
                <c:pt idx="663">
                  <c:v>53.73</c:v>
                </c:pt>
                <c:pt idx="664">
                  <c:v>68.7</c:v>
                </c:pt>
                <c:pt idx="665">
                  <c:v>60.3</c:v>
                </c:pt>
                <c:pt idx="666">
                  <c:v>74.540000000000006</c:v>
                </c:pt>
                <c:pt idx="667">
                  <c:v>54.5</c:v>
                </c:pt>
                <c:pt idx="668">
                  <c:v>55.6</c:v>
                </c:pt>
                <c:pt idx="669">
                  <c:v>45.11</c:v>
                </c:pt>
                <c:pt idx="670">
                  <c:v>57.52</c:v>
                </c:pt>
                <c:pt idx="671">
                  <c:v>41.17</c:v>
                </c:pt>
                <c:pt idx="672">
                  <c:v>45.43</c:v>
                </c:pt>
                <c:pt idx="673">
                  <c:v>47.42</c:v>
                </c:pt>
                <c:pt idx="674">
                  <c:v>49.62</c:v>
                </c:pt>
                <c:pt idx="675">
                  <c:v>40.51</c:v>
                </c:pt>
                <c:pt idx="676">
                  <c:v>44.09</c:v>
                </c:pt>
                <c:pt idx="677">
                  <c:v>61.4</c:v>
                </c:pt>
                <c:pt idx="678">
                  <c:v>65.459999999999994</c:v>
                </c:pt>
                <c:pt idx="679">
                  <c:v>45.71</c:v>
                </c:pt>
                <c:pt idx="680">
                  <c:v>46.46</c:v>
                </c:pt>
                <c:pt idx="681">
                  <c:v>43.64</c:v>
                </c:pt>
                <c:pt idx="682">
                  <c:v>48.55</c:v>
                </c:pt>
                <c:pt idx="683">
                  <c:v>51.46</c:v>
                </c:pt>
                <c:pt idx="684">
                  <c:v>44.7</c:v>
                </c:pt>
                <c:pt idx="685">
                  <c:v>47.67</c:v>
                </c:pt>
                <c:pt idx="686">
                  <c:v>47.7</c:v>
                </c:pt>
                <c:pt idx="687">
                  <c:v>48.89</c:v>
                </c:pt>
                <c:pt idx="688">
                  <c:v>45.46</c:v>
                </c:pt>
                <c:pt idx="689">
                  <c:v>44.76</c:v>
                </c:pt>
                <c:pt idx="690">
                  <c:v>53.8</c:v>
                </c:pt>
                <c:pt idx="691">
                  <c:v>46.08</c:v>
                </c:pt>
                <c:pt idx="692">
                  <c:v>39.9</c:v>
                </c:pt>
                <c:pt idx="693">
                  <c:v>42.8</c:v>
                </c:pt>
                <c:pt idx="694">
                  <c:v>50.5</c:v>
                </c:pt>
                <c:pt idx="695">
                  <c:v>55.9</c:v>
                </c:pt>
                <c:pt idx="696">
                  <c:v>53.4</c:v>
                </c:pt>
                <c:pt idx="697">
                  <c:v>51.66</c:v>
                </c:pt>
                <c:pt idx="698">
                  <c:v>55.8</c:v>
                </c:pt>
                <c:pt idx="699">
                  <c:v>52.1</c:v>
                </c:pt>
                <c:pt idx="700">
                  <c:v>48.24</c:v>
                </c:pt>
                <c:pt idx="701">
                  <c:v>44.33</c:v>
                </c:pt>
                <c:pt idx="702">
                  <c:v>42.01</c:v>
                </c:pt>
                <c:pt idx="703">
                  <c:v>43.71</c:v>
                </c:pt>
                <c:pt idx="704">
                  <c:v>42.6</c:v>
                </c:pt>
                <c:pt idx="705">
                  <c:v>39.93</c:v>
                </c:pt>
                <c:pt idx="706">
                  <c:v>36.200000000000003</c:v>
                </c:pt>
                <c:pt idx="707">
                  <c:v>39.700000000000003</c:v>
                </c:pt>
                <c:pt idx="708">
                  <c:v>40.06</c:v>
                </c:pt>
                <c:pt idx="709">
                  <c:v>37.32</c:v>
                </c:pt>
                <c:pt idx="710">
                  <c:v>41.78</c:v>
                </c:pt>
                <c:pt idx="711">
                  <c:v>40.85</c:v>
                </c:pt>
                <c:pt idx="712">
                  <c:v>40.130000000000003</c:v>
                </c:pt>
                <c:pt idx="713">
                  <c:v>36.409999999999997</c:v>
                </c:pt>
                <c:pt idx="714">
                  <c:v>36.549999999999997</c:v>
                </c:pt>
                <c:pt idx="715">
                  <c:v>36.200000000000003</c:v>
                </c:pt>
                <c:pt idx="716">
                  <c:v>34.869999999999997</c:v>
                </c:pt>
                <c:pt idx="717">
                  <c:v>35.96</c:v>
                </c:pt>
                <c:pt idx="718">
                  <c:v>34.49</c:v>
                </c:pt>
                <c:pt idx="719">
                  <c:v>34.119999999999997</c:v>
                </c:pt>
                <c:pt idx="720">
                  <c:v>34.1</c:v>
                </c:pt>
                <c:pt idx="721">
                  <c:v>31</c:v>
                </c:pt>
                <c:pt idx="722">
                  <c:v>27.9</c:v>
                </c:pt>
                <c:pt idx="723">
                  <c:v>31.94</c:v>
                </c:pt>
                <c:pt idx="724">
                  <c:v>31.35</c:v>
                </c:pt>
                <c:pt idx="725">
                  <c:v>30.88</c:v>
                </c:pt>
                <c:pt idx="726">
                  <c:v>29.2</c:v>
                </c:pt>
                <c:pt idx="727">
                  <c:v>25.05</c:v>
                </c:pt>
                <c:pt idx="728">
                  <c:v>23.9</c:v>
                </c:pt>
                <c:pt idx="729">
                  <c:v>22.45</c:v>
                </c:pt>
                <c:pt idx="730">
                  <c:v>19.93</c:v>
                </c:pt>
                <c:pt idx="731">
                  <c:v>25</c:v>
                </c:pt>
                <c:pt idx="732">
                  <c:v>22.59</c:v>
                </c:pt>
                <c:pt idx="733">
                  <c:v>19.03</c:v>
                </c:pt>
                <c:pt idx="734">
                  <c:v>19.559999999999999</c:v>
                </c:pt>
                <c:pt idx="735">
                  <c:v>19.600000000000001</c:v>
                </c:pt>
                <c:pt idx="736">
                  <c:v>21.4</c:v>
                </c:pt>
                <c:pt idx="737">
                  <c:v>19.399999999999999</c:v>
                </c:pt>
                <c:pt idx="738">
                  <c:v>19.5</c:v>
                </c:pt>
                <c:pt idx="739">
                  <c:v>17.45</c:v>
                </c:pt>
                <c:pt idx="740">
                  <c:v>19.399999999999999</c:v>
                </c:pt>
                <c:pt idx="741">
                  <c:v>17.2</c:v>
                </c:pt>
                <c:pt idx="742">
                  <c:v>18</c:v>
                </c:pt>
                <c:pt idx="743">
                  <c:v>19.36</c:v>
                </c:pt>
                <c:pt idx="744">
                  <c:v>18</c:v>
                </c:pt>
                <c:pt idx="745">
                  <c:v>18.899999999999999</c:v>
                </c:pt>
                <c:pt idx="746">
                  <c:v>16.86</c:v>
                </c:pt>
                <c:pt idx="747">
                  <c:v>18.559999999999999</c:v>
                </c:pt>
                <c:pt idx="748">
                  <c:v>17.7</c:v>
                </c:pt>
                <c:pt idx="749">
                  <c:v>16.7</c:v>
                </c:pt>
                <c:pt idx="750">
                  <c:v>16.600000000000001</c:v>
                </c:pt>
                <c:pt idx="751">
                  <c:v>16.63</c:v>
                </c:pt>
                <c:pt idx="752">
                  <c:v>16.2</c:v>
                </c:pt>
                <c:pt idx="753">
                  <c:v>14.3</c:v>
                </c:pt>
                <c:pt idx="754">
                  <c:v>14.8</c:v>
                </c:pt>
                <c:pt idx="755">
                  <c:v>8.6999999999999993</c:v>
                </c:pt>
                <c:pt idx="756">
                  <c:v>8.77</c:v>
                </c:pt>
                <c:pt idx="757">
                  <c:v>9.1</c:v>
                </c:pt>
                <c:pt idx="758">
                  <c:v>9.8000000000000007</c:v>
                </c:pt>
                <c:pt idx="759">
                  <c:v>10.5</c:v>
                </c:pt>
                <c:pt idx="760">
                  <c:v>9.74</c:v>
                </c:pt>
                <c:pt idx="761">
                  <c:v>13.46</c:v>
                </c:pt>
                <c:pt idx="762">
                  <c:v>4.8</c:v>
                </c:pt>
                <c:pt idx="763">
                  <c:v>4.2300000000000004</c:v>
                </c:pt>
                <c:pt idx="764">
                  <c:v>8.02</c:v>
                </c:pt>
                <c:pt idx="765">
                  <c:v>3.78</c:v>
                </c:pt>
                <c:pt idx="766">
                  <c:v>5.0999999999999996</c:v>
                </c:pt>
                <c:pt idx="767">
                  <c:v>2.27</c:v>
                </c:pt>
                <c:pt idx="768">
                  <c:v>-2.76</c:v>
                </c:pt>
                <c:pt idx="769">
                  <c:v>1.21</c:v>
                </c:pt>
                <c:pt idx="770">
                  <c:v>-1.75</c:v>
                </c:pt>
                <c:pt idx="771">
                  <c:v>0.8</c:v>
                </c:pt>
                <c:pt idx="772">
                  <c:v>7.1</c:v>
                </c:pt>
                <c:pt idx="773">
                  <c:v>0.45</c:v>
                </c:pt>
                <c:pt idx="774">
                  <c:v>-2.11</c:v>
                </c:pt>
                <c:pt idx="775">
                  <c:v>-7.79</c:v>
                </c:pt>
                <c:pt idx="776">
                  <c:v>-5.4</c:v>
                </c:pt>
                <c:pt idx="777">
                  <c:v>4.0999999999999996</c:v>
                </c:pt>
                <c:pt idx="778">
                  <c:v>-2.44</c:v>
                </c:pt>
                <c:pt idx="779">
                  <c:v>-2.8</c:v>
                </c:pt>
                <c:pt idx="780">
                  <c:v>-1.8</c:v>
                </c:pt>
                <c:pt idx="781">
                  <c:v>-0.1</c:v>
                </c:pt>
                <c:pt idx="782">
                  <c:v>1.1000000000000001</c:v>
                </c:pt>
                <c:pt idx="783">
                  <c:v>-2.2999999999999998</c:v>
                </c:pt>
                <c:pt idx="784">
                  <c:v>1.35</c:v>
                </c:pt>
                <c:pt idx="785">
                  <c:v>3.95</c:v>
                </c:pt>
                <c:pt idx="786">
                  <c:v>0.9</c:v>
                </c:pt>
                <c:pt idx="787">
                  <c:v>9.2100000000000009</c:v>
                </c:pt>
                <c:pt idx="788">
                  <c:v>5.7</c:v>
                </c:pt>
                <c:pt idx="789">
                  <c:v>7.5</c:v>
                </c:pt>
                <c:pt idx="790">
                  <c:v>5.6</c:v>
                </c:pt>
                <c:pt idx="791">
                  <c:v>4.2</c:v>
                </c:pt>
                <c:pt idx="792">
                  <c:v>4.8</c:v>
                </c:pt>
                <c:pt idx="793">
                  <c:v>5.9</c:v>
                </c:pt>
                <c:pt idx="794">
                  <c:v>6.25</c:v>
                </c:pt>
                <c:pt idx="795">
                  <c:v>8.14</c:v>
                </c:pt>
                <c:pt idx="796">
                  <c:v>5.34</c:v>
                </c:pt>
                <c:pt idx="797">
                  <c:v>6.9</c:v>
                </c:pt>
                <c:pt idx="798">
                  <c:v>5.8</c:v>
                </c:pt>
                <c:pt idx="799">
                  <c:v>7</c:v>
                </c:pt>
                <c:pt idx="800">
                  <c:v>7.38</c:v>
                </c:pt>
                <c:pt idx="801">
                  <c:v>6.5</c:v>
                </c:pt>
                <c:pt idx="802">
                  <c:v>10.71</c:v>
                </c:pt>
                <c:pt idx="803">
                  <c:v>9.9</c:v>
                </c:pt>
                <c:pt idx="804">
                  <c:v>6.35</c:v>
                </c:pt>
                <c:pt idx="805">
                  <c:v>4.8</c:v>
                </c:pt>
                <c:pt idx="806">
                  <c:v>6.62</c:v>
                </c:pt>
                <c:pt idx="807">
                  <c:v>5.48</c:v>
                </c:pt>
                <c:pt idx="808">
                  <c:v>5.64</c:v>
                </c:pt>
                <c:pt idx="809">
                  <c:v>6.37</c:v>
                </c:pt>
                <c:pt idx="810">
                  <c:v>7.84</c:v>
                </c:pt>
                <c:pt idx="811">
                  <c:v>7.1</c:v>
                </c:pt>
                <c:pt idx="812">
                  <c:v>5.7</c:v>
                </c:pt>
                <c:pt idx="813">
                  <c:v>8.17</c:v>
                </c:pt>
                <c:pt idx="814">
                  <c:v>8.23</c:v>
                </c:pt>
                <c:pt idx="815">
                  <c:v>9</c:v>
                </c:pt>
                <c:pt idx="816">
                  <c:v>6.5</c:v>
                </c:pt>
                <c:pt idx="817">
                  <c:v>4.57</c:v>
                </c:pt>
                <c:pt idx="818">
                  <c:v>6.22</c:v>
                </c:pt>
                <c:pt idx="819">
                  <c:v>6.84</c:v>
                </c:pt>
                <c:pt idx="820">
                  <c:v>6.77</c:v>
                </c:pt>
                <c:pt idx="821">
                  <c:v>6.64</c:v>
                </c:pt>
                <c:pt idx="822">
                  <c:v>6.1</c:v>
                </c:pt>
                <c:pt idx="823">
                  <c:v>7.77</c:v>
                </c:pt>
                <c:pt idx="824">
                  <c:v>7.5</c:v>
                </c:pt>
                <c:pt idx="825">
                  <c:v>5.2</c:v>
                </c:pt>
                <c:pt idx="826">
                  <c:v>7.5</c:v>
                </c:pt>
                <c:pt idx="827">
                  <c:v>7.25</c:v>
                </c:pt>
                <c:pt idx="828">
                  <c:v>7.44</c:v>
                </c:pt>
                <c:pt idx="829">
                  <c:v>6</c:v>
                </c:pt>
                <c:pt idx="830">
                  <c:v>4.91</c:v>
                </c:pt>
                <c:pt idx="831">
                  <c:v>4.1900000000000004</c:v>
                </c:pt>
                <c:pt idx="832">
                  <c:v>5.82</c:v>
                </c:pt>
                <c:pt idx="833">
                  <c:v>6.57</c:v>
                </c:pt>
                <c:pt idx="834">
                  <c:v>8.67</c:v>
                </c:pt>
                <c:pt idx="835">
                  <c:v>4.7</c:v>
                </c:pt>
                <c:pt idx="836">
                  <c:v>6.39</c:v>
                </c:pt>
                <c:pt idx="837">
                  <c:v>7.7</c:v>
                </c:pt>
                <c:pt idx="838">
                  <c:v>10.59</c:v>
                </c:pt>
                <c:pt idx="839">
                  <c:v>10.25</c:v>
                </c:pt>
                <c:pt idx="840">
                  <c:v>10.65</c:v>
                </c:pt>
                <c:pt idx="841">
                  <c:v>11.09</c:v>
                </c:pt>
                <c:pt idx="842">
                  <c:v>10.26</c:v>
                </c:pt>
                <c:pt idx="843">
                  <c:v>9.81</c:v>
                </c:pt>
                <c:pt idx="844">
                  <c:v>3.74</c:v>
                </c:pt>
                <c:pt idx="845">
                  <c:v>10.15</c:v>
                </c:pt>
                <c:pt idx="846">
                  <c:v>9.4</c:v>
                </c:pt>
                <c:pt idx="847">
                  <c:v>11.85</c:v>
                </c:pt>
                <c:pt idx="848">
                  <c:v>7.55</c:v>
                </c:pt>
                <c:pt idx="849">
                  <c:v>8.1999999999999993</c:v>
                </c:pt>
                <c:pt idx="850">
                  <c:v>12.65</c:v>
                </c:pt>
                <c:pt idx="851">
                  <c:v>11.85</c:v>
                </c:pt>
                <c:pt idx="852">
                  <c:v>12.4</c:v>
                </c:pt>
                <c:pt idx="853">
                  <c:v>11.5</c:v>
                </c:pt>
                <c:pt idx="854">
                  <c:v>15.8</c:v>
                </c:pt>
                <c:pt idx="855">
                  <c:v>14.07</c:v>
                </c:pt>
                <c:pt idx="856">
                  <c:v>14.2</c:v>
                </c:pt>
                <c:pt idx="857">
                  <c:v>13.58</c:v>
                </c:pt>
                <c:pt idx="858">
                  <c:v>15.66</c:v>
                </c:pt>
                <c:pt idx="859">
                  <c:v>15.8</c:v>
                </c:pt>
                <c:pt idx="860">
                  <c:v>14.5</c:v>
                </c:pt>
                <c:pt idx="861">
                  <c:v>13.9</c:v>
                </c:pt>
                <c:pt idx="862">
                  <c:v>14.3</c:v>
                </c:pt>
                <c:pt idx="863">
                  <c:v>15</c:v>
                </c:pt>
                <c:pt idx="864">
                  <c:v>16</c:v>
                </c:pt>
                <c:pt idx="865">
                  <c:v>15.7</c:v>
                </c:pt>
                <c:pt idx="866">
                  <c:v>15.66</c:v>
                </c:pt>
                <c:pt idx="867">
                  <c:v>15.1</c:v>
                </c:pt>
                <c:pt idx="868">
                  <c:v>14.81</c:v>
                </c:pt>
                <c:pt idx="869">
                  <c:v>14.47</c:v>
                </c:pt>
                <c:pt idx="870">
                  <c:v>15.8</c:v>
                </c:pt>
                <c:pt idx="871">
                  <c:v>9.06</c:v>
                </c:pt>
                <c:pt idx="872">
                  <c:v>14.74</c:v>
                </c:pt>
                <c:pt idx="873">
                  <c:v>19.399999999999999</c:v>
                </c:pt>
                <c:pt idx="874">
                  <c:v>-0.65</c:v>
                </c:pt>
              </c:numCache>
            </c:numRef>
          </c:yVal>
          <c:smooth val="0"/>
          <c:extLst>
            <c:ext xmlns:c16="http://schemas.microsoft.com/office/drawing/2014/chart" uri="{C3380CC4-5D6E-409C-BE32-E72D297353CC}">
              <c16:uniqueId val="{00000003-5208-4920-88EE-D94B76ED916F}"/>
            </c:ext>
          </c:extLst>
        </c:ser>
        <c:dLbls>
          <c:showLegendKey val="0"/>
          <c:showVal val="0"/>
          <c:showCatName val="0"/>
          <c:showSerName val="0"/>
          <c:showPercent val="0"/>
          <c:showBubbleSize val="0"/>
        </c:dLbls>
        <c:axId val="-2128940872"/>
        <c:axId val="-2129643912"/>
      </c:scatterChart>
      <c:valAx>
        <c:axId val="-2128940872"/>
        <c:scaling>
          <c:orientation val="minMax"/>
          <c:max val="47393"/>
          <c:min val="40179"/>
        </c:scaling>
        <c:delete val="0"/>
        <c:axPos val="b"/>
        <c:numFmt formatCode="yyyy" sourceLinked="0"/>
        <c:majorTickMark val="out"/>
        <c:minorTickMark val="none"/>
        <c:tickLblPos val="low"/>
        <c:spPr>
          <a:ln>
            <a:solidFill>
              <a:srgbClr val="DCE3EF"/>
            </a:solidFill>
          </a:ln>
        </c:spPr>
        <c:txPr>
          <a:bodyPr/>
          <a:lstStyle/>
          <a:p>
            <a:pPr>
              <a:defRPr sz="950">
                <a:solidFill>
                  <a:srgbClr val="5A6172"/>
                </a:solidFill>
              </a:defRPr>
            </a:pPr>
            <a:endParaRPr lang="en-US"/>
          </a:p>
        </c:txPr>
        <c:crossAx val="-2129643912"/>
        <c:crosses val="autoZero"/>
        <c:crossBetween val="midCat"/>
        <c:majorUnit val="730"/>
      </c:valAx>
      <c:valAx>
        <c:axId val="-2129643912"/>
        <c:scaling>
          <c:orientation val="minMax"/>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950">
                <a:solidFill>
                  <a:srgbClr val="5A6172"/>
                </a:solidFill>
              </a:defRPr>
            </a:pPr>
            <a:endParaRPr lang="en-US"/>
          </a:p>
        </c:txPr>
        <c:crossAx val="-2128940872"/>
        <c:crosses val="autoZero"/>
        <c:crossBetween val="midCat"/>
      </c:valAx>
    </c:plotArea>
    <c:legend>
      <c:legendPos val="t"/>
      <c:overlay val="0"/>
      <c:txPr>
        <a:bodyPr/>
        <a:lstStyle/>
        <a:p>
          <a:pPr>
            <a:defRPr sz="1050">
              <a:solidFill>
                <a:srgbClr val="5A6172"/>
              </a:solidFill>
            </a:defRPr>
          </a:pPr>
          <a:endParaRPr lang="en-US"/>
        </a:p>
      </c:txPr>
    </c:legend>
    <c:plotVisOnly val="1"/>
    <c:dispBlanksAs val="gap"/>
    <c:showDLblsOverMax val="0"/>
  </c:chart>
  <c:txPr>
    <a:bodyPr/>
    <a:lstStyle/>
    <a:p>
      <a:pPr>
        <a:defRPr sz="950">
          <a:latin typeface="Garamond"/>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2"/>
          <c:y val="0.03"/>
          <c:w val="0.7"/>
          <c:h val="0.87"/>
        </c:manualLayout>
      </c:layout>
      <c:scatterChart>
        <c:scatterStyle val="lineMarker"/>
        <c:varyColors val="0"/>
        <c:ser>
          <c:idx val="0"/>
          <c:order val="0"/>
          <c:tx>
            <c:strRef>
              <c:f>Sheet1!$B$1</c:f>
              <c:strCache>
                <c:ptCount val="1"/>
                <c:pt idx="0">
                  <c:v>1-year France spread</c:v>
                </c:pt>
              </c:strCache>
            </c:strRef>
          </c:tx>
          <c:spPr>
            <a:ln w="22225">
              <a:solidFill>
                <a:srgbClr val="011C40"/>
              </a:solidFill>
            </a:ln>
          </c:spPr>
          <c:marker>
            <c:symbol val="none"/>
          </c:marker>
          <c:xVal>
            <c:numRef>
              <c:f>Sheet1!$A$2:$A$876</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Sheet1!$B$2:$B$876</c:f>
              <c:numCache>
                <c:formatCode>General</c:formatCode>
                <c:ptCount val="875"/>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pt idx="209">
                  <c:v>22.3</c:v>
                </c:pt>
                <c:pt idx="210">
                  <c:v>25.8</c:v>
                </c:pt>
                <c:pt idx="211">
                  <c:v>23.5</c:v>
                </c:pt>
                <c:pt idx="212">
                  <c:v>24.3</c:v>
                </c:pt>
                <c:pt idx="213">
                  <c:v>24.4</c:v>
                </c:pt>
                <c:pt idx="214">
                  <c:v>23.5</c:v>
                </c:pt>
                <c:pt idx="215">
                  <c:v>23.1</c:v>
                </c:pt>
                <c:pt idx="216">
                  <c:v>22.45</c:v>
                </c:pt>
                <c:pt idx="217">
                  <c:v>23.7</c:v>
                </c:pt>
                <c:pt idx="218">
                  <c:v>21.6</c:v>
                </c:pt>
                <c:pt idx="219">
                  <c:v>21.3</c:v>
                </c:pt>
                <c:pt idx="220">
                  <c:v>22.6</c:v>
                </c:pt>
                <c:pt idx="221">
                  <c:v>22.4</c:v>
                </c:pt>
                <c:pt idx="222">
                  <c:v>22.9</c:v>
                </c:pt>
                <c:pt idx="223">
                  <c:v>22.8</c:v>
                </c:pt>
                <c:pt idx="224">
                  <c:v>22.18</c:v>
                </c:pt>
                <c:pt idx="225">
                  <c:v>23.35</c:v>
                </c:pt>
                <c:pt idx="226">
                  <c:v>22.32</c:v>
                </c:pt>
                <c:pt idx="227">
                  <c:v>23.2</c:v>
                </c:pt>
                <c:pt idx="228">
                  <c:v>24.08</c:v>
                </c:pt>
                <c:pt idx="229">
                  <c:v>24.9</c:v>
                </c:pt>
                <c:pt idx="230">
                  <c:v>24.7</c:v>
                </c:pt>
                <c:pt idx="231">
                  <c:v>25.17</c:v>
                </c:pt>
                <c:pt idx="232">
                  <c:v>27.1</c:v>
                </c:pt>
                <c:pt idx="233">
                  <c:v>26.1</c:v>
                </c:pt>
                <c:pt idx="234">
                  <c:v>25.4</c:v>
                </c:pt>
                <c:pt idx="235">
                  <c:v>26.3</c:v>
                </c:pt>
                <c:pt idx="236">
                  <c:v>26.8</c:v>
                </c:pt>
                <c:pt idx="237">
                  <c:v>28.1</c:v>
                </c:pt>
                <c:pt idx="238">
                  <c:v>28.9</c:v>
                </c:pt>
                <c:pt idx="239">
                  <c:v>28.4</c:v>
                </c:pt>
                <c:pt idx="240">
                  <c:v>28.7</c:v>
                </c:pt>
                <c:pt idx="241">
                  <c:v>27.65</c:v>
                </c:pt>
                <c:pt idx="242">
                  <c:v>26.9</c:v>
                </c:pt>
                <c:pt idx="243">
                  <c:v>24.9</c:v>
                </c:pt>
                <c:pt idx="244">
                  <c:v>24.6</c:v>
                </c:pt>
                <c:pt idx="245">
                  <c:v>23.3</c:v>
                </c:pt>
                <c:pt idx="246">
                  <c:v>21.4</c:v>
                </c:pt>
                <c:pt idx="247">
                  <c:v>21.1</c:v>
                </c:pt>
                <c:pt idx="248">
                  <c:v>21</c:v>
                </c:pt>
                <c:pt idx="249">
                  <c:v>21.3</c:v>
                </c:pt>
                <c:pt idx="250">
                  <c:v>22.5</c:v>
                </c:pt>
                <c:pt idx="251">
                  <c:v>21.9</c:v>
                </c:pt>
                <c:pt idx="252">
                  <c:v>20.6</c:v>
                </c:pt>
                <c:pt idx="253">
                  <c:v>19.8</c:v>
                </c:pt>
                <c:pt idx="254">
                  <c:v>19.350000000000001</c:v>
                </c:pt>
                <c:pt idx="255">
                  <c:v>18.850000000000001</c:v>
                </c:pt>
                <c:pt idx="256">
                  <c:v>19.2</c:v>
                </c:pt>
                <c:pt idx="257">
                  <c:v>18.850000000000001</c:v>
                </c:pt>
                <c:pt idx="258">
                  <c:v>19.5</c:v>
                </c:pt>
                <c:pt idx="259">
                  <c:v>20.100000000000001</c:v>
                </c:pt>
                <c:pt idx="260">
                  <c:v>19.3</c:v>
                </c:pt>
                <c:pt idx="261">
                  <c:v>19.5</c:v>
                </c:pt>
                <c:pt idx="262">
                  <c:v>24.4</c:v>
                </c:pt>
                <c:pt idx="263">
                  <c:v>25.7</c:v>
                </c:pt>
                <c:pt idx="264">
                  <c:v>24.3</c:v>
                </c:pt>
                <c:pt idx="265">
                  <c:v>24.6</c:v>
                </c:pt>
                <c:pt idx="266">
                  <c:v>25.8</c:v>
                </c:pt>
                <c:pt idx="267">
                  <c:v>24.4</c:v>
                </c:pt>
                <c:pt idx="268">
                  <c:v>25.6</c:v>
                </c:pt>
                <c:pt idx="269">
                  <c:v>22.8</c:v>
                </c:pt>
                <c:pt idx="270">
                  <c:v>23.5</c:v>
                </c:pt>
                <c:pt idx="271">
                  <c:v>23.95</c:v>
                </c:pt>
                <c:pt idx="272">
                  <c:v>24.7</c:v>
                </c:pt>
                <c:pt idx="273">
                  <c:v>25.1</c:v>
                </c:pt>
                <c:pt idx="274">
                  <c:v>25.6</c:v>
                </c:pt>
                <c:pt idx="275">
                  <c:v>26.02</c:v>
                </c:pt>
                <c:pt idx="276">
                  <c:v>26.2</c:v>
                </c:pt>
                <c:pt idx="277">
                  <c:v>25.18</c:v>
                </c:pt>
                <c:pt idx="278">
                  <c:v>25.15</c:v>
                </c:pt>
                <c:pt idx="279">
                  <c:v>24.5</c:v>
                </c:pt>
                <c:pt idx="280">
                  <c:v>24.7</c:v>
                </c:pt>
                <c:pt idx="281">
                  <c:v>25.3</c:v>
                </c:pt>
                <c:pt idx="282">
                  <c:v>25.5</c:v>
                </c:pt>
                <c:pt idx="283">
                  <c:v>25.6</c:v>
                </c:pt>
                <c:pt idx="284">
                  <c:v>26</c:v>
                </c:pt>
                <c:pt idx="285">
                  <c:v>24.8</c:v>
                </c:pt>
                <c:pt idx="286">
                  <c:v>23.8</c:v>
                </c:pt>
                <c:pt idx="287">
                  <c:v>24.2</c:v>
                </c:pt>
                <c:pt idx="288">
                  <c:v>24.08</c:v>
                </c:pt>
                <c:pt idx="289">
                  <c:v>23.5</c:v>
                </c:pt>
                <c:pt idx="290">
                  <c:v>24.7</c:v>
                </c:pt>
                <c:pt idx="291">
                  <c:v>26.05</c:v>
                </c:pt>
                <c:pt idx="292">
                  <c:v>25.55</c:v>
                </c:pt>
                <c:pt idx="293">
                  <c:v>25.1</c:v>
                </c:pt>
                <c:pt idx="294">
                  <c:v>24.2</c:v>
                </c:pt>
                <c:pt idx="295">
                  <c:v>24.45</c:v>
                </c:pt>
                <c:pt idx="296">
                  <c:v>22.7</c:v>
                </c:pt>
                <c:pt idx="297">
                  <c:v>22.8</c:v>
                </c:pt>
                <c:pt idx="298">
                  <c:v>23.1</c:v>
                </c:pt>
                <c:pt idx="299">
                  <c:v>22.7</c:v>
                </c:pt>
                <c:pt idx="300">
                  <c:v>21.5</c:v>
                </c:pt>
                <c:pt idx="301">
                  <c:v>22.2</c:v>
                </c:pt>
                <c:pt idx="302">
                  <c:v>21.7</c:v>
                </c:pt>
                <c:pt idx="303">
                  <c:v>22.9</c:v>
                </c:pt>
                <c:pt idx="304">
                  <c:v>23.3</c:v>
                </c:pt>
                <c:pt idx="305">
                  <c:v>22.8</c:v>
                </c:pt>
                <c:pt idx="306">
                  <c:v>22.6</c:v>
                </c:pt>
                <c:pt idx="307">
                  <c:v>23.15</c:v>
                </c:pt>
                <c:pt idx="308">
                  <c:v>25.6</c:v>
                </c:pt>
                <c:pt idx="309">
                  <c:v>22.6</c:v>
                </c:pt>
                <c:pt idx="310">
                  <c:v>23.8</c:v>
                </c:pt>
                <c:pt idx="311">
                  <c:v>30.6</c:v>
                </c:pt>
                <c:pt idx="312">
                  <c:v>34.520000000000003</c:v>
                </c:pt>
                <c:pt idx="313">
                  <c:v>33.1</c:v>
                </c:pt>
                <c:pt idx="314">
                  <c:v>30.1</c:v>
                </c:pt>
                <c:pt idx="315">
                  <c:v>28.3</c:v>
                </c:pt>
                <c:pt idx="316">
                  <c:v>25.9</c:v>
                </c:pt>
                <c:pt idx="317">
                  <c:v>24.8</c:v>
                </c:pt>
                <c:pt idx="318">
                  <c:v>24.4</c:v>
                </c:pt>
                <c:pt idx="319">
                  <c:v>26</c:v>
                </c:pt>
                <c:pt idx="320">
                  <c:v>23.5</c:v>
                </c:pt>
                <c:pt idx="321">
                  <c:v>25.3</c:v>
                </c:pt>
                <c:pt idx="322">
                  <c:v>28</c:v>
                </c:pt>
                <c:pt idx="323">
                  <c:v>27.1</c:v>
                </c:pt>
                <c:pt idx="324">
                  <c:v>28.2</c:v>
                </c:pt>
                <c:pt idx="325">
                  <c:v>27.4</c:v>
                </c:pt>
                <c:pt idx="326">
                  <c:v>27.93</c:v>
                </c:pt>
                <c:pt idx="327">
                  <c:v>28.7</c:v>
                </c:pt>
                <c:pt idx="328">
                  <c:v>31.8</c:v>
                </c:pt>
                <c:pt idx="329">
                  <c:v>31</c:v>
                </c:pt>
                <c:pt idx="330">
                  <c:v>33.5</c:v>
                </c:pt>
                <c:pt idx="331">
                  <c:v>32.299999999999997</c:v>
                </c:pt>
                <c:pt idx="332">
                  <c:v>34.020000000000003</c:v>
                </c:pt>
                <c:pt idx="333">
                  <c:v>34.1</c:v>
                </c:pt>
                <c:pt idx="334">
                  <c:v>33.700000000000003</c:v>
                </c:pt>
                <c:pt idx="335">
                  <c:v>33.799999999999997</c:v>
                </c:pt>
                <c:pt idx="336">
                  <c:v>33.9</c:v>
                </c:pt>
                <c:pt idx="337">
                  <c:v>32.729999999999997</c:v>
                </c:pt>
                <c:pt idx="338">
                  <c:v>35.200000000000003</c:v>
                </c:pt>
                <c:pt idx="339">
                  <c:v>35</c:v>
                </c:pt>
                <c:pt idx="340">
                  <c:v>35.1</c:v>
                </c:pt>
                <c:pt idx="341">
                  <c:v>35.9</c:v>
                </c:pt>
                <c:pt idx="342">
                  <c:v>35.93</c:v>
                </c:pt>
                <c:pt idx="343">
                  <c:v>37.1</c:v>
                </c:pt>
                <c:pt idx="344">
                  <c:v>37.200000000000003</c:v>
                </c:pt>
                <c:pt idx="345">
                  <c:v>37.65</c:v>
                </c:pt>
                <c:pt idx="346">
                  <c:v>39.200000000000003</c:v>
                </c:pt>
                <c:pt idx="347">
                  <c:v>38.9</c:v>
                </c:pt>
                <c:pt idx="348">
                  <c:v>37.9</c:v>
                </c:pt>
                <c:pt idx="349">
                  <c:v>36</c:v>
                </c:pt>
                <c:pt idx="350">
                  <c:v>36.4</c:v>
                </c:pt>
                <c:pt idx="351">
                  <c:v>37.1</c:v>
                </c:pt>
                <c:pt idx="352">
                  <c:v>43.5</c:v>
                </c:pt>
                <c:pt idx="353">
                  <c:v>42.6</c:v>
                </c:pt>
                <c:pt idx="354">
                  <c:v>41.7</c:v>
                </c:pt>
                <c:pt idx="355">
                  <c:v>42.6</c:v>
                </c:pt>
                <c:pt idx="356">
                  <c:v>44.3</c:v>
                </c:pt>
                <c:pt idx="357">
                  <c:v>47.25</c:v>
                </c:pt>
                <c:pt idx="358">
                  <c:v>50.6</c:v>
                </c:pt>
                <c:pt idx="359">
                  <c:v>44.9</c:v>
                </c:pt>
                <c:pt idx="360">
                  <c:v>47.7</c:v>
                </c:pt>
                <c:pt idx="361">
                  <c:v>47.8</c:v>
                </c:pt>
                <c:pt idx="362">
                  <c:v>47.2</c:v>
                </c:pt>
                <c:pt idx="363">
                  <c:v>58.8</c:v>
                </c:pt>
                <c:pt idx="364">
                  <c:v>59.5</c:v>
                </c:pt>
                <c:pt idx="365">
                  <c:v>54.2</c:v>
                </c:pt>
                <c:pt idx="366">
                  <c:v>42.8</c:v>
                </c:pt>
                <c:pt idx="367">
                  <c:v>34.9</c:v>
                </c:pt>
                <c:pt idx="368">
                  <c:v>30.3</c:v>
                </c:pt>
                <c:pt idx="369">
                  <c:v>30.5</c:v>
                </c:pt>
                <c:pt idx="370">
                  <c:v>34.299999999999997</c:v>
                </c:pt>
                <c:pt idx="371">
                  <c:v>39</c:v>
                </c:pt>
                <c:pt idx="372">
                  <c:v>37.700000000000003</c:v>
                </c:pt>
                <c:pt idx="373">
                  <c:v>33.4</c:v>
                </c:pt>
                <c:pt idx="374">
                  <c:v>35.049999999999997</c:v>
                </c:pt>
                <c:pt idx="375">
                  <c:v>42.5</c:v>
                </c:pt>
                <c:pt idx="376">
                  <c:v>37.4</c:v>
                </c:pt>
                <c:pt idx="377">
                  <c:v>35.93</c:v>
                </c:pt>
                <c:pt idx="378">
                  <c:v>30.28</c:v>
                </c:pt>
                <c:pt idx="379">
                  <c:v>31.8</c:v>
                </c:pt>
                <c:pt idx="380">
                  <c:v>26.35</c:v>
                </c:pt>
                <c:pt idx="381">
                  <c:v>26.8</c:v>
                </c:pt>
                <c:pt idx="382">
                  <c:v>31.5</c:v>
                </c:pt>
                <c:pt idx="383">
                  <c:v>33.4</c:v>
                </c:pt>
                <c:pt idx="384">
                  <c:v>31.8</c:v>
                </c:pt>
                <c:pt idx="385">
                  <c:v>31.8</c:v>
                </c:pt>
                <c:pt idx="386">
                  <c:v>32.200000000000003</c:v>
                </c:pt>
                <c:pt idx="387">
                  <c:v>32.630000000000003</c:v>
                </c:pt>
                <c:pt idx="388">
                  <c:v>35.659999999999997</c:v>
                </c:pt>
                <c:pt idx="389">
                  <c:v>34.200000000000003</c:v>
                </c:pt>
                <c:pt idx="390">
                  <c:v>36</c:v>
                </c:pt>
                <c:pt idx="391">
                  <c:v>33.049999999999997</c:v>
                </c:pt>
                <c:pt idx="392">
                  <c:v>31.86</c:v>
                </c:pt>
                <c:pt idx="393">
                  <c:v>31.5</c:v>
                </c:pt>
                <c:pt idx="394">
                  <c:v>27.8</c:v>
                </c:pt>
                <c:pt idx="395">
                  <c:v>30.55</c:v>
                </c:pt>
                <c:pt idx="396">
                  <c:v>31.4</c:v>
                </c:pt>
                <c:pt idx="397">
                  <c:v>29.7</c:v>
                </c:pt>
                <c:pt idx="398">
                  <c:v>31.6</c:v>
                </c:pt>
                <c:pt idx="399">
                  <c:v>30.5</c:v>
                </c:pt>
                <c:pt idx="400">
                  <c:v>31.5</c:v>
                </c:pt>
                <c:pt idx="401">
                  <c:v>31.8</c:v>
                </c:pt>
                <c:pt idx="402">
                  <c:v>32.18</c:v>
                </c:pt>
                <c:pt idx="403">
                  <c:v>32.700000000000003</c:v>
                </c:pt>
                <c:pt idx="404">
                  <c:v>32.85</c:v>
                </c:pt>
                <c:pt idx="405">
                  <c:v>33.5</c:v>
                </c:pt>
                <c:pt idx="406">
                  <c:v>35.1</c:v>
                </c:pt>
                <c:pt idx="407">
                  <c:v>32.840000000000003</c:v>
                </c:pt>
                <c:pt idx="408">
                  <c:v>33.299999999999997</c:v>
                </c:pt>
                <c:pt idx="409">
                  <c:v>35.299999999999997</c:v>
                </c:pt>
                <c:pt idx="410">
                  <c:v>38.1</c:v>
                </c:pt>
                <c:pt idx="411">
                  <c:v>37.630000000000003</c:v>
                </c:pt>
                <c:pt idx="412">
                  <c:v>36.700000000000003</c:v>
                </c:pt>
                <c:pt idx="413">
                  <c:v>38.520000000000003</c:v>
                </c:pt>
                <c:pt idx="414">
                  <c:v>38.18</c:v>
                </c:pt>
                <c:pt idx="415">
                  <c:v>39.950000000000003</c:v>
                </c:pt>
                <c:pt idx="416">
                  <c:v>40.799999999999997</c:v>
                </c:pt>
                <c:pt idx="417">
                  <c:v>38.28</c:v>
                </c:pt>
                <c:pt idx="418">
                  <c:v>33.450000000000003</c:v>
                </c:pt>
                <c:pt idx="419">
                  <c:v>27.55</c:v>
                </c:pt>
                <c:pt idx="420">
                  <c:v>29.2</c:v>
                </c:pt>
                <c:pt idx="421">
                  <c:v>31.1</c:v>
                </c:pt>
                <c:pt idx="422">
                  <c:v>30.55</c:v>
                </c:pt>
                <c:pt idx="423">
                  <c:v>30.1</c:v>
                </c:pt>
                <c:pt idx="424">
                  <c:v>31.12</c:v>
                </c:pt>
                <c:pt idx="425">
                  <c:v>31.55</c:v>
                </c:pt>
                <c:pt idx="426">
                  <c:v>33.03</c:v>
                </c:pt>
                <c:pt idx="427">
                  <c:v>32.4</c:v>
                </c:pt>
                <c:pt idx="428">
                  <c:v>32</c:v>
                </c:pt>
                <c:pt idx="429">
                  <c:v>30.9</c:v>
                </c:pt>
                <c:pt idx="430">
                  <c:v>31.16</c:v>
                </c:pt>
                <c:pt idx="431">
                  <c:v>32.1</c:v>
                </c:pt>
                <c:pt idx="432">
                  <c:v>29.45</c:v>
                </c:pt>
                <c:pt idx="433">
                  <c:v>29.05</c:v>
                </c:pt>
                <c:pt idx="434">
                  <c:v>30</c:v>
                </c:pt>
                <c:pt idx="435">
                  <c:v>30.35</c:v>
                </c:pt>
                <c:pt idx="436">
                  <c:v>31</c:v>
                </c:pt>
                <c:pt idx="437">
                  <c:v>30.47</c:v>
                </c:pt>
                <c:pt idx="438">
                  <c:v>33.79</c:v>
                </c:pt>
                <c:pt idx="439">
                  <c:v>30.7</c:v>
                </c:pt>
                <c:pt idx="440">
                  <c:v>35.4</c:v>
                </c:pt>
                <c:pt idx="441">
                  <c:v>34.1</c:v>
                </c:pt>
                <c:pt idx="442">
                  <c:v>36.01</c:v>
                </c:pt>
                <c:pt idx="443">
                  <c:v>30.72</c:v>
                </c:pt>
                <c:pt idx="444">
                  <c:v>31.27</c:v>
                </c:pt>
                <c:pt idx="445">
                  <c:v>29.9</c:v>
                </c:pt>
                <c:pt idx="446">
                  <c:v>30.05</c:v>
                </c:pt>
                <c:pt idx="447">
                  <c:v>29.25</c:v>
                </c:pt>
                <c:pt idx="448">
                  <c:v>30.1</c:v>
                </c:pt>
                <c:pt idx="449">
                  <c:v>31.7</c:v>
                </c:pt>
                <c:pt idx="450">
                  <c:v>31.34</c:v>
                </c:pt>
                <c:pt idx="451">
                  <c:v>28.91</c:v>
                </c:pt>
                <c:pt idx="452">
                  <c:v>30.32</c:v>
                </c:pt>
                <c:pt idx="453">
                  <c:v>30.15</c:v>
                </c:pt>
                <c:pt idx="454">
                  <c:v>30.44</c:v>
                </c:pt>
                <c:pt idx="455">
                  <c:v>29.5</c:v>
                </c:pt>
                <c:pt idx="456">
                  <c:v>29.77</c:v>
                </c:pt>
                <c:pt idx="457">
                  <c:v>31.61</c:v>
                </c:pt>
                <c:pt idx="458">
                  <c:v>37.799999999999997</c:v>
                </c:pt>
                <c:pt idx="459">
                  <c:v>40.08</c:v>
                </c:pt>
                <c:pt idx="460">
                  <c:v>38.6</c:v>
                </c:pt>
                <c:pt idx="461">
                  <c:v>38.06</c:v>
                </c:pt>
                <c:pt idx="462">
                  <c:v>36.700000000000003</c:v>
                </c:pt>
                <c:pt idx="463">
                  <c:v>33.799999999999997</c:v>
                </c:pt>
                <c:pt idx="464">
                  <c:v>32.700000000000003</c:v>
                </c:pt>
                <c:pt idx="465">
                  <c:v>33.5</c:v>
                </c:pt>
                <c:pt idx="466">
                  <c:v>35.909999999999997</c:v>
                </c:pt>
                <c:pt idx="467">
                  <c:v>40.340000000000003</c:v>
                </c:pt>
                <c:pt idx="468">
                  <c:v>42.35</c:v>
                </c:pt>
                <c:pt idx="469">
                  <c:v>39.299999999999997</c:v>
                </c:pt>
                <c:pt idx="470">
                  <c:v>34.270000000000003</c:v>
                </c:pt>
                <c:pt idx="471">
                  <c:v>33.82</c:v>
                </c:pt>
                <c:pt idx="472">
                  <c:v>32.74</c:v>
                </c:pt>
                <c:pt idx="473">
                  <c:v>31.5</c:v>
                </c:pt>
                <c:pt idx="474">
                  <c:v>31.4</c:v>
                </c:pt>
                <c:pt idx="475">
                  <c:v>28.1</c:v>
                </c:pt>
                <c:pt idx="476">
                  <c:v>28.35</c:v>
                </c:pt>
                <c:pt idx="477">
                  <c:v>29.3</c:v>
                </c:pt>
                <c:pt idx="478">
                  <c:v>29.9</c:v>
                </c:pt>
                <c:pt idx="479">
                  <c:v>28.55</c:v>
                </c:pt>
                <c:pt idx="480">
                  <c:v>29.35</c:v>
                </c:pt>
                <c:pt idx="481">
                  <c:v>30.65</c:v>
                </c:pt>
                <c:pt idx="482">
                  <c:v>30.83</c:v>
                </c:pt>
                <c:pt idx="483">
                  <c:v>28.2</c:v>
                </c:pt>
                <c:pt idx="484">
                  <c:v>29.05</c:v>
                </c:pt>
                <c:pt idx="485">
                  <c:v>28.8</c:v>
                </c:pt>
                <c:pt idx="486">
                  <c:v>30.81</c:v>
                </c:pt>
                <c:pt idx="487">
                  <c:v>30.9</c:v>
                </c:pt>
                <c:pt idx="488">
                  <c:v>33.549999999999997</c:v>
                </c:pt>
                <c:pt idx="489">
                  <c:v>30.13</c:v>
                </c:pt>
                <c:pt idx="490">
                  <c:v>29.64</c:v>
                </c:pt>
                <c:pt idx="491">
                  <c:v>29.56</c:v>
                </c:pt>
                <c:pt idx="492">
                  <c:v>27.65</c:v>
                </c:pt>
                <c:pt idx="493">
                  <c:v>26.95</c:v>
                </c:pt>
                <c:pt idx="494">
                  <c:v>24.12</c:v>
                </c:pt>
                <c:pt idx="495">
                  <c:v>25.2</c:v>
                </c:pt>
                <c:pt idx="496">
                  <c:v>24.25</c:v>
                </c:pt>
                <c:pt idx="497">
                  <c:v>23.03</c:v>
                </c:pt>
                <c:pt idx="498">
                  <c:v>23.53</c:v>
                </c:pt>
                <c:pt idx="499">
                  <c:v>23.4</c:v>
                </c:pt>
                <c:pt idx="500">
                  <c:v>21.41</c:v>
                </c:pt>
                <c:pt idx="501">
                  <c:v>19.7</c:v>
                </c:pt>
                <c:pt idx="502">
                  <c:v>22.8</c:v>
                </c:pt>
                <c:pt idx="503">
                  <c:v>24.3</c:v>
                </c:pt>
                <c:pt idx="504">
                  <c:v>24.6</c:v>
                </c:pt>
                <c:pt idx="505">
                  <c:v>24.45</c:v>
                </c:pt>
                <c:pt idx="506">
                  <c:v>22.6</c:v>
                </c:pt>
                <c:pt idx="507">
                  <c:v>20.75</c:v>
                </c:pt>
                <c:pt idx="508">
                  <c:v>20.05</c:v>
                </c:pt>
                <c:pt idx="509">
                  <c:v>19.149999999999999</c:v>
                </c:pt>
                <c:pt idx="510">
                  <c:v>21.15</c:v>
                </c:pt>
                <c:pt idx="511">
                  <c:v>22.27</c:v>
                </c:pt>
                <c:pt idx="512">
                  <c:v>26.8</c:v>
                </c:pt>
                <c:pt idx="513">
                  <c:v>25.6</c:v>
                </c:pt>
                <c:pt idx="514">
                  <c:v>26</c:v>
                </c:pt>
                <c:pt idx="515">
                  <c:v>24.64</c:v>
                </c:pt>
                <c:pt idx="516">
                  <c:v>22.4</c:v>
                </c:pt>
                <c:pt idx="517">
                  <c:v>22.75</c:v>
                </c:pt>
                <c:pt idx="518">
                  <c:v>25.95</c:v>
                </c:pt>
                <c:pt idx="519">
                  <c:v>25.22</c:v>
                </c:pt>
                <c:pt idx="520">
                  <c:v>28.25</c:v>
                </c:pt>
                <c:pt idx="521">
                  <c:v>27.73</c:v>
                </c:pt>
                <c:pt idx="522">
                  <c:v>28.39</c:v>
                </c:pt>
                <c:pt idx="523">
                  <c:v>25.2</c:v>
                </c:pt>
                <c:pt idx="524">
                  <c:v>24.55</c:v>
                </c:pt>
                <c:pt idx="525">
                  <c:v>23.6</c:v>
                </c:pt>
                <c:pt idx="526">
                  <c:v>22.29</c:v>
                </c:pt>
                <c:pt idx="527">
                  <c:v>22.4</c:v>
                </c:pt>
                <c:pt idx="528">
                  <c:v>21.05</c:v>
                </c:pt>
                <c:pt idx="529">
                  <c:v>20.440000000000001</c:v>
                </c:pt>
                <c:pt idx="530">
                  <c:v>19.899999999999999</c:v>
                </c:pt>
                <c:pt idx="531">
                  <c:v>21.95</c:v>
                </c:pt>
                <c:pt idx="532">
                  <c:v>28.95</c:v>
                </c:pt>
                <c:pt idx="533">
                  <c:v>23.33</c:v>
                </c:pt>
                <c:pt idx="534">
                  <c:v>19.43</c:v>
                </c:pt>
                <c:pt idx="535">
                  <c:v>19.32</c:v>
                </c:pt>
                <c:pt idx="536">
                  <c:v>22.3</c:v>
                </c:pt>
                <c:pt idx="537">
                  <c:v>17.05</c:v>
                </c:pt>
                <c:pt idx="538">
                  <c:v>21.65</c:v>
                </c:pt>
                <c:pt idx="539">
                  <c:v>20.6</c:v>
                </c:pt>
                <c:pt idx="540">
                  <c:v>23.91</c:v>
                </c:pt>
                <c:pt idx="541">
                  <c:v>26.61</c:v>
                </c:pt>
                <c:pt idx="542">
                  <c:v>29.6</c:v>
                </c:pt>
                <c:pt idx="543">
                  <c:v>26.4</c:v>
                </c:pt>
                <c:pt idx="544">
                  <c:v>22.05</c:v>
                </c:pt>
                <c:pt idx="545">
                  <c:v>20.5</c:v>
                </c:pt>
                <c:pt idx="546">
                  <c:v>21.75</c:v>
                </c:pt>
                <c:pt idx="547">
                  <c:v>18.3</c:v>
                </c:pt>
                <c:pt idx="548">
                  <c:v>17.8</c:v>
                </c:pt>
                <c:pt idx="549">
                  <c:v>19.55</c:v>
                </c:pt>
                <c:pt idx="550">
                  <c:v>19.7</c:v>
                </c:pt>
                <c:pt idx="551">
                  <c:v>17.579999999999998</c:v>
                </c:pt>
                <c:pt idx="552">
                  <c:v>14.4</c:v>
                </c:pt>
                <c:pt idx="553">
                  <c:v>14.16</c:v>
                </c:pt>
                <c:pt idx="554">
                  <c:v>13.76</c:v>
                </c:pt>
                <c:pt idx="555">
                  <c:v>12.39</c:v>
                </c:pt>
                <c:pt idx="556">
                  <c:v>11.76</c:v>
                </c:pt>
                <c:pt idx="557">
                  <c:v>10.44</c:v>
                </c:pt>
                <c:pt idx="558">
                  <c:v>10.55</c:v>
                </c:pt>
                <c:pt idx="559">
                  <c:v>9.6</c:v>
                </c:pt>
                <c:pt idx="560">
                  <c:v>11.59</c:v>
                </c:pt>
                <c:pt idx="561">
                  <c:v>11.45</c:v>
                </c:pt>
                <c:pt idx="562">
                  <c:v>12.55</c:v>
                </c:pt>
                <c:pt idx="563">
                  <c:v>12.3</c:v>
                </c:pt>
                <c:pt idx="564">
                  <c:v>13.21</c:v>
                </c:pt>
                <c:pt idx="565">
                  <c:v>11.12</c:v>
                </c:pt>
                <c:pt idx="566">
                  <c:v>10.9</c:v>
                </c:pt>
                <c:pt idx="567">
                  <c:v>10.62</c:v>
                </c:pt>
                <c:pt idx="568">
                  <c:v>9.25</c:v>
                </c:pt>
                <c:pt idx="569">
                  <c:v>11.69</c:v>
                </c:pt>
                <c:pt idx="570">
                  <c:v>15.95</c:v>
                </c:pt>
                <c:pt idx="571">
                  <c:v>14.94</c:v>
                </c:pt>
                <c:pt idx="572">
                  <c:v>14.48</c:v>
                </c:pt>
                <c:pt idx="573">
                  <c:v>14.71</c:v>
                </c:pt>
                <c:pt idx="574">
                  <c:v>14</c:v>
                </c:pt>
                <c:pt idx="575">
                  <c:v>8.92</c:v>
                </c:pt>
                <c:pt idx="576">
                  <c:v>8.33</c:v>
                </c:pt>
                <c:pt idx="577">
                  <c:v>8.6</c:v>
                </c:pt>
                <c:pt idx="578">
                  <c:v>8.6999999999999993</c:v>
                </c:pt>
                <c:pt idx="579">
                  <c:v>11.93</c:v>
                </c:pt>
                <c:pt idx="580">
                  <c:v>11.44</c:v>
                </c:pt>
                <c:pt idx="581">
                  <c:v>10.18</c:v>
                </c:pt>
                <c:pt idx="582">
                  <c:v>9.8000000000000007</c:v>
                </c:pt>
                <c:pt idx="583">
                  <c:v>9.3800000000000008</c:v>
                </c:pt>
                <c:pt idx="584">
                  <c:v>8.92</c:v>
                </c:pt>
                <c:pt idx="585">
                  <c:v>9.6999999999999993</c:v>
                </c:pt>
                <c:pt idx="586">
                  <c:v>10.95</c:v>
                </c:pt>
                <c:pt idx="587">
                  <c:v>11.19</c:v>
                </c:pt>
                <c:pt idx="588">
                  <c:v>9.92</c:v>
                </c:pt>
                <c:pt idx="589">
                  <c:v>11.1</c:v>
                </c:pt>
                <c:pt idx="590">
                  <c:v>10.8</c:v>
                </c:pt>
                <c:pt idx="591">
                  <c:v>10.42</c:v>
                </c:pt>
                <c:pt idx="592">
                  <c:v>11.69</c:v>
                </c:pt>
                <c:pt idx="593">
                  <c:v>12.1</c:v>
                </c:pt>
                <c:pt idx="594">
                  <c:v>12.71</c:v>
                </c:pt>
                <c:pt idx="595">
                  <c:v>12.71</c:v>
                </c:pt>
                <c:pt idx="596">
                  <c:v>12.92</c:v>
                </c:pt>
                <c:pt idx="597">
                  <c:v>11.95</c:v>
                </c:pt>
                <c:pt idx="598">
                  <c:v>13.15</c:v>
                </c:pt>
                <c:pt idx="599">
                  <c:v>13.83</c:v>
                </c:pt>
                <c:pt idx="600">
                  <c:v>12.81</c:v>
                </c:pt>
                <c:pt idx="601">
                  <c:v>12.84</c:v>
                </c:pt>
                <c:pt idx="602">
                  <c:v>14.3</c:v>
                </c:pt>
                <c:pt idx="603">
                  <c:v>12.36</c:v>
                </c:pt>
                <c:pt idx="604">
                  <c:v>11.94</c:v>
                </c:pt>
                <c:pt idx="605">
                  <c:v>11.83</c:v>
                </c:pt>
                <c:pt idx="606">
                  <c:v>12.11</c:v>
                </c:pt>
                <c:pt idx="607">
                  <c:v>12.45</c:v>
                </c:pt>
                <c:pt idx="608">
                  <c:v>12.6</c:v>
                </c:pt>
                <c:pt idx="609">
                  <c:v>13.07</c:v>
                </c:pt>
                <c:pt idx="610">
                  <c:v>14.22</c:v>
                </c:pt>
                <c:pt idx="611">
                  <c:v>13.91</c:v>
                </c:pt>
                <c:pt idx="612">
                  <c:v>14.72</c:v>
                </c:pt>
                <c:pt idx="613">
                  <c:v>14.16</c:v>
                </c:pt>
                <c:pt idx="614">
                  <c:v>15.71</c:v>
                </c:pt>
                <c:pt idx="615">
                  <c:v>14</c:v>
                </c:pt>
                <c:pt idx="616">
                  <c:v>14.47</c:v>
                </c:pt>
                <c:pt idx="617">
                  <c:v>19.45</c:v>
                </c:pt>
                <c:pt idx="618">
                  <c:v>18.14</c:v>
                </c:pt>
                <c:pt idx="619">
                  <c:v>26.28</c:v>
                </c:pt>
                <c:pt idx="620">
                  <c:v>25.3</c:v>
                </c:pt>
                <c:pt idx="621">
                  <c:v>25.2</c:v>
                </c:pt>
                <c:pt idx="622">
                  <c:v>32.43</c:v>
                </c:pt>
                <c:pt idx="623">
                  <c:v>18.23</c:v>
                </c:pt>
                <c:pt idx="624">
                  <c:v>16.59</c:v>
                </c:pt>
                <c:pt idx="625">
                  <c:v>14.65</c:v>
                </c:pt>
                <c:pt idx="626">
                  <c:v>17.2</c:v>
                </c:pt>
                <c:pt idx="627">
                  <c:v>16.600000000000001</c:v>
                </c:pt>
                <c:pt idx="628">
                  <c:v>17.27</c:v>
                </c:pt>
                <c:pt idx="629">
                  <c:v>19.32</c:v>
                </c:pt>
                <c:pt idx="630">
                  <c:v>22.13</c:v>
                </c:pt>
                <c:pt idx="631">
                  <c:v>23.83</c:v>
                </c:pt>
                <c:pt idx="632">
                  <c:v>28.39</c:v>
                </c:pt>
                <c:pt idx="633">
                  <c:v>28</c:v>
                </c:pt>
                <c:pt idx="634">
                  <c:v>29.37</c:v>
                </c:pt>
                <c:pt idx="635">
                  <c:v>32.770000000000003</c:v>
                </c:pt>
                <c:pt idx="636">
                  <c:v>37.799999999999997</c:v>
                </c:pt>
                <c:pt idx="637">
                  <c:v>43.17</c:v>
                </c:pt>
                <c:pt idx="638">
                  <c:v>42.43</c:v>
                </c:pt>
                <c:pt idx="639">
                  <c:v>33.42</c:v>
                </c:pt>
                <c:pt idx="640">
                  <c:v>33.200000000000003</c:v>
                </c:pt>
                <c:pt idx="641">
                  <c:v>31.9</c:v>
                </c:pt>
                <c:pt idx="642">
                  <c:v>41.27</c:v>
                </c:pt>
                <c:pt idx="643">
                  <c:v>41</c:v>
                </c:pt>
                <c:pt idx="644">
                  <c:v>42.88</c:v>
                </c:pt>
                <c:pt idx="645">
                  <c:v>37.78</c:v>
                </c:pt>
                <c:pt idx="646">
                  <c:v>42.66</c:v>
                </c:pt>
                <c:pt idx="647">
                  <c:v>35.33</c:v>
                </c:pt>
                <c:pt idx="648">
                  <c:v>41.27</c:v>
                </c:pt>
                <c:pt idx="649">
                  <c:v>48.3</c:v>
                </c:pt>
                <c:pt idx="650">
                  <c:v>56.14</c:v>
                </c:pt>
                <c:pt idx="651">
                  <c:v>34.81</c:v>
                </c:pt>
                <c:pt idx="652">
                  <c:v>31.61</c:v>
                </c:pt>
                <c:pt idx="653">
                  <c:v>44.01</c:v>
                </c:pt>
                <c:pt idx="654">
                  <c:v>67.39</c:v>
                </c:pt>
                <c:pt idx="655">
                  <c:v>66.150000000000006</c:v>
                </c:pt>
                <c:pt idx="656">
                  <c:v>53</c:v>
                </c:pt>
                <c:pt idx="657">
                  <c:v>57.27</c:v>
                </c:pt>
                <c:pt idx="658">
                  <c:v>61.9</c:v>
                </c:pt>
                <c:pt idx="659">
                  <c:v>62.83</c:v>
                </c:pt>
                <c:pt idx="660">
                  <c:v>94</c:v>
                </c:pt>
                <c:pt idx="661">
                  <c:v>113.27</c:v>
                </c:pt>
                <c:pt idx="662">
                  <c:v>81.23</c:v>
                </c:pt>
                <c:pt idx="663">
                  <c:v>53.73</c:v>
                </c:pt>
                <c:pt idx="664">
                  <c:v>68.7</c:v>
                </c:pt>
                <c:pt idx="665">
                  <c:v>60.3</c:v>
                </c:pt>
                <c:pt idx="666">
                  <c:v>74.540000000000006</c:v>
                </c:pt>
                <c:pt idx="667">
                  <c:v>54.5</c:v>
                </c:pt>
                <c:pt idx="668">
                  <c:v>55.6</c:v>
                </c:pt>
                <c:pt idx="669">
                  <c:v>45.11</c:v>
                </c:pt>
                <c:pt idx="670">
                  <c:v>57.52</c:v>
                </c:pt>
                <c:pt idx="671">
                  <c:v>41.17</c:v>
                </c:pt>
                <c:pt idx="672">
                  <c:v>45.43</c:v>
                </c:pt>
                <c:pt idx="673">
                  <c:v>47.42</c:v>
                </c:pt>
                <c:pt idx="674">
                  <c:v>49.62</c:v>
                </c:pt>
                <c:pt idx="675">
                  <c:v>40.51</c:v>
                </c:pt>
                <c:pt idx="676">
                  <c:v>44.09</c:v>
                </c:pt>
                <c:pt idx="677">
                  <c:v>61.4</c:v>
                </c:pt>
                <c:pt idx="678">
                  <c:v>65.459999999999994</c:v>
                </c:pt>
                <c:pt idx="679">
                  <c:v>45.71</c:v>
                </c:pt>
                <c:pt idx="680">
                  <c:v>46.46</c:v>
                </c:pt>
                <c:pt idx="681">
                  <c:v>43.64</c:v>
                </c:pt>
                <c:pt idx="682">
                  <c:v>48.55</c:v>
                </c:pt>
                <c:pt idx="683">
                  <c:v>51.46</c:v>
                </c:pt>
                <c:pt idx="684">
                  <c:v>44.7</c:v>
                </c:pt>
                <c:pt idx="685">
                  <c:v>47.67</c:v>
                </c:pt>
                <c:pt idx="686">
                  <c:v>47.7</c:v>
                </c:pt>
                <c:pt idx="687">
                  <c:v>48.89</c:v>
                </c:pt>
                <c:pt idx="688">
                  <c:v>45.46</c:v>
                </c:pt>
                <c:pt idx="689">
                  <c:v>44.76</c:v>
                </c:pt>
                <c:pt idx="690">
                  <c:v>53.8</c:v>
                </c:pt>
                <c:pt idx="691">
                  <c:v>46.08</c:v>
                </c:pt>
                <c:pt idx="692">
                  <c:v>39.9</c:v>
                </c:pt>
                <c:pt idx="693">
                  <c:v>42.8</c:v>
                </c:pt>
                <c:pt idx="694">
                  <c:v>50.5</c:v>
                </c:pt>
                <c:pt idx="695">
                  <c:v>55.9</c:v>
                </c:pt>
                <c:pt idx="696">
                  <c:v>53.4</c:v>
                </c:pt>
                <c:pt idx="697">
                  <c:v>51.66</c:v>
                </c:pt>
                <c:pt idx="698">
                  <c:v>55.8</c:v>
                </c:pt>
                <c:pt idx="699">
                  <c:v>52.1</c:v>
                </c:pt>
                <c:pt idx="700">
                  <c:v>48.24</c:v>
                </c:pt>
                <c:pt idx="701">
                  <c:v>44.33</c:v>
                </c:pt>
                <c:pt idx="702">
                  <c:v>42.01</c:v>
                </c:pt>
                <c:pt idx="703">
                  <c:v>43.71</c:v>
                </c:pt>
                <c:pt idx="704">
                  <c:v>42.6</c:v>
                </c:pt>
                <c:pt idx="705">
                  <c:v>39.93</c:v>
                </c:pt>
                <c:pt idx="706">
                  <c:v>36.200000000000003</c:v>
                </c:pt>
                <c:pt idx="707">
                  <c:v>39.700000000000003</c:v>
                </c:pt>
                <c:pt idx="708">
                  <c:v>40.06</c:v>
                </c:pt>
                <c:pt idx="709">
                  <c:v>37.32</c:v>
                </c:pt>
                <c:pt idx="710">
                  <c:v>41.78</c:v>
                </c:pt>
                <c:pt idx="711">
                  <c:v>40.85</c:v>
                </c:pt>
                <c:pt idx="712">
                  <c:v>40.130000000000003</c:v>
                </c:pt>
                <c:pt idx="713">
                  <c:v>36.409999999999997</c:v>
                </c:pt>
                <c:pt idx="714">
                  <c:v>36.549999999999997</c:v>
                </c:pt>
                <c:pt idx="715">
                  <c:v>36.200000000000003</c:v>
                </c:pt>
                <c:pt idx="716">
                  <c:v>34.869999999999997</c:v>
                </c:pt>
                <c:pt idx="717">
                  <c:v>35.96</c:v>
                </c:pt>
                <c:pt idx="718">
                  <c:v>34.49</c:v>
                </c:pt>
                <c:pt idx="719">
                  <c:v>34.119999999999997</c:v>
                </c:pt>
                <c:pt idx="720">
                  <c:v>34.1</c:v>
                </c:pt>
                <c:pt idx="721">
                  <c:v>31</c:v>
                </c:pt>
                <c:pt idx="722">
                  <c:v>27.9</c:v>
                </c:pt>
                <c:pt idx="723">
                  <c:v>31.94</c:v>
                </c:pt>
                <c:pt idx="724">
                  <c:v>31.35</c:v>
                </c:pt>
                <c:pt idx="725">
                  <c:v>30.88</c:v>
                </c:pt>
                <c:pt idx="726">
                  <c:v>29.2</c:v>
                </c:pt>
                <c:pt idx="727">
                  <c:v>25.05</c:v>
                </c:pt>
                <c:pt idx="728">
                  <c:v>23.9</c:v>
                </c:pt>
                <c:pt idx="729">
                  <c:v>22.45</c:v>
                </c:pt>
                <c:pt idx="730">
                  <c:v>19.93</c:v>
                </c:pt>
                <c:pt idx="731">
                  <c:v>25</c:v>
                </c:pt>
                <c:pt idx="732">
                  <c:v>22.59</c:v>
                </c:pt>
                <c:pt idx="733">
                  <c:v>19.03</c:v>
                </c:pt>
                <c:pt idx="734">
                  <c:v>19.559999999999999</c:v>
                </c:pt>
                <c:pt idx="735">
                  <c:v>19.600000000000001</c:v>
                </c:pt>
                <c:pt idx="736">
                  <c:v>21.4</c:v>
                </c:pt>
                <c:pt idx="737">
                  <c:v>19.399999999999999</c:v>
                </c:pt>
                <c:pt idx="738">
                  <c:v>19.5</c:v>
                </c:pt>
                <c:pt idx="739">
                  <c:v>17.45</c:v>
                </c:pt>
                <c:pt idx="740">
                  <c:v>19.399999999999999</c:v>
                </c:pt>
                <c:pt idx="741">
                  <c:v>17.2</c:v>
                </c:pt>
                <c:pt idx="742">
                  <c:v>18</c:v>
                </c:pt>
                <c:pt idx="743">
                  <c:v>19.36</c:v>
                </c:pt>
                <c:pt idx="744">
                  <c:v>18</c:v>
                </c:pt>
                <c:pt idx="745">
                  <c:v>18.899999999999999</c:v>
                </c:pt>
                <c:pt idx="746">
                  <c:v>16.86</c:v>
                </c:pt>
                <c:pt idx="747">
                  <c:v>18.559999999999999</c:v>
                </c:pt>
                <c:pt idx="748">
                  <c:v>17.7</c:v>
                </c:pt>
                <c:pt idx="749">
                  <c:v>16.7</c:v>
                </c:pt>
                <c:pt idx="750">
                  <c:v>16.600000000000001</c:v>
                </c:pt>
                <c:pt idx="751">
                  <c:v>16.63</c:v>
                </c:pt>
                <c:pt idx="752">
                  <c:v>16.2</c:v>
                </c:pt>
                <c:pt idx="753">
                  <c:v>14.3</c:v>
                </c:pt>
                <c:pt idx="754">
                  <c:v>14.8</c:v>
                </c:pt>
                <c:pt idx="755">
                  <c:v>8.6999999999999993</c:v>
                </c:pt>
                <c:pt idx="756">
                  <c:v>8.77</c:v>
                </c:pt>
                <c:pt idx="757">
                  <c:v>9.1</c:v>
                </c:pt>
                <c:pt idx="758">
                  <c:v>9.8000000000000007</c:v>
                </c:pt>
                <c:pt idx="759">
                  <c:v>10.5</c:v>
                </c:pt>
                <c:pt idx="760">
                  <c:v>9.74</c:v>
                </c:pt>
                <c:pt idx="761">
                  <c:v>13.46</c:v>
                </c:pt>
                <c:pt idx="762">
                  <c:v>4.8</c:v>
                </c:pt>
                <c:pt idx="763">
                  <c:v>4.2300000000000004</c:v>
                </c:pt>
                <c:pt idx="764">
                  <c:v>8.02</c:v>
                </c:pt>
                <c:pt idx="765">
                  <c:v>3.78</c:v>
                </c:pt>
                <c:pt idx="766">
                  <c:v>5.0999999999999996</c:v>
                </c:pt>
                <c:pt idx="767">
                  <c:v>2.27</c:v>
                </c:pt>
                <c:pt idx="768">
                  <c:v>-2.76</c:v>
                </c:pt>
                <c:pt idx="769">
                  <c:v>1.21</c:v>
                </c:pt>
                <c:pt idx="770">
                  <c:v>-1.75</c:v>
                </c:pt>
                <c:pt idx="771">
                  <c:v>0.8</c:v>
                </c:pt>
                <c:pt idx="772">
                  <c:v>7.1</c:v>
                </c:pt>
                <c:pt idx="773">
                  <c:v>0.45</c:v>
                </c:pt>
                <c:pt idx="774">
                  <c:v>-2.11</c:v>
                </c:pt>
                <c:pt idx="775">
                  <c:v>-7.79</c:v>
                </c:pt>
                <c:pt idx="776">
                  <c:v>-5.4</c:v>
                </c:pt>
                <c:pt idx="777">
                  <c:v>4.0999999999999996</c:v>
                </c:pt>
                <c:pt idx="778">
                  <c:v>-2.44</c:v>
                </c:pt>
                <c:pt idx="779">
                  <c:v>-2.8</c:v>
                </c:pt>
                <c:pt idx="780">
                  <c:v>-1.8</c:v>
                </c:pt>
                <c:pt idx="781">
                  <c:v>-0.1</c:v>
                </c:pt>
                <c:pt idx="782">
                  <c:v>1.1000000000000001</c:v>
                </c:pt>
                <c:pt idx="783">
                  <c:v>-2.2999999999999998</c:v>
                </c:pt>
                <c:pt idx="784">
                  <c:v>1.35</c:v>
                </c:pt>
                <c:pt idx="785">
                  <c:v>3.95</c:v>
                </c:pt>
                <c:pt idx="786">
                  <c:v>0.9</c:v>
                </c:pt>
                <c:pt idx="787">
                  <c:v>9.2100000000000009</c:v>
                </c:pt>
                <c:pt idx="788">
                  <c:v>5.7</c:v>
                </c:pt>
                <c:pt idx="789">
                  <c:v>7.5</c:v>
                </c:pt>
                <c:pt idx="790">
                  <c:v>5.6</c:v>
                </c:pt>
                <c:pt idx="791">
                  <c:v>4.2</c:v>
                </c:pt>
                <c:pt idx="792">
                  <c:v>4.8</c:v>
                </c:pt>
                <c:pt idx="793">
                  <c:v>5.9</c:v>
                </c:pt>
                <c:pt idx="794">
                  <c:v>6.25</c:v>
                </c:pt>
                <c:pt idx="795">
                  <c:v>8.14</c:v>
                </c:pt>
                <c:pt idx="796">
                  <c:v>5.34</c:v>
                </c:pt>
                <c:pt idx="797">
                  <c:v>6.9</c:v>
                </c:pt>
                <c:pt idx="798">
                  <c:v>5.8</c:v>
                </c:pt>
                <c:pt idx="799">
                  <c:v>7</c:v>
                </c:pt>
                <c:pt idx="800">
                  <c:v>7.38</c:v>
                </c:pt>
                <c:pt idx="801">
                  <c:v>6.5</c:v>
                </c:pt>
                <c:pt idx="802">
                  <c:v>10.71</c:v>
                </c:pt>
                <c:pt idx="803">
                  <c:v>9.9</c:v>
                </c:pt>
                <c:pt idx="804">
                  <c:v>6.35</c:v>
                </c:pt>
                <c:pt idx="805">
                  <c:v>4.8</c:v>
                </c:pt>
                <c:pt idx="806">
                  <c:v>6.62</c:v>
                </c:pt>
                <c:pt idx="807">
                  <c:v>5.48</c:v>
                </c:pt>
                <c:pt idx="808">
                  <c:v>5.64</c:v>
                </c:pt>
                <c:pt idx="809">
                  <c:v>6.37</c:v>
                </c:pt>
                <c:pt idx="810">
                  <c:v>7.84</c:v>
                </c:pt>
                <c:pt idx="811">
                  <c:v>7.1</c:v>
                </c:pt>
                <c:pt idx="812">
                  <c:v>5.7</c:v>
                </c:pt>
                <c:pt idx="813">
                  <c:v>8.17</c:v>
                </c:pt>
                <c:pt idx="814">
                  <c:v>8.23</c:v>
                </c:pt>
                <c:pt idx="815">
                  <c:v>9</c:v>
                </c:pt>
                <c:pt idx="816">
                  <c:v>6.5</c:v>
                </c:pt>
                <c:pt idx="817">
                  <c:v>4.57</c:v>
                </c:pt>
                <c:pt idx="818">
                  <c:v>6.22</c:v>
                </c:pt>
                <c:pt idx="819">
                  <c:v>6.84</c:v>
                </c:pt>
                <c:pt idx="820">
                  <c:v>6.77</c:v>
                </c:pt>
                <c:pt idx="821">
                  <c:v>6.64</c:v>
                </c:pt>
                <c:pt idx="822">
                  <c:v>6.1</c:v>
                </c:pt>
                <c:pt idx="823">
                  <c:v>7.77</c:v>
                </c:pt>
                <c:pt idx="824">
                  <c:v>7.5</c:v>
                </c:pt>
                <c:pt idx="825">
                  <c:v>5.2</c:v>
                </c:pt>
                <c:pt idx="826">
                  <c:v>7.5</c:v>
                </c:pt>
                <c:pt idx="827">
                  <c:v>7.25</c:v>
                </c:pt>
                <c:pt idx="828">
                  <c:v>7.44</c:v>
                </c:pt>
                <c:pt idx="829">
                  <c:v>6</c:v>
                </c:pt>
                <c:pt idx="830">
                  <c:v>4.91</c:v>
                </c:pt>
                <c:pt idx="831">
                  <c:v>4.1900000000000004</c:v>
                </c:pt>
                <c:pt idx="832">
                  <c:v>5.82</c:v>
                </c:pt>
                <c:pt idx="833">
                  <c:v>6.57</c:v>
                </c:pt>
                <c:pt idx="834">
                  <c:v>8.67</c:v>
                </c:pt>
                <c:pt idx="835">
                  <c:v>4.7</c:v>
                </c:pt>
                <c:pt idx="836">
                  <c:v>6.39</c:v>
                </c:pt>
                <c:pt idx="837">
                  <c:v>7.7</c:v>
                </c:pt>
                <c:pt idx="838">
                  <c:v>10.59</c:v>
                </c:pt>
                <c:pt idx="839">
                  <c:v>10.25</c:v>
                </c:pt>
                <c:pt idx="840">
                  <c:v>10.65</c:v>
                </c:pt>
                <c:pt idx="841">
                  <c:v>11.09</c:v>
                </c:pt>
                <c:pt idx="842">
                  <c:v>10.26</c:v>
                </c:pt>
                <c:pt idx="843">
                  <c:v>9.81</c:v>
                </c:pt>
                <c:pt idx="844">
                  <c:v>3.74</c:v>
                </c:pt>
                <c:pt idx="845">
                  <c:v>10.15</c:v>
                </c:pt>
                <c:pt idx="846">
                  <c:v>9.4</c:v>
                </c:pt>
                <c:pt idx="847">
                  <c:v>11.85</c:v>
                </c:pt>
                <c:pt idx="848">
                  <c:v>7.55</c:v>
                </c:pt>
                <c:pt idx="849">
                  <c:v>8.1999999999999993</c:v>
                </c:pt>
                <c:pt idx="850">
                  <c:v>12.65</c:v>
                </c:pt>
                <c:pt idx="851">
                  <c:v>11.85</c:v>
                </c:pt>
                <c:pt idx="852">
                  <c:v>12.4</c:v>
                </c:pt>
                <c:pt idx="853">
                  <c:v>11.5</c:v>
                </c:pt>
                <c:pt idx="854">
                  <c:v>15.8</c:v>
                </c:pt>
                <c:pt idx="855">
                  <c:v>14.07</c:v>
                </c:pt>
                <c:pt idx="856">
                  <c:v>14.2</c:v>
                </c:pt>
                <c:pt idx="857">
                  <c:v>13.58</c:v>
                </c:pt>
                <c:pt idx="858">
                  <c:v>15.66</c:v>
                </c:pt>
                <c:pt idx="859">
                  <c:v>15.8</c:v>
                </c:pt>
                <c:pt idx="860">
                  <c:v>14.5</c:v>
                </c:pt>
                <c:pt idx="861">
                  <c:v>13.9</c:v>
                </c:pt>
                <c:pt idx="862">
                  <c:v>14.3</c:v>
                </c:pt>
                <c:pt idx="863">
                  <c:v>15</c:v>
                </c:pt>
                <c:pt idx="864">
                  <c:v>16</c:v>
                </c:pt>
                <c:pt idx="865">
                  <c:v>15.7</c:v>
                </c:pt>
                <c:pt idx="866">
                  <c:v>15.66</c:v>
                </c:pt>
                <c:pt idx="867">
                  <c:v>15.1</c:v>
                </c:pt>
                <c:pt idx="868">
                  <c:v>14.81</c:v>
                </c:pt>
                <c:pt idx="869">
                  <c:v>14.47</c:v>
                </c:pt>
                <c:pt idx="870">
                  <c:v>15.8</c:v>
                </c:pt>
                <c:pt idx="871">
                  <c:v>9.06</c:v>
                </c:pt>
                <c:pt idx="872">
                  <c:v>14.74</c:v>
                </c:pt>
                <c:pt idx="873">
                  <c:v>19.399999999999999</c:v>
                </c:pt>
                <c:pt idx="874">
                  <c:v>-0.65</c:v>
                </c:pt>
              </c:numCache>
            </c:numRef>
          </c:yVal>
          <c:smooth val="0"/>
          <c:extLst>
            <c:ext xmlns:c16="http://schemas.microsoft.com/office/drawing/2014/chart" uri="{C3380CC4-5D6E-409C-BE32-E72D297353CC}">
              <c16:uniqueId val="{00000000-9415-4798-B841-7B289423C7C2}"/>
            </c:ext>
          </c:extLst>
        </c:ser>
        <c:ser>
          <c:idx val="1"/>
          <c:order val="1"/>
          <c:tx>
            <c:strRef>
              <c:f>Sheet1!$B$878</c:f>
              <c:strCache>
                <c:ptCount val="1"/>
                <c:pt idx="0">
                  <c:v>S1</c:v>
                </c:pt>
              </c:strCache>
            </c:strRef>
          </c:tx>
          <c:spPr>
            <a:ln w="19050">
              <a:solidFill>
                <a:srgbClr val="2C7A5A"/>
              </a:solidFill>
              <a:prstDash val="dash"/>
            </a:ln>
          </c:spPr>
          <c:marker>
            <c:symbol val="none"/>
          </c:marker>
          <c:xVal>
            <c:numRef>
              <c:f>Sheet1!$A$879:$A$880</c:f>
              <c:numCache>
                <c:formatCode>General</c:formatCode>
                <c:ptCount val="2"/>
                <c:pt idx="0">
                  <c:v>40179</c:v>
                </c:pt>
                <c:pt idx="1">
                  <c:v>46297</c:v>
                </c:pt>
              </c:numCache>
            </c:numRef>
          </c:xVal>
          <c:yVal>
            <c:numRef>
              <c:f>Sheet1!$B$879:$B$880</c:f>
              <c:numCache>
                <c:formatCode>General</c:formatCode>
                <c:ptCount val="2"/>
                <c:pt idx="0">
                  <c:v>28</c:v>
                </c:pt>
                <c:pt idx="1">
                  <c:v>28</c:v>
                </c:pt>
              </c:numCache>
            </c:numRef>
          </c:yVal>
          <c:smooth val="0"/>
          <c:extLst>
            <c:ext xmlns:c16="http://schemas.microsoft.com/office/drawing/2014/chart" uri="{C3380CC4-5D6E-409C-BE32-E72D297353CC}">
              <c16:uniqueId val="{00000001-9415-4798-B841-7B289423C7C2}"/>
            </c:ext>
          </c:extLst>
        </c:ser>
        <c:ser>
          <c:idx val="2"/>
          <c:order val="2"/>
          <c:tx>
            <c:strRef>
              <c:f>Sheet1!$B$882</c:f>
              <c:strCache>
                <c:ptCount val="1"/>
                <c:pt idx="0">
                  <c:v>S3</c:v>
                </c:pt>
              </c:strCache>
            </c:strRef>
          </c:tx>
          <c:spPr>
            <a:ln w="19050">
              <a:solidFill>
                <a:srgbClr val="3C8DBC"/>
              </a:solidFill>
              <a:prstDash val="dash"/>
            </a:ln>
          </c:spPr>
          <c:marker>
            <c:symbol val="none"/>
          </c:marker>
          <c:xVal>
            <c:numRef>
              <c:f>Sheet1!$A$883:$A$884</c:f>
              <c:numCache>
                <c:formatCode>General</c:formatCode>
                <c:ptCount val="2"/>
                <c:pt idx="0">
                  <c:v>40179</c:v>
                </c:pt>
                <c:pt idx="1">
                  <c:v>46297</c:v>
                </c:pt>
              </c:numCache>
            </c:numRef>
          </c:xVal>
          <c:yVal>
            <c:numRef>
              <c:f>Sheet1!$B$883:$B$884</c:f>
              <c:numCache>
                <c:formatCode>General</c:formatCode>
                <c:ptCount val="2"/>
                <c:pt idx="0">
                  <c:v>-1.3</c:v>
                </c:pt>
                <c:pt idx="1">
                  <c:v>-1.3</c:v>
                </c:pt>
              </c:numCache>
            </c:numRef>
          </c:yVal>
          <c:smooth val="0"/>
          <c:extLst>
            <c:ext xmlns:c16="http://schemas.microsoft.com/office/drawing/2014/chart" uri="{C3380CC4-5D6E-409C-BE32-E72D297353CC}">
              <c16:uniqueId val="{00000002-9415-4798-B841-7B289423C7C2}"/>
            </c:ext>
          </c:extLst>
        </c:ser>
        <c:ser>
          <c:idx val="3"/>
          <c:order val="3"/>
          <c:tx>
            <c:strRef>
              <c:f>Sheet1!$B$886</c:f>
              <c:strCache>
                <c:ptCount val="1"/>
                <c:pt idx="0">
                  <c:v>S4</c:v>
                </c:pt>
              </c:strCache>
            </c:strRef>
          </c:tx>
          <c:spPr>
            <a:ln w="19050">
              <a:solidFill>
                <a:srgbClr val="011C40"/>
              </a:solidFill>
              <a:prstDash val="dash"/>
            </a:ln>
          </c:spPr>
          <c:marker>
            <c:symbol val="none"/>
          </c:marker>
          <c:xVal>
            <c:numRef>
              <c:f>Sheet1!$A$887:$A$888</c:f>
              <c:numCache>
                <c:formatCode>General</c:formatCode>
                <c:ptCount val="2"/>
                <c:pt idx="0">
                  <c:v>40179</c:v>
                </c:pt>
                <c:pt idx="1">
                  <c:v>46297</c:v>
                </c:pt>
              </c:numCache>
            </c:numRef>
          </c:xVal>
          <c:yVal>
            <c:numRef>
              <c:f>Sheet1!$B$887:$B$888</c:f>
              <c:numCache>
                <c:formatCode>General</c:formatCode>
                <c:ptCount val="2"/>
                <c:pt idx="0">
                  <c:v>-83</c:v>
                </c:pt>
                <c:pt idx="1">
                  <c:v>-83</c:v>
                </c:pt>
              </c:numCache>
            </c:numRef>
          </c:yVal>
          <c:smooth val="0"/>
          <c:extLst>
            <c:ext xmlns:c16="http://schemas.microsoft.com/office/drawing/2014/chart" uri="{C3380CC4-5D6E-409C-BE32-E72D297353CC}">
              <c16:uniqueId val="{00000003-9415-4798-B841-7B289423C7C2}"/>
            </c:ext>
          </c:extLst>
        </c:ser>
        <c:ser>
          <c:idx val="4"/>
          <c:order val="4"/>
          <c:tx>
            <c:strRef>
              <c:f>Sheet1!$B$890</c:f>
              <c:strCache>
                <c:ptCount val="1"/>
                <c:pt idx="0">
                  <c:v>S5</c:v>
                </c:pt>
              </c:strCache>
            </c:strRef>
          </c:tx>
          <c:spPr>
            <a:ln w="19050">
              <a:solidFill>
                <a:srgbClr val="6A4C93"/>
              </a:solidFill>
              <a:prstDash val="dash"/>
            </a:ln>
          </c:spPr>
          <c:marker>
            <c:symbol val="none"/>
          </c:marker>
          <c:xVal>
            <c:numRef>
              <c:f>Sheet1!$A$891:$A$892</c:f>
              <c:numCache>
                <c:formatCode>General</c:formatCode>
                <c:ptCount val="2"/>
                <c:pt idx="0">
                  <c:v>40179</c:v>
                </c:pt>
                <c:pt idx="1">
                  <c:v>46297</c:v>
                </c:pt>
              </c:numCache>
            </c:numRef>
          </c:xVal>
          <c:yVal>
            <c:numRef>
              <c:f>Sheet1!$B$891:$B$892</c:f>
              <c:numCache>
                <c:formatCode>General</c:formatCode>
                <c:ptCount val="2"/>
                <c:pt idx="0">
                  <c:v>-350</c:v>
                </c:pt>
                <c:pt idx="1">
                  <c:v>-350</c:v>
                </c:pt>
              </c:numCache>
            </c:numRef>
          </c:yVal>
          <c:smooth val="0"/>
          <c:extLst>
            <c:ext xmlns:c16="http://schemas.microsoft.com/office/drawing/2014/chart" uri="{C3380CC4-5D6E-409C-BE32-E72D297353CC}">
              <c16:uniqueId val="{00000004-9415-4798-B841-7B289423C7C2}"/>
            </c:ext>
          </c:extLst>
        </c:ser>
        <c:ser>
          <c:idx val="5"/>
          <c:order val="5"/>
          <c:tx>
            <c:strRef>
              <c:f>Sheet1!$B$894</c:f>
              <c:strCache>
                <c:ptCount val="1"/>
                <c:pt idx="0">
                  <c:v>BE</c:v>
                </c:pt>
              </c:strCache>
            </c:strRef>
          </c:tx>
          <c:spPr>
            <a:ln w="19050">
              <a:solidFill>
                <a:srgbClr val="5A6172"/>
              </a:solidFill>
              <a:prstDash val="dash"/>
            </a:ln>
          </c:spPr>
          <c:marker>
            <c:symbol val="none"/>
          </c:marker>
          <c:xVal>
            <c:numRef>
              <c:f>Sheet1!$A$895:$A$896</c:f>
              <c:numCache>
                <c:formatCode>General</c:formatCode>
                <c:ptCount val="2"/>
                <c:pt idx="0">
                  <c:v>40179</c:v>
                </c:pt>
                <c:pt idx="1">
                  <c:v>46297</c:v>
                </c:pt>
              </c:numCache>
            </c:numRef>
          </c:xVal>
          <c:yVal>
            <c:numRef>
              <c:f>Sheet1!$B$895:$B$896</c:f>
              <c:numCache>
                <c:formatCode>General</c:formatCode>
                <c:ptCount val="2"/>
                <c:pt idx="0">
                  <c:v>-445</c:v>
                </c:pt>
                <c:pt idx="1">
                  <c:v>-445</c:v>
                </c:pt>
              </c:numCache>
            </c:numRef>
          </c:yVal>
          <c:smooth val="0"/>
          <c:extLst>
            <c:ext xmlns:c16="http://schemas.microsoft.com/office/drawing/2014/chart" uri="{C3380CC4-5D6E-409C-BE32-E72D297353CC}">
              <c16:uniqueId val="{00000005-9415-4798-B841-7B289423C7C2}"/>
            </c:ext>
          </c:extLst>
        </c:ser>
        <c:ser>
          <c:idx val="6"/>
          <c:order val="6"/>
          <c:tx>
            <c:strRef>
              <c:f>Sheet1!$B$898</c:f>
              <c:strCache>
                <c:ptCount val="1"/>
                <c:pt idx="0">
                  <c:v>IMP</c:v>
                </c:pt>
              </c:strCache>
            </c:strRef>
          </c:tx>
          <c:spPr>
            <a:ln w="19050">
              <a:solidFill>
                <a:srgbClr val="B3332E"/>
              </a:solidFill>
              <a:prstDash val="dash"/>
            </a:ln>
          </c:spPr>
          <c:marker>
            <c:symbol val="none"/>
          </c:marker>
          <c:xVal>
            <c:numRef>
              <c:f>Sheet1!$A$899:$A$900</c:f>
              <c:numCache>
                <c:formatCode>General</c:formatCode>
                <c:ptCount val="2"/>
                <c:pt idx="0">
                  <c:v>40179</c:v>
                </c:pt>
                <c:pt idx="1">
                  <c:v>46297</c:v>
                </c:pt>
              </c:numCache>
            </c:numRef>
          </c:xVal>
          <c:yVal>
            <c:numRef>
              <c:f>Sheet1!$B$899:$B$900</c:f>
              <c:numCache>
                <c:formatCode>General</c:formatCode>
                <c:ptCount val="2"/>
                <c:pt idx="0">
                  <c:v>-572</c:v>
                </c:pt>
                <c:pt idx="1">
                  <c:v>-572</c:v>
                </c:pt>
              </c:numCache>
            </c:numRef>
          </c:yVal>
          <c:smooth val="0"/>
          <c:extLst>
            <c:ext xmlns:c16="http://schemas.microsoft.com/office/drawing/2014/chart" uri="{C3380CC4-5D6E-409C-BE32-E72D297353CC}">
              <c16:uniqueId val="{00000006-9415-4798-B841-7B289423C7C2}"/>
            </c:ext>
          </c:extLst>
        </c:ser>
        <c:ser>
          <c:idx val="7"/>
          <c:order val="7"/>
          <c:tx>
            <c:strRef>
              <c:f>Sheet1!$B$902</c:f>
              <c:strCache>
                <c:ptCount val="1"/>
                <c:pt idx="0">
                  <c:v>S6</c:v>
                </c:pt>
              </c:strCache>
            </c:strRef>
          </c:tx>
          <c:spPr>
            <a:ln w="19050">
              <a:solidFill>
                <a:srgbClr val="B3332E"/>
              </a:solidFill>
              <a:prstDash val="dash"/>
            </a:ln>
          </c:spPr>
          <c:marker>
            <c:symbol val="none"/>
          </c:marker>
          <c:xVal>
            <c:numRef>
              <c:f>Sheet1!$A$903:$A$904</c:f>
              <c:numCache>
                <c:formatCode>General</c:formatCode>
                <c:ptCount val="2"/>
                <c:pt idx="0">
                  <c:v>40179</c:v>
                </c:pt>
                <c:pt idx="1">
                  <c:v>46297</c:v>
                </c:pt>
              </c:numCache>
            </c:numRef>
          </c:xVal>
          <c:yVal>
            <c:numRef>
              <c:f>Sheet1!$B$903:$B$904</c:f>
              <c:numCache>
                <c:formatCode>General</c:formatCode>
                <c:ptCount val="2"/>
                <c:pt idx="0">
                  <c:v>-615</c:v>
                </c:pt>
                <c:pt idx="1">
                  <c:v>-615</c:v>
                </c:pt>
              </c:numCache>
            </c:numRef>
          </c:yVal>
          <c:smooth val="0"/>
          <c:extLst>
            <c:ext xmlns:c16="http://schemas.microsoft.com/office/drawing/2014/chart" uri="{C3380CC4-5D6E-409C-BE32-E72D297353CC}">
              <c16:uniqueId val="{00000007-9415-4798-B841-7B289423C7C2}"/>
            </c:ext>
          </c:extLst>
        </c:ser>
        <c:dLbls>
          <c:showLegendKey val="0"/>
          <c:showVal val="0"/>
          <c:showCatName val="0"/>
          <c:showSerName val="0"/>
          <c:showPercent val="0"/>
          <c:showBubbleSize val="0"/>
        </c:dLbls>
        <c:axId val="-2128940872"/>
        <c:axId val="-2129643912"/>
      </c:scatterChart>
      <c:valAx>
        <c:axId val="-2128940872"/>
        <c:scaling>
          <c:orientation val="minMax"/>
          <c:max val="46297"/>
          <c:min val="40179"/>
        </c:scaling>
        <c:delete val="0"/>
        <c:axPos val="b"/>
        <c:numFmt formatCode="yyyy" sourceLinked="0"/>
        <c:majorTickMark val="out"/>
        <c:minorTickMark val="none"/>
        <c:tickLblPos val="low"/>
        <c:spPr>
          <a:ln>
            <a:solidFill>
              <a:srgbClr val="DCE3EF"/>
            </a:solidFill>
          </a:ln>
        </c:spPr>
        <c:txPr>
          <a:bodyPr/>
          <a:lstStyle/>
          <a:p>
            <a:pPr>
              <a:defRPr sz="950">
                <a:solidFill>
                  <a:srgbClr val="5A6172"/>
                </a:solidFill>
              </a:defRPr>
            </a:pPr>
            <a:endParaRPr lang="en-US"/>
          </a:p>
        </c:txPr>
        <c:crossAx val="-2129643912"/>
        <c:crosses val="autoZero"/>
        <c:crossBetween val="midCat"/>
        <c:majorUnit val="1461"/>
      </c:valAx>
      <c:valAx>
        <c:axId val="-2129643912"/>
        <c:scaling>
          <c:orientation val="minMax"/>
          <c:max val="150"/>
          <c:min val="-650"/>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950">
                <a:solidFill>
                  <a:srgbClr val="5A6172"/>
                </a:solidFill>
              </a:defRPr>
            </a:pPr>
            <a:endParaRPr lang="en-US"/>
          </a:p>
        </c:txPr>
        <c:crossAx val="-2128940872"/>
        <c:crosses val="autoZero"/>
        <c:crossBetween val="midCat"/>
      </c:valAx>
    </c:plotArea>
    <c:plotVisOnly val="1"/>
    <c:dispBlanksAs val="gap"/>
    <c:showDLblsOverMax val="0"/>
  </c:chart>
  <c:txPr>
    <a:bodyPr/>
    <a:lstStyle/>
    <a:p>
      <a:pPr>
        <a:defRPr sz="950">
          <a:latin typeface="Garamond"/>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Italy</c:v>
                </c:pt>
              </c:strCache>
            </c:strRef>
          </c:tx>
          <c:spPr>
            <a:ln w="28575">
              <a:solidFill>
                <a:srgbClr val="B3332E"/>
              </a:solidFill>
            </a:ln>
          </c:spPr>
          <c:marker>
            <c:symbol val="none"/>
          </c:marker>
          <c:xVal>
            <c:numRef>
              <c:f>Sheet1!$A$2:$A$210</c:f>
              <c:numCache>
                <c:formatCode>General</c:formatCode>
                <c:ptCount val="209"/>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numCache>
            </c:numRef>
          </c:xVal>
          <c:yVal>
            <c:numRef>
              <c:f>Sheet1!$B$2:$B$210</c:f>
              <c:numCache>
                <c:formatCode>General</c:formatCode>
                <c:ptCount val="209"/>
                <c:pt idx="0">
                  <c:v>39.6</c:v>
                </c:pt>
                <c:pt idx="1">
                  <c:v>47.35</c:v>
                </c:pt>
                <c:pt idx="2">
                  <c:v>37.299999999999997</c:v>
                </c:pt>
                <c:pt idx="3">
                  <c:v>35.950000000000003</c:v>
                </c:pt>
                <c:pt idx="4">
                  <c:v>14.95</c:v>
                </c:pt>
                <c:pt idx="5">
                  <c:v>4</c:v>
                </c:pt>
                <c:pt idx="6">
                  <c:v>14.97</c:v>
                </c:pt>
                <c:pt idx="7">
                  <c:v>20.350000000000001</c:v>
                </c:pt>
                <c:pt idx="8">
                  <c:v>19.170000000000002</c:v>
                </c:pt>
                <c:pt idx="9">
                  <c:v>27.95</c:v>
                </c:pt>
                <c:pt idx="10">
                  <c:v>21</c:v>
                </c:pt>
                <c:pt idx="11">
                  <c:v>21</c:v>
                </c:pt>
                <c:pt idx="12">
                  <c:v>23.3</c:v>
                </c:pt>
                <c:pt idx="13">
                  <c:v>21.6</c:v>
                </c:pt>
                <c:pt idx="14">
                  <c:v>21.9</c:v>
                </c:pt>
                <c:pt idx="15">
                  <c:v>16.45</c:v>
                </c:pt>
                <c:pt idx="16">
                  <c:v>15.5</c:v>
                </c:pt>
                <c:pt idx="17">
                  <c:v>4.7</c:v>
                </c:pt>
                <c:pt idx="18">
                  <c:v>-37</c:v>
                </c:pt>
                <c:pt idx="19">
                  <c:v>-18.8</c:v>
                </c:pt>
                <c:pt idx="20">
                  <c:v>-15.8</c:v>
                </c:pt>
                <c:pt idx="21">
                  <c:v>-14.7</c:v>
                </c:pt>
                <c:pt idx="22">
                  <c:v>-17.95</c:v>
                </c:pt>
                <c:pt idx="23">
                  <c:v>-26.1</c:v>
                </c:pt>
                <c:pt idx="24">
                  <c:v>-3.4</c:v>
                </c:pt>
                <c:pt idx="25">
                  <c:v>-9.25</c:v>
                </c:pt>
                <c:pt idx="26">
                  <c:v>-7.45</c:v>
                </c:pt>
                <c:pt idx="27">
                  <c:v>-23.8</c:v>
                </c:pt>
                <c:pt idx="28">
                  <c:v>-19.850000000000001</c:v>
                </c:pt>
                <c:pt idx="29">
                  <c:v>-21.9</c:v>
                </c:pt>
                <c:pt idx="30">
                  <c:v>-16</c:v>
                </c:pt>
                <c:pt idx="31">
                  <c:v>-9</c:v>
                </c:pt>
                <c:pt idx="32">
                  <c:v>-16.399999999999999</c:v>
                </c:pt>
                <c:pt idx="33">
                  <c:v>-12.35</c:v>
                </c:pt>
                <c:pt idx="34">
                  <c:v>-13.2</c:v>
                </c:pt>
                <c:pt idx="35">
                  <c:v>-5.7</c:v>
                </c:pt>
                <c:pt idx="36">
                  <c:v>-24.5</c:v>
                </c:pt>
                <c:pt idx="37">
                  <c:v>-21.8</c:v>
                </c:pt>
                <c:pt idx="38">
                  <c:v>-25.85</c:v>
                </c:pt>
                <c:pt idx="39">
                  <c:v>-26.95</c:v>
                </c:pt>
                <c:pt idx="40">
                  <c:v>-17.600000000000001</c:v>
                </c:pt>
                <c:pt idx="41">
                  <c:v>-17.899999999999999</c:v>
                </c:pt>
                <c:pt idx="42">
                  <c:v>-11.6</c:v>
                </c:pt>
                <c:pt idx="43">
                  <c:v>-16.02</c:v>
                </c:pt>
                <c:pt idx="44">
                  <c:v>-25.15</c:v>
                </c:pt>
                <c:pt idx="45">
                  <c:v>-29.7</c:v>
                </c:pt>
                <c:pt idx="46">
                  <c:v>-24.05</c:v>
                </c:pt>
                <c:pt idx="47">
                  <c:v>-59.33</c:v>
                </c:pt>
                <c:pt idx="48">
                  <c:v>-52.2</c:v>
                </c:pt>
                <c:pt idx="49">
                  <c:v>-54</c:v>
                </c:pt>
                <c:pt idx="50">
                  <c:v>-47.6</c:v>
                </c:pt>
                <c:pt idx="51">
                  <c:v>-55.15</c:v>
                </c:pt>
                <c:pt idx="52">
                  <c:v>-62.5</c:v>
                </c:pt>
                <c:pt idx="53">
                  <c:v>-59.15</c:v>
                </c:pt>
                <c:pt idx="54">
                  <c:v>-50.55</c:v>
                </c:pt>
                <c:pt idx="55">
                  <c:v>-24.85</c:v>
                </c:pt>
                <c:pt idx="56">
                  <c:v>-27.95</c:v>
                </c:pt>
                <c:pt idx="57">
                  <c:v>-7.87</c:v>
                </c:pt>
                <c:pt idx="58">
                  <c:v>-26.9</c:v>
                </c:pt>
                <c:pt idx="59">
                  <c:v>-18.3</c:v>
                </c:pt>
                <c:pt idx="60">
                  <c:v>-16.8</c:v>
                </c:pt>
                <c:pt idx="61">
                  <c:v>-13.13</c:v>
                </c:pt>
                <c:pt idx="62">
                  <c:v>-13.1</c:v>
                </c:pt>
                <c:pt idx="63">
                  <c:v>-2.88</c:v>
                </c:pt>
                <c:pt idx="64">
                  <c:v>3.1</c:v>
                </c:pt>
                <c:pt idx="65">
                  <c:v>8.5</c:v>
                </c:pt>
                <c:pt idx="66">
                  <c:v>10.73</c:v>
                </c:pt>
                <c:pt idx="67">
                  <c:v>-5.9</c:v>
                </c:pt>
                <c:pt idx="68">
                  <c:v>-12.4</c:v>
                </c:pt>
                <c:pt idx="69">
                  <c:v>-10.45</c:v>
                </c:pt>
                <c:pt idx="70">
                  <c:v>-5.0999999999999996</c:v>
                </c:pt>
                <c:pt idx="71">
                  <c:v>-14.4</c:v>
                </c:pt>
                <c:pt idx="72">
                  <c:v>-16</c:v>
                </c:pt>
                <c:pt idx="73">
                  <c:v>-19.3</c:v>
                </c:pt>
                <c:pt idx="74">
                  <c:v>-7.4</c:v>
                </c:pt>
                <c:pt idx="75">
                  <c:v>-17.399999999999999</c:v>
                </c:pt>
                <c:pt idx="76">
                  <c:v>-23.6</c:v>
                </c:pt>
                <c:pt idx="77">
                  <c:v>-43.2</c:v>
                </c:pt>
                <c:pt idx="78">
                  <c:v>-28.6</c:v>
                </c:pt>
                <c:pt idx="79">
                  <c:v>-37.700000000000003</c:v>
                </c:pt>
                <c:pt idx="80">
                  <c:v>-147.4</c:v>
                </c:pt>
                <c:pt idx="81">
                  <c:v>-87.8</c:v>
                </c:pt>
                <c:pt idx="82">
                  <c:v>-115.15</c:v>
                </c:pt>
                <c:pt idx="83">
                  <c:v>-151.30000000000001</c:v>
                </c:pt>
                <c:pt idx="84">
                  <c:v>-134.19999999999999</c:v>
                </c:pt>
                <c:pt idx="85">
                  <c:v>-120.8</c:v>
                </c:pt>
                <c:pt idx="86">
                  <c:v>-122</c:v>
                </c:pt>
                <c:pt idx="87">
                  <c:v>-123.2</c:v>
                </c:pt>
                <c:pt idx="88">
                  <c:v>-190</c:v>
                </c:pt>
                <c:pt idx="89">
                  <c:v>-186.65</c:v>
                </c:pt>
                <c:pt idx="90">
                  <c:v>-213.1</c:v>
                </c:pt>
                <c:pt idx="91">
                  <c:v>-186</c:v>
                </c:pt>
                <c:pt idx="92">
                  <c:v>-159.4</c:v>
                </c:pt>
                <c:pt idx="93">
                  <c:v>-190.1</c:v>
                </c:pt>
                <c:pt idx="94">
                  <c:v>-201.4</c:v>
                </c:pt>
                <c:pt idx="95">
                  <c:v>-236.1</c:v>
                </c:pt>
                <c:pt idx="96">
                  <c:v>-366.55</c:v>
                </c:pt>
                <c:pt idx="97">
                  <c:v>-420.45</c:v>
                </c:pt>
                <c:pt idx="98">
                  <c:v>-374.3</c:v>
                </c:pt>
                <c:pt idx="99">
                  <c:v>-501</c:v>
                </c:pt>
                <c:pt idx="100">
                  <c:v>-409.5</c:v>
                </c:pt>
                <c:pt idx="101">
                  <c:v>-383.7</c:v>
                </c:pt>
                <c:pt idx="102">
                  <c:v>-282.75</c:v>
                </c:pt>
                <c:pt idx="103">
                  <c:v>-258</c:v>
                </c:pt>
                <c:pt idx="104">
                  <c:v>-231.9</c:v>
                </c:pt>
                <c:pt idx="105">
                  <c:v>-228.9</c:v>
                </c:pt>
                <c:pt idx="106">
                  <c:v>-159.19999999999999</c:v>
                </c:pt>
                <c:pt idx="107">
                  <c:v>-127.7</c:v>
                </c:pt>
                <c:pt idx="108">
                  <c:v>-102.2</c:v>
                </c:pt>
                <c:pt idx="109">
                  <c:v>-78</c:v>
                </c:pt>
                <c:pt idx="110">
                  <c:v>-83.15</c:v>
                </c:pt>
                <c:pt idx="111">
                  <c:v>-98.5</c:v>
                </c:pt>
                <c:pt idx="112">
                  <c:v>-69.650000000000006</c:v>
                </c:pt>
                <c:pt idx="113">
                  <c:v>0.8</c:v>
                </c:pt>
                <c:pt idx="114">
                  <c:v>-12.7</c:v>
                </c:pt>
                <c:pt idx="115">
                  <c:v>-21.7</c:v>
                </c:pt>
                <c:pt idx="116">
                  <c:v>-37</c:v>
                </c:pt>
                <c:pt idx="117">
                  <c:v>-63.1</c:v>
                </c:pt>
                <c:pt idx="118">
                  <c:v>-93.95</c:v>
                </c:pt>
                <c:pt idx="119">
                  <c:v>-131.1</c:v>
                </c:pt>
                <c:pt idx="120">
                  <c:v>-128.4</c:v>
                </c:pt>
                <c:pt idx="121">
                  <c:v>-120</c:v>
                </c:pt>
                <c:pt idx="122">
                  <c:v>-95.8</c:v>
                </c:pt>
                <c:pt idx="123">
                  <c:v>-120.6</c:v>
                </c:pt>
                <c:pt idx="124">
                  <c:v>-182.3</c:v>
                </c:pt>
                <c:pt idx="125">
                  <c:v>-185.5</c:v>
                </c:pt>
                <c:pt idx="126">
                  <c:v>-250.6</c:v>
                </c:pt>
                <c:pt idx="127">
                  <c:v>-222.2</c:v>
                </c:pt>
                <c:pt idx="128">
                  <c:v>-291.60000000000002</c:v>
                </c:pt>
                <c:pt idx="129">
                  <c:v>-224.6</c:v>
                </c:pt>
                <c:pt idx="130">
                  <c:v>-221.9</c:v>
                </c:pt>
                <c:pt idx="131">
                  <c:v>-209.2</c:v>
                </c:pt>
                <c:pt idx="132">
                  <c:v>-200.75</c:v>
                </c:pt>
                <c:pt idx="133">
                  <c:v>-235</c:v>
                </c:pt>
                <c:pt idx="134">
                  <c:v>-216.55</c:v>
                </c:pt>
                <c:pt idx="135">
                  <c:v>-160.94999999999999</c:v>
                </c:pt>
                <c:pt idx="136">
                  <c:v>-188.3</c:v>
                </c:pt>
                <c:pt idx="137">
                  <c:v>-187.7</c:v>
                </c:pt>
                <c:pt idx="138">
                  <c:v>-193.5</c:v>
                </c:pt>
                <c:pt idx="139">
                  <c:v>-149.80000000000001</c:v>
                </c:pt>
                <c:pt idx="140">
                  <c:v>-125.85</c:v>
                </c:pt>
                <c:pt idx="141">
                  <c:v>-121.1</c:v>
                </c:pt>
                <c:pt idx="142">
                  <c:v>-112.5</c:v>
                </c:pt>
                <c:pt idx="143">
                  <c:v>-140.9</c:v>
                </c:pt>
                <c:pt idx="144">
                  <c:v>-130.80000000000001</c:v>
                </c:pt>
                <c:pt idx="145">
                  <c:v>-124.35</c:v>
                </c:pt>
                <c:pt idx="146">
                  <c:v>-114.05</c:v>
                </c:pt>
                <c:pt idx="147">
                  <c:v>-125.3</c:v>
                </c:pt>
                <c:pt idx="148">
                  <c:v>-125.2</c:v>
                </c:pt>
                <c:pt idx="149">
                  <c:v>-130.75</c:v>
                </c:pt>
                <c:pt idx="150">
                  <c:v>-121.8</c:v>
                </c:pt>
                <c:pt idx="151">
                  <c:v>-103.2</c:v>
                </c:pt>
                <c:pt idx="152">
                  <c:v>-97.9</c:v>
                </c:pt>
                <c:pt idx="153">
                  <c:v>-113.1</c:v>
                </c:pt>
                <c:pt idx="154">
                  <c:v>-109.4</c:v>
                </c:pt>
                <c:pt idx="155">
                  <c:v>-85.6</c:v>
                </c:pt>
                <c:pt idx="156">
                  <c:v>-96.1</c:v>
                </c:pt>
                <c:pt idx="157">
                  <c:v>-61.1</c:v>
                </c:pt>
                <c:pt idx="158">
                  <c:v>-45.1</c:v>
                </c:pt>
                <c:pt idx="159">
                  <c:v>-46.1</c:v>
                </c:pt>
                <c:pt idx="160">
                  <c:v>-45.6</c:v>
                </c:pt>
                <c:pt idx="161">
                  <c:v>-48.9</c:v>
                </c:pt>
                <c:pt idx="162">
                  <c:v>-58.2</c:v>
                </c:pt>
                <c:pt idx="163">
                  <c:v>-65.099999999999994</c:v>
                </c:pt>
                <c:pt idx="164">
                  <c:v>-74.8</c:v>
                </c:pt>
                <c:pt idx="165">
                  <c:v>-96.8</c:v>
                </c:pt>
                <c:pt idx="166">
                  <c:v>-85</c:v>
                </c:pt>
                <c:pt idx="167">
                  <c:v>-88.15</c:v>
                </c:pt>
                <c:pt idx="168">
                  <c:v>-80.2</c:v>
                </c:pt>
                <c:pt idx="169">
                  <c:v>-80</c:v>
                </c:pt>
                <c:pt idx="170">
                  <c:v>-56.7</c:v>
                </c:pt>
                <c:pt idx="171">
                  <c:v>-58</c:v>
                </c:pt>
                <c:pt idx="172">
                  <c:v>-46.9</c:v>
                </c:pt>
                <c:pt idx="173">
                  <c:v>-42.2</c:v>
                </c:pt>
                <c:pt idx="174">
                  <c:v>-28.6</c:v>
                </c:pt>
                <c:pt idx="175">
                  <c:v>-32.549999999999997</c:v>
                </c:pt>
                <c:pt idx="176">
                  <c:v>-38.9</c:v>
                </c:pt>
                <c:pt idx="177">
                  <c:v>-52</c:v>
                </c:pt>
                <c:pt idx="178">
                  <c:v>-43.3</c:v>
                </c:pt>
                <c:pt idx="179">
                  <c:v>-42.8</c:v>
                </c:pt>
                <c:pt idx="180">
                  <c:v>-59</c:v>
                </c:pt>
                <c:pt idx="181">
                  <c:v>-76.8</c:v>
                </c:pt>
                <c:pt idx="182">
                  <c:v>-75.2</c:v>
                </c:pt>
                <c:pt idx="183">
                  <c:v>-60.4</c:v>
                </c:pt>
                <c:pt idx="184">
                  <c:v>-77.099999999999994</c:v>
                </c:pt>
                <c:pt idx="185">
                  <c:v>-66.599999999999994</c:v>
                </c:pt>
                <c:pt idx="186">
                  <c:v>-61.5</c:v>
                </c:pt>
                <c:pt idx="187">
                  <c:v>-55.4</c:v>
                </c:pt>
                <c:pt idx="188">
                  <c:v>-55</c:v>
                </c:pt>
                <c:pt idx="189">
                  <c:v>-58.2</c:v>
                </c:pt>
                <c:pt idx="190">
                  <c:v>-59.2</c:v>
                </c:pt>
                <c:pt idx="191">
                  <c:v>-71.2</c:v>
                </c:pt>
                <c:pt idx="192">
                  <c:v>-78.099999999999994</c:v>
                </c:pt>
                <c:pt idx="193">
                  <c:v>-88.9</c:v>
                </c:pt>
                <c:pt idx="194">
                  <c:v>-69.2</c:v>
                </c:pt>
                <c:pt idx="195">
                  <c:v>-72.8</c:v>
                </c:pt>
                <c:pt idx="196">
                  <c:v>-50.45</c:v>
                </c:pt>
                <c:pt idx="197">
                  <c:v>-53.3</c:v>
                </c:pt>
                <c:pt idx="198">
                  <c:v>-37.9</c:v>
                </c:pt>
                <c:pt idx="199">
                  <c:v>-41.5</c:v>
                </c:pt>
                <c:pt idx="200">
                  <c:v>-30.8</c:v>
                </c:pt>
                <c:pt idx="201">
                  <c:v>-23.9</c:v>
                </c:pt>
                <c:pt idx="202">
                  <c:v>-32.9</c:v>
                </c:pt>
                <c:pt idx="203">
                  <c:v>-32.4</c:v>
                </c:pt>
                <c:pt idx="204">
                  <c:v>-36.700000000000003</c:v>
                </c:pt>
                <c:pt idx="205">
                  <c:v>-38.1</c:v>
                </c:pt>
                <c:pt idx="206">
                  <c:v>-35.6</c:v>
                </c:pt>
                <c:pt idx="207">
                  <c:v>-39</c:v>
                </c:pt>
                <c:pt idx="208">
                  <c:v>-51.2</c:v>
                </c:pt>
              </c:numCache>
            </c:numRef>
          </c:yVal>
          <c:smooth val="0"/>
          <c:extLst>
            <c:ext xmlns:c16="http://schemas.microsoft.com/office/drawing/2014/chart" uri="{C3380CC4-5D6E-409C-BE32-E72D297353CC}">
              <c16:uniqueId val="{00000000-9BC3-4F0A-85C3-1CA5B14EE2FE}"/>
            </c:ext>
          </c:extLst>
        </c:ser>
        <c:ser>
          <c:idx val="1"/>
          <c:order val="1"/>
          <c:tx>
            <c:strRef>
              <c:f>Sheet1!$B$212</c:f>
              <c:strCache>
                <c:ptCount val="1"/>
                <c:pt idx="0">
                  <c:v>Spain</c:v>
                </c:pt>
              </c:strCache>
            </c:strRef>
          </c:tx>
          <c:spPr>
            <a:ln w="25400">
              <a:solidFill>
                <a:srgbClr val="2A9D8F"/>
              </a:solidFill>
            </a:ln>
          </c:spPr>
          <c:marker>
            <c:symbol val="none"/>
          </c:marker>
          <c:xVal>
            <c:numRef>
              <c:f>Sheet1!$A$213:$A$329</c:f>
              <c:numCache>
                <c:formatCode>General</c:formatCode>
                <c:ptCount val="117"/>
                <c:pt idx="0">
                  <c:v>40823</c:v>
                </c:pt>
                <c:pt idx="1">
                  <c:v>40830</c:v>
                </c:pt>
                <c:pt idx="2">
                  <c:v>40837</c:v>
                </c:pt>
                <c:pt idx="3">
                  <c:v>40844</c:v>
                </c:pt>
                <c:pt idx="4">
                  <c:v>40851</c:v>
                </c:pt>
                <c:pt idx="5">
                  <c:v>40858</c:v>
                </c:pt>
                <c:pt idx="6">
                  <c:v>40865</c:v>
                </c:pt>
                <c:pt idx="7">
                  <c:v>40872</c:v>
                </c:pt>
                <c:pt idx="8">
                  <c:v>40879</c:v>
                </c:pt>
                <c:pt idx="9">
                  <c:v>40886</c:v>
                </c:pt>
                <c:pt idx="10">
                  <c:v>40893</c:v>
                </c:pt>
                <c:pt idx="11">
                  <c:v>40900</c:v>
                </c:pt>
                <c:pt idx="12">
                  <c:v>40907</c:v>
                </c:pt>
                <c:pt idx="13">
                  <c:v>40914</c:v>
                </c:pt>
                <c:pt idx="14">
                  <c:v>40921</c:v>
                </c:pt>
                <c:pt idx="15">
                  <c:v>40928</c:v>
                </c:pt>
                <c:pt idx="16">
                  <c:v>40935</c:v>
                </c:pt>
                <c:pt idx="17">
                  <c:v>40942</c:v>
                </c:pt>
                <c:pt idx="18">
                  <c:v>40949</c:v>
                </c:pt>
                <c:pt idx="19">
                  <c:v>40956</c:v>
                </c:pt>
                <c:pt idx="20">
                  <c:v>40963</c:v>
                </c:pt>
                <c:pt idx="21">
                  <c:v>40970</c:v>
                </c:pt>
                <c:pt idx="22">
                  <c:v>40977</c:v>
                </c:pt>
                <c:pt idx="23">
                  <c:v>40984</c:v>
                </c:pt>
                <c:pt idx="24">
                  <c:v>40991</c:v>
                </c:pt>
                <c:pt idx="25">
                  <c:v>40998</c:v>
                </c:pt>
                <c:pt idx="26">
                  <c:v>41005</c:v>
                </c:pt>
                <c:pt idx="27">
                  <c:v>41012</c:v>
                </c:pt>
                <c:pt idx="28">
                  <c:v>41019</c:v>
                </c:pt>
                <c:pt idx="29">
                  <c:v>41026</c:v>
                </c:pt>
                <c:pt idx="30">
                  <c:v>41033</c:v>
                </c:pt>
                <c:pt idx="31">
                  <c:v>41040</c:v>
                </c:pt>
                <c:pt idx="32">
                  <c:v>41047</c:v>
                </c:pt>
                <c:pt idx="33">
                  <c:v>41054</c:v>
                </c:pt>
                <c:pt idx="34">
                  <c:v>41061</c:v>
                </c:pt>
                <c:pt idx="35">
                  <c:v>41068</c:v>
                </c:pt>
                <c:pt idx="36">
                  <c:v>41075</c:v>
                </c:pt>
                <c:pt idx="37">
                  <c:v>41082</c:v>
                </c:pt>
                <c:pt idx="38">
                  <c:v>41089</c:v>
                </c:pt>
                <c:pt idx="39">
                  <c:v>41096</c:v>
                </c:pt>
                <c:pt idx="40">
                  <c:v>41103</c:v>
                </c:pt>
                <c:pt idx="41">
                  <c:v>41110</c:v>
                </c:pt>
                <c:pt idx="42">
                  <c:v>41117</c:v>
                </c:pt>
                <c:pt idx="43">
                  <c:v>41124</c:v>
                </c:pt>
                <c:pt idx="44">
                  <c:v>41131</c:v>
                </c:pt>
                <c:pt idx="45">
                  <c:v>41138</c:v>
                </c:pt>
                <c:pt idx="46">
                  <c:v>41145</c:v>
                </c:pt>
                <c:pt idx="47">
                  <c:v>41152</c:v>
                </c:pt>
                <c:pt idx="48">
                  <c:v>41159</c:v>
                </c:pt>
                <c:pt idx="49">
                  <c:v>41166</c:v>
                </c:pt>
                <c:pt idx="50">
                  <c:v>41173</c:v>
                </c:pt>
                <c:pt idx="51">
                  <c:v>41180</c:v>
                </c:pt>
                <c:pt idx="52">
                  <c:v>41187</c:v>
                </c:pt>
                <c:pt idx="53">
                  <c:v>41194</c:v>
                </c:pt>
                <c:pt idx="54">
                  <c:v>41201</c:v>
                </c:pt>
                <c:pt idx="55">
                  <c:v>41208</c:v>
                </c:pt>
                <c:pt idx="56">
                  <c:v>41215</c:v>
                </c:pt>
                <c:pt idx="57">
                  <c:v>41222</c:v>
                </c:pt>
                <c:pt idx="58">
                  <c:v>41229</c:v>
                </c:pt>
                <c:pt idx="59">
                  <c:v>41236</c:v>
                </c:pt>
                <c:pt idx="60">
                  <c:v>41243</c:v>
                </c:pt>
                <c:pt idx="61">
                  <c:v>41250</c:v>
                </c:pt>
                <c:pt idx="62">
                  <c:v>41257</c:v>
                </c:pt>
                <c:pt idx="63">
                  <c:v>41264</c:v>
                </c:pt>
                <c:pt idx="64">
                  <c:v>41271</c:v>
                </c:pt>
                <c:pt idx="65">
                  <c:v>41278</c:v>
                </c:pt>
                <c:pt idx="66">
                  <c:v>41285</c:v>
                </c:pt>
                <c:pt idx="67">
                  <c:v>41292</c:v>
                </c:pt>
                <c:pt idx="68">
                  <c:v>41299</c:v>
                </c:pt>
                <c:pt idx="69">
                  <c:v>41306</c:v>
                </c:pt>
                <c:pt idx="70">
                  <c:v>41313</c:v>
                </c:pt>
                <c:pt idx="71">
                  <c:v>41320</c:v>
                </c:pt>
                <c:pt idx="72">
                  <c:v>41327</c:v>
                </c:pt>
                <c:pt idx="73">
                  <c:v>41334</c:v>
                </c:pt>
                <c:pt idx="74">
                  <c:v>41341</c:v>
                </c:pt>
                <c:pt idx="75">
                  <c:v>41348</c:v>
                </c:pt>
                <c:pt idx="76">
                  <c:v>41355</c:v>
                </c:pt>
                <c:pt idx="77">
                  <c:v>41362</c:v>
                </c:pt>
                <c:pt idx="78">
                  <c:v>41369</c:v>
                </c:pt>
                <c:pt idx="79">
                  <c:v>41376</c:v>
                </c:pt>
                <c:pt idx="80">
                  <c:v>41383</c:v>
                </c:pt>
                <c:pt idx="81">
                  <c:v>41390</c:v>
                </c:pt>
                <c:pt idx="82">
                  <c:v>41397</c:v>
                </c:pt>
                <c:pt idx="83">
                  <c:v>41404</c:v>
                </c:pt>
                <c:pt idx="84">
                  <c:v>41411</c:v>
                </c:pt>
                <c:pt idx="85">
                  <c:v>41418</c:v>
                </c:pt>
                <c:pt idx="86">
                  <c:v>41425</c:v>
                </c:pt>
                <c:pt idx="87">
                  <c:v>41432</c:v>
                </c:pt>
                <c:pt idx="88">
                  <c:v>41439</c:v>
                </c:pt>
                <c:pt idx="89">
                  <c:v>41446</c:v>
                </c:pt>
                <c:pt idx="90">
                  <c:v>41453</c:v>
                </c:pt>
                <c:pt idx="91">
                  <c:v>41460</c:v>
                </c:pt>
                <c:pt idx="92">
                  <c:v>41467</c:v>
                </c:pt>
                <c:pt idx="93">
                  <c:v>41474</c:v>
                </c:pt>
                <c:pt idx="94">
                  <c:v>41481</c:v>
                </c:pt>
                <c:pt idx="95">
                  <c:v>41488</c:v>
                </c:pt>
                <c:pt idx="96">
                  <c:v>41495</c:v>
                </c:pt>
                <c:pt idx="97">
                  <c:v>41502</c:v>
                </c:pt>
                <c:pt idx="98">
                  <c:v>41509</c:v>
                </c:pt>
                <c:pt idx="99">
                  <c:v>41516</c:v>
                </c:pt>
                <c:pt idx="100">
                  <c:v>41523</c:v>
                </c:pt>
                <c:pt idx="101">
                  <c:v>41530</c:v>
                </c:pt>
                <c:pt idx="102">
                  <c:v>41537</c:v>
                </c:pt>
                <c:pt idx="103">
                  <c:v>41544</c:v>
                </c:pt>
                <c:pt idx="104">
                  <c:v>41551</c:v>
                </c:pt>
                <c:pt idx="105">
                  <c:v>41558</c:v>
                </c:pt>
                <c:pt idx="106">
                  <c:v>41565</c:v>
                </c:pt>
                <c:pt idx="107">
                  <c:v>41572</c:v>
                </c:pt>
                <c:pt idx="108">
                  <c:v>41579</c:v>
                </c:pt>
                <c:pt idx="109">
                  <c:v>41586</c:v>
                </c:pt>
                <c:pt idx="110">
                  <c:v>41593</c:v>
                </c:pt>
                <c:pt idx="111">
                  <c:v>41600</c:v>
                </c:pt>
                <c:pt idx="112">
                  <c:v>41607</c:v>
                </c:pt>
                <c:pt idx="113">
                  <c:v>41614</c:v>
                </c:pt>
                <c:pt idx="114">
                  <c:v>41621</c:v>
                </c:pt>
                <c:pt idx="115">
                  <c:v>41628</c:v>
                </c:pt>
                <c:pt idx="116">
                  <c:v>41635</c:v>
                </c:pt>
              </c:numCache>
            </c:numRef>
          </c:xVal>
          <c:yVal>
            <c:numRef>
              <c:f>Sheet1!$B$213:$B$329</c:f>
              <c:numCache>
                <c:formatCode>General</c:formatCode>
                <c:ptCount val="117"/>
                <c:pt idx="0">
                  <c:v>-149.44999999999999</c:v>
                </c:pt>
                <c:pt idx="1">
                  <c:v>-160.12</c:v>
                </c:pt>
                <c:pt idx="2">
                  <c:v>-211.85</c:v>
                </c:pt>
                <c:pt idx="3">
                  <c:v>-190.25</c:v>
                </c:pt>
                <c:pt idx="4">
                  <c:v>-228.66</c:v>
                </c:pt>
                <c:pt idx="5">
                  <c:v>-297.99</c:v>
                </c:pt>
                <c:pt idx="6">
                  <c:v>-356.97</c:v>
                </c:pt>
                <c:pt idx="7">
                  <c:v>-363.67</c:v>
                </c:pt>
                <c:pt idx="8">
                  <c:v>-278.66000000000003</c:v>
                </c:pt>
                <c:pt idx="9">
                  <c:v>-267.22000000000003</c:v>
                </c:pt>
                <c:pt idx="10">
                  <c:v>-146.37</c:v>
                </c:pt>
                <c:pt idx="11">
                  <c:v>-156.88999999999999</c:v>
                </c:pt>
                <c:pt idx="12">
                  <c:v>-139.54</c:v>
                </c:pt>
                <c:pt idx="13">
                  <c:v>-140.91999999999999</c:v>
                </c:pt>
                <c:pt idx="14">
                  <c:v>-94.15</c:v>
                </c:pt>
                <c:pt idx="15">
                  <c:v>-104.35</c:v>
                </c:pt>
                <c:pt idx="16">
                  <c:v>-44.75</c:v>
                </c:pt>
                <c:pt idx="17">
                  <c:v>-31.28</c:v>
                </c:pt>
                <c:pt idx="18">
                  <c:v>-33.75</c:v>
                </c:pt>
                <c:pt idx="19">
                  <c:v>-59.61</c:v>
                </c:pt>
                <c:pt idx="20">
                  <c:v>-35.409999999999997</c:v>
                </c:pt>
                <c:pt idx="21">
                  <c:v>2.93</c:v>
                </c:pt>
                <c:pt idx="22">
                  <c:v>-8.52</c:v>
                </c:pt>
                <c:pt idx="23">
                  <c:v>-13.84</c:v>
                </c:pt>
                <c:pt idx="24">
                  <c:v>-57.38</c:v>
                </c:pt>
                <c:pt idx="25">
                  <c:v>-67.81</c:v>
                </c:pt>
                <c:pt idx="26">
                  <c:v>-93.27</c:v>
                </c:pt>
                <c:pt idx="27">
                  <c:v>-145.19999999999999</c:v>
                </c:pt>
                <c:pt idx="28">
                  <c:v>-162.08000000000001</c:v>
                </c:pt>
                <c:pt idx="29">
                  <c:v>-154.15</c:v>
                </c:pt>
                <c:pt idx="30">
                  <c:v>-142.44999999999999</c:v>
                </c:pt>
                <c:pt idx="31">
                  <c:v>-155.78</c:v>
                </c:pt>
                <c:pt idx="32">
                  <c:v>-224.52</c:v>
                </c:pt>
                <c:pt idx="33">
                  <c:v>-222.09</c:v>
                </c:pt>
                <c:pt idx="34">
                  <c:v>-298.08999999999997</c:v>
                </c:pt>
                <c:pt idx="35">
                  <c:v>-248.21</c:v>
                </c:pt>
                <c:pt idx="36">
                  <c:v>-304.06</c:v>
                </c:pt>
                <c:pt idx="37">
                  <c:v>-312.62</c:v>
                </c:pt>
                <c:pt idx="38">
                  <c:v>-299.89999999999998</c:v>
                </c:pt>
                <c:pt idx="39">
                  <c:v>-312.17</c:v>
                </c:pt>
                <c:pt idx="40">
                  <c:v>-271.07</c:v>
                </c:pt>
                <c:pt idx="41">
                  <c:v>-370.65</c:v>
                </c:pt>
                <c:pt idx="42">
                  <c:v>-366.89</c:v>
                </c:pt>
                <c:pt idx="43">
                  <c:v>-215.66</c:v>
                </c:pt>
                <c:pt idx="44">
                  <c:v>-226.17</c:v>
                </c:pt>
                <c:pt idx="45">
                  <c:v>-256.77999999999997</c:v>
                </c:pt>
                <c:pt idx="46">
                  <c:v>-227.34</c:v>
                </c:pt>
                <c:pt idx="47">
                  <c:v>-220.7</c:v>
                </c:pt>
                <c:pt idx="48">
                  <c:v>-178.6</c:v>
                </c:pt>
                <c:pt idx="49">
                  <c:v>-178.61</c:v>
                </c:pt>
                <c:pt idx="50">
                  <c:v>-195.38</c:v>
                </c:pt>
                <c:pt idx="51">
                  <c:v>-216.33</c:v>
                </c:pt>
                <c:pt idx="52">
                  <c:v>-196.5</c:v>
                </c:pt>
                <c:pt idx="53">
                  <c:v>-239.69</c:v>
                </c:pt>
                <c:pt idx="54">
                  <c:v>-195.21</c:v>
                </c:pt>
                <c:pt idx="55">
                  <c:v>-222.07</c:v>
                </c:pt>
                <c:pt idx="56">
                  <c:v>-204.4</c:v>
                </c:pt>
                <c:pt idx="57">
                  <c:v>-224.07</c:v>
                </c:pt>
                <c:pt idx="58">
                  <c:v>-232.7</c:v>
                </c:pt>
                <c:pt idx="59">
                  <c:v>-214.86</c:v>
                </c:pt>
                <c:pt idx="60">
                  <c:v>-185.06</c:v>
                </c:pt>
                <c:pt idx="61">
                  <c:v>-211.73</c:v>
                </c:pt>
                <c:pt idx="62">
                  <c:v>-205.94</c:v>
                </c:pt>
                <c:pt idx="63">
                  <c:v>-180.09</c:v>
                </c:pt>
                <c:pt idx="64">
                  <c:v>-177.49</c:v>
                </c:pt>
                <c:pt idx="65">
                  <c:v>-114.66</c:v>
                </c:pt>
                <c:pt idx="66">
                  <c:v>-86.25</c:v>
                </c:pt>
                <c:pt idx="67">
                  <c:v>-111.1</c:v>
                </c:pt>
                <c:pt idx="68">
                  <c:v>-86.3</c:v>
                </c:pt>
                <c:pt idx="69">
                  <c:v>-86.64</c:v>
                </c:pt>
                <c:pt idx="70">
                  <c:v>-100.08</c:v>
                </c:pt>
                <c:pt idx="71">
                  <c:v>-98.94</c:v>
                </c:pt>
                <c:pt idx="72">
                  <c:v>-100.79</c:v>
                </c:pt>
                <c:pt idx="73">
                  <c:v>-104.68</c:v>
                </c:pt>
                <c:pt idx="74">
                  <c:v>-93.58</c:v>
                </c:pt>
                <c:pt idx="75">
                  <c:v>-100.01</c:v>
                </c:pt>
                <c:pt idx="76">
                  <c:v>-91.68</c:v>
                </c:pt>
                <c:pt idx="77">
                  <c:v>-101.48</c:v>
                </c:pt>
                <c:pt idx="78">
                  <c:v>-88</c:v>
                </c:pt>
                <c:pt idx="79">
                  <c:v>-76.8</c:v>
                </c:pt>
                <c:pt idx="80">
                  <c:v>-80.63</c:v>
                </c:pt>
                <c:pt idx="81">
                  <c:v>-70.84</c:v>
                </c:pt>
                <c:pt idx="82">
                  <c:v>-44.51</c:v>
                </c:pt>
                <c:pt idx="83">
                  <c:v>-55.4</c:v>
                </c:pt>
                <c:pt idx="84">
                  <c:v>-62.53</c:v>
                </c:pt>
                <c:pt idx="85">
                  <c:v>-76.73</c:v>
                </c:pt>
                <c:pt idx="86">
                  <c:v>-73.75</c:v>
                </c:pt>
                <c:pt idx="87">
                  <c:v>-76.55</c:v>
                </c:pt>
                <c:pt idx="88">
                  <c:v>-89.04</c:v>
                </c:pt>
                <c:pt idx="89">
                  <c:v>-105.06</c:v>
                </c:pt>
                <c:pt idx="90">
                  <c:v>-107.67</c:v>
                </c:pt>
                <c:pt idx="91">
                  <c:v>-78.95</c:v>
                </c:pt>
                <c:pt idx="92">
                  <c:v>-97.28</c:v>
                </c:pt>
                <c:pt idx="93">
                  <c:v>-98.48</c:v>
                </c:pt>
                <c:pt idx="94">
                  <c:v>-80.540000000000006</c:v>
                </c:pt>
                <c:pt idx="95">
                  <c:v>-74.36</c:v>
                </c:pt>
                <c:pt idx="96">
                  <c:v>-69.19</c:v>
                </c:pt>
                <c:pt idx="97">
                  <c:v>-69.28</c:v>
                </c:pt>
                <c:pt idx="98">
                  <c:v>-75.97</c:v>
                </c:pt>
                <c:pt idx="99">
                  <c:v>-82.38</c:v>
                </c:pt>
                <c:pt idx="100">
                  <c:v>-81.93</c:v>
                </c:pt>
                <c:pt idx="101">
                  <c:v>-81.400000000000006</c:v>
                </c:pt>
                <c:pt idx="102">
                  <c:v>-75.86</c:v>
                </c:pt>
                <c:pt idx="103">
                  <c:v>-69.489999999999995</c:v>
                </c:pt>
                <c:pt idx="104">
                  <c:v>-47.04</c:v>
                </c:pt>
                <c:pt idx="105">
                  <c:v>-51.26</c:v>
                </c:pt>
                <c:pt idx="106">
                  <c:v>-43.21</c:v>
                </c:pt>
                <c:pt idx="107">
                  <c:v>-44.8</c:v>
                </c:pt>
                <c:pt idx="108">
                  <c:v>-29.02</c:v>
                </c:pt>
                <c:pt idx="109">
                  <c:v>-22.89</c:v>
                </c:pt>
                <c:pt idx="110">
                  <c:v>-22.42</c:v>
                </c:pt>
                <c:pt idx="111">
                  <c:v>-31.19</c:v>
                </c:pt>
                <c:pt idx="112">
                  <c:v>-41.04</c:v>
                </c:pt>
                <c:pt idx="113">
                  <c:v>-49.72</c:v>
                </c:pt>
                <c:pt idx="114">
                  <c:v>-43.84</c:v>
                </c:pt>
                <c:pt idx="115">
                  <c:v>-52.87</c:v>
                </c:pt>
                <c:pt idx="116">
                  <c:v>-52.97</c:v>
                </c:pt>
              </c:numCache>
            </c:numRef>
          </c:yVal>
          <c:smooth val="0"/>
          <c:extLst>
            <c:ext xmlns:c16="http://schemas.microsoft.com/office/drawing/2014/chart" uri="{C3380CC4-5D6E-409C-BE32-E72D297353CC}">
              <c16:uniqueId val="{00000001-9BC3-4F0A-85C3-1CA5B14EE2FE}"/>
            </c:ext>
          </c:extLst>
        </c:ser>
        <c:ser>
          <c:idx val="2"/>
          <c:order val="2"/>
          <c:tx>
            <c:strRef>
              <c:f>Sheet1!$B$331</c:f>
              <c:strCache>
                <c:ptCount val="1"/>
                <c:pt idx="0">
                  <c:v>France</c:v>
                </c:pt>
              </c:strCache>
            </c:strRef>
          </c:tx>
          <c:spPr>
            <a:ln w="25400">
              <a:solidFill>
                <a:srgbClr val="011C40"/>
              </a:solidFill>
            </a:ln>
          </c:spPr>
          <c:marker>
            <c:symbol val="none"/>
          </c:marker>
          <c:xVal>
            <c:numRef>
              <c:f>Sheet1!$A$332:$A$540</c:f>
              <c:numCache>
                <c:formatCode>General</c:formatCode>
                <c:ptCount val="209"/>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numCache>
            </c:numRef>
          </c:xVal>
          <c:yVal>
            <c:numRef>
              <c:f>Sheet1!$B$332:$B$540</c:f>
              <c:numCache>
                <c:formatCode>General</c:formatCode>
                <c:ptCount val="209"/>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numCache>
            </c:numRef>
          </c:yVal>
          <c:smooth val="0"/>
          <c:extLst>
            <c:ext xmlns:c16="http://schemas.microsoft.com/office/drawing/2014/chart" uri="{C3380CC4-5D6E-409C-BE32-E72D297353CC}">
              <c16:uniqueId val="{00000002-9BC3-4F0A-85C3-1CA5B14EE2FE}"/>
            </c:ext>
          </c:extLst>
        </c:ser>
        <c:ser>
          <c:idx val="3"/>
          <c:order val="3"/>
          <c:tx>
            <c:strRef>
              <c:f>Sheet1!$B$542</c:f>
              <c:strCache>
                <c:ptCount val="1"/>
                <c:pt idx="0">
                  <c:v>Break-even</c:v>
                </c:pt>
              </c:strCache>
            </c:strRef>
          </c:tx>
          <c:spPr>
            <a:ln w="19050">
              <a:solidFill>
                <a:srgbClr val="5A6172"/>
              </a:solidFill>
              <a:prstDash val="dash"/>
            </a:ln>
          </c:spPr>
          <c:marker>
            <c:symbol val="none"/>
          </c:marker>
          <c:dLbls>
            <c:dLbl>
              <c:idx val="1"/>
              <c:tx>
                <c:rich>
                  <a:bodyPr/>
                  <a:lstStyle/>
                  <a:p>
                    <a:r>
                      <a:rPr lang="en-US" sz="900" b="1">
                        <a:solidFill>
                          <a:srgbClr val="5A6172"/>
                        </a:solidFill>
                        <a:latin typeface="Garamond"/>
                      </a:rPr>
                      <a:t>break-even −445bp</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BC3-4F0A-85C3-1CA5B14EE2F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Sheet1!$A$543:$A$544</c:f>
              <c:numCache>
                <c:formatCode>General</c:formatCode>
                <c:ptCount val="2"/>
                <c:pt idx="0">
                  <c:v>40179</c:v>
                </c:pt>
                <c:pt idx="1">
                  <c:v>41639</c:v>
                </c:pt>
              </c:numCache>
            </c:numRef>
          </c:xVal>
          <c:yVal>
            <c:numRef>
              <c:f>Sheet1!$B$543:$B$544</c:f>
              <c:numCache>
                <c:formatCode>General</c:formatCode>
                <c:ptCount val="2"/>
                <c:pt idx="0">
                  <c:v>-445</c:v>
                </c:pt>
                <c:pt idx="1">
                  <c:v>-445</c:v>
                </c:pt>
              </c:numCache>
            </c:numRef>
          </c:yVal>
          <c:smooth val="0"/>
          <c:extLst>
            <c:ext xmlns:c16="http://schemas.microsoft.com/office/drawing/2014/chart" uri="{C3380CC4-5D6E-409C-BE32-E72D297353CC}">
              <c16:uniqueId val="{00000004-9BC3-4F0A-85C3-1CA5B14EE2FE}"/>
            </c:ext>
          </c:extLst>
        </c:ser>
        <c:dLbls>
          <c:showLegendKey val="0"/>
          <c:showVal val="0"/>
          <c:showCatName val="0"/>
          <c:showSerName val="0"/>
          <c:showPercent val="0"/>
          <c:showBubbleSize val="0"/>
        </c:dLbls>
        <c:axId val="-2128940872"/>
        <c:axId val="-2129643912"/>
      </c:scatterChart>
      <c:valAx>
        <c:axId val="-2128940872"/>
        <c:scaling>
          <c:orientation val="minMax"/>
          <c:max val="41820"/>
          <c:min val="40179"/>
        </c:scaling>
        <c:delete val="0"/>
        <c:axPos val="b"/>
        <c:numFmt formatCode="yyyy" sourceLinked="0"/>
        <c:majorTickMark val="out"/>
        <c:minorTickMark val="none"/>
        <c:tickLblPos val="low"/>
        <c:spPr>
          <a:ln>
            <a:solidFill>
              <a:srgbClr val="DCE3EF"/>
            </a:solidFill>
          </a:ln>
        </c:spPr>
        <c:txPr>
          <a:bodyPr/>
          <a:lstStyle/>
          <a:p>
            <a:pPr>
              <a:defRPr sz="950">
                <a:solidFill>
                  <a:srgbClr val="5A6172"/>
                </a:solidFill>
              </a:defRPr>
            </a:pPr>
            <a:endParaRPr lang="en-US"/>
          </a:p>
        </c:txPr>
        <c:crossAx val="-2129643912"/>
        <c:crosses val="autoZero"/>
        <c:crossBetween val="midCat"/>
        <c:majorUnit val="366"/>
      </c:valAx>
      <c:valAx>
        <c:axId val="-2129643912"/>
        <c:scaling>
          <c:orientation val="minMax"/>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950">
                <a:solidFill>
                  <a:srgbClr val="5A6172"/>
                </a:solidFill>
              </a:defRPr>
            </a:pPr>
            <a:endParaRPr lang="en-US"/>
          </a:p>
        </c:txPr>
        <c:crossAx val="-2128940872"/>
        <c:crosses val="autoZero"/>
        <c:crossBetween val="midCat"/>
      </c:valAx>
    </c:plotArea>
    <c:legend>
      <c:legendPos val="t"/>
      <c:overlay val="0"/>
      <c:txPr>
        <a:bodyPr/>
        <a:lstStyle/>
        <a:p>
          <a:pPr>
            <a:defRPr sz="1050">
              <a:solidFill>
                <a:srgbClr val="5A6172"/>
              </a:solidFill>
            </a:defRPr>
          </a:pPr>
          <a:endParaRPr lang="en-US"/>
        </a:p>
      </c:txPr>
    </c:legend>
    <c:plotVisOnly val="1"/>
    <c:dispBlanksAs val="gap"/>
    <c:showDLblsOverMax val="0"/>
  </c:chart>
  <c:txPr>
    <a:bodyPr/>
    <a:lstStyle/>
    <a:p>
      <a:pPr>
        <a:defRPr sz="950">
          <a:latin typeface="Garamond"/>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versus the 6m Euribor swap (the deck's basis)</c:v>
                </c:pt>
              </c:strCache>
            </c:strRef>
          </c:tx>
          <c:spPr>
            <a:ln w="22225">
              <a:solidFill>
                <a:srgbClr val="011C40"/>
              </a:solidFill>
            </a:ln>
          </c:spPr>
          <c:marker>
            <c:symbol val="none"/>
          </c:marker>
          <c:xVal>
            <c:numRef>
              <c:f>Sheet1!$A$2:$A$876</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Sheet1!$B$2:$B$876</c:f>
              <c:numCache>
                <c:formatCode>General</c:formatCode>
                <c:ptCount val="875"/>
                <c:pt idx="0">
                  <c:v>33</c:v>
                </c:pt>
                <c:pt idx="1">
                  <c:v>28.8</c:v>
                </c:pt>
                <c:pt idx="2">
                  <c:v>30.9</c:v>
                </c:pt>
                <c:pt idx="3">
                  <c:v>12.1</c:v>
                </c:pt>
                <c:pt idx="4">
                  <c:v>15.02</c:v>
                </c:pt>
                <c:pt idx="5">
                  <c:v>16.100000000000001</c:v>
                </c:pt>
                <c:pt idx="6">
                  <c:v>15.68</c:v>
                </c:pt>
                <c:pt idx="7">
                  <c:v>15.1</c:v>
                </c:pt>
                <c:pt idx="8">
                  <c:v>16.899999999999999</c:v>
                </c:pt>
                <c:pt idx="9">
                  <c:v>15.7</c:v>
                </c:pt>
                <c:pt idx="10">
                  <c:v>15.35</c:v>
                </c:pt>
                <c:pt idx="11">
                  <c:v>17.38</c:v>
                </c:pt>
                <c:pt idx="12">
                  <c:v>12.71</c:v>
                </c:pt>
                <c:pt idx="13">
                  <c:v>13.1</c:v>
                </c:pt>
                <c:pt idx="14">
                  <c:v>15.09</c:v>
                </c:pt>
                <c:pt idx="15">
                  <c:v>15.4</c:v>
                </c:pt>
                <c:pt idx="16">
                  <c:v>15.1</c:v>
                </c:pt>
                <c:pt idx="17">
                  <c:v>21.9</c:v>
                </c:pt>
                <c:pt idx="18">
                  <c:v>35.6</c:v>
                </c:pt>
                <c:pt idx="19">
                  <c:v>36.1</c:v>
                </c:pt>
                <c:pt idx="20">
                  <c:v>43.9</c:v>
                </c:pt>
                <c:pt idx="21">
                  <c:v>37.700000000000003</c:v>
                </c:pt>
                <c:pt idx="22">
                  <c:v>34.4</c:v>
                </c:pt>
                <c:pt idx="23">
                  <c:v>28.4</c:v>
                </c:pt>
                <c:pt idx="24">
                  <c:v>6.7</c:v>
                </c:pt>
                <c:pt idx="25">
                  <c:v>7.43</c:v>
                </c:pt>
                <c:pt idx="26">
                  <c:v>15.4</c:v>
                </c:pt>
                <c:pt idx="27">
                  <c:v>13.4</c:v>
                </c:pt>
                <c:pt idx="28">
                  <c:v>13.6</c:v>
                </c:pt>
                <c:pt idx="29">
                  <c:v>21</c:v>
                </c:pt>
                <c:pt idx="30">
                  <c:v>19.7</c:v>
                </c:pt>
                <c:pt idx="31">
                  <c:v>23.2</c:v>
                </c:pt>
                <c:pt idx="32">
                  <c:v>19.05</c:v>
                </c:pt>
                <c:pt idx="33">
                  <c:v>19.399999999999999</c:v>
                </c:pt>
                <c:pt idx="34">
                  <c:v>16.899999999999999</c:v>
                </c:pt>
                <c:pt idx="35">
                  <c:v>29</c:v>
                </c:pt>
                <c:pt idx="36">
                  <c:v>20.3</c:v>
                </c:pt>
                <c:pt idx="37">
                  <c:v>21.2</c:v>
                </c:pt>
                <c:pt idx="38">
                  <c:v>25.87</c:v>
                </c:pt>
                <c:pt idx="39">
                  <c:v>22.3</c:v>
                </c:pt>
                <c:pt idx="40">
                  <c:v>25.7</c:v>
                </c:pt>
                <c:pt idx="41">
                  <c:v>30.6</c:v>
                </c:pt>
                <c:pt idx="42">
                  <c:v>23.7</c:v>
                </c:pt>
                <c:pt idx="43">
                  <c:v>24.85</c:v>
                </c:pt>
                <c:pt idx="44">
                  <c:v>29.1</c:v>
                </c:pt>
                <c:pt idx="45">
                  <c:v>31.1</c:v>
                </c:pt>
                <c:pt idx="46">
                  <c:v>29.88</c:v>
                </c:pt>
                <c:pt idx="47">
                  <c:v>31.5</c:v>
                </c:pt>
                <c:pt idx="48">
                  <c:v>32.049999999999997</c:v>
                </c:pt>
                <c:pt idx="49">
                  <c:v>37.590000000000003</c:v>
                </c:pt>
                <c:pt idx="50">
                  <c:v>32.450000000000003</c:v>
                </c:pt>
                <c:pt idx="51">
                  <c:v>37.299999999999997</c:v>
                </c:pt>
                <c:pt idx="52">
                  <c:v>35.4</c:v>
                </c:pt>
                <c:pt idx="53">
                  <c:v>31.85</c:v>
                </c:pt>
                <c:pt idx="54">
                  <c:v>35.799999999999997</c:v>
                </c:pt>
                <c:pt idx="55">
                  <c:v>16.25</c:v>
                </c:pt>
                <c:pt idx="56">
                  <c:v>11.4</c:v>
                </c:pt>
                <c:pt idx="57">
                  <c:v>17.600000000000001</c:v>
                </c:pt>
                <c:pt idx="58">
                  <c:v>15.3</c:v>
                </c:pt>
                <c:pt idx="59">
                  <c:v>14.8</c:v>
                </c:pt>
                <c:pt idx="60">
                  <c:v>15.7</c:v>
                </c:pt>
                <c:pt idx="61">
                  <c:v>11.4</c:v>
                </c:pt>
                <c:pt idx="62">
                  <c:v>16.8</c:v>
                </c:pt>
                <c:pt idx="63">
                  <c:v>19.399999999999999</c:v>
                </c:pt>
                <c:pt idx="64">
                  <c:v>16.95</c:v>
                </c:pt>
                <c:pt idx="65">
                  <c:v>14.9</c:v>
                </c:pt>
                <c:pt idx="66">
                  <c:v>18.3</c:v>
                </c:pt>
                <c:pt idx="67">
                  <c:v>14.2</c:v>
                </c:pt>
                <c:pt idx="68">
                  <c:v>15.6</c:v>
                </c:pt>
                <c:pt idx="69">
                  <c:v>16.3</c:v>
                </c:pt>
                <c:pt idx="70">
                  <c:v>11.7</c:v>
                </c:pt>
                <c:pt idx="71">
                  <c:v>16.5</c:v>
                </c:pt>
                <c:pt idx="72">
                  <c:v>13.2</c:v>
                </c:pt>
                <c:pt idx="73">
                  <c:v>18.2</c:v>
                </c:pt>
                <c:pt idx="74">
                  <c:v>18.3</c:v>
                </c:pt>
                <c:pt idx="75">
                  <c:v>16.899999999999999</c:v>
                </c:pt>
                <c:pt idx="76">
                  <c:v>8</c:v>
                </c:pt>
                <c:pt idx="77">
                  <c:v>5.75</c:v>
                </c:pt>
                <c:pt idx="78">
                  <c:v>9.5</c:v>
                </c:pt>
                <c:pt idx="79">
                  <c:v>13.1</c:v>
                </c:pt>
                <c:pt idx="80">
                  <c:v>6.15</c:v>
                </c:pt>
                <c:pt idx="81">
                  <c:v>11.3</c:v>
                </c:pt>
                <c:pt idx="82">
                  <c:v>17.899999999999999</c:v>
                </c:pt>
                <c:pt idx="83">
                  <c:v>31.1</c:v>
                </c:pt>
                <c:pt idx="84">
                  <c:v>23</c:v>
                </c:pt>
                <c:pt idx="85">
                  <c:v>30.4</c:v>
                </c:pt>
                <c:pt idx="86">
                  <c:v>32.6</c:v>
                </c:pt>
                <c:pt idx="87">
                  <c:v>22.8</c:v>
                </c:pt>
                <c:pt idx="88">
                  <c:v>30.7</c:v>
                </c:pt>
                <c:pt idx="89">
                  <c:v>20.7</c:v>
                </c:pt>
                <c:pt idx="90">
                  <c:v>15.8</c:v>
                </c:pt>
                <c:pt idx="91">
                  <c:v>22.6</c:v>
                </c:pt>
                <c:pt idx="92">
                  <c:v>13.7</c:v>
                </c:pt>
                <c:pt idx="93">
                  <c:v>-4.2</c:v>
                </c:pt>
                <c:pt idx="94">
                  <c:v>-23.3</c:v>
                </c:pt>
                <c:pt idx="95">
                  <c:v>-2.7</c:v>
                </c:pt>
                <c:pt idx="96">
                  <c:v>-9</c:v>
                </c:pt>
                <c:pt idx="97">
                  <c:v>-42.5</c:v>
                </c:pt>
                <c:pt idx="98">
                  <c:v>-48.2</c:v>
                </c:pt>
                <c:pt idx="99">
                  <c:v>-71.849999999999994</c:v>
                </c:pt>
                <c:pt idx="100">
                  <c:v>-21.1</c:v>
                </c:pt>
                <c:pt idx="101">
                  <c:v>-25</c:v>
                </c:pt>
                <c:pt idx="102">
                  <c:v>-16.100000000000001</c:v>
                </c:pt>
                <c:pt idx="103">
                  <c:v>-2.5</c:v>
                </c:pt>
                <c:pt idx="104">
                  <c:v>-14.7</c:v>
                </c:pt>
                <c:pt idx="105">
                  <c:v>-56.8</c:v>
                </c:pt>
                <c:pt idx="106">
                  <c:v>-32.1</c:v>
                </c:pt>
                <c:pt idx="107">
                  <c:v>-18.5</c:v>
                </c:pt>
                <c:pt idx="108">
                  <c:v>-15.3</c:v>
                </c:pt>
                <c:pt idx="109">
                  <c:v>-1</c:v>
                </c:pt>
                <c:pt idx="110">
                  <c:v>-7</c:v>
                </c:pt>
                <c:pt idx="111">
                  <c:v>-16</c:v>
                </c:pt>
                <c:pt idx="112">
                  <c:v>-5.9</c:v>
                </c:pt>
                <c:pt idx="113">
                  <c:v>2.8</c:v>
                </c:pt>
                <c:pt idx="114">
                  <c:v>-19</c:v>
                </c:pt>
                <c:pt idx="115">
                  <c:v>-11.65</c:v>
                </c:pt>
                <c:pt idx="116">
                  <c:v>-16.649999999999999</c:v>
                </c:pt>
                <c:pt idx="117">
                  <c:v>-7.77</c:v>
                </c:pt>
                <c:pt idx="118">
                  <c:v>-25.43</c:v>
                </c:pt>
                <c:pt idx="119">
                  <c:v>-30.4</c:v>
                </c:pt>
                <c:pt idx="120">
                  <c:v>-35.299999999999997</c:v>
                </c:pt>
                <c:pt idx="121">
                  <c:v>-25.12</c:v>
                </c:pt>
                <c:pt idx="122">
                  <c:v>-26.35</c:v>
                </c:pt>
                <c:pt idx="123">
                  <c:v>-25.58</c:v>
                </c:pt>
                <c:pt idx="124">
                  <c:v>-29.55</c:v>
                </c:pt>
                <c:pt idx="125">
                  <c:v>-8.1999999999999993</c:v>
                </c:pt>
                <c:pt idx="126">
                  <c:v>3.63</c:v>
                </c:pt>
                <c:pt idx="127">
                  <c:v>-9.33</c:v>
                </c:pt>
                <c:pt idx="128">
                  <c:v>-8.74</c:v>
                </c:pt>
                <c:pt idx="129">
                  <c:v>-5.21</c:v>
                </c:pt>
                <c:pt idx="130">
                  <c:v>-9.6999999999999993</c:v>
                </c:pt>
                <c:pt idx="131">
                  <c:v>9.06</c:v>
                </c:pt>
                <c:pt idx="132">
                  <c:v>17.100000000000001</c:v>
                </c:pt>
                <c:pt idx="133">
                  <c:v>10.9</c:v>
                </c:pt>
                <c:pt idx="134">
                  <c:v>7.53</c:v>
                </c:pt>
                <c:pt idx="135">
                  <c:v>23.37</c:v>
                </c:pt>
                <c:pt idx="136">
                  <c:v>17.68</c:v>
                </c:pt>
                <c:pt idx="137">
                  <c:v>11.73</c:v>
                </c:pt>
                <c:pt idx="138">
                  <c:v>9.1999999999999993</c:v>
                </c:pt>
                <c:pt idx="139">
                  <c:v>1.7</c:v>
                </c:pt>
                <c:pt idx="140">
                  <c:v>7.5</c:v>
                </c:pt>
                <c:pt idx="141">
                  <c:v>9.5</c:v>
                </c:pt>
                <c:pt idx="142">
                  <c:v>-4.4800000000000004</c:v>
                </c:pt>
                <c:pt idx="143">
                  <c:v>4.0999999999999996</c:v>
                </c:pt>
                <c:pt idx="144">
                  <c:v>1.52</c:v>
                </c:pt>
                <c:pt idx="145">
                  <c:v>7.45</c:v>
                </c:pt>
                <c:pt idx="146">
                  <c:v>8.6999999999999993</c:v>
                </c:pt>
                <c:pt idx="147">
                  <c:v>5.45</c:v>
                </c:pt>
                <c:pt idx="148">
                  <c:v>2.5</c:v>
                </c:pt>
                <c:pt idx="149">
                  <c:v>4.7</c:v>
                </c:pt>
                <c:pt idx="150">
                  <c:v>9.1999999999999993</c:v>
                </c:pt>
                <c:pt idx="151">
                  <c:v>8</c:v>
                </c:pt>
                <c:pt idx="152">
                  <c:v>12.2</c:v>
                </c:pt>
                <c:pt idx="153">
                  <c:v>12.05</c:v>
                </c:pt>
                <c:pt idx="154">
                  <c:v>21.07</c:v>
                </c:pt>
                <c:pt idx="155">
                  <c:v>19.399999999999999</c:v>
                </c:pt>
                <c:pt idx="156">
                  <c:v>15.14</c:v>
                </c:pt>
                <c:pt idx="157">
                  <c:v>11.77</c:v>
                </c:pt>
                <c:pt idx="158">
                  <c:v>14.8</c:v>
                </c:pt>
                <c:pt idx="159">
                  <c:v>16.350000000000001</c:v>
                </c:pt>
                <c:pt idx="160">
                  <c:v>-6.25</c:v>
                </c:pt>
                <c:pt idx="161">
                  <c:v>2.0499999999999998</c:v>
                </c:pt>
                <c:pt idx="162">
                  <c:v>-3.95</c:v>
                </c:pt>
                <c:pt idx="163">
                  <c:v>-7.05</c:v>
                </c:pt>
                <c:pt idx="164">
                  <c:v>-6.8</c:v>
                </c:pt>
                <c:pt idx="165">
                  <c:v>-5.75</c:v>
                </c:pt>
                <c:pt idx="166">
                  <c:v>-4.1500000000000004</c:v>
                </c:pt>
                <c:pt idx="167">
                  <c:v>-0.45</c:v>
                </c:pt>
                <c:pt idx="168">
                  <c:v>1.5</c:v>
                </c:pt>
                <c:pt idx="169">
                  <c:v>3.43</c:v>
                </c:pt>
                <c:pt idx="170">
                  <c:v>14.25</c:v>
                </c:pt>
                <c:pt idx="171">
                  <c:v>5.45</c:v>
                </c:pt>
                <c:pt idx="172">
                  <c:v>5</c:v>
                </c:pt>
                <c:pt idx="173">
                  <c:v>4.4000000000000004</c:v>
                </c:pt>
                <c:pt idx="174">
                  <c:v>8.3000000000000007</c:v>
                </c:pt>
                <c:pt idx="175">
                  <c:v>3.75</c:v>
                </c:pt>
                <c:pt idx="176">
                  <c:v>8.4</c:v>
                </c:pt>
                <c:pt idx="177">
                  <c:v>9.6999999999999993</c:v>
                </c:pt>
                <c:pt idx="178">
                  <c:v>4.2</c:v>
                </c:pt>
                <c:pt idx="179">
                  <c:v>6.1</c:v>
                </c:pt>
                <c:pt idx="180">
                  <c:v>6.9</c:v>
                </c:pt>
                <c:pt idx="181">
                  <c:v>7.4</c:v>
                </c:pt>
                <c:pt idx="182">
                  <c:v>-10</c:v>
                </c:pt>
                <c:pt idx="183">
                  <c:v>-3.6</c:v>
                </c:pt>
                <c:pt idx="184">
                  <c:v>-5.7</c:v>
                </c:pt>
                <c:pt idx="185">
                  <c:v>-2.7</c:v>
                </c:pt>
                <c:pt idx="186">
                  <c:v>1.7</c:v>
                </c:pt>
                <c:pt idx="187">
                  <c:v>5.47</c:v>
                </c:pt>
                <c:pt idx="188">
                  <c:v>1.75</c:v>
                </c:pt>
                <c:pt idx="189">
                  <c:v>5.85</c:v>
                </c:pt>
                <c:pt idx="190">
                  <c:v>1.35</c:v>
                </c:pt>
                <c:pt idx="191">
                  <c:v>1.9</c:v>
                </c:pt>
                <c:pt idx="192">
                  <c:v>0.96</c:v>
                </c:pt>
                <c:pt idx="193">
                  <c:v>-1.71</c:v>
                </c:pt>
                <c:pt idx="194">
                  <c:v>3.6</c:v>
                </c:pt>
                <c:pt idx="195">
                  <c:v>2.2000000000000002</c:v>
                </c:pt>
                <c:pt idx="196">
                  <c:v>4.7</c:v>
                </c:pt>
                <c:pt idx="197">
                  <c:v>4.9000000000000004</c:v>
                </c:pt>
                <c:pt idx="198">
                  <c:v>4.0999999999999996</c:v>
                </c:pt>
                <c:pt idx="199">
                  <c:v>4.9000000000000004</c:v>
                </c:pt>
                <c:pt idx="200">
                  <c:v>10.4</c:v>
                </c:pt>
                <c:pt idx="201">
                  <c:v>5.75</c:v>
                </c:pt>
                <c:pt idx="202">
                  <c:v>4.46</c:v>
                </c:pt>
                <c:pt idx="203">
                  <c:v>5.31</c:v>
                </c:pt>
                <c:pt idx="204">
                  <c:v>5.8</c:v>
                </c:pt>
                <c:pt idx="205">
                  <c:v>5.0599999999999996</c:v>
                </c:pt>
                <c:pt idx="206">
                  <c:v>2.4500000000000002</c:v>
                </c:pt>
                <c:pt idx="207">
                  <c:v>4.7</c:v>
                </c:pt>
                <c:pt idx="208">
                  <c:v>4.45</c:v>
                </c:pt>
                <c:pt idx="209">
                  <c:v>6.5</c:v>
                </c:pt>
                <c:pt idx="210">
                  <c:v>3.58</c:v>
                </c:pt>
                <c:pt idx="211">
                  <c:v>4.5599999999999996</c:v>
                </c:pt>
                <c:pt idx="212">
                  <c:v>5</c:v>
                </c:pt>
                <c:pt idx="213">
                  <c:v>13.2</c:v>
                </c:pt>
                <c:pt idx="214">
                  <c:v>10.09</c:v>
                </c:pt>
                <c:pt idx="215">
                  <c:v>5.85</c:v>
                </c:pt>
                <c:pt idx="216">
                  <c:v>-5.56</c:v>
                </c:pt>
                <c:pt idx="217">
                  <c:v>-5.41</c:v>
                </c:pt>
                <c:pt idx="218">
                  <c:v>-2.27</c:v>
                </c:pt>
                <c:pt idx="219">
                  <c:v>-2.4500000000000002</c:v>
                </c:pt>
                <c:pt idx="220">
                  <c:v>-0.45</c:v>
                </c:pt>
                <c:pt idx="221">
                  <c:v>1.4</c:v>
                </c:pt>
                <c:pt idx="222">
                  <c:v>5.41</c:v>
                </c:pt>
                <c:pt idx="223">
                  <c:v>2.78</c:v>
                </c:pt>
                <c:pt idx="224">
                  <c:v>5.15</c:v>
                </c:pt>
                <c:pt idx="225">
                  <c:v>4.95</c:v>
                </c:pt>
                <c:pt idx="226">
                  <c:v>7.46</c:v>
                </c:pt>
                <c:pt idx="227">
                  <c:v>9.1</c:v>
                </c:pt>
                <c:pt idx="228">
                  <c:v>7.8</c:v>
                </c:pt>
                <c:pt idx="229">
                  <c:v>9.39</c:v>
                </c:pt>
                <c:pt idx="230">
                  <c:v>8.8000000000000007</c:v>
                </c:pt>
                <c:pt idx="231">
                  <c:v>14.68</c:v>
                </c:pt>
                <c:pt idx="232">
                  <c:v>10.65</c:v>
                </c:pt>
                <c:pt idx="233">
                  <c:v>11.3</c:v>
                </c:pt>
                <c:pt idx="234">
                  <c:v>1.3</c:v>
                </c:pt>
                <c:pt idx="235">
                  <c:v>3.4</c:v>
                </c:pt>
                <c:pt idx="236">
                  <c:v>5.5</c:v>
                </c:pt>
                <c:pt idx="237">
                  <c:v>6.07</c:v>
                </c:pt>
                <c:pt idx="238">
                  <c:v>9.7100000000000009</c:v>
                </c:pt>
                <c:pt idx="239">
                  <c:v>11.9</c:v>
                </c:pt>
                <c:pt idx="240">
                  <c:v>14.69</c:v>
                </c:pt>
                <c:pt idx="241">
                  <c:v>16.7</c:v>
                </c:pt>
                <c:pt idx="242">
                  <c:v>11.45</c:v>
                </c:pt>
                <c:pt idx="243">
                  <c:v>13.75</c:v>
                </c:pt>
                <c:pt idx="244">
                  <c:v>16.809999999999999</c:v>
                </c:pt>
                <c:pt idx="245">
                  <c:v>10.8</c:v>
                </c:pt>
                <c:pt idx="246">
                  <c:v>9.6</c:v>
                </c:pt>
                <c:pt idx="247">
                  <c:v>12.25</c:v>
                </c:pt>
                <c:pt idx="248">
                  <c:v>11.05</c:v>
                </c:pt>
                <c:pt idx="249">
                  <c:v>11.7</c:v>
                </c:pt>
                <c:pt idx="250">
                  <c:v>6.1</c:v>
                </c:pt>
                <c:pt idx="251">
                  <c:v>10.050000000000001</c:v>
                </c:pt>
                <c:pt idx="252">
                  <c:v>14.6</c:v>
                </c:pt>
                <c:pt idx="253">
                  <c:v>13.3</c:v>
                </c:pt>
                <c:pt idx="254">
                  <c:v>12.8</c:v>
                </c:pt>
                <c:pt idx="255">
                  <c:v>13.1</c:v>
                </c:pt>
                <c:pt idx="256">
                  <c:v>13.29</c:v>
                </c:pt>
                <c:pt idx="257">
                  <c:v>15.7</c:v>
                </c:pt>
                <c:pt idx="258">
                  <c:v>15</c:v>
                </c:pt>
                <c:pt idx="259">
                  <c:v>16.5</c:v>
                </c:pt>
                <c:pt idx="260">
                  <c:v>18.8</c:v>
                </c:pt>
                <c:pt idx="261">
                  <c:v>20.399999999999999</c:v>
                </c:pt>
                <c:pt idx="262">
                  <c:v>19.75</c:v>
                </c:pt>
                <c:pt idx="263">
                  <c:v>23.39</c:v>
                </c:pt>
                <c:pt idx="264">
                  <c:v>20.56</c:v>
                </c:pt>
                <c:pt idx="265">
                  <c:v>25.7</c:v>
                </c:pt>
                <c:pt idx="266">
                  <c:v>24.4</c:v>
                </c:pt>
                <c:pt idx="267">
                  <c:v>25.4</c:v>
                </c:pt>
                <c:pt idx="268">
                  <c:v>26.38</c:v>
                </c:pt>
                <c:pt idx="269">
                  <c:v>21.3</c:v>
                </c:pt>
                <c:pt idx="270">
                  <c:v>24.14</c:v>
                </c:pt>
                <c:pt idx="271">
                  <c:v>23.15</c:v>
                </c:pt>
                <c:pt idx="272">
                  <c:v>21.4</c:v>
                </c:pt>
                <c:pt idx="273">
                  <c:v>20.23</c:v>
                </c:pt>
                <c:pt idx="274">
                  <c:v>19.7</c:v>
                </c:pt>
                <c:pt idx="275">
                  <c:v>21.65</c:v>
                </c:pt>
                <c:pt idx="276">
                  <c:v>18.86</c:v>
                </c:pt>
                <c:pt idx="277">
                  <c:v>19.5</c:v>
                </c:pt>
                <c:pt idx="278">
                  <c:v>16.190000000000001</c:v>
                </c:pt>
                <c:pt idx="279">
                  <c:v>17.3</c:v>
                </c:pt>
                <c:pt idx="280">
                  <c:v>17.14</c:v>
                </c:pt>
                <c:pt idx="281">
                  <c:v>18.47</c:v>
                </c:pt>
                <c:pt idx="282">
                  <c:v>20.3</c:v>
                </c:pt>
                <c:pt idx="283">
                  <c:v>18.22</c:v>
                </c:pt>
                <c:pt idx="284">
                  <c:v>18.8</c:v>
                </c:pt>
                <c:pt idx="285">
                  <c:v>16.89</c:v>
                </c:pt>
                <c:pt idx="286">
                  <c:v>19.440000000000001</c:v>
                </c:pt>
                <c:pt idx="287">
                  <c:v>16.62</c:v>
                </c:pt>
                <c:pt idx="288">
                  <c:v>18.649999999999999</c:v>
                </c:pt>
                <c:pt idx="289">
                  <c:v>18.829999999999998</c:v>
                </c:pt>
                <c:pt idx="290">
                  <c:v>22.2</c:v>
                </c:pt>
                <c:pt idx="291">
                  <c:v>22.85</c:v>
                </c:pt>
                <c:pt idx="292">
                  <c:v>23.72</c:v>
                </c:pt>
                <c:pt idx="293">
                  <c:v>23.8</c:v>
                </c:pt>
                <c:pt idx="294">
                  <c:v>19.78</c:v>
                </c:pt>
                <c:pt idx="295">
                  <c:v>17.34</c:v>
                </c:pt>
                <c:pt idx="296">
                  <c:v>20.28</c:v>
                </c:pt>
                <c:pt idx="297">
                  <c:v>20.5</c:v>
                </c:pt>
                <c:pt idx="298">
                  <c:v>22.87</c:v>
                </c:pt>
                <c:pt idx="299">
                  <c:v>13.9</c:v>
                </c:pt>
                <c:pt idx="300">
                  <c:v>16.559999999999999</c:v>
                </c:pt>
                <c:pt idx="301">
                  <c:v>15.1</c:v>
                </c:pt>
                <c:pt idx="302">
                  <c:v>16.71</c:v>
                </c:pt>
                <c:pt idx="303">
                  <c:v>19.399999999999999</c:v>
                </c:pt>
                <c:pt idx="304">
                  <c:v>18.09</c:v>
                </c:pt>
                <c:pt idx="305">
                  <c:v>14.96</c:v>
                </c:pt>
                <c:pt idx="306">
                  <c:v>17.72</c:v>
                </c:pt>
                <c:pt idx="307">
                  <c:v>16.39</c:v>
                </c:pt>
                <c:pt idx="308">
                  <c:v>18.3</c:v>
                </c:pt>
                <c:pt idx="309">
                  <c:v>16.63</c:v>
                </c:pt>
                <c:pt idx="310">
                  <c:v>19.64</c:v>
                </c:pt>
                <c:pt idx="311">
                  <c:v>21.5</c:v>
                </c:pt>
                <c:pt idx="312">
                  <c:v>23.5</c:v>
                </c:pt>
                <c:pt idx="313">
                  <c:v>25.18</c:v>
                </c:pt>
                <c:pt idx="314">
                  <c:v>21.12</c:v>
                </c:pt>
                <c:pt idx="315">
                  <c:v>18.670000000000002</c:v>
                </c:pt>
                <c:pt idx="316">
                  <c:v>18.5</c:v>
                </c:pt>
                <c:pt idx="317">
                  <c:v>22.25</c:v>
                </c:pt>
                <c:pt idx="318">
                  <c:v>19.079999999999998</c:v>
                </c:pt>
                <c:pt idx="319">
                  <c:v>18.850000000000001</c:v>
                </c:pt>
                <c:pt idx="320">
                  <c:v>21</c:v>
                </c:pt>
                <c:pt idx="321">
                  <c:v>21.15</c:v>
                </c:pt>
                <c:pt idx="322">
                  <c:v>18</c:v>
                </c:pt>
                <c:pt idx="323">
                  <c:v>22.32</c:v>
                </c:pt>
                <c:pt idx="324">
                  <c:v>20.62</c:v>
                </c:pt>
                <c:pt idx="325">
                  <c:v>22.15</c:v>
                </c:pt>
                <c:pt idx="326">
                  <c:v>23.3</c:v>
                </c:pt>
                <c:pt idx="327">
                  <c:v>24.4</c:v>
                </c:pt>
                <c:pt idx="328">
                  <c:v>24.7</c:v>
                </c:pt>
                <c:pt idx="329">
                  <c:v>24.03</c:v>
                </c:pt>
                <c:pt idx="330">
                  <c:v>17</c:v>
                </c:pt>
                <c:pt idx="331">
                  <c:v>19.100000000000001</c:v>
                </c:pt>
                <c:pt idx="332">
                  <c:v>17.8</c:v>
                </c:pt>
                <c:pt idx="333">
                  <c:v>18.48</c:v>
                </c:pt>
                <c:pt idx="334">
                  <c:v>19.8</c:v>
                </c:pt>
                <c:pt idx="335">
                  <c:v>17.82</c:v>
                </c:pt>
                <c:pt idx="336">
                  <c:v>17.5</c:v>
                </c:pt>
                <c:pt idx="337">
                  <c:v>13.59</c:v>
                </c:pt>
                <c:pt idx="338">
                  <c:v>20</c:v>
                </c:pt>
                <c:pt idx="339">
                  <c:v>25.5</c:v>
                </c:pt>
                <c:pt idx="340">
                  <c:v>24.4</c:v>
                </c:pt>
                <c:pt idx="341">
                  <c:v>22.84</c:v>
                </c:pt>
                <c:pt idx="342">
                  <c:v>22.65</c:v>
                </c:pt>
                <c:pt idx="343">
                  <c:v>25.1</c:v>
                </c:pt>
                <c:pt idx="344">
                  <c:v>26.97</c:v>
                </c:pt>
                <c:pt idx="345">
                  <c:v>28.5</c:v>
                </c:pt>
                <c:pt idx="346">
                  <c:v>27.16</c:v>
                </c:pt>
                <c:pt idx="347">
                  <c:v>27.89</c:v>
                </c:pt>
                <c:pt idx="348">
                  <c:v>26.05</c:v>
                </c:pt>
                <c:pt idx="349">
                  <c:v>24.77</c:v>
                </c:pt>
                <c:pt idx="350">
                  <c:v>26.5</c:v>
                </c:pt>
                <c:pt idx="351">
                  <c:v>27.1</c:v>
                </c:pt>
                <c:pt idx="352">
                  <c:v>30.3</c:v>
                </c:pt>
                <c:pt idx="353">
                  <c:v>28.2</c:v>
                </c:pt>
                <c:pt idx="354">
                  <c:v>30.7</c:v>
                </c:pt>
                <c:pt idx="355">
                  <c:v>31.87</c:v>
                </c:pt>
                <c:pt idx="356">
                  <c:v>28.9</c:v>
                </c:pt>
                <c:pt idx="357">
                  <c:v>31.93</c:v>
                </c:pt>
                <c:pt idx="358">
                  <c:v>26.9</c:v>
                </c:pt>
                <c:pt idx="359">
                  <c:v>28.6</c:v>
                </c:pt>
                <c:pt idx="360">
                  <c:v>11.2</c:v>
                </c:pt>
                <c:pt idx="361">
                  <c:v>16.899999999999999</c:v>
                </c:pt>
                <c:pt idx="362">
                  <c:v>19.7</c:v>
                </c:pt>
                <c:pt idx="363">
                  <c:v>20.3</c:v>
                </c:pt>
                <c:pt idx="364">
                  <c:v>22.2</c:v>
                </c:pt>
                <c:pt idx="365">
                  <c:v>20.6</c:v>
                </c:pt>
                <c:pt idx="366">
                  <c:v>14.3</c:v>
                </c:pt>
                <c:pt idx="367">
                  <c:v>11.5</c:v>
                </c:pt>
                <c:pt idx="368">
                  <c:v>14.8</c:v>
                </c:pt>
                <c:pt idx="369">
                  <c:v>7.6</c:v>
                </c:pt>
                <c:pt idx="370">
                  <c:v>8</c:v>
                </c:pt>
                <c:pt idx="371">
                  <c:v>2.2000000000000002</c:v>
                </c:pt>
                <c:pt idx="372">
                  <c:v>4.2</c:v>
                </c:pt>
                <c:pt idx="373">
                  <c:v>8.1999999999999993</c:v>
                </c:pt>
                <c:pt idx="374">
                  <c:v>13.5</c:v>
                </c:pt>
                <c:pt idx="375">
                  <c:v>9.9</c:v>
                </c:pt>
                <c:pt idx="376">
                  <c:v>1</c:v>
                </c:pt>
                <c:pt idx="377">
                  <c:v>15.1</c:v>
                </c:pt>
                <c:pt idx="378">
                  <c:v>6.85</c:v>
                </c:pt>
                <c:pt idx="379">
                  <c:v>15.4</c:v>
                </c:pt>
                <c:pt idx="380">
                  <c:v>4.9000000000000004</c:v>
                </c:pt>
                <c:pt idx="381">
                  <c:v>7.6</c:v>
                </c:pt>
                <c:pt idx="382">
                  <c:v>29.9</c:v>
                </c:pt>
                <c:pt idx="383">
                  <c:v>30.15</c:v>
                </c:pt>
                <c:pt idx="384">
                  <c:v>28.2</c:v>
                </c:pt>
                <c:pt idx="385">
                  <c:v>31.8</c:v>
                </c:pt>
                <c:pt idx="386">
                  <c:v>34.85</c:v>
                </c:pt>
                <c:pt idx="387">
                  <c:v>37</c:v>
                </c:pt>
                <c:pt idx="388">
                  <c:v>39.5</c:v>
                </c:pt>
                <c:pt idx="389">
                  <c:v>35.68</c:v>
                </c:pt>
                <c:pt idx="390">
                  <c:v>34.81</c:v>
                </c:pt>
                <c:pt idx="391">
                  <c:v>32.049999999999997</c:v>
                </c:pt>
                <c:pt idx="392">
                  <c:v>30.55</c:v>
                </c:pt>
                <c:pt idx="393">
                  <c:v>31.05</c:v>
                </c:pt>
                <c:pt idx="394">
                  <c:v>32.51</c:v>
                </c:pt>
                <c:pt idx="395">
                  <c:v>35.700000000000003</c:v>
                </c:pt>
                <c:pt idx="396">
                  <c:v>35.15</c:v>
                </c:pt>
                <c:pt idx="397">
                  <c:v>35.25</c:v>
                </c:pt>
                <c:pt idx="398">
                  <c:v>34.97</c:v>
                </c:pt>
                <c:pt idx="399">
                  <c:v>35.5</c:v>
                </c:pt>
                <c:pt idx="400">
                  <c:v>37.5</c:v>
                </c:pt>
                <c:pt idx="401">
                  <c:v>40.1</c:v>
                </c:pt>
                <c:pt idx="402">
                  <c:v>38.799999999999997</c:v>
                </c:pt>
                <c:pt idx="403">
                  <c:v>40</c:v>
                </c:pt>
                <c:pt idx="404">
                  <c:v>26.12</c:v>
                </c:pt>
                <c:pt idx="405">
                  <c:v>25.11</c:v>
                </c:pt>
                <c:pt idx="406">
                  <c:v>26.7</c:v>
                </c:pt>
                <c:pt idx="407">
                  <c:v>26.51</c:v>
                </c:pt>
                <c:pt idx="408">
                  <c:v>31.07</c:v>
                </c:pt>
                <c:pt idx="409">
                  <c:v>30.4</c:v>
                </c:pt>
                <c:pt idx="410">
                  <c:v>30.38</c:v>
                </c:pt>
                <c:pt idx="411">
                  <c:v>33.200000000000003</c:v>
                </c:pt>
                <c:pt idx="412">
                  <c:v>30.95</c:v>
                </c:pt>
                <c:pt idx="413">
                  <c:v>35.049999999999997</c:v>
                </c:pt>
                <c:pt idx="414">
                  <c:v>36.049999999999997</c:v>
                </c:pt>
                <c:pt idx="415">
                  <c:v>33.47</c:v>
                </c:pt>
                <c:pt idx="416">
                  <c:v>33.450000000000003</c:v>
                </c:pt>
                <c:pt idx="417">
                  <c:v>32.6</c:v>
                </c:pt>
                <c:pt idx="418">
                  <c:v>30.2</c:v>
                </c:pt>
                <c:pt idx="419">
                  <c:v>28.95</c:v>
                </c:pt>
                <c:pt idx="420">
                  <c:v>30</c:v>
                </c:pt>
                <c:pt idx="421">
                  <c:v>27.45</c:v>
                </c:pt>
                <c:pt idx="422">
                  <c:v>26.42</c:v>
                </c:pt>
                <c:pt idx="423">
                  <c:v>27.75</c:v>
                </c:pt>
                <c:pt idx="424">
                  <c:v>29.7</c:v>
                </c:pt>
                <c:pt idx="425">
                  <c:v>29.78</c:v>
                </c:pt>
                <c:pt idx="426">
                  <c:v>30.45</c:v>
                </c:pt>
                <c:pt idx="427">
                  <c:v>30.15</c:v>
                </c:pt>
                <c:pt idx="428">
                  <c:v>32.950000000000003</c:v>
                </c:pt>
                <c:pt idx="429">
                  <c:v>35.61</c:v>
                </c:pt>
                <c:pt idx="430">
                  <c:v>35.82</c:v>
                </c:pt>
                <c:pt idx="431">
                  <c:v>35.1</c:v>
                </c:pt>
                <c:pt idx="432">
                  <c:v>33.65</c:v>
                </c:pt>
                <c:pt idx="433">
                  <c:v>34.15</c:v>
                </c:pt>
                <c:pt idx="434">
                  <c:v>34.950000000000003</c:v>
                </c:pt>
                <c:pt idx="435">
                  <c:v>34.049999999999997</c:v>
                </c:pt>
                <c:pt idx="436">
                  <c:v>35.549999999999997</c:v>
                </c:pt>
                <c:pt idx="437">
                  <c:v>35.67</c:v>
                </c:pt>
                <c:pt idx="438">
                  <c:v>38.6</c:v>
                </c:pt>
                <c:pt idx="439">
                  <c:v>38.4</c:v>
                </c:pt>
                <c:pt idx="440">
                  <c:v>38.65</c:v>
                </c:pt>
                <c:pt idx="441">
                  <c:v>39.67</c:v>
                </c:pt>
                <c:pt idx="442">
                  <c:v>42.13</c:v>
                </c:pt>
                <c:pt idx="443">
                  <c:v>24.88</c:v>
                </c:pt>
                <c:pt idx="444">
                  <c:v>26.3</c:v>
                </c:pt>
                <c:pt idx="445">
                  <c:v>25.7</c:v>
                </c:pt>
                <c:pt idx="446">
                  <c:v>24.81</c:v>
                </c:pt>
                <c:pt idx="447">
                  <c:v>24.65</c:v>
                </c:pt>
                <c:pt idx="448">
                  <c:v>23.5</c:v>
                </c:pt>
                <c:pt idx="449">
                  <c:v>26.4</c:v>
                </c:pt>
                <c:pt idx="450">
                  <c:v>25.75</c:v>
                </c:pt>
                <c:pt idx="451">
                  <c:v>25.47</c:v>
                </c:pt>
                <c:pt idx="452">
                  <c:v>24.35</c:v>
                </c:pt>
                <c:pt idx="453">
                  <c:v>23.5</c:v>
                </c:pt>
                <c:pt idx="454">
                  <c:v>20.9</c:v>
                </c:pt>
                <c:pt idx="455">
                  <c:v>21.82</c:v>
                </c:pt>
                <c:pt idx="456">
                  <c:v>22.6</c:v>
                </c:pt>
                <c:pt idx="457">
                  <c:v>22.02</c:v>
                </c:pt>
                <c:pt idx="458">
                  <c:v>21.9</c:v>
                </c:pt>
                <c:pt idx="459">
                  <c:v>21.68</c:v>
                </c:pt>
                <c:pt idx="460">
                  <c:v>24.45</c:v>
                </c:pt>
                <c:pt idx="461">
                  <c:v>25.1</c:v>
                </c:pt>
                <c:pt idx="462">
                  <c:v>23.5</c:v>
                </c:pt>
                <c:pt idx="463">
                  <c:v>24.13</c:v>
                </c:pt>
                <c:pt idx="464">
                  <c:v>24.39</c:v>
                </c:pt>
                <c:pt idx="465">
                  <c:v>25.55</c:v>
                </c:pt>
                <c:pt idx="466">
                  <c:v>24.95</c:v>
                </c:pt>
                <c:pt idx="467">
                  <c:v>24.6</c:v>
                </c:pt>
                <c:pt idx="468">
                  <c:v>19.7</c:v>
                </c:pt>
                <c:pt idx="469">
                  <c:v>16.7</c:v>
                </c:pt>
                <c:pt idx="470">
                  <c:v>17.71</c:v>
                </c:pt>
                <c:pt idx="471">
                  <c:v>20.91</c:v>
                </c:pt>
                <c:pt idx="472">
                  <c:v>22.5</c:v>
                </c:pt>
                <c:pt idx="473">
                  <c:v>23.85</c:v>
                </c:pt>
                <c:pt idx="474">
                  <c:v>23</c:v>
                </c:pt>
                <c:pt idx="475">
                  <c:v>19.7</c:v>
                </c:pt>
                <c:pt idx="476">
                  <c:v>21.9</c:v>
                </c:pt>
                <c:pt idx="477">
                  <c:v>20.77</c:v>
                </c:pt>
                <c:pt idx="478">
                  <c:v>21.32</c:v>
                </c:pt>
                <c:pt idx="479">
                  <c:v>24</c:v>
                </c:pt>
                <c:pt idx="480">
                  <c:v>25.72</c:v>
                </c:pt>
                <c:pt idx="481">
                  <c:v>27</c:v>
                </c:pt>
                <c:pt idx="482">
                  <c:v>28.06</c:v>
                </c:pt>
                <c:pt idx="483">
                  <c:v>27</c:v>
                </c:pt>
                <c:pt idx="484">
                  <c:v>26.42</c:v>
                </c:pt>
                <c:pt idx="485">
                  <c:v>27</c:v>
                </c:pt>
                <c:pt idx="486">
                  <c:v>28.7</c:v>
                </c:pt>
                <c:pt idx="487">
                  <c:v>28.9</c:v>
                </c:pt>
                <c:pt idx="488">
                  <c:v>27.32</c:v>
                </c:pt>
                <c:pt idx="489">
                  <c:v>27.05</c:v>
                </c:pt>
                <c:pt idx="490">
                  <c:v>27.2</c:v>
                </c:pt>
                <c:pt idx="491">
                  <c:v>29.5</c:v>
                </c:pt>
                <c:pt idx="492">
                  <c:v>29.8</c:v>
                </c:pt>
                <c:pt idx="493">
                  <c:v>26.48</c:v>
                </c:pt>
                <c:pt idx="494">
                  <c:v>28.3</c:v>
                </c:pt>
                <c:pt idx="495">
                  <c:v>28.95</c:v>
                </c:pt>
                <c:pt idx="496">
                  <c:v>28.75</c:v>
                </c:pt>
                <c:pt idx="497">
                  <c:v>27.1</c:v>
                </c:pt>
                <c:pt idx="498">
                  <c:v>27.6</c:v>
                </c:pt>
                <c:pt idx="499">
                  <c:v>27.07</c:v>
                </c:pt>
                <c:pt idx="500">
                  <c:v>25.88</c:v>
                </c:pt>
                <c:pt idx="501">
                  <c:v>24.5</c:v>
                </c:pt>
                <c:pt idx="502">
                  <c:v>22.97</c:v>
                </c:pt>
                <c:pt idx="503">
                  <c:v>26.57</c:v>
                </c:pt>
                <c:pt idx="504">
                  <c:v>24.4</c:v>
                </c:pt>
                <c:pt idx="505">
                  <c:v>24.02</c:v>
                </c:pt>
                <c:pt idx="506">
                  <c:v>24.57</c:v>
                </c:pt>
                <c:pt idx="507">
                  <c:v>21.05</c:v>
                </c:pt>
                <c:pt idx="508">
                  <c:v>23.05</c:v>
                </c:pt>
                <c:pt idx="509">
                  <c:v>22.1</c:v>
                </c:pt>
                <c:pt idx="510">
                  <c:v>24.2</c:v>
                </c:pt>
                <c:pt idx="511">
                  <c:v>15.4</c:v>
                </c:pt>
                <c:pt idx="512">
                  <c:v>16.2</c:v>
                </c:pt>
                <c:pt idx="513">
                  <c:v>16.8</c:v>
                </c:pt>
                <c:pt idx="514">
                  <c:v>17.05</c:v>
                </c:pt>
                <c:pt idx="515">
                  <c:v>15.9</c:v>
                </c:pt>
                <c:pt idx="516">
                  <c:v>16.22</c:v>
                </c:pt>
                <c:pt idx="517">
                  <c:v>16.91</c:v>
                </c:pt>
                <c:pt idx="518">
                  <c:v>16.82</c:v>
                </c:pt>
                <c:pt idx="519">
                  <c:v>17.38</c:v>
                </c:pt>
                <c:pt idx="520">
                  <c:v>19.62</c:v>
                </c:pt>
                <c:pt idx="521">
                  <c:v>20.95</c:v>
                </c:pt>
                <c:pt idx="522">
                  <c:v>19.899999999999999</c:v>
                </c:pt>
                <c:pt idx="523">
                  <c:v>19.25</c:v>
                </c:pt>
                <c:pt idx="524">
                  <c:v>17.600000000000001</c:v>
                </c:pt>
                <c:pt idx="525">
                  <c:v>18.899999999999999</c:v>
                </c:pt>
                <c:pt idx="526">
                  <c:v>20.8</c:v>
                </c:pt>
                <c:pt idx="527">
                  <c:v>20.7</c:v>
                </c:pt>
                <c:pt idx="528">
                  <c:v>18.5</c:v>
                </c:pt>
                <c:pt idx="529">
                  <c:v>18.98</c:v>
                </c:pt>
                <c:pt idx="530">
                  <c:v>19.649999999999999</c:v>
                </c:pt>
                <c:pt idx="531">
                  <c:v>19.7</c:v>
                </c:pt>
                <c:pt idx="532">
                  <c:v>2.4700000000000002</c:v>
                </c:pt>
                <c:pt idx="533">
                  <c:v>5.82</c:v>
                </c:pt>
                <c:pt idx="534">
                  <c:v>17.100000000000001</c:v>
                </c:pt>
                <c:pt idx="535">
                  <c:v>4.91</c:v>
                </c:pt>
                <c:pt idx="536">
                  <c:v>6.53</c:v>
                </c:pt>
                <c:pt idx="537">
                  <c:v>5.49</c:v>
                </c:pt>
                <c:pt idx="538">
                  <c:v>10.29</c:v>
                </c:pt>
                <c:pt idx="539">
                  <c:v>14.6</c:v>
                </c:pt>
                <c:pt idx="540">
                  <c:v>14.25</c:v>
                </c:pt>
                <c:pt idx="541">
                  <c:v>9.2799999999999994</c:v>
                </c:pt>
                <c:pt idx="542">
                  <c:v>11.8</c:v>
                </c:pt>
                <c:pt idx="543">
                  <c:v>15.9</c:v>
                </c:pt>
                <c:pt idx="544">
                  <c:v>16.2</c:v>
                </c:pt>
                <c:pt idx="545">
                  <c:v>17.100000000000001</c:v>
                </c:pt>
                <c:pt idx="546">
                  <c:v>16.2</c:v>
                </c:pt>
                <c:pt idx="547">
                  <c:v>17.45</c:v>
                </c:pt>
                <c:pt idx="548">
                  <c:v>16.190000000000001</c:v>
                </c:pt>
                <c:pt idx="549">
                  <c:v>15.55</c:v>
                </c:pt>
                <c:pt idx="550">
                  <c:v>16.79</c:v>
                </c:pt>
                <c:pt idx="551">
                  <c:v>15.65</c:v>
                </c:pt>
                <c:pt idx="552">
                  <c:v>17.5</c:v>
                </c:pt>
                <c:pt idx="553">
                  <c:v>18.100000000000001</c:v>
                </c:pt>
                <c:pt idx="554">
                  <c:v>16</c:v>
                </c:pt>
                <c:pt idx="555">
                  <c:v>16.5</c:v>
                </c:pt>
                <c:pt idx="556">
                  <c:v>16.2</c:v>
                </c:pt>
                <c:pt idx="557">
                  <c:v>16.829999999999998</c:v>
                </c:pt>
                <c:pt idx="558">
                  <c:v>14.5</c:v>
                </c:pt>
                <c:pt idx="559">
                  <c:v>17.52</c:v>
                </c:pt>
                <c:pt idx="560">
                  <c:v>18.07</c:v>
                </c:pt>
                <c:pt idx="561">
                  <c:v>18.8</c:v>
                </c:pt>
                <c:pt idx="562">
                  <c:v>18.2</c:v>
                </c:pt>
                <c:pt idx="563">
                  <c:v>20.37</c:v>
                </c:pt>
                <c:pt idx="564">
                  <c:v>20</c:v>
                </c:pt>
                <c:pt idx="565">
                  <c:v>20.399999999999999</c:v>
                </c:pt>
                <c:pt idx="566">
                  <c:v>21.3</c:v>
                </c:pt>
                <c:pt idx="567">
                  <c:v>19.75</c:v>
                </c:pt>
                <c:pt idx="568">
                  <c:v>20.6</c:v>
                </c:pt>
                <c:pt idx="569">
                  <c:v>20.95</c:v>
                </c:pt>
                <c:pt idx="570">
                  <c:v>20.64</c:v>
                </c:pt>
                <c:pt idx="571">
                  <c:v>21</c:v>
                </c:pt>
                <c:pt idx="572">
                  <c:v>20.8</c:v>
                </c:pt>
                <c:pt idx="573">
                  <c:v>20.8</c:v>
                </c:pt>
                <c:pt idx="574">
                  <c:v>21.7</c:v>
                </c:pt>
                <c:pt idx="575">
                  <c:v>19.8</c:v>
                </c:pt>
                <c:pt idx="576">
                  <c:v>19.649999999999999</c:v>
                </c:pt>
                <c:pt idx="577">
                  <c:v>19.2</c:v>
                </c:pt>
                <c:pt idx="578">
                  <c:v>20.83</c:v>
                </c:pt>
                <c:pt idx="579">
                  <c:v>21.2</c:v>
                </c:pt>
                <c:pt idx="580">
                  <c:v>20.2</c:v>
                </c:pt>
                <c:pt idx="581">
                  <c:v>19.55</c:v>
                </c:pt>
                <c:pt idx="582">
                  <c:v>21.62</c:v>
                </c:pt>
                <c:pt idx="583">
                  <c:v>22.1</c:v>
                </c:pt>
                <c:pt idx="584">
                  <c:v>24.1</c:v>
                </c:pt>
                <c:pt idx="585">
                  <c:v>25.94</c:v>
                </c:pt>
                <c:pt idx="586">
                  <c:v>25.92</c:v>
                </c:pt>
                <c:pt idx="587">
                  <c:v>25.7</c:v>
                </c:pt>
                <c:pt idx="588">
                  <c:v>24.26</c:v>
                </c:pt>
                <c:pt idx="589">
                  <c:v>25.13</c:v>
                </c:pt>
                <c:pt idx="590">
                  <c:v>26.08</c:v>
                </c:pt>
                <c:pt idx="591">
                  <c:v>25.5</c:v>
                </c:pt>
                <c:pt idx="592">
                  <c:v>24.11</c:v>
                </c:pt>
                <c:pt idx="593">
                  <c:v>22.54</c:v>
                </c:pt>
                <c:pt idx="594">
                  <c:v>24.18</c:v>
                </c:pt>
                <c:pt idx="595">
                  <c:v>25.32</c:v>
                </c:pt>
                <c:pt idx="596">
                  <c:v>25.77</c:v>
                </c:pt>
                <c:pt idx="597">
                  <c:v>24.83</c:v>
                </c:pt>
                <c:pt idx="598">
                  <c:v>24.3</c:v>
                </c:pt>
                <c:pt idx="599">
                  <c:v>25.14</c:v>
                </c:pt>
                <c:pt idx="600">
                  <c:v>26.94</c:v>
                </c:pt>
                <c:pt idx="601">
                  <c:v>25.4</c:v>
                </c:pt>
                <c:pt idx="602">
                  <c:v>28.4</c:v>
                </c:pt>
                <c:pt idx="603">
                  <c:v>30.59</c:v>
                </c:pt>
                <c:pt idx="604">
                  <c:v>16.48</c:v>
                </c:pt>
                <c:pt idx="605">
                  <c:v>16.2</c:v>
                </c:pt>
                <c:pt idx="606">
                  <c:v>14.2</c:v>
                </c:pt>
                <c:pt idx="607">
                  <c:v>15.4</c:v>
                </c:pt>
                <c:pt idx="608">
                  <c:v>13.19</c:v>
                </c:pt>
                <c:pt idx="609">
                  <c:v>13.65</c:v>
                </c:pt>
                <c:pt idx="610">
                  <c:v>14</c:v>
                </c:pt>
                <c:pt idx="611">
                  <c:v>15.8</c:v>
                </c:pt>
                <c:pt idx="612">
                  <c:v>16.05</c:v>
                </c:pt>
                <c:pt idx="613">
                  <c:v>15.32</c:v>
                </c:pt>
                <c:pt idx="614">
                  <c:v>18.55</c:v>
                </c:pt>
                <c:pt idx="615">
                  <c:v>18.55</c:v>
                </c:pt>
                <c:pt idx="616">
                  <c:v>20.149999999999999</c:v>
                </c:pt>
                <c:pt idx="617">
                  <c:v>20.95</c:v>
                </c:pt>
                <c:pt idx="618">
                  <c:v>23.23</c:v>
                </c:pt>
                <c:pt idx="619">
                  <c:v>28.58</c:v>
                </c:pt>
                <c:pt idx="620">
                  <c:v>29.48</c:v>
                </c:pt>
                <c:pt idx="621">
                  <c:v>27.4</c:v>
                </c:pt>
                <c:pt idx="622">
                  <c:v>27.84</c:v>
                </c:pt>
                <c:pt idx="623">
                  <c:v>26.38</c:v>
                </c:pt>
                <c:pt idx="624">
                  <c:v>28.55</c:v>
                </c:pt>
                <c:pt idx="625">
                  <c:v>29.1</c:v>
                </c:pt>
                <c:pt idx="626">
                  <c:v>27.9</c:v>
                </c:pt>
                <c:pt idx="627">
                  <c:v>26.38</c:v>
                </c:pt>
                <c:pt idx="628">
                  <c:v>26.4</c:v>
                </c:pt>
                <c:pt idx="629">
                  <c:v>27.15</c:v>
                </c:pt>
                <c:pt idx="630">
                  <c:v>29.7</c:v>
                </c:pt>
                <c:pt idx="631">
                  <c:v>26.1</c:v>
                </c:pt>
                <c:pt idx="632">
                  <c:v>34.700000000000003</c:v>
                </c:pt>
                <c:pt idx="633">
                  <c:v>38.6</c:v>
                </c:pt>
                <c:pt idx="634">
                  <c:v>40.700000000000003</c:v>
                </c:pt>
                <c:pt idx="635">
                  <c:v>52.7</c:v>
                </c:pt>
                <c:pt idx="636">
                  <c:v>47.7</c:v>
                </c:pt>
                <c:pt idx="637">
                  <c:v>44</c:v>
                </c:pt>
                <c:pt idx="638">
                  <c:v>42.5</c:v>
                </c:pt>
                <c:pt idx="639">
                  <c:v>40.700000000000003</c:v>
                </c:pt>
                <c:pt idx="640">
                  <c:v>39.5</c:v>
                </c:pt>
                <c:pt idx="641">
                  <c:v>48.1</c:v>
                </c:pt>
                <c:pt idx="642">
                  <c:v>48.18</c:v>
                </c:pt>
                <c:pt idx="643">
                  <c:v>53.9</c:v>
                </c:pt>
                <c:pt idx="644">
                  <c:v>54.2</c:v>
                </c:pt>
                <c:pt idx="645">
                  <c:v>49.1</c:v>
                </c:pt>
                <c:pt idx="646">
                  <c:v>45.5</c:v>
                </c:pt>
                <c:pt idx="647">
                  <c:v>48.4</c:v>
                </c:pt>
                <c:pt idx="648">
                  <c:v>46.1</c:v>
                </c:pt>
                <c:pt idx="649">
                  <c:v>37.72</c:v>
                </c:pt>
                <c:pt idx="650">
                  <c:v>46.2</c:v>
                </c:pt>
                <c:pt idx="651">
                  <c:v>32.85</c:v>
                </c:pt>
                <c:pt idx="652">
                  <c:v>32.6</c:v>
                </c:pt>
                <c:pt idx="653">
                  <c:v>32</c:v>
                </c:pt>
                <c:pt idx="654">
                  <c:v>36.1</c:v>
                </c:pt>
                <c:pt idx="655">
                  <c:v>39.6</c:v>
                </c:pt>
                <c:pt idx="656">
                  <c:v>44.9</c:v>
                </c:pt>
                <c:pt idx="657">
                  <c:v>50.1</c:v>
                </c:pt>
                <c:pt idx="658">
                  <c:v>47.8</c:v>
                </c:pt>
                <c:pt idx="659">
                  <c:v>47.1</c:v>
                </c:pt>
                <c:pt idx="660">
                  <c:v>53.9</c:v>
                </c:pt>
                <c:pt idx="661">
                  <c:v>50</c:v>
                </c:pt>
                <c:pt idx="662">
                  <c:v>47.4</c:v>
                </c:pt>
                <c:pt idx="663">
                  <c:v>47.8</c:v>
                </c:pt>
                <c:pt idx="664">
                  <c:v>57.4</c:v>
                </c:pt>
                <c:pt idx="665">
                  <c:v>61.8</c:v>
                </c:pt>
                <c:pt idx="666">
                  <c:v>69</c:v>
                </c:pt>
                <c:pt idx="667">
                  <c:v>62.97</c:v>
                </c:pt>
                <c:pt idx="668">
                  <c:v>54.02</c:v>
                </c:pt>
                <c:pt idx="669">
                  <c:v>58.9</c:v>
                </c:pt>
                <c:pt idx="670">
                  <c:v>56.5</c:v>
                </c:pt>
                <c:pt idx="671">
                  <c:v>42.1</c:v>
                </c:pt>
                <c:pt idx="672">
                  <c:v>49.6</c:v>
                </c:pt>
                <c:pt idx="673">
                  <c:v>41.5</c:v>
                </c:pt>
                <c:pt idx="674">
                  <c:v>47.9</c:v>
                </c:pt>
                <c:pt idx="675">
                  <c:v>43.65</c:v>
                </c:pt>
                <c:pt idx="676">
                  <c:v>39.18</c:v>
                </c:pt>
                <c:pt idx="677">
                  <c:v>41.3</c:v>
                </c:pt>
                <c:pt idx="678">
                  <c:v>36.6</c:v>
                </c:pt>
                <c:pt idx="679">
                  <c:v>36.200000000000003</c:v>
                </c:pt>
                <c:pt idx="680">
                  <c:v>28.25</c:v>
                </c:pt>
                <c:pt idx="681">
                  <c:v>33.229999999999997</c:v>
                </c:pt>
                <c:pt idx="682">
                  <c:v>34.380000000000003</c:v>
                </c:pt>
                <c:pt idx="683">
                  <c:v>34.200000000000003</c:v>
                </c:pt>
                <c:pt idx="684">
                  <c:v>29.6</c:v>
                </c:pt>
                <c:pt idx="685">
                  <c:v>32.1</c:v>
                </c:pt>
                <c:pt idx="686">
                  <c:v>33.700000000000003</c:v>
                </c:pt>
                <c:pt idx="687">
                  <c:v>29.22</c:v>
                </c:pt>
                <c:pt idx="688">
                  <c:v>29.1</c:v>
                </c:pt>
                <c:pt idx="689">
                  <c:v>45.27</c:v>
                </c:pt>
                <c:pt idx="690">
                  <c:v>43.65</c:v>
                </c:pt>
                <c:pt idx="691">
                  <c:v>40</c:v>
                </c:pt>
                <c:pt idx="692">
                  <c:v>39</c:v>
                </c:pt>
                <c:pt idx="693">
                  <c:v>31.05</c:v>
                </c:pt>
                <c:pt idx="694">
                  <c:v>36</c:v>
                </c:pt>
                <c:pt idx="695">
                  <c:v>41.05</c:v>
                </c:pt>
                <c:pt idx="696">
                  <c:v>37.5</c:v>
                </c:pt>
                <c:pt idx="697">
                  <c:v>38.15</c:v>
                </c:pt>
                <c:pt idx="698">
                  <c:v>37.450000000000003</c:v>
                </c:pt>
                <c:pt idx="699">
                  <c:v>35.450000000000003</c:v>
                </c:pt>
                <c:pt idx="700">
                  <c:v>38.43</c:v>
                </c:pt>
                <c:pt idx="701">
                  <c:v>32.9</c:v>
                </c:pt>
                <c:pt idx="702">
                  <c:v>34</c:v>
                </c:pt>
                <c:pt idx="703">
                  <c:v>35.79</c:v>
                </c:pt>
                <c:pt idx="704">
                  <c:v>34.93</c:v>
                </c:pt>
                <c:pt idx="705">
                  <c:v>33.729999999999997</c:v>
                </c:pt>
                <c:pt idx="706">
                  <c:v>32.94</c:v>
                </c:pt>
                <c:pt idx="707">
                  <c:v>34.049999999999997</c:v>
                </c:pt>
                <c:pt idx="708">
                  <c:v>31.8</c:v>
                </c:pt>
                <c:pt idx="709">
                  <c:v>33.65</c:v>
                </c:pt>
                <c:pt idx="710">
                  <c:v>33.979999999999997</c:v>
                </c:pt>
                <c:pt idx="711">
                  <c:v>33</c:v>
                </c:pt>
                <c:pt idx="712">
                  <c:v>32.5</c:v>
                </c:pt>
                <c:pt idx="713">
                  <c:v>30.23</c:v>
                </c:pt>
                <c:pt idx="714">
                  <c:v>28.2</c:v>
                </c:pt>
                <c:pt idx="715">
                  <c:v>23.98</c:v>
                </c:pt>
                <c:pt idx="716">
                  <c:v>24.18</c:v>
                </c:pt>
                <c:pt idx="717">
                  <c:v>25.22</c:v>
                </c:pt>
                <c:pt idx="718">
                  <c:v>23.8</c:v>
                </c:pt>
                <c:pt idx="719">
                  <c:v>22.3</c:v>
                </c:pt>
                <c:pt idx="720">
                  <c:v>21.95</c:v>
                </c:pt>
                <c:pt idx="721">
                  <c:v>17.399999999999999</c:v>
                </c:pt>
                <c:pt idx="722">
                  <c:v>15.5</c:v>
                </c:pt>
                <c:pt idx="723">
                  <c:v>12.8</c:v>
                </c:pt>
                <c:pt idx="724">
                  <c:v>16.100000000000001</c:v>
                </c:pt>
                <c:pt idx="725">
                  <c:v>16.850000000000001</c:v>
                </c:pt>
                <c:pt idx="726">
                  <c:v>16</c:v>
                </c:pt>
                <c:pt idx="727">
                  <c:v>14.09</c:v>
                </c:pt>
                <c:pt idx="728">
                  <c:v>16.899999999999999</c:v>
                </c:pt>
                <c:pt idx="729">
                  <c:v>20.07</c:v>
                </c:pt>
                <c:pt idx="730">
                  <c:v>17.600000000000001</c:v>
                </c:pt>
                <c:pt idx="731">
                  <c:v>12.6</c:v>
                </c:pt>
                <c:pt idx="732">
                  <c:v>11.9</c:v>
                </c:pt>
                <c:pt idx="733">
                  <c:v>10.199999999999999</c:v>
                </c:pt>
                <c:pt idx="734">
                  <c:v>10.33</c:v>
                </c:pt>
                <c:pt idx="735">
                  <c:v>10.7</c:v>
                </c:pt>
                <c:pt idx="736">
                  <c:v>8.1199999999999992</c:v>
                </c:pt>
                <c:pt idx="737">
                  <c:v>8.33</c:v>
                </c:pt>
                <c:pt idx="738">
                  <c:v>7.2</c:v>
                </c:pt>
                <c:pt idx="739">
                  <c:v>4.28</c:v>
                </c:pt>
                <c:pt idx="740">
                  <c:v>5.0999999999999996</c:v>
                </c:pt>
                <c:pt idx="741">
                  <c:v>6.17</c:v>
                </c:pt>
                <c:pt idx="742">
                  <c:v>5.94</c:v>
                </c:pt>
                <c:pt idx="743">
                  <c:v>2</c:v>
                </c:pt>
                <c:pt idx="744">
                  <c:v>2.85</c:v>
                </c:pt>
                <c:pt idx="745">
                  <c:v>5.98</c:v>
                </c:pt>
                <c:pt idx="746">
                  <c:v>5.08</c:v>
                </c:pt>
                <c:pt idx="747">
                  <c:v>4</c:v>
                </c:pt>
                <c:pt idx="748">
                  <c:v>4.38</c:v>
                </c:pt>
                <c:pt idx="749">
                  <c:v>3</c:v>
                </c:pt>
                <c:pt idx="750">
                  <c:v>2.15</c:v>
                </c:pt>
                <c:pt idx="751">
                  <c:v>0.69</c:v>
                </c:pt>
                <c:pt idx="752">
                  <c:v>0.3</c:v>
                </c:pt>
                <c:pt idx="753">
                  <c:v>-2.59</c:v>
                </c:pt>
                <c:pt idx="754">
                  <c:v>-14.48</c:v>
                </c:pt>
                <c:pt idx="755">
                  <c:v>-14.75</c:v>
                </c:pt>
                <c:pt idx="756">
                  <c:v>-15.5</c:v>
                </c:pt>
                <c:pt idx="757">
                  <c:v>-10.98</c:v>
                </c:pt>
                <c:pt idx="758">
                  <c:v>-12.1</c:v>
                </c:pt>
                <c:pt idx="759">
                  <c:v>-11.7</c:v>
                </c:pt>
                <c:pt idx="760">
                  <c:v>-12.9</c:v>
                </c:pt>
                <c:pt idx="761">
                  <c:v>-14.65</c:v>
                </c:pt>
                <c:pt idx="762">
                  <c:v>-14.8</c:v>
                </c:pt>
                <c:pt idx="763">
                  <c:v>-16.79</c:v>
                </c:pt>
                <c:pt idx="764">
                  <c:v>-15</c:v>
                </c:pt>
                <c:pt idx="765">
                  <c:v>-16.600000000000001</c:v>
                </c:pt>
                <c:pt idx="766">
                  <c:v>-12.25</c:v>
                </c:pt>
                <c:pt idx="767">
                  <c:v>-15</c:v>
                </c:pt>
                <c:pt idx="768">
                  <c:v>-22</c:v>
                </c:pt>
                <c:pt idx="769">
                  <c:v>-23.23</c:v>
                </c:pt>
                <c:pt idx="770">
                  <c:v>-21.4</c:v>
                </c:pt>
                <c:pt idx="771">
                  <c:v>-23.25</c:v>
                </c:pt>
                <c:pt idx="772">
                  <c:v>-21.89</c:v>
                </c:pt>
                <c:pt idx="773">
                  <c:v>-27.9</c:v>
                </c:pt>
                <c:pt idx="774">
                  <c:v>-35.18</c:v>
                </c:pt>
                <c:pt idx="775">
                  <c:v>-38.96</c:v>
                </c:pt>
                <c:pt idx="776">
                  <c:v>-41</c:v>
                </c:pt>
                <c:pt idx="777">
                  <c:v>-36.9</c:v>
                </c:pt>
                <c:pt idx="778">
                  <c:v>-44.65</c:v>
                </c:pt>
                <c:pt idx="779">
                  <c:v>-44.79</c:v>
                </c:pt>
                <c:pt idx="780">
                  <c:v>-43.2</c:v>
                </c:pt>
                <c:pt idx="781">
                  <c:v>-43.4</c:v>
                </c:pt>
                <c:pt idx="782">
                  <c:v>-46.59</c:v>
                </c:pt>
                <c:pt idx="783">
                  <c:v>-53.35</c:v>
                </c:pt>
                <c:pt idx="784">
                  <c:v>-52</c:v>
                </c:pt>
                <c:pt idx="785">
                  <c:v>-47.9</c:v>
                </c:pt>
                <c:pt idx="786">
                  <c:v>-42.45</c:v>
                </c:pt>
                <c:pt idx="787">
                  <c:v>-42.5</c:v>
                </c:pt>
                <c:pt idx="788">
                  <c:v>-42.8</c:v>
                </c:pt>
                <c:pt idx="789">
                  <c:v>-35.799999999999997</c:v>
                </c:pt>
                <c:pt idx="790">
                  <c:v>-39.85</c:v>
                </c:pt>
                <c:pt idx="791">
                  <c:v>-38.299999999999997</c:v>
                </c:pt>
                <c:pt idx="792">
                  <c:v>-38.200000000000003</c:v>
                </c:pt>
                <c:pt idx="793">
                  <c:v>-36.200000000000003</c:v>
                </c:pt>
                <c:pt idx="794">
                  <c:v>-35.47</c:v>
                </c:pt>
                <c:pt idx="795">
                  <c:v>-32.68</c:v>
                </c:pt>
                <c:pt idx="796">
                  <c:v>-32.21</c:v>
                </c:pt>
                <c:pt idx="797">
                  <c:v>-30.4</c:v>
                </c:pt>
                <c:pt idx="798">
                  <c:v>-30.8</c:v>
                </c:pt>
                <c:pt idx="799">
                  <c:v>-28.77</c:v>
                </c:pt>
                <c:pt idx="800">
                  <c:v>-27.6</c:v>
                </c:pt>
                <c:pt idx="801">
                  <c:v>-28.2</c:v>
                </c:pt>
                <c:pt idx="802">
                  <c:v>-27.76</c:v>
                </c:pt>
                <c:pt idx="803">
                  <c:v>-25.4</c:v>
                </c:pt>
                <c:pt idx="804">
                  <c:v>-41.1</c:v>
                </c:pt>
                <c:pt idx="805">
                  <c:v>-41.65</c:v>
                </c:pt>
                <c:pt idx="806">
                  <c:v>-44.87</c:v>
                </c:pt>
                <c:pt idx="807">
                  <c:v>-45.55</c:v>
                </c:pt>
                <c:pt idx="808">
                  <c:v>-42.5</c:v>
                </c:pt>
                <c:pt idx="809">
                  <c:v>-44.4</c:v>
                </c:pt>
                <c:pt idx="810">
                  <c:v>-46.27</c:v>
                </c:pt>
                <c:pt idx="811">
                  <c:v>-46</c:v>
                </c:pt>
                <c:pt idx="812">
                  <c:v>-43.1</c:v>
                </c:pt>
                <c:pt idx="813">
                  <c:v>-42.07</c:v>
                </c:pt>
                <c:pt idx="814">
                  <c:v>-40.9</c:v>
                </c:pt>
                <c:pt idx="815">
                  <c:v>-44.23</c:v>
                </c:pt>
                <c:pt idx="816">
                  <c:v>-44.74</c:v>
                </c:pt>
                <c:pt idx="817">
                  <c:v>-50.96</c:v>
                </c:pt>
                <c:pt idx="818">
                  <c:v>-48.12</c:v>
                </c:pt>
                <c:pt idx="819">
                  <c:v>-45.21</c:v>
                </c:pt>
                <c:pt idx="820">
                  <c:v>-45.83</c:v>
                </c:pt>
                <c:pt idx="821">
                  <c:v>-43.8</c:v>
                </c:pt>
                <c:pt idx="822">
                  <c:v>-42.67</c:v>
                </c:pt>
                <c:pt idx="823">
                  <c:v>-44</c:v>
                </c:pt>
                <c:pt idx="824">
                  <c:v>-38.549999999999997</c:v>
                </c:pt>
                <c:pt idx="825">
                  <c:v>-41.45</c:v>
                </c:pt>
                <c:pt idx="826">
                  <c:v>-38.5</c:v>
                </c:pt>
                <c:pt idx="827">
                  <c:v>-38.299999999999997</c:v>
                </c:pt>
                <c:pt idx="828">
                  <c:v>-33.880000000000003</c:v>
                </c:pt>
                <c:pt idx="829">
                  <c:v>-36</c:v>
                </c:pt>
                <c:pt idx="830">
                  <c:v>-32.4</c:v>
                </c:pt>
                <c:pt idx="831">
                  <c:v>-32.39</c:v>
                </c:pt>
                <c:pt idx="832">
                  <c:v>-30.66</c:v>
                </c:pt>
                <c:pt idx="833">
                  <c:v>-29.13</c:v>
                </c:pt>
                <c:pt idx="834">
                  <c:v>-26.4</c:v>
                </c:pt>
                <c:pt idx="835">
                  <c:v>-29.2</c:v>
                </c:pt>
                <c:pt idx="836">
                  <c:v>-26.57</c:v>
                </c:pt>
                <c:pt idx="837">
                  <c:v>-27.9</c:v>
                </c:pt>
                <c:pt idx="838">
                  <c:v>-19.899999999999999</c:v>
                </c:pt>
                <c:pt idx="839">
                  <c:v>-20.6</c:v>
                </c:pt>
                <c:pt idx="840">
                  <c:v>-22.31</c:v>
                </c:pt>
                <c:pt idx="841">
                  <c:v>-20.7</c:v>
                </c:pt>
                <c:pt idx="842">
                  <c:v>-19.57</c:v>
                </c:pt>
                <c:pt idx="843">
                  <c:v>-18.71</c:v>
                </c:pt>
                <c:pt idx="844">
                  <c:v>-25.19</c:v>
                </c:pt>
                <c:pt idx="845">
                  <c:v>-26.06</c:v>
                </c:pt>
                <c:pt idx="846">
                  <c:v>-27.1</c:v>
                </c:pt>
                <c:pt idx="847">
                  <c:v>-24.98</c:v>
                </c:pt>
                <c:pt idx="848">
                  <c:v>-23.1</c:v>
                </c:pt>
                <c:pt idx="849">
                  <c:v>-23.2</c:v>
                </c:pt>
                <c:pt idx="850">
                  <c:v>-21</c:v>
                </c:pt>
                <c:pt idx="851">
                  <c:v>-21.5</c:v>
                </c:pt>
                <c:pt idx="852">
                  <c:v>-21.6</c:v>
                </c:pt>
                <c:pt idx="853">
                  <c:v>-20</c:v>
                </c:pt>
                <c:pt idx="854">
                  <c:v>-21.06</c:v>
                </c:pt>
                <c:pt idx="855">
                  <c:v>-18.43</c:v>
                </c:pt>
                <c:pt idx="856">
                  <c:v>-19.149999999999999</c:v>
                </c:pt>
                <c:pt idx="857">
                  <c:v>-21.66</c:v>
                </c:pt>
                <c:pt idx="858">
                  <c:v>-33.409999999999997</c:v>
                </c:pt>
                <c:pt idx="859">
                  <c:v>-32.5</c:v>
                </c:pt>
                <c:pt idx="860">
                  <c:v>-33.71</c:v>
                </c:pt>
                <c:pt idx="861">
                  <c:v>-34</c:v>
                </c:pt>
                <c:pt idx="862">
                  <c:v>-32.799999999999997</c:v>
                </c:pt>
                <c:pt idx="863">
                  <c:v>-33.24</c:v>
                </c:pt>
                <c:pt idx="864">
                  <c:v>-33.729999999999997</c:v>
                </c:pt>
                <c:pt idx="865">
                  <c:v>-33.479999999999997</c:v>
                </c:pt>
                <c:pt idx="866">
                  <c:v>-32.54</c:v>
                </c:pt>
                <c:pt idx="867">
                  <c:v>-38.17</c:v>
                </c:pt>
                <c:pt idx="868">
                  <c:v>-40</c:v>
                </c:pt>
                <c:pt idx="869">
                  <c:v>-36.33</c:v>
                </c:pt>
                <c:pt idx="870">
                  <c:v>-36.82</c:v>
                </c:pt>
                <c:pt idx="871">
                  <c:v>-42.72</c:v>
                </c:pt>
                <c:pt idx="872">
                  <c:v>-48.74</c:v>
                </c:pt>
                <c:pt idx="873">
                  <c:v>-48.84</c:v>
                </c:pt>
                <c:pt idx="874">
                  <c:v>-83.1</c:v>
                </c:pt>
              </c:numCache>
            </c:numRef>
          </c:yVal>
          <c:smooth val="0"/>
          <c:extLst>
            <c:ext xmlns:c16="http://schemas.microsoft.com/office/drawing/2014/chart" uri="{C3380CC4-5D6E-409C-BE32-E72D297353CC}">
              <c16:uniqueId val="{00000000-D14F-4D18-994A-67A3700744FC}"/>
            </c:ext>
          </c:extLst>
        </c:ser>
        <c:ser>
          <c:idx val="1"/>
          <c:order val="1"/>
          <c:tx>
            <c:strRef>
              <c:f>Sheet1!$B$878</c:f>
              <c:strCache>
                <c:ptCount val="1"/>
                <c:pt idx="0">
                  <c:v>versus €STR OIS (the financing rate)</c:v>
                </c:pt>
              </c:strCache>
            </c:strRef>
          </c:tx>
          <c:spPr>
            <a:ln w="22225">
              <a:solidFill>
                <a:srgbClr val="3C8DBC"/>
              </a:solidFill>
            </a:ln>
          </c:spPr>
          <c:marker>
            <c:symbol val="none"/>
          </c:marker>
          <c:xVal>
            <c:numRef>
              <c:f>Sheet1!$A$879:$A$1753</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Sheet1!$B$879:$B$1753</c:f>
              <c:numCache>
                <c:formatCode>General</c:formatCode>
                <c:ptCount val="875"/>
                <c:pt idx="0">
                  <c:v>-25</c:v>
                </c:pt>
                <c:pt idx="1">
                  <c:v>-26.7</c:v>
                </c:pt>
                <c:pt idx="2">
                  <c:v>-23.5</c:v>
                </c:pt>
                <c:pt idx="3">
                  <c:v>-39.4</c:v>
                </c:pt>
                <c:pt idx="4">
                  <c:v>-39.299999999999997</c:v>
                </c:pt>
                <c:pt idx="5">
                  <c:v>-42.2</c:v>
                </c:pt>
                <c:pt idx="6">
                  <c:v>-41.7</c:v>
                </c:pt>
                <c:pt idx="7">
                  <c:v>-41.1</c:v>
                </c:pt>
                <c:pt idx="8">
                  <c:v>-41.5</c:v>
                </c:pt>
                <c:pt idx="9">
                  <c:v>-42.3</c:v>
                </c:pt>
                <c:pt idx="10">
                  <c:v>-43</c:v>
                </c:pt>
                <c:pt idx="11">
                  <c:v>-39.200000000000003</c:v>
                </c:pt>
                <c:pt idx="12">
                  <c:v>-40.1</c:v>
                </c:pt>
                <c:pt idx="13">
                  <c:v>-42.6</c:v>
                </c:pt>
                <c:pt idx="14">
                  <c:v>-39.5</c:v>
                </c:pt>
                <c:pt idx="15">
                  <c:v>-38.5</c:v>
                </c:pt>
                <c:pt idx="16">
                  <c:v>-39.5</c:v>
                </c:pt>
                <c:pt idx="17">
                  <c:v>-36.4</c:v>
                </c:pt>
                <c:pt idx="18">
                  <c:v>-24.6</c:v>
                </c:pt>
                <c:pt idx="19">
                  <c:v>-23.6</c:v>
                </c:pt>
                <c:pt idx="20">
                  <c:v>-20.7</c:v>
                </c:pt>
                <c:pt idx="21">
                  <c:v>-25.2</c:v>
                </c:pt>
                <c:pt idx="22">
                  <c:v>-29.3</c:v>
                </c:pt>
                <c:pt idx="23">
                  <c:v>-36.5</c:v>
                </c:pt>
                <c:pt idx="24">
                  <c:v>-57.7</c:v>
                </c:pt>
                <c:pt idx="25">
                  <c:v>-54.7</c:v>
                </c:pt>
                <c:pt idx="26">
                  <c:v>-45.6</c:v>
                </c:pt>
                <c:pt idx="27">
                  <c:v>-38.4</c:v>
                </c:pt>
                <c:pt idx="28">
                  <c:v>-39</c:v>
                </c:pt>
                <c:pt idx="29">
                  <c:v>-37.5</c:v>
                </c:pt>
                <c:pt idx="30">
                  <c:v>-32.799999999999997</c:v>
                </c:pt>
                <c:pt idx="31">
                  <c:v>-28.4</c:v>
                </c:pt>
                <c:pt idx="32">
                  <c:v>-34.5</c:v>
                </c:pt>
                <c:pt idx="33">
                  <c:v>-35.700000000000003</c:v>
                </c:pt>
                <c:pt idx="34">
                  <c:v>-38.5</c:v>
                </c:pt>
                <c:pt idx="35">
                  <c:v>-25.9</c:v>
                </c:pt>
                <c:pt idx="36">
                  <c:v>-34.9</c:v>
                </c:pt>
                <c:pt idx="37">
                  <c:v>-35</c:v>
                </c:pt>
                <c:pt idx="38">
                  <c:v>-28</c:v>
                </c:pt>
                <c:pt idx="39">
                  <c:v>-28.8</c:v>
                </c:pt>
                <c:pt idx="40">
                  <c:v>-25.4</c:v>
                </c:pt>
                <c:pt idx="41">
                  <c:v>-21.3</c:v>
                </c:pt>
                <c:pt idx="42">
                  <c:v>-24.7</c:v>
                </c:pt>
                <c:pt idx="43">
                  <c:v>-22.6</c:v>
                </c:pt>
                <c:pt idx="44">
                  <c:v>-21.7</c:v>
                </c:pt>
                <c:pt idx="45">
                  <c:v>-22.1</c:v>
                </c:pt>
                <c:pt idx="46">
                  <c:v>-22.5</c:v>
                </c:pt>
                <c:pt idx="47">
                  <c:v>-25.6</c:v>
                </c:pt>
                <c:pt idx="48">
                  <c:v>-26.2</c:v>
                </c:pt>
                <c:pt idx="49">
                  <c:v>-22.3</c:v>
                </c:pt>
                <c:pt idx="50">
                  <c:v>-22.6</c:v>
                </c:pt>
                <c:pt idx="51">
                  <c:v>-23.5</c:v>
                </c:pt>
                <c:pt idx="52">
                  <c:v>-24.5</c:v>
                </c:pt>
                <c:pt idx="53">
                  <c:v>-27.8</c:v>
                </c:pt>
                <c:pt idx="54">
                  <c:v>-21.1</c:v>
                </c:pt>
                <c:pt idx="55">
                  <c:v>-37.9</c:v>
                </c:pt>
                <c:pt idx="56">
                  <c:v>-41.1</c:v>
                </c:pt>
                <c:pt idx="57">
                  <c:v>-35.700000000000003</c:v>
                </c:pt>
                <c:pt idx="58">
                  <c:v>-37.700000000000003</c:v>
                </c:pt>
                <c:pt idx="59">
                  <c:v>-37.200000000000003</c:v>
                </c:pt>
                <c:pt idx="60">
                  <c:v>-36.549999999999997</c:v>
                </c:pt>
                <c:pt idx="61">
                  <c:v>-38.4</c:v>
                </c:pt>
                <c:pt idx="62">
                  <c:v>-34.6</c:v>
                </c:pt>
                <c:pt idx="63">
                  <c:v>-33</c:v>
                </c:pt>
                <c:pt idx="64">
                  <c:v>-33.4</c:v>
                </c:pt>
                <c:pt idx="65">
                  <c:v>-34.299999999999997</c:v>
                </c:pt>
                <c:pt idx="66">
                  <c:v>-30.5</c:v>
                </c:pt>
                <c:pt idx="67">
                  <c:v>-32.6</c:v>
                </c:pt>
                <c:pt idx="68">
                  <c:v>-34.200000000000003</c:v>
                </c:pt>
                <c:pt idx="69">
                  <c:v>-32.299999999999997</c:v>
                </c:pt>
                <c:pt idx="70">
                  <c:v>-34.950000000000003</c:v>
                </c:pt>
                <c:pt idx="71">
                  <c:v>-31.2</c:v>
                </c:pt>
                <c:pt idx="72">
                  <c:v>-34.299999999999997</c:v>
                </c:pt>
                <c:pt idx="73">
                  <c:v>-31.7</c:v>
                </c:pt>
                <c:pt idx="74">
                  <c:v>-30.9</c:v>
                </c:pt>
                <c:pt idx="75">
                  <c:v>-31.8</c:v>
                </c:pt>
                <c:pt idx="76">
                  <c:v>-42.1</c:v>
                </c:pt>
                <c:pt idx="77">
                  <c:v>-45.4</c:v>
                </c:pt>
                <c:pt idx="78">
                  <c:v>-41.7</c:v>
                </c:pt>
                <c:pt idx="79">
                  <c:v>-38.6</c:v>
                </c:pt>
                <c:pt idx="80">
                  <c:v>-48.7</c:v>
                </c:pt>
                <c:pt idx="81">
                  <c:v>-43.5</c:v>
                </c:pt>
                <c:pt idx="82">
                  <c:v>-37</c:v>
                </c:pt>
                <c:pt idx="83">
                  <c:v>-33</c:v>
                </c:pt>
                <c:pt idx="84">
                  <c:v>-36</c:v>
                </c:pt>
                <c:pt idx="85">
                  <c:v>-29.5</c:v>
                </c:pt>
                <c:pt idx="86">
                  <c:v>-29.4</c:v>
                </c:pt>
                <c:pt idx="87">
                  <c:v>-37.450000000000003</c:v>
                </c:pt>
                <c:pt idx="88">
                  <c:v>-35.5</c:v>
                </c:pt>
                <c:pt idx="89">
                  <c:v>-44.2</c:v>
                </c:pt>
                <c:pt idx="90">
                  <c:v>-51.8</c:v>
                </c:pt>
                <c:pt idx="91">
                  <c:v>-44</c:v>
                </c:pt>
                <c:pt idx="92">
                  <c:v>-52</c:v>
                </c:pt>
                <c:pt idx="93">
                  <c:v>-70.2</c:v>
                </c:pt>
                <c:pt idx="94">
                  <c:v>-89.1</c:v>
                </c:pt>
                <c:pt idx="95">
                  <c:v>-70.400000000000006</c:v>
                </c:pt>
                <c:pt idx="96">
                  <c:v>-79.099999999999994</c:v>
                </c:pt>
                <c:pt idx="97">
                  <c:v>-116.8</c:v>
                </c:pt>
                <c:pt idx="98">
                  <c:v>-131.5</c:v>
                </c:pt>
                <c:pt idx="99">
                  <c:v>-152.1</c:v>
                </c:pt>
                <c:pt idx="100">
                  <c:v>-92.1</c:v>
                </c:pt>
                <c:pt idx="101">
                  <c:v>-96.4</c:v>
                </c:pt>
                <c:pt idx="102">
                  <c:v>-88.5</c:v>
                </c:pt>
                <c:pt idx="103">
                  <c:v>-75.7</c:v>
                </c:pt>
                <c:pt idx="104">
                  <c:v>-83.3</c:v>
                </c:pt>
                <c:pt idx="105">
                  <c:v>-129.30000000000001</c:v>
                </c:pt>
                <c:pt idx="106">
                  <c:v>-105</c:v>
                </c:pt>
                <c:pt idx="107">
                  <c:v>-87.1</c:v>
                </c:pt>
                <c:pt idx="108">
                  <c:v>-83.5</c:v>
                </c:pt>
                <c:pt idx="109">
                  <c:v>-68.7</c:v>
                </c:pt>
                <c:pt idx="110">
                  <c:v>-71.2</c:v>
                </c:pt>
                <c:pt idx="111">
                  <c:v>-83.7</c:v>
                </c:pt>
                <c:pt idx="112">
                  <c:v>-73.599999999999994</c:v>
                </c:pt>
                <c:pt idx="113">
                  <c:v>-60.3</c:v>
                </c:pt>
                <c:pt idx="114">
                  <c:v>-83.3</c:v>
                </c:pt>
                <c:pt idx="115">
                  <c:v>-74.5</c:v>
                </c:pt>
                <c:pt idx="116">
                  <c:v>-77.7</c:v>
                </c:pt>
                <c:pt idx="117">
                  <c:v>-72.599999999999994</c:v>
                </c:pt>
                <c:pt idx="118">
                  <c:v>-87.3</c:v>
                </c:pt>
                <c:pt idx="119">
                  <c:v>-93.4</c:v>
                </c:pt>
                <c:pt idx="120">
                  <c:v>-100.75</c:v>
                </c:pt>
                <c:pt idx="121">
                  <c:v>-91.7</c:v>
                </c:pt>
                <c:pt idx="122">
                  <c:v>-87.3</c:v>
                </c:pt>
                <c:pt idx="123">
                  <c:v>-89.7</c:v>
                </c:pt>
                <c:pt idx="124">
                  <c:v>-96.9</c:v>
                </c:pt>
                <c:pt idx="125">
                  <c:v>-72.7</c:v>
                </c:pt>
                <c:pt idx="126">
                  <c:v>-61.3</c:v>
                </c:pt>
                <c:pt idx="127">
                  <c:v>-72.8</c:v>
                </c:pt>
                <c:pt idx="128">
                  <c:v>-73.900000000000006</c:v>
                </c:pt>
                <c:pt idx="129">
                  <c:v>-66.400000000000006</c:v>
                </c:pt>
                <c:pt idx="130">
                  <c:v>-69.7</c:v>
                </c:pt>
                <c:pt idx="131">
                  <c:v>-49.9</c:v>
                </c:pt>
                <c:pt idx="132">
                  <c:v>-37.799999999999997</c:v>
                </c:pt>
                <c:pt idx="133">
                  <c:v>-46.5</c:v>
                </c:pt>
                <c:pt idx="134">
                  <c:v>-48</c:v>
                </c:pt>
                <c:pt idx="135">
                  <c:v>-33</c:v>
                </c:pt>
                <c:pt idx="136">
                  <c:v>-37.299999999999997</c:v>
                </c:pt>
                <c:pt idx="137">
                  <c:v>-41.1</c:v>
                </c:pt>
                <c:pt idx="138">
                  <c:v>-39.700000000000003</c:v>
                </c:pt>
                <c:pt idx="139">
                  <c:v>-45</c:v>
                </c:pt>
                <c:pt idx="140">
                  <c:v>-40.700000000000003</c:v>
                </c:pt>
                <c:pt idx="141">
                  <c:v>-33.6</c:v>
                </c:pt>
                <c:pt idx="142">
                  <c:v>-42.6</c:v>
                </c:pt>
                <c:pt idx="143">
                  <c:v>-36.200000000000003</c:v>
                </c:pt>
                <c:pt idx="144">
                  <c:v>-38.5</c:v>
                </c:pt>
                <c:pt idx="145">
                  <c:v>-34.450000000000003</c:v>
                </c:pt>
                <c:pt idx="146">
                  <c:v>-30.7</c:v>
                </c:pt>
                <c:pt idx="147">
                  <c:v>-35.4</c:v>
                </c:pt>
                <c:pt idx="148">
                  <c:v>-37.85</c:v>
                </c:pt>
                <c:pt idx="149">
                  <c:v>-34.4</c:v>
                </c:pt>
                <c:pt idx="150">
                  <c:v>-32.1</c:v>
                </c:pt>
                <c:pt idx="151">
                  <c:v>-34.6</c:v>
                </c:pt>
                <c:pt idx="152">
                  <c:v>-27.7</c:v>
                </c:pt>
                <c:pt idx="153">
                  <c:v>-28.55</c:v>
                </c:pt>
                <c:pt idx="154">
                  <c:v>-18.600000000000001</c:v>
                </c:pt>
                <c:pt idx="155">
                  <c:v>-18.850000000000001</c:v>
                </c:pt>
                <c:pt idx="156">
                  <c:v>-23.3</c:v>
                </c:pt>
                <c:pt idx="157">
                  <c:v>-26.95</c:v>
                </c:pt>
                <c:pt idx="158">
                  <c:v>-23.15</c:v>
                </c:pt>
                <c:pt idx="159">
                  <c:v>-24.1</c:v>
                </c:pt>
                <c:pt idx="160">
                  <c:v>-46.5</c:v>
                </c:pt>
                <c:pt idx="161">
                  <c:v>-41.6</c:v>
                </c:pt>
                <c:pt idx="162">
                  <c:v>-43.38</c:v>
                </c:pt>
                <c:pt idx="163">
                  <c:v>-45.5</c:v>
                </c:pt>
                <c:pt idx="164">
                  <c:v>-46.9</c:v>
                </c:pt>
                <c:pt idx="165">
                  <c:v>-45.1</c:v>
                </c:pt>
                <c:pt idx="166">
                  <c:v>-41.57</c:v>
                </c:pt>
                <c:pt idx="167">
                  <c:v>-38.299999999999997</c:v>
                </c:pt>
                <c:pt idx="168">
                  <c:v>-40.4</c:v>
                </c:pt>
                <c:pt idx="169">
                  <c:v>-43</c:v>
                </c:pt>
                <c:pt idx="170">
                  <c:v>-27.95</c:v>
                </c:pt>
                <c:pt idx="171">
                  <c:v>-36.5</c:v>
                </c:pt>
                <c:pt idx="172">
                  <c:v>-34</c:v>
                </c:pt>
                <c:pt idx="173">
                  <c:v>-33.9</c:v>
                </c:pt>
                <c:pt idx="174">
                  <c:v>-30.8</c:v>
                </c:pt>
                <c:pt idx="175">
                  <c:v>-34.4</c:v>
                </c:pt>
                <c:pt idx="176">
                  <c:v>-31.5</c:v>
                </c:pt>
                <c:pt idx="177">
                  <c:v>-30.5</c:v>
                </c:pt>
                <c:pt idx="178">
                  <c:v>-34.9</c:v>
                </c:pt>
                <c:pt idx="179">
                  <c:v>-35.1</c:v>
                </c:pt>
                <c:pt idx="180">
                  <c:v>-34.299999999999997</c:v>
                </c:pt>
                <c:pt idx="181">
                  <c:v>-35.5</c:v>
                </c:pt>
                <c:pt idx="182">
                  <c:v>-51</c:v>
                </c:pt>
                <c:pt idx="183">
                  <c:v>-45.8</c:v>
                </c:pt>
                <c:pt idx="184">
                  <c:v>-47.23</c:v>
                </c:pt>
                <c:pt idx="185">
                  <c:v>-45.7</c:v>
                </c:pt>
                <c:pt idx="186">
                  <c:v>-39.799999999999997</c:v>
                </c:pt>
                <c:pt idx="187">
                  <c:v>-36.6</c:v>
                </c:pt>
                <c:pt idx="188">
                  <c:v>-40.200000000000003</c:v>
                </c:pt>
                <c:pt idx="189">
                  <c:v>-35.65</c:v>
                </c:pt>
                <c:pt idx="190">
                  <c:v>-41.5</c:v>
                </c:pt>
                <c:pt idx="191">
                  <c:v>-41.6</c:v>
                </c:pt>
                <c:pt idx="192">
                  <c:v>-44.05</c:v>
                </c:pt>
                <c:pt idx="193">
                  <c:v>-46.7</c:v>
                </c:pt>
                <c:pt idx="194">
                  <c:v>-40.450000000000003</c:v>
                </c:pt>
                <c:pt idx="195">
                  <c:v>-43.75</c:v>
                </c:pt>
                <c:pt idx="196">
                  <c:v>-41.3</c:v>
                </c:pt>
                <c:pt idx="197">
                  <c:v>-40.1</c:v>
                </c:pt>
                <c:pt idx="198">
                  <c:v>-39.6</c:v>
                </c:pt>
                <c:pt idx="199">
                  <c:v>-38.200000000000003</c:v>
                </c:pt>
                <c:pt idx="200">
                  <c:v>-33.200000000000003</c:v>
                </c:pt>
                <c:pt idx="201">
                  <c:v>-36.549999999999997</c:v>
                </c:pt>
                <c:pt idx="202">
                  <c:v>-37.950000000000003</c:v>
                </c:pt>
                <c:pt idx="203">
                  <c:v>-37.6</c:v>
                </c:pt>
                <c:pt idx="204">
                  <c:v>-37.25</c:v>
                </c:pt>
                <c:pt idx="205">
                  <c:v>-39.1</c:v>
                </c:pt>
                <c:pt idx="206">
                  <c:v>-43.05</c:v>
                </c:pt>
                <c:pt idx="207">
                  <c:v>-40.799999999999997</c:v>
                </c:pt>
                <c:pt idx="208">
                  <c:v>-42.3</c:v>
                </c:pt>
                <c:pt idx="209">
                  <c:v>-38.700000000000003</c:v>
                </c:pt>
                <c:pt idx="210">
                  <c:v>-40.299999999999997</c:v>
                </c:pt>
                <c:pt idx="211">
                  <c:v>-39.25</c:v>
                </c:pt>
                <c:pt idx="212">
                  <c:v>-39.799999999999997</c:v>
                </c:pt>
                <c:pt idx="213">
                  <c:v>-32.450000000000003</c:v>
                </c:pt>
                <c:pt idx="214">
                  <c:v>-35.950000000000003</c:v>
                </c:pt>
                <c:pt idx="215">
                  <c:v>-39.65</c:v>
                </c:pt>
                <c:pt idx="216">
                  <c:v>-50.6</c:v>
                </c:pt>
                <c:pt idx="217">
                  <c:v>-49</c:v>
                </c:pt>
                <c:pt idx="218">
                  <c:v>-46.35</c:v>
                </c:pt>
                <c:pt idx="219">
                  <c:v>-47.1</c:v>
                </c:pt>
                <c:pt idx="220">
                  <c:v>-44.25</c:v>
                </c:pt>
                <c:pt idx="221">
                  <c:v>-42.7</c:v>
                </c:pt>
                <c:pt idx="222">
                  <c:v>-36.799999999999997</c:v>
                </c:pt>
                <c:pt idx="223">
                  <c:v>-39.799999999999997</c:v>
                </c:pt>
                <c:pt idx="224">
                  <c:v>-38.9</c:v>
                </c:pt>
                <c:pt idx="225">
                  <c:v>-37.1</c:v>
                </c:pt>
                <c:pt idx="226">
                  <c:v>-34.6</c:v>
                </c:pt>
                <c:pt idx="227">
                  <c:v>-32.5</c:v>
                </c:pt>
                <c:pt idx="228">
                  <c:v>-33.14</c:v>
                </c:pt>
                <c:pt idx="229">
                  <c:v>-32.1</c:v>
                </c:pt>
                <c:pt idx="230">
                  <c:v>-32.479999999999997</c:v>
                </c:pt>
                <c:pt idx="231">
                  <c:v>-25</c:v>
                </c:pt>
                <c:pt idx="232">
                  <c:v>-27.65</c:v>
                </c:pt>
                <c:pt idx="233">
                  <c:v>-26.78</c:v>
                </c:pt>
                <c:pt idx="234">
                  <c:v>-36.6</c:v>
                </c:pt>
                <c:pt idx="235">
                  <c:v>-34.299999999999997</c:v>
                </c:pt>
                <c:pt idx="236">
                  <c:v>-33</c:v>
                </c:pt>
                <c:pt idx="237">
                  <c:v>-32.1</c:v>
                </c:pt>
                <c:pt idx="238">
                  <c:v>-29.15</c:v>
                </c:pt>
                <c:pt idx="239">
                  <c:v>-27.9</c:v>
                </c:pt>
                <c:pt idx="240">
                  <c:v>-28.14</c:v>
                </c:pt>
                <c:pt idx="241">
                  <c:v>-26</c:v>
                </c:pt>
                <c:pt idx="242">
                  <c:v>-28.52</c:v>
                </c:pt>
                <c:pt idx="243">
                  <c:v>-26.71</c:v>
                </c:pt>
                <c:pt idx="244">
                  <c:v>-22.87</c:v>
                </c:pt>
                <c:pt idx="245">
                  <c:v>-28.78</c:v>
                </c:pt>
                <c:pt idx="246">
                  <c:v>-29.07</c:v>
                </c:pt>
                <c:pt idx="247">
                  <c:v>-26.88</c:v>
                </c:pt>
                <c:pt idx="248">
                  <c:v>-27.6</c:v>
                </c:pt>
                <c:pt idx="249">
                  <c:v>-26.72</c:v>
                </c:pt>
                <c:pt idx="250">
                  <c:v>-32.799999999999997</c:v>
                </c:pt>
                <c:pt idx="251">
                  <c:v>-29.58</c:v>
                </c:pt>
                <c:pt idx="252">
                  <c:v>-24.1</c:v>
                </c:pt>
                <c:pt idx="253">
                  <c:v>-26.2</c:v>
                </c:pt>
                <c:pt idx="254">
                  <c:v>-26.6</c:v>
                </c:pt>
                <c:pt idx="255">
                  <c:v>-27.1</c:v>
                </c:pt>
                <c:pt idx="256">
                  <c:v>-26.2</c:v>
                </c:pt>
                <c:pt idx="257">
                  <c:v>-22.3</c:v>
                </c:pt>
                <c:pt idx="258">
                  <c:v>-24.05</c:v>
                </c:pt>
                <c:pt idx="259">
                  <c:v>-22.9</c:v>
                </c:pt>
                <c:pt idx="260">
                  <c:v>-20.8</c:v>
                </c:pt>
                <c:pt idx="261">
                  <c:v>-20.05</c:v>
                </c:pt>
                <c:pt idx="262">
                  <c:v>-20.7</c:v>
                </c:pt>
                <c:pt idx="263">
                  <c:v>-13.85</c:v>
                </c:pt>
                <c:pt idx="264">
                  <c:v>-12.2</c:v>
                </c:pt>
                <c:pt idx="265">
                  <c:v>-11</c:v>
                </c:pt>
                <c:pt idx="266">
                  <c:v>-10.02</c:v>
                </c:pt>
                <c:pt idx="267">
                  <c:v>-11.15</c:v>
                </c:pt>
                <c:pt idx="268">
                  <c:v>-11.12</c:v>
                </c:pt>
                <c:pt idx="269">
                  <c:v>-12.4</c:v>
                </c:pt>
                <c:pt idx="270">
                  <c:v>-9.4</c:v>
                </c:pt>
                <c:pt idx="271">
                  <c:v>-11.2</c:v>
                </c:pt>
                <c:pt idx="272">
                  <c:v>-13.1</c:v>
                </c:pt>
                <c:pt idx="273">
                  <c:v>-14.52</c:v>
                </c:pt>
                <c:pt idx="274">
                  <c:v>-14.6</c:v>
                </c:pt>
                <c:pt idx="275">
                  <c:v>-12.12</c:v>
                </c:pt>
                <c:pt idx="276">
                  <c:v>-14.2</c:v>
                </c:pt>
                <c:pt idx="277">
                  <c:v>-13.08</c:v>
                </c:pt>
                <c:pt idx="278">
                  <c:v>-14.32</c:v>
                </c:pt>
                <c:pt idx="279">
                  <c:v>-13.7</c:v>
                </c:pt>
                <c:pt idx="280">
                  <c:v>-15.3</c:v>
                </c:pt>
                <c:pt idx="281">
                  <c:v>-13.9</c:v>
                </c:pt>
                <c:pt idx="282">
                  <c:v>-13.1</c:v>
                </c:pt>
                <c:pt idx="283">
                  <c:v>-13.55</c:v>
                </c:pt>
                <c:pt idx="284">
                  <c:v>-17.649999999999999</c:v>
                </c:pt>
                <c:pt idx="285">
                  <c:v>-18.03</c:v>
                </c:pt>
                <c:pt idx="286">
                  <c:v>-14.55</c:v>
                </c:pt>
                <c:pt idx="287">
                  <c:v>-17.62</c:v>
                </c:pt>
                <c:pt idx="288">
                  <c:v>-16.3</c:v>
                </c:pt>
                <c:pt idx="289">
                  <c:v>-14</c:v>
                </c:pt>
                <c:pt idx="290">
                  <c:v>-12</c:v>
                </c:pt>
                <c:pt idx="291">
                  <c:v>-10.95</c:v>
                </c:pt>
                <c:pt idx="292">
                  <c:v>-10</c:v>
                </c:pt>
                <c:pt idx="293">
                  <c:v>-10.199999999999999</c:v>
                </c:pt>
                <c:pt idx="294">
                  <c:v>-15</c:v>
                </c:pt>
                <c:pt idx="295">
                  <c:v>-16.5</c:v>
                </c:pt>
                <c:pt idx="296">
                  <c:v>-13.1</c:v>
                </c:pt>
                <c:pt idx="297">
                  <c:v>-14.9</c:v>
                </c:pt>
                <c:pt idx="298">
                  <c:v>-11.57</c:v>
                </c:pt>
                <c:pt idx="299">
                  <c:v>-20.8</c:v>
                </c:pt>
                <c:pt idx="300">
                  <c:v>-19.05</c:v>
                </c:pt>
                <c:pt idx="301">
                  <c:v>-19.7</c:v>
                </c:pt>
                <c:pt idx="302">
                  <c:v>-18.09</c:v>
                </c:pt>
                <c:pt idx="303">
                  <c:v>-14.3</c:v>
                </c:pt>
                <c:pt idx="304">
                  <c:v>-15.4</c:v>
                </c:pt>
                <c:pt idx="305">
                  <c:v>-18.100000000000001</c:v>
                </c:pt>
                <c:pt idx="306">
                  <c:v>-13.9</c:v>
                </c:pt>
                <c:pt idx="307">
                  <c:v>-16.09</c:v>
                </c:pt>
                <c:pt idx="308">
                  <c:v>-14.45</c:v>
                </c:pt>
                <c:pt idx="309">
                  <c:v>-15</c:v>
                </c:pt>
                <c:pt idx="310">
                  <c:v>-12.3</c:v>
                </c:pt>
                <c:pt idx="311">
                  <c:v>-12</c:v>
                </c:pt>
                <c:pt idx="312">
                  <c:v>-9.9</c:v>
                </c:pt>
                <c:pt idx="313">
                  <c:v>-8.3000000000000007</c:v>
                </c:pt>
                <c:pt idx="314">
                  <c:v>-12</c:v>
                </c:pt>
                <c:pt idx="315">
                  <c:v>-15.4</c:v>
                </c:pt>
                <c:pt idx="316">
                  <c:v>-15.18</c:v>
                </c:pt>
                <c:pt idx="317">
                  <c:v>-12.7</c:v>
                </c:pt>
                <c:pt idx="318">
                  <c:v>-15.9</c:v>
                </c:pt>
                <c:pt idx="319">
                  <c:v>-19.5</c:v>
                </c:pt>
                <c:pt idx="320">
                  <c:v>-17.27</c:v>
                </c:pt>
                <c:pt idx="321">
                  <c:v>-17.7</c:v>
                </c:pt>
                <c:pt idx="322">
                  <c:v>-18.3</c:v>
                </c:pt>
                <c:pt idx="323">
                  <c:v>-12.69</c:v>
                </c:pt>
                <c:pt idx="324">
                  <c:v>-14.7</c:v>
                </c:pt>
                <c:pt idx="325">
                  <c:v>-12.9</c:v>
                </c:pt>
                <c:pt idx="326">
                  <c:v>-12.15</c:v>
                </c:pt>
                <c:pt idx="327">
                  <c:v>-13.3</c:v>
                </c:pt>
                <c:pt idx="328">
                  <c:v>-13.21</c:v>
                </c:pt>
                <c:pt idx="329">
                  <c:v>-12.6</c:v>
                </c:pt>
                <c:pt idx="330">
                  <c:v>-19.399999999999999</c:v>
                </c:pt>
                <c:pt idx="331">
                  <c:v>-18.93</c:v>
                </c:pt>
                <c:pt idx="332">
                  <c:v>-18.8</c:v>
                </c:pt>
                <c:pt idx="333">
                  <c:v>-17.100000000000001</c:v>
                </c:pt>
                <c:pt idx="334">
                  <c:v>-16.34</c:v>
                </c:pt>
                <c:pt idx="335">
                  <c:v>-18.2</c:v>
                </c:pt>
                <c:pt idx="336">
                  <c:v>-20.25</c:v>
                </c:pt>
                <c:pt idx="337">
                  <c:v>-25.6</c:v>
                </c:pt>
                <c:pt idx="338">
                  <c:v>-21.1</c:v>
                </c:pt>
                <c:pt idx="339">
                  <c:v>-13.1</c:v>
                </c:pt>
                <c:pt idx="340">
                  <c:v>-13.15</c:v>
                </c:pt>
                <c:pt idx="341">
                  <c:v>-12.85</c:v>
                </c:pt>
                <c:pt idx="342">
                  <c:v>-13.65</c:v>
                </c:pt>
                <c:pt idx="343">
                  <c:v>-10.3</c:v>
                </c:pt>
                <c:pt idx="344">
                  <c:v>-8.85</c:v>
                </c:pt>
                <c:pt idx="345">
                  <c:v>-7.17</c:v>
                </c:pt>
                <c:pt idx="346">
                  <c:v>-8.8000000000000007</c:v>
                </c:pt>
                <c:pt idx="347">
                  <c:v>-7.77</c:v>
                </c:pt>
                <c:pt idx="348">
                  <c:v>-9.8000000000000007</c:v>
                </c:pt>
                <c:pt idx="349">
                  <c:v>-8.1999999999999993</c:v>
                </c:pt>
                <c:pt idx="350">
                  <c:v>-6.05</c:v>
                </c:pt>
                <c:pt idx="351">
                  <c:v>-5.7</c:v>
                </c:pt>
                <c:pt idx="352">
                  <c:v>-3.2</c:v>
                </c:pt>
                <c:pt idx="353">
                  <c:v>-4.79</c:v>
                </c:pt>
                <c:pt idx="354">
                  <c:v>-2.8</c:v>
                </c:pt>
                <c:pt idx="355">
                  <c:v>-0.9</c:v>
                </c:pt>
                <c:pt idx="356">
                  <c:v>-2.6</c:v>
                </c:pt>
                <c:pt idx="357">
                  <c:v>-0.7</c:v>
                </c:pt>
                <c:pt idx="358">
                  <c:v>-5.8</c:v>
                </c:pt>
                <c:pt idx="359">
                  <c:v>-4.5999999999999996</c:v>
                </c:pt>
                <c:pt idx="360">
                  <c:v>-20.8</c:v>
                </c:pt>
                <c:pt idx="361">
                  <c:v>-16.600000000000001</c:v>
                </c:pt>
                <c:pt idx="362">
                  <c:v>-11.6</c:v>
                </c:pt>
                <c:pt idx="363">
                  <c:v>-10.9</c:v>
                </c:pt>
                <c:pt idx="364">
                  <c:v>-10.3</c:v>
                </c:pt>
                <c:pt idx="365">
                  <c:v>-11.9</c:v>
                </c:pt>
                <c:pt idx="366">
                  <c:v>-16.600000000000001</c:v>
                </c:pt>
                <c:pt idx="367">
                  <c:v>-18.399999999999999</c:v>
                </c:pt>
                <c:pt idx="368">
                  <c:v>-14.2</c:v>
                </c:pt>
                <c:pt idx="369">
                  <c:v>-22.4</c:v>
                </c:pt>
                <c:pt idx="370">
                  <c:v>-22.6</c:v>
                </c:pt>
                <c:pt idx="371">
                  <c:v>-29.35</c:v>
                </c:pt>
                <c:pt idx="372">
                  <c:v>-27.9</c:v>
                </c:pt>
                <c:pt idx="373">
                  <c:v>-25</c:v>
                </c:pt>
                <c:pt idx="374">
                  <c:v>-18</c:v>
                </c:pt>
                <c:pt idx="375">
                  <c:v>-21</c:v>
                </c:pt>
                <c:pt idx="376">
                  <c:v>-29.85</c:v>
                </c:pt>
                <c:pt idx="377">
                  <c:v>-14.9</c:v>
                </c:pt>
                <c:pt idx="378">
                  <c:v>-23.4</c:v>
                </c:pt>
                <c:pt idx="379">
                  <c:v>-16.2</c:v>
                </c:pt>
                <c:pt idx="380">
                  <c:v>-26.9</c:v>
                </c:pt>
                <c:pt idx="381">
                  <c:v>-24.1</c:v>
                </c:pt>
                <c:pt idx="382">
                  <c:v>0.6</c:v>
                </c:pt>
                <c:pt idx="383">
                  <c:v>1.5</c:v>
                </c:pt>
                <c:pt idx="384">
                  <c:v>0.1</c:v>
                </c:pt>
                <c:pt idx="385">
                  <c:v>4.2</c:v>
                </c:pt>
                <c:pt idx="386">
                  <c:v>7.2</c:v>
                </c:pt>
                <c:pt idx="387">
                  <c:v>8.83</c:v>
                </c:pt>
                <c:pt idx="388">
                  <c:v>11</c:v>
                </c:pt>
                <c:pt idx="389">
                  <c:v>8.1300000000000008</c:v>
                </c:pt>
                <c:pt idx="390">
                  <c:v>7.75</c:v>
                </c:pt>
                <c:pt idx="391">
                  <c:v>3.9</c:v>
                </c:pt>
                <c:pt idx="392">
                  <c:v>2</c:v>
                </c:pt>
                <c:pt idx="393">
                  <c:v>3.11</c:v>
                </c:pt>
                <c:pt idx="394">
                  <c:v>4.32</c:v>
                </c:pt>
                <c:pt idx="395">
                  <c:v>7.21</c:v>
                </c:pt>
                <c:pt idx="396">
                  <c:v>6.6</c:v>
                </c:pt>
                <c:pt idx="397">
                  <c:v>6.1</c:v>
                </c:pt>
                <c:pt idx="398">
                  <c:v>6.6</c:v>
                </c:pt>
                <c:pt idx="399">
                  <c:v>7.6</c:v>
                </c:pt>
                <c:pt idx="400">
                  <c:v>8.9</c:v>
                </c:pt>
                <c:pt idx="401">
                  <c:v>11.5</c:v>
                </c:pt>
                <c:pt idx="402">
                  <c:v>11.07</c:v>
                </c:pt>
                <c:pt idx="403">
                  <c:v>12.1</c:v>
                </c:pt>
                <c:pt idx="404">
                  <c:v>-1.7</c:v>
                </c:pt>
                <c:pt idx="405">
                  <c:v>-2.71</c:v>
                </c:pt>
                <c:pt idx="406">
                  <c:v>-1.4</c:v>
                </c:pt>
                <c:pt idx="407">
                  <c:v>-1.08</c:v>
                </c:pt>
                <c:pt idx="408">
                  <c:v>3.4</c:v>
                </c:pt>
                <c:pt idx="409">
                  <c:v>3.4</c:v>
                </c:pt>
                <c:pt idx="410">
                  <c:v>3.5</c:v>
                </c:pt>
                <c:pt idx="411">
                  <c:v>6.15</c:v>
                </c:pt>
                <c:pt idx="412">
                  <c:v>4.2300000000000004</c:v>
                </c:pt>
                <c:pt idx="413">
                  <c:v>9.6</c:v>
                </c:pt>
                <c:pt idx="414">
                  <c:v>10.5</c:v>
                </c:pt>
                <c:pt idx="415">
                  <c:v>8.3000000000000007</c:v>
                </c:pt>
                <c:pt idx="416">
                  <c:v>9.0500000000000007</c:v>
                </c:pt>
                <c:pt idx="417">
                  <c:v>7.81</c:v>
                </c:pt>
                <c:pt idx="418">
                  <c:v>5.5</c:v>
                </c:pt>
                <c:pt idx="419">
                  <c:v>4.2</c:v>
                </c:pt>
                <c:pt idx="420">
                  <c:v>5.7</c:v>
                </c:pt>
                <c:pt idx="421">
                  <c:v>3.2</c:v>
                </c:pt>
                <c:pt idx="422">
                  <c:v>2.2000000000000002</c:v>
                </c:pt>
                <c:pt idx="423">
                  <c:v>3.9</c:v>
                </c:pt>
                <c:pt idx="424">
                  <c:v>4.5</c:v>
                </c:pt>
                <c:pt idx="425">
                  <c:v>3.1</c:v>
                </c:pt>
                <c:pt idx="426">
                  <c:v>4.0999999999999996</c:v>
                </c:pt>
                <c:pt idx="427">
                  <c:v>4.7</c:v>
                </c:pt>
                <c:pt idx="428">
                  <c:v>6.7</c:v>
                </c:pt>
                <c:pt idx="429">
                  <c:v>9.1300000000000008</c:v>
                </c:pt>
                <c:pt idx="430">
                  <c:v>9.7200000000000006</c:v>
                </c:pt>
                <c:pt idx="431">
                  <c:v>8.4</c:v>
                </c:pt>
                <c:pt idx="432">
                  <c:v>6.8</c:v>
                </c:pt>
                <c:pt idx="433">
                  <c:v>8.3000000000000007</c:v>
                </c:pt>
                <c:pt idx="434">
                  <c:v>9</c:v>
                </c:pt>
                <c:pt idx="435">
                  <c:v>8.8000000000000007</c:v>
                </c:pt>
                <c:pt idx="436">
                  <c:v>9.35</c:v>
                </c:pt>
                <c:pt idx="437">
                  <c:v>9.35</c:v>
                </c:pt>
                <c:pt idx="438">
                  <c:v>10.5</c:v>
                </c:pt>
                <c:pt idx="439">
                  <c:v>10.8</c:v>
                </c:pt>
                <c:pt idx="440">
                  <c:v>11</c:v>
                </c:pt>
                <c:pt idx="441">
                  <c:v>13.6</c:v>
                </c:pt>
                <c:pt idx="442">
                  <c:v>15.68</c:v>
                </c:pt>
                <c:pt idx="443">
                  <c:v>-1.2</c:v>
                </c:pt>
                <c:pt idx="444">
                  <c:v>-0.28000000000000003</c:v>
                </c:pt>
                <c:pt idx="445">
                  <c:v>-1.22</c:v>
                </c:pt>
                <c:pt idx="446">
                  <c:v>-2.2000000000000002</c:v>
                </c:pt>
                <c:pt idx="447">
                  <c:v>-2.1</c:v>
                </c:pt>
                <c:pt idx="448">
                  <c:v>-2.9</c:v>
                </c:pt>
                <c:pt idx="449">
                  <c:v>-0.27</c:v>
                </c:pt>
                <c:pt idx="450">
                  <c:v>-0.88</c:v>
                </c:pt>
                <c:pt idx="451">
                  <c:v>-1</c:v>
                </c:pt>
                <c:pt idx="452">
                  <c:v>-1.95</c:v>
                </c:pt>
                <c:pt idx="453">
                  <c:v>-1.8</c:v>
                </c:pt>
                <c:pt idx="454">
                  <c:v>-2.5</c:v>
                </c:pt>
                <c:pt idx="455">
                  <c:v>-1.5</c:v>
                </c:pt>
                <c:pt idx="456">
                  <c:v>-0.85</c:v>
                </c:pt>
                <c:pt idx="457">
                  <c:v>-2.33</c:v>
                </c:pt>
                <c:pt idx="458">
                  <c:v>-2.1</c:v>
                </c:pt>
                <c:pt idx="459">
                  <c:v>-2.5</c:v>
                </c:pt>
                <c:pt idx="460">
                  <c:v>0.8</c:v>
                </c:pt>
                <c:pt idx="461">
                  <c:v>1.6</c:v>
                </c:pt>
                <c:pt idx="462">
                  <c:v>-0.05</c:v>
                </c:pt>
                <c:pt idx="463">
                  <c:v>0.4</c:v>
                </c:pt>
                <c:pt idx="464">
                  <c:v>1.2</c:v>
                </c:pt>
                <c:pt idx="465">
                  <c:v>2.4500000000000002</c:v>
                </c:pt>
                <c:pt idx="466">
                  <c:v>1.4</c:v>
                </c:pt>
                <c:pt idx="467">
                  <c:v>1.3</c:v>
                </c:pt>
                <c:pt idx="468">
                  <c:v>-3.7</c:v>
                </c:pt>
                <c:pt idx="469">
                  <c:v>-6.5</c:v>
                </c:pt>
                <c:pt idx="470">
                  <c:v>-5.9</c:v>
                </c:pt>
                <c:pt idx="471">
                  <c:v>-2.96</c:v>
                </c:pt>
                <c:pt idx="472">
                  <c:v>-2</c:v>
                </c:pt>
                <c:pt idx="473">
                  <c:v>-0.3</c:v>
                </c:pt>
                <c:pt idx="474">
                  <c:v>-0.9</c:v>
                </c:pt>
                <c:pt idx="475">
                  <c:v>-5.2</c:v>
                </c:pt>
                <c:pt idx="476">
                  <c:v>-2.8</c:v>
                </c:pt>
                <c:pt idx="477">
                  <c:v>-3.7</c:v>
                </c:pt>
                <c:pt idx="478">
                  <c:v>-3.4</c:v>
                </c:pt>
                <c:pt idx="479">
                  <c:v>-0.4</c:v>
                </c:pt>
                <c:pt idx="480">
                  <c:v>1.1000000000000001</c:v>
                </c:pt>
                <c:pt idx="481">
                  <c:v>2.5</c:v>
                </c:pt>
                <c:pt idx="482">
                  <c:v>2.2999999999999998</c:v>
                </c:pt>
                <c:pt idx="483">
                  <c:v>1.4</c:v>
                </c:pt>
                <c:pt idx="484">
                  <c:v>0.6</c:v>
                </c:pt>
                <c:pt idx="485">
                  <c:v>1.5</c:v>
                </c:pt>
                <c:pt idx="486">
                  <c:v>2.5</c:v>
                </c:pt>
                <c:pt idx="487">
                  <c:v>2.6</c:v>
                </c:pt>
                <c:pt idx="488">
                  <c:v>1.2</c:v>
                </c:pt>
                <c:pt idx="489">
                  <c:v>1.8</c:v>
                </c:pt>
                <c:pt idx="490">
                  <c:v>2.3199999999999998</c:v>
                </c:pt>
                <c:pt idx="491">
                  <c:v>4.9000000000000004</c:v>
                </c:pt>
                <c:pt idx="492">
                  <c:v>5.7</c:v>
                </c:pt>
                <c:pt idx="493">
                  <c:v>2.2999999999999998</c:v>
                </c:pt>
                <c:pt idx="494">
                  <c:v>3.9</c:v>
                </c:pt>
                <c:pt idx="495">
                  <c:v>4.3</c:v>
                </c:pt>
                <c:pt idx="496">
                  <c:v>4.5999999999999996</c:v>
                </c:pt>
                <c:pt idx="497">
                  <c:v>3.2</c:v>
                </c:pt>
                <c:pt idx="498">
                  <c:v>2.6</c:v>
                </c:pt>
                <c:pt idx="499">
                  <c:v>2.2200000000000002</c:v>
                </c:pt>
                <c:pt idx="500">
                  <c:v>1.8</c:v>
                </c:pt>
                <c:pt idx="501">
                  <c:v>0</c:v>
                </c:pt>
                <c:pt idx="502">
                  <c:v>-2.7</c:v>
                </c:pt>
                <c:pt idx="503">
                  <c:v>0.55000000000000004</c:v>
                </c:pt>
                <c:pt idx="504">
                  <c:v>-1.8</c:v>
                </c:pt>
                <c:pt idx="505">
                  <c:v>-1.33</c:v>
                </c:pt>
                <c:pt idx="506">
                  <c:v>-0.2</c:v>
                </c:pt>
                <c:pt idx="507">
                  <c:v>-3.9</c:v>
                </c:pt>
                <c:pt idx="508">
                  <c:v>-2.2000000000000002</c:v>
                </c:pt>
                <c:pt idx="509">
                  <c:v>-3.07</c:v>
                </c:pt>
                <c:pt idx="510">
                  <c:v>0</c:v>
                </c:pt>
                <c:pt idx="511">
                  <c:v>-9.1</c:v>
                </c:pt>
                <c:pt idx="512">
                  <c:v>-8.5</c:v>
                </c:pt>
                <c:pt idx="513">
                  <c:v>-9</c:v>
                </c:pt>
                <c:pt idx="514">
                  <c:v>-9</c:v>
                </c:pt>
                <c:pt idx="515">
                  <c:v>-10.5</c:v>
                </c:pt>
                <c:pt idx="516">
                  <c:v>-9.6</c:v>
                </c:pt>
                <c:pt idx="517">
                  <c:v>-8.74</c:v>
                </c:pt>
                <c:pt idx="518">
                  <c:v>-8.9</c:v>
                </c:pt>
                <c:pt idx="519">
                  <c:v>-7.85</c:v>
                </c:pt>
                <c:pt idx="520">
                  <c:v>-5.8</c:v>
                </c:pt>
                <c:pt idx="521">
                  <c:v>-4.5</c:v>
                </c:pt>
                <c:pt idx="522">
                  <c:v>-5.3</c:v>
                </c:pt>
                <c:pt idx="523">
                  <c:v>-5.8</c:v>
                </c:pt>
                <c:pt idx="524">
                  <c:v>-6.8</c:v>
                </c:pt>
                <c:pt idx="525">
                  <c:v>-5.9</c:v>
                </c:pt>
                <c:pt idx="526">
                  <c:v>-3.5</c:v>
                </c:pt>
                <c:pt idx="527">
                  <c:v>-3.4</c:v>
                </c:pt>
                <c:pt idx="528">
                  <c:v>-4.74</c:v>
                </c:pt>
                <c:pt idx="529">
                  <c:v>-4.6500000000000004</c:v>
                </c:pt>
                <c:pt idx="530">
                  <c:v>-6</c:v>
                </c:pt>
                <c:pt idx="531">
                  <c:v>-7.6</c:v>
                </c:pt>
                <c:pt idx="532">
                  <c:v>-24.24</c:v>
                </c:pt>
                <c:pt idx="533">
                  <c:v>-25.71</c:v>
                </c:pt>
                <c:pt idx="534">
                  <c:v>-11.1</c:v>
                </c:pt>
                <c:pt idx="535">
                  <c:v>-23.4</c:v>
                </c:pt>
                <c:pt idx="536">
                  <c:v>-23.78</c:v>
                </c:pt>
                <c:pt idx="537">
                  <c:v>-25.2</c:v>
                </c:pt>
                <c:pt idx="538">
                  <c:v>-21.7</c:v>
                </c:pt>
                <c:pt idx="539">
                  <c:v>-14.2</c:v>
                </c:pt>
                <c:pt idx="540">
                  <c:v>-14.3</c:v>
                </c:pt>
                <c:pt idx="541">
                  <c:v>-20.6</c:v>
                </c:pt>
                <c:pt idx="542">
                  <c:v>-16.899999999999999</c:v>
                </c:pt>
                <c:pt idx="543">
                  <c:v>-11.35</c:v>
                </c:pt>
                <c:pt idx="544">
                  <c:v>-7.9</c:v>
                </c:pt>
                <c:pt idx="545">
                  <c:v>-8.6999999999999993</c:v>
                </c:pt>
                <c:pt idx="546">
                  <c:v>-8.5</c:v>
                </c:pt>
                <c:pt idx="547">
                  <c:v>-6.3</c:v>
                </c:pt>
                <c:pt idx="548">
                  <c:v>-6.69</c:v>
                </c:pt>
                <c:pt idx="549">
                  <c:v>-6.7</c:v>
                </c:pt>
                <c:pt idx="550">
                  <c:v>-5.2</c:v>
                </c:pt>
                <c:pt idx="551">
                  <c:v>-5.0999999999999996</c:v>
                </c:pt>
                <c:pt idx="552">
                  <c:v>-2.75</c:v>
                </c:pt>
                <c:pt idx="553">
                  <c:v>-2.4</c:v>
                </c:pt>
                <c:pt idx="554">
                  <c:v>-3.45</c:v>
                </c:pt>
                <c:pt idx="555">
                  <c:v>-2.2999999999999998</c:v>
                </c:pt>
                <c:pt idx="556">
                  <c:v>-2.7</c:v>
                </c:pt>
                <c:pt idx="557">
                  <c:v>-1.8</c:v>
                </c:pt>
                <c:pt idx="558">
                  <c:v>-3.8</c:v>
                </c:pt>
                <c:pt idx="559">
                  <c:v>-0.5</c:v>
                </c:pt>
                <c:pt idx="560">
                  <c:v>0.2</c:v>
                </c:pt>
                <c:pt idx="561">
                  <c:v>1.5</c:v>
                </c:pt>
                <c:pt idx="562">
                  <c:v>3</c:v>
                </c:pt>
                <c:pt idx="563">
                  <c:v>4.5999999999999996</c:v>
                </c:pt>
                <c:pt idx="564">
                  <c:v>5.4</c:v>
                </c:pt>
                <c:pt idx="565">
                  <c:v>7.25</c:v>
                </c:pt>
                <c:pt idx="566">
                  <c:v>8.3800000000000008</c:v>
                </c:pt>
                <c:pt idx="567">
                  <c:v>7.4</c:v>
                </c:pt>
                <c:pt idx="568">
                  <c:v>8.93</c:v>
                </c:pt>
                <c:pt idx="569">
                  <c:v>9.1999999999999993</c:v>
                </c:pt>
                <c:pt idx="570">
                  <c:v>8.9</c:v>
                </c:pt>
                <c:pt idx="571">
                  <c:v>9.9</c:v>
                </c:pt>
                <c:pt idx="572">
                  <c:v>9.4499999999999993</c:v>
                </c:pt>
                <c:pt idx="573">
                  <c:v>8.69</c:v>
                </c:pt>
                <c:pt idx="574">
                  <c:v>10.199999999999999</c:v>
                </c:pt>
                <c:pt idx="575">
                  <c:v>9.25</c:v>
                </c:pt>
                <c:pt idx="576">
                  <c:v>9.3000000000000007</c:v>
                </c:pt>
                <c:pt idx="577">
                  <c:v>9.0299999999999994</c:v>
                </c:pt>
                <c:pt idx="578">
                  <c:v>10.78</c:v>
                </c:pt>
                <c:pt idx="579">
                  <c:v>10.9</c:v>
                </c:pt>
                <c:pt idx="580">
                  <c:v>9.6999999999999993</c:v>
                </c:pt>
                <c:pt idx="581">
                  <c:v>7.6</c:v>
                </c:pt>
                <c:pt idx="582">
                  <c:v>7.63</c:v>
                </c:pt>
                <c:pt idx="583">
                  <c:v>9.18</c:v>
                </c:pt>
                <c:pt idx="584">
                  <c:v>11</c:v>
                </c:pt>
                <c:pt idx="585">
                  <c:v>13</c:v>
                </c:pt>
                <c:pt idx="586">
                  <c:v>12.9</c:v>
                </c:pt>
                <c:pt idx="587">
                  <c:v>12.6</c:v>
                </c:pt>
                <c:pt idx="588">
                  <c:v>11.1</c:v>
                </c:pt>
                <c:pt idx="589">
                  <c:v>11.93</c:v>
                </c:pt>
                <c:pt idx="590">
                  <c:v>12.4</c:v>
                </c:pt>
                <c:pt idx="591">
                  <c:v>11.6</c:v>
                </c:pt>
                <c:pt idx="592">
                  <c:v>9.4</c:v>
                </c:pt>
                <c:pt idx="593">
                  <c:v>8.4</c:v>
                </c:pt>
                <c:pt idx="594">
                  <c:v>9.92</c:v>
                </c:pt>
                <c:pt idx="595">
                  <c:v>11.58</c:v>
                </c:pt>
                <c:pt idx="596">
                  <c:v>12.4</c:v>
                </c:pt>
                <c:pt idx="597">
                  <c:v>11.7</c:v>
                </c:pt>
                <c:pt idx="598">
                  <c:v>11.5</c:v>
                </c:pt>
                <c:pt idx="599">
                  <c:v>12.3</c:v>
                </c:pt>
                <c:pt idx="600">
                  <c:v>14.1</c:v>
                </c:pt>
                <c:pt idx="601">
                  <c:v>12.1</c:v>
                </c:pt>
                <c:pt idx="602">
                  <c:v>14.3</c:v>
                </c:pt>
                <c:pt idx="603">
                  <c:v>16.98</c:v>
                </c:pt>
                <c:pt idx="604">
                  <c:v>3.1</c:v>
                </c:pt>
                <c:pt idx="605">
                  <c:v>2.42</c:v>
                </c:pt>
                <c:pt idx="606">
                  <c:v>0.9</c:v>
                </c:pt>
                <c:pt idx="607">
                  <c:v>1.7</c:v>
                </c:pt>
                <c:pt idx="608">
                  <c:v>7.0000000000000007E-2</c:v>
                </c:pt>
                <c:pt idx="609">
                  <c:v>-0.4</c:v>
                </c:pt>
                <c:pt idx="610">
                  <c:v>0.1</c:v>
                </c:pt>
                <c:pt idx="611">
                  <c:v>1.5</c:v>
                </c:pt>
                <c:pt idx="612">
                  <c:v>-0.08</c:v>
                </c:pt>
                <c:pt idx="613">
                  <c:v>-0.18</c:v>
                </c:pt>
                <c:pt idx="614">
                  <c:v>2.5</c:v>
                </c:pt>
                <c:pt idx="615">
                  <c:v>2.7</c:v>
                </c:pt>
                <c:pt idx="616">
                  <c:v>2.5</c:v>
                </c:pt>
                <c:pt idx="617">
                  <c:v>1.1000000000000001</c:v>
                </c:pt>
                <c:pt idx="618">
                  <c:v>8.2200000000000006</c:v>
                </c:pt>
                <c:pt idx="619">
                  <c:v>10.92</c:v>
                </c:pt>
                <c:pt idx="620">
                  <c:v>12.2</c:v>
                </c:pt>
                <c:pt idx="621">
                  <c:v>8.6</c:v>
                </c:pt>
                <c:pt idx="622">
                  <c:v>10.7</c:v>
                </c:pt>
                <c:pt idx="623">
                  <c:v>9.1</c:v>
                </c:pt>
                <c:pt idx="624">
                  <c:v>10.6</c:v>
                </c:pt>
                <c:pt idx="625">
                  <c:v>10.5</c:v>
                </c:pt>
                <c:pt idx="626">
                  <c:v>9</c:v>
                </c:pt>
                <c:pt idx="627">
                  <c:v>7.7</c:v>
                </c:pt>
                <c:pt idx="628">
                  <c:v>9.5</c:v>
                </c:pt>
                <c:pt idx="629">
                  <c:v>9.68</c:v>
                </c:pt>
                <c:pt idx="630">
                  <c:v>11.9</c:v>
                </c:pt>
                <c:pt idx="631">
                  <c:v>5.9</c:v>
                </c:pt>
                <c:pt idx="632">
                  <c:v>14.2</c:v>
                </c:pt>
                <c:pt idx="633">
                  <c:v>14.32</c:v>
                </c:pt>
                <c:pt idx="634">
                  <c:v>15.7</c:v>
                </c:pt>
                <c:pt idx="635">
                  <c:v>27.2</c:v>
                </c:pt>
                <c:pt idx="636">
                  <c:v>19.45</c:v>
                </c:pt>
                <c:pt idx="637">
                  <c:v>16.48</c:v>
                </c:pt>
                <c:pt idx="638">
                  <c:v>16.45</c:v>
                </c:pt>
                <c:pt idx="639">
                  <c:v>14.3</c:v>
                </c:pt>
                <c:pt idx="640">
                  <c:v>12.47</c:v>
                </c:pt>
                <c:pt idx="641">
                  <c:v>20.399999999999999</c:v>
                </c:pt>
                <c:pt idx="642">
                  <c:v>18.53</c:v>
                </c:pt>
                <c:pt idx="643">
                  <c:v>21.4</c:v>
                </c:pt>
                <c:pt idx="644">
                  <c:v>17.7</c:v>
                </c:pt>
                <c:pt idx="645">
                  <c:v>18.55</c:v>
                </c:pt>
                <c:pt idx="646">
                  <c:v>18.09</c:v>
                </c:pt>
                <c:pt idx="647">
                  <c:v>20.2</c:v>
                </c:pt>
                <c:pt idx="648">
                  <c:v>21.07</c:v>
                </c:pt>
                <c:pt idx="649">
                  <c:v>12</c:v>
                </c:pt>
                <c:pt idx="650">
                  <c:v>16.649999999999999</c:v>
                </c:pt>
                <c:pt idx="651">
                  <c:v>6.63</c:v>
                </c:pt>
                <c:pt idx="652">
                  <c:v>6.2</c:v>
                </c:pt>
                <c:pt idx="653">
                  <c:v>5.6</c:v>
                </c:pt>
                <c:pt idx="654">
                  <c:v>6.8</c:v>
                </c:pt>
                <c:pt idx="655">
                  <c:v>10</c:v>
                </c:pt>
                <c:pt idx="656">
                  <c:v>14.4</c:v>
                </c:pt>
                <c:pt idx="657">
                  <c:v>20.399999999999999</c:v>
                </c:pt>
                <c:pt idx="658">
                  <c:v>18.54</c:v>
                </c:pt>
                <c:pt idx="659">
                  <c:v>18.899999999999999</c:v>
                </c:pt>
                <c:pt idx="660">
                  <c:v>24.8</c:v>
                </c:pt>
                <c:pt idx="661">
                  <c:v>22</c:v>
                </c:pt>
                <c:pt idx="662">
                  <c:v>18.11</c:v>
                </c:pt>
                <c:pt idx="663">
                  <c:v>18.600000000000001</c:v>
                </c:pt>
                <c:pt idx="664">
                  <c:v>27.45</c:v>
                </c:pt>
                <c:pt idx="665">
                  <c:v>31.3</c:v>
                </c:pt>
                <c:pt idx="666">
                  <c:v>40.299999999999997</c:v>
                </c:pt>
                <c:pt idx="667">
                  <c:v>33.85</c:v>
                </c:pt>
                <c:pt idx="668">
                  <c:v>24.6</c:v>
                </c:pt>
                <c:pt idx="669">
                  <c:v>29.77</c:v>
                </c:pt>
                <c:pt idx="670">
                  <c:v>26.6</c:v>
                </c:pt>
                <c:pt idx="671">
                  <c:v>12.8</c:v>
                </c:pt>
                <c:pt idx="672">
                  <c:v>23.3</c:v>
                </c:pt>
                <c:pt idx="673">
                  <c:v>16.2</c:v>
                </c:pt>
                <c:pt idx="674">
                  <c:v>21.4</c:v>
                </c:pt>
                <c:pt idx="675">
                  <c:v>16.399999999999999</c:v>
                </c:pt>
                <c:pt idx="676">
                  <c:v>10.8</c:v>
                </c:pt>
                <c:pt idx="677">
                  <c:v>12.95</c:v>
                </c:pt>
                <c:pt idx="678">
                  <c:v>7.8</c:v>
                </c:pt>
                <c:pt idx="679">
                  <c:v>8.8000000000000007</c:v>
                </c:pt>
                <c:pt idx="680">
                  <c:v>2.5</c:v>
                </c:pt>
                <c:pt idx="681">
                  <c:v>8.4</c:v>
                </c:pt>
                <c:pt idx="682">
                  <c:v>4.8</c:v>
                </c:pt>
                <c:pt idx="683">
                  <c:v>9.1999999999999993</c:v>
                </c:pt>
                <c:pt idx="684">
                  <c:v>5.7</c:v>
                </c:pt>
                <c:pt idx="685">
                  <c:v>7</c:v>
                </c:pt>
                <c:pt idx="686">
                  <c:v>9.6</c:v>
                </c:pt>
                <c:pt idx="687">
                  <c:v>3.2</c:v>
                </c:pt>
                <c:pt idx="688">
                  <c:v>1.6</c:v>
                </c:pt>
                <c:pt idx="689">
                  <c:v>15.45</c:v>
                </c:pt>
                <c:pt idx="690">
                  <c:v>17.399999999999999</c:v>
                </c:pt>
                <c:pt idx="691">
                  <c:v>15.2</c:v>
                </c:pt>
                <c:pt idx="692">
                  <c:v>15.5</c:v>
                </c:pt>
                <c:pt idx="693">
                  <c:v>9.6999999999999993</c:v>
                </c:pt>
                <c:pt idx="694">
                  <c:v>13.29</c:v>
                </c:pt>
                <c:pt idx="695">
                  <c:v>15.7</c:v>
                </c:pt>
                <c:pt idx="696">
                  <c:v>11.87</c:v>
                </c:pt>
                <c:pt idx="697">
                  <c:v>12.1</c:v>
                </c:pt>
                <c:pt idx="698">
                  <c:v>11.8</c:v>
                </c:pt>
                <c:pt idx="699">
                  <c:v>9.1999999999999993</c:v>
                </c:pt>
                <c:pt idx="700">
                  <c:v>11.03</c:v>
                </c:pt>
                <c:pt idx="701">
                  <c:v>7.05</c:v>
                </c:pt>
                <c:pt idx="702">
                  <c:v>8.6</c:v>
                </c:pt>
                <c:pt idx="703">
                  <c:v>10.6</c:v>
                </c:pt>
                <c:pt idx="704">
                  <c:v>9.6</c:v>
                </c:pt>
                <c:pt idx="705">
                  <c:v>9.1999999999999993</c:v>
                </c:pt>
                <c:pt idx="706">
                  <c:v>8.3000000000000007</c:v>
                </c:pt>
                <c:pt idx="707">
                  <c:v>9.6999999999999993</c:v>
                </c:pt>
                <c:pt idx="708">
                  <c:v>7.65</c:v>
                </c:pt>
                <c:pt idx="709">
                  <c:v>8.3000000000000007</c:v>
                </c:pt>
                <c:pt idx="710">
                  <c:v>9.5299999999999994</c:v>
                </c:pt>
                <c:pt idx="711">
                  <c:v>8.8800000000000008</c:v>
                </c:pt>
                <c:pt idx="712">
                  <c:v>7.84</c:v>
                </c:pt>
                <c:pt idx="713">
                  <c:v>6.3</c:v>
                </c:pt>
                <c:pt idx="714">
                  <c:v>5.2</c:v>
                </c:pt>
                <c:pt idx="715">
                  <c:v>1.67</c:v>
                </c:pt>
                <c:pt idx="716">
                  <c:v>1.2</c:v>
                </c:pt>
                <c:pt idx="717">
                  <c:v>1.2</c:v>
                </c:pt>
                <c:pt idx="718">
                  <c:v>-0.19</c:v>
                </c:pt>
                <c:pt idx="719">
                  <c:v>-2.9</c:v>
                </c:pt>
                <c:pt idx="720">
                  <c:v>-3.5</c:v>
                </c:pt>
                <c:pt idx="721">
                  <c:v>-8.1300000000000008</c:v>
                </c:pt>
                <c:pt idx="722">
                  <c:v>-10.18</c:v>
                </c:pt>
                <c:pt idx="723">
                  <c:v>-12.27</c:v>
                </c:pt>
                <c:pt idx="724">
                  <c:v>-9.1999999999999993</c:v>
                </c:pt>
                <c:pt idx="725">
                  <c:v>-8.4700000000000006</c:v>
                </c:pt>
                <c:pt idx="726">
                  <c:v>-10.24</c:v>
                </c:pt>
                <c:pt idx="727">
                  <c:v>-11.98</c:v>
                </c:pt>
                <c:pt idx="728">
                  <c:v>-7.08</c:v>
                </c:pt>
                <c:pt idx="729">
                  <c:v>-3.4</c:v>
                </c:pt>
                <c:pt idx="730">
                  <c:v>-6.94</c:v>
                </c:pt>
                <c:pt idx="731">
                  <c:v>-9.9</c:v>
                </c:pt>
                <c:pt idx="732">
                  <c:v>-11</c:v>
                </c:pt>
                <c:pt idx="733">
                  <c:v>-12.4</c:v>
                </c:pt>
                <c:pt idx="734">
                  <c:v>-12.67</c:v>
                </c:pt>
                <c:pt idx="735">
                  <c:v>-12.9</c:v>
                </c:pt>
                <c:pt idx="736">
                  <c:v>-16.3</c:v>
                </c:pt>
                <c:pt idx="737">
                  <c:v>-15.42</c:v>
                </c:pt>
                <c:pt idx="738">
                  <c:v>-16.34</c:v>
                </c:pt>
                <c:pt idx="739">
                  <c:v>-16.399999999999999</c:v>
                </c:pt>
                <c:pt idx="740">
                  <c:v>-13.62</c:v>
                </c:pt>
                <c:pt idx="741">
                  <c:v>-14.4</c:v>
                </c:pt>
                <c:pt idx="742">
                  <c:v>-14.77</c:v>
                </c:pt>
                <c:pt idx="743">
                  <c:v>-18.46</c:v>
                </c:pt>
                <c:pt idx="744">
                  <c:v>-18</c:v>
                </c:pt>
                <c:pt idx="745">
                  <c:v>-15.67</c:v>
                </c:pt>
                <c:pt idx="746">
                  <c:v>-16.43</c:v>
                </c:pt>
                <c:pt idx="747">
                  <c:v>-16.8</c:v>
                </c:pt>
                <c:pt idx="748">
                  <c:v>-15.55</c:v>
                </c:pt>
                <c:pt idx="749">
                  <c:v>-17.100000000000001</c:v>
                </c:pt>
                <c:pt idx="750">
                  <c:v>-18.25</c:v>
                </c:pt>
                <c:pt idx="751">
                  <c:v>-18.8</c:v>
                </c:pt>
                <c:pt idx="752">
                  <c:v>-18.97</c:v>
                </c:pt>
                <c:pt idx="753">
                  <c:v>-21.92</c:v>
                </c:pt>
                <c:pt idx="754">
                  <c:v>-34.700000000000003</c:v>
                </c:pt>
                <c:pt idx="755">
                  <c:v>-34.76</c:v>
                </c:pt>
                <c:pt idx="756">
                  <c:v>-34.28</c:v>
                </c:pt>
                <c:pt idx="757">
                  <c:v>-29.34</c:v>
                </c:pt>
                <c:pt idx="758">
                  <c:v>-30.75</c:v>
                </c:pt>
                <c:pt idx="759">
                  <c:v>-30.99</c:v>
                </c:pt>
                <c:pt idx="760">
                  <c:v>-32.770000000000003</c:v>
                </c:pt>
                <c:pt idx="761">
                  <c:v>-35.14</c:v>
                </c:pt>
                <c:pt idx="762">
                  <c:v>-33.9</c:v>
                </c:pt>
                <c:pt idx="763">
                  <c:v>-35.159999999999997</c:v>
                </c:pt>
                <c:pt idx="764">
                  <c:v>-33.299999999999997</c:v>
                </c:pt>
                <c:pt idx="765">
                  <c:v>-34.06</c:v>
                </c:pt>
                <c:pt idx="766">
                  <c:v>-30.3</c:v>
                </c:pt>
                <c:pt idx="767">
                  <c:v>-33.35</c:v>
                </c:pt>
                <c:pt idx="768">
                  <c:v>-38.840000000000003</c:v>
                </c:pt>
                <c:pt idx="769">
                  <c:v>-41.16</c:v>
                </c:pt>
                <c:pt idx="770">
                  <c:v>-39.4</c:v>
                </c:pt>
                <c:pt idx="771">
                  <c:v>-41.34</c:v>
                </c:pt>
                <c:pt idx="772">
                  <c:v>-41.51</c:v>
                </c:pt>
                <c:pt idx="773">
                  <c:v>-46.79</c:v>
                </c:pt>
                <c:pt idx="774">
                  <c:v>-53.89</c:v>
                </c:pt>
                <c:pt idx="775">
                  <c:v>-56.95</c:v>
                </c:pt>
                <c:pt idx="776">
                  <c:v>-59.05</c:v>
                </c:pt>
                <c:pt idx="777">
                  <c:v>-56.67</c:v>
                </c:pt>
                <c:pt idx="778">
                  <c:v>-65.3</c:v>
                </c:pt>
                <c:pt idx="779">
                  <c:v>-62.86</c:v>
                </c:pt>
                <c:pt idx="780">
                  <c:v>-61.9</c:v>
                </c:pt>
                <c:pt idx="781">
                  <c:v>-62.6</c:v>
                </c:pt>
                <c:pt idx="782">
                  <c:v>-65.260000000000005</c:v>
                </c:pt>
                <c:pt idx="783">
                  <c:v>-71.599999999999994</c:v>
                </c:pt>
                <c:pt idx="784">
                  <c:v>-70.67</c:v>
                </c:pt>
                <c:pt idx="785">
                  <c:v>-67.3</c:v>
                </c:pt>
                <c:pt idx="786">
                  <c:v>-61.5</c:v>
                </c:pt>
                <c:pt idx="787">
                  <c:v>-62</c:v>
                </c:pt>
                <c:pt idx="788">
                  <c:v>-61.21</c:v>
                </c:pt>
                <c:pt idx="789">
                  <c:v>-55.15</c:v>
                </c:pt>
                <c:pt idx="790">
                  <c:v>-57.51</c:v>
                </c:pt>
                <c:pt idx="791">
                  <c:v>-56.5</c:v>
                </c:pt>
                <c:pt idx="792">
                  <c:v>-57.96</c:v>
                </c:pt>
                <c:pt idx="793">
                  <c:v>-55.5</c:v>
                </c:pt>
                <c:pt idx="794">
                  <c:v>-55.44</c:v>
                </c:pt>
                <c:pt idx="795">
                  <c:v>-53.58</c:v>
                </c:pt>
                <c:pt idx="796">
                  <c:v>-53.35</c:v>
                </c:pt>
                <c:pt idx="797">
                  <c:v>-51.43</c:v>
                </c:pt>
                <c:pt idx="798">
                  <c:v>-50.6</c:v>
                </c:pt>
                <c:pt idx="799">
                  <c:v>-48.42</c:v>
                </c:pt>
                <c:pt idx="800">
                  <c:v>-47.7</c:v>
                </c:pt>
                <c:pt idx="801">
                  <c:v>-48.82</c:v>
                </c:pt>
                <c:pt idx="802">
                  <c:v>-48.14</c:v>
                </c:pt>
                <c:pt idx="803">
                  <c:v>-45.95</c:v>
                </c:pt>
                <c:pt idx="804">
                  <c:v>-61.66</c:v>
                </c:pt>
                <c:pt idx="805">
                  <c:v>-62</c:v>
                </c:pt>
                <c:pt idx="806">
                  <c:v>-65.400000000000006</c:v>
                </c:pt>
                <c:pt idx="807">
                  <c:v>-65.489999999999995</c:v>
                </c:pt>
                <c:pt idx="808">
                  <c:v>-62.8</c:v>
                </c:pt>
                <c:pt idx="809">
                  <c:v>-64.55</c:v>
                </c:pt>
                <c:pt idx="810">
                  <c:v>-66.83</c:v>
                </c:pt>
                <c:pt idx="811">
                  <c:v>-68.09</c:v>
                </c:pt>
                <c:pt idx="812">
                  <c:v>-64.349999999999994</c:v>
                </c:pt>
                <c:pt idx="813">
                  <c:v>-63.56</c:v>
                </c:pt>
                <c:pt idx="814">
                  <c:v>-63.03</c:v>
                </c:pt>
                <c:pt idx="815">
                  <c:v>-66.34</c:v>
                </c:pt>
                <c:pt idx="816">
                  <c:v>-66.319999999999993</c:v>
                </c:pt>
                <c:pt idx="817">
                  <c:v>-72.55</c:v>
                </c:pt>
                <c:pt idx="818">
                  <c:v>-69.83</c:v>
                </c:pt>
                <c:pt idx="819">
                  <c:v>-67.47</c:v>
                </c:pt>
                <c:pt idx="820">
                  <c:v>-67.64</c:v>
                </c:pt>
                <c:pt idx="821">
                  <c:v>-65.97</c:v>
                </c:pt>
                <c:pt idx="822">
                  <c:v>-64.59</c:v>
                </c:pt>
                <c:pt idx="823">
                  <c:v>-66.349999999999994</c:v>
                </c:pt>
                <c:pt idx="824">
                  <c:v>-61.52</c:v>
                </c:pt>
                <c:pt idx="825">
                  <c:v>-64.11</c:v>
                </c:pt>
                <c:pt idx="826">
                  <c:v>-61.28</c:v>
                </c:pt>
                <c:pt idx="827">
                  <c:v>-61.56</c:v>
                </c:pt>
                <c:pt idx="828">
                  <c:v>-57.8</c:v>
                </c:pt>
                <c:pt idx="829">
                  <c:v>-60</c:v>
                </c:pt>
                <c:pt idx="830">
                  <c:v>-56.4</c:v>
                </c:pt>
                <c:pt idx="831">
                  <c:v>-56.2</c:v>
                </c:pt>
                <c:pt idx="832">
                  <c:v>-55.5</c:v>
                </c:pt>
                <c:pt idx="833">
                  <c:v>-53.93</c:v>
                </c:pt>
                <c:pt idx="834">
                  <c:v>-51.6</c:v>
                </c:pt>
                <c:pt idx="835">
                  <c:v>-54.1</c:v>
                </c:pt>
                <c:pt idx="836">
                  <c:v>-51.2</c:v>
                </c:pt>
                <c:pt idx="837">
                  <c:v>-53</c:v>
                </c:pt>
                <c:pt idx="838">
                  <c:v>-45.77</c:v>
                </c:pt>
                <c:pt idx="839">
                  <c:v>-46.03</c:v>
                </c:pt>
                <c:pt idx="840">
                  <c:v>-47.84</c:v>
                </c:pt>
                <c:pt idx="841">
                  <c:v>-45.52</c:v>
                </c:pt>
                <c:pt idx="842">
                  <c:v>-44.6</c:v>
                </c:pt>
                <c:pt idx="843">
                  <c:v>-43.6</c:v>
                </c:pt>
                <c:pt idx="844">
                  <c:v>-46.99</c:v>
                </c:pt>
                <c:pt idx="845">
                  <c:v>-51</c:v>
                </c:pt>
                <c:pt idx="846">
                  <c:v>-52.44</c:v>
                </c:pt>
                <c:pt idx="847">
                  <c:v>-51.67</c:v>
                </c:pt>
                <c:pt idx="848">
                  <c:v>-49.93</c:v>
                </c:pt>
                <c:pt idx="849">
                  <c:v>-48.49</c:v>
                </c:pt>
                <c:pt idx="850">
                  <c:v>-46.86</c:v>
                </c:pt>
                <c:pt idx="851">
                  <c:v>-47.2</c:v>
                </c:pt>
                <c:pt idx="852">
                  <c:v>-48.03</c:v>
                </c:pt>
                <c:pt idx="853">
                  <c:v>-45.6</c:v>
                </c:pt>
                <c:pt idx="854">
                  <c:v>-47.24</c:v>
                </c:pt>
                <c:pt idx="855">
                  <c:v>-45.38</c:v>
                </c:pt>
                <c:pt idx="856">
                  <c:v>-45.4</c:v>
                </c:pt>
                <c:pt idx="857">
                  <c:v>-48.02</c:v>
                </c:pt>
                <c:pt idx="858">
                  <c:v>-60.1</c:v>
                </c:pt>
                <c:pt idx="859">
                  <c:v>-59</c:v>
                </c:pt>
                <c:pt idx="860">
                  <c:v>-60.61</c:v>
                </c:pt>
                <c:pt idx="861">
                  <c:v>-61.3</c:v>
                </c:pt>
                <c:pt idx="862">
                  <c:v>-60.17</c:v>
                </c:pt>
                <c:pt idx="863">
                  <c:v>-61.02</c:v>
                </c:pt>
                <c:pt idx="864">
                  <c:v>-62.3</c:v>
                </c:pt>
                <c:pt idx="865">
                  <c:v>-62.07</c:v>
                </c:pt>
                <c:pt idx="866">
                  <c:v>-62</c:v>
                </c:pt>
                <c:pt idx="867">
                  <c:v>-66.75</c:v>
                </c:pt>
                <c:pt idx="868">
                  <c:v>-68.900000000000006</c:v>
                </c:pt>
                <c:pt idx="869">
                  <c:v>-65.8</c:v>
                </c:pt>
                <c:pt idx="870">
                  <c:v>-66.5</c:v>
                </c:pt>
                <c:pt idx="871">
                  <c:v>-72.02</c:v>
                </c:pt>
                <c:pt idx="872">
                  <c:v>-79.290000000000006</c:v>
                </c:pt>
                <c:pt idx="873">
                  <c:v>-80.930000000000007</c:v>
                </c:pt>
                <c:pt idx="874">
                  <c:v>-115.46</c:v>
                </c:pt>
              </c:numCache>
            </c:numRef>
          </c:yVal>
          <c:smooth val="0"/>
          <c:extLst>
            <c:ext xmlns:c16="http://schemas.microsoft.com/office/drawing/2014/chart" uri="{C3380CC4-5D6E-409C-BE32-E72D297353CC}">
              <c16:uniqueId val="{00000001-D14F-4D18-994A-67A3700744FC}"/>
            </c:ext>
          </c:extLst>
        </c:ser>
        <c:dLbls>
          <c:showLegendKey val="0"/>
          <c:showVal val="0"/>
          <c:showCatName val="0"/>
          <c:showSerName val="0"/>
          <c:showPercent val="0"/>
          <c:showBubbleSize val="0"/>
        </c:dLbls>
        <c:axId val="-2128940872"/>
        <c:axId val="-2129643912"/>
      </c:scatterChart>
      <c:valAx>
        <c:axId val="-2128940872"/>
        <c:scaling>
          <c:orientation val="minMax"/>
          <c:max val="46297"/>
          <c:min val="40179"/>
        </c:scaling>
        <c:delete val="0"/>
        <c:axPos val="b"/>
        <c:numFmt formatCode="yyyy" sourceLinked="0"/>
        <c:majorTickMark val="out"/>
        <c:minorTickMark val="none"/>
        <c:tickLblPos val="low"/>
        <c:spPr>
          <a:ln>
            <a:solidFill>
              <a:srgbClr val="DCE3EF"/>
            </a:solidFill>
          </a:ln>
        </c:spPr>
        <c:txPr>
          <a:bodyPr/>
          <a:lstStyle/>
          <a:p>
            <a:pPr>
              <a:defRPr sz="850">
                <a:solidFill>
                  <a:srgbClr val="5A6172"/>
                </a:solidFill>
              </a:defRPr>
            </a:pPr>
            <a:endParaRPr lang="en-US"/>
          </a:p>
        </c:txPr>
        <c:crossAx val="-2129643912"/>
        <c:crosses val="autoZero"/>
        <c:crossBetween val="midCat"/>
        <c:majorUnit val="730"/>
      </c:valAx>
      <c:valAx>
        <c:axId val="-2129643912"/>
        <c:scaling>
          <c:orientation val="minMax"/>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850">
                <a:solidFill>
                  <a:srgbClr val="5A6172"/>
                </a:solidFill>
              </a:defRPr>
            </a:pPr>
            <a:endParaRPr lang="en-US"/>
          </a:p>
        </c:txPr>
        <c:crossAx val="-2128940872"/>
        <c:crosses val="autoZero"/>
        <c:crossBetween val="midCat"/>
      </c:valAx>
    </c:plotArea>
    <c:legend>
      <c:legendPos val="t"/>
      <c:overlay val="0"/>
      <c:txPr>
        <a:bodyPr/>
        <a:lstStyle/>
        <a:p>
          <a:pPr>
            <a:defRPr sz="1050">
              <a:solidFill>
                <a:srgbClr val="5A6172"/>
              </a:solidFill>
            </a:defRPr>
          </a:pPr>
          <a:endParaRPr lang="en-US"/>
        </a:p>
      </c:txPr>
    </c:legend>
    <c:plotVisOnly val="1"/>
    <c:dispBlanksAs val="gap"/>
    <c:showDLblsOverMax val="0"/>
  </c:chart>
  <c:txPr>
    <a:bodyPr/>
    <a:lstStyle/>
    <a:p>
      <a:pPr>
        <a:defRPr sz="850">
          <a:latin typeface="Garamond"/>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58788" y="720725"/>
            <a:ext cx="6399212" cy="35988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21" y="4560571"/>
            <a:ext cx="5852160" cy="4320540"/>
          </a:xfrm>
          <a:prstGeom prst="rect">
            <a:avLst/>
          </a:prstGeom>
          <a:noFill/>
          <a:ln>
            <a:noFill/>
          </a:ln>
        </p:spPr>
        <p:txBody>
          <a:bodyPr spcFirstLastPara="1" wrap="square" lIns="96634" tIns="96634" rIns="96634" bIns="96634"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A365A1-226B-46BD-B757-1F028250CDA7}"/>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B77E36-96D9-48CE-B53A-AB803608821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EA167D0-D05E-40C5-8EEE-085359DA3D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360A34-4875-46B8-8389-6D19DF2DA9B9}"/>
              </a:ext>
            </a:extLst>
          </p:cNvPr>
          <p:cNvSpPr>
            <a:spLocks noGrp="1"/>
          </p:cNvSpPr>
          <p:nvPr>
            <p:ph type="sldNum" sz="quarter" idx="12"/>
          </p:nvPr>
        </p:nvSpPr>
        <p:spPr>
          <a:xfrm>
            <a:off x="9120336" y="6356353"/>
            <a:ext cx="2743200" cy="366183"/>
          </a:xfrm>
          <a:prstGeom prst="rect">
            <a:avLst/>
          </a:prstGeom>
        </p:spPr>
        <p:txBody>
          <a:bodyPr/>
          <a:lstStyle>
            <a:lvl1pPr algn="r">
              <a:defRPr sz="1200" b="0">
                <a:solidFill>
                  <a:schemeClr val="bg1">
                    <a:lumMod val="50000"/>
                  </a:schemeClr>
                </a:solidFill>
                <a:latin typeface="Garamond" panose="02020404030301010803" pitchFamily="18" charset="0"/>
              </a:defRPr>
            </a:lvl1pPr>
          </a:lstStyle>
          <a:p>
            <a:fld id="{F6B70E3D-0A47-44A9-8B13-A3D1BC88A914}" type="slidenum">
              <a:rPr lang="en-US" smtClean="0"/>
              <a:pPr/>
              <a:t>‹#›</a:t>
            </a:fld>
            <a:endParaRPr lang="en-US"/>
          </a:p>
        </p:txBody>
      </p:sp>
      <p:sp>
        <p:nvSpPr>
          <p:cNvPr id="7" name="Google Shape;230;p49">
            <a:extLst>
              <a:ext uri="{FF2B5EF4-FFF2-40B4-BE49-F238E27FC236}">
                <a16:creationId xmlns:a16="http://schemas.microsoft.com/office/drawing/2014/main" id="{B0469A88-F3B7-4305-947D-A588CE30906F}"/>
              </a:ext>
            </a:extLst>
          </p:cNvPr>
          <p:cNvSpPr txBox="1"/>
          <p:nvPr userDrawn="1"/>
        </p:nvSpPr>
        <p:spPr>
          <a:xfrm>
            <a:off x="0" y="2"/>
            <a:ext cx="12192000" cy="1536633"/>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sz="1400" b="1">
              <a:solidFill>
                <a:srgbClr val="FFFFFF"/>
              </a:solidFill>
              <a:latin typeface="Helvetica Neue"/>
              <a:ea typeface="Helvetica Neue"/>
              <a:cs typeface="Helvetica Neue"/>
              <a:sym typeface="Helvetica Neue"/>
            </a:endParaRPr>
          </a:p>
        </p:txBody>
      </p:sp>
      <p:pic>
        <p:nvPicPr>
          <p:cNvPr id="8" name="Google Shape;247;p51">
            <a:extLst>
              <a:ext uri="{FF2B5EF4-FFF2-40B4-BE49-F238E27FC236}">
                <a16:creationId xmlns:a16="http://schemas.microsoft.com/office/drawing/2014/main" id="{E07326A5-7DFC-4BBA-9135-BBB829B30C75}"/>
              </a:ext>
            </a:extLst>
          </p:cNvPr>
          <p:cNvPicPr preferRelativeResize="0">
            <a:picLocks noChangeAspect="1"/>
          </p:cNvPicPr>
          <p:nvPr userDrawn="1"/>
        </p:nvPicPr>
        <p:blipFill rotWithShape="1">
          <a:blip r:embed="rId2">
            <a:alphaModFix/>
          </a:blip>
          <a:srcRect b="29873"/>
          <a:stretch/>
        </p:blipFill>
        <p:spPr>
          <a:xfrm>
            <a:off x="328464" y="6112933"/>
            <a:ext cx="1881336" cy="609600"/>
          </a:xfrm>
          <a:prstGeom prst="rect">
            <a:avLst/>
          </a:prstGeom>
          <a:noFill/>
          <a:ln>
            <a:noFill/>
          </a:ln>
        </p:spPr>
      </p:pic>
      <p:sp>
        <p:nvSpPr>
          <p:cNvPr id="2" name="Title 1">
            <a:extLst>
              <a:ext uri="{FF2B5EF4-FFF2-40B4-BE49-F238E27FC236}">
                <a16:creationId xmlns:a16="http://schemas.microsoft.com/office/drawing/2014/main" id="{77F2B64F-7FF0-4CB6-8A6E-04531188379A}"/>
              </a:ext>
            </a:extLst>
          </p:cNvPr>
          <p:cNvSpPr>
            <a:spLocks noGrp="1"/>
          </p:cNvSpPr>
          <p:nvPr>
            <p:ph type="title"/>
          </p:nvPr>
        </p:nvSpPr>
        <p:spPr>
          <a:xfrm>
            <a:off x="838200" y="366186"/>
            <a:ext cx="10515600" cy="1170449"/>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Tree>
    <p:extLst>
      <p:ext uri="{BB962C8B-B14F-4D97-AF65-F5344CB8AC3E}">
        <p14:creationId xmlns:p14="http://schemas.microsoft.com/office/powerpoint/2010/main" val="2929906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39A65-672A-4BCB-B034-639C59E8126B}"/>
              </a:ext>
            </a:extLst>
          </p:cNvPr>
          <p:cNvSpPr>
            <a:spLocks noGrp="1"/>
          </p:cNvSpPr>
          <p:nvPr>
            <p:ph sz="half" idx="1"/>
          </p:nvPr>
        </p:nvSpPr>
        <p:spPr>
          <a:xfrm>
            <a:off x="838200" y="1826684"/>
            <a:ext cx="5156200" cy="4349749"/>
          </a:xfrm>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947450-FEA2-4344-BB67-8DC866896B8E}"/>
              </a:ext>
            </a:extLst>
          </p:cNvPr>
          <p:cNvSpPr>
            <a:spLocks noGrp="1"/>
          </p:cNvSpPr>
          <p:nvPr>
            <p:ph sz="half" idx="2"/>
          </p:nvPr>
        </p:nvSpPr>
        <p:spPr>
          <a:xfrm>
            <a:off x="6197600" y="1826684"/>
            <a:ext cx="5156200" cy="4349749"/>
          </a:xfrm>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4C35F6-4031-4A59-BC20-3CECB76B50F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8639087-FBF8-4DD9-A22E-0B8BE15AA851}"/>
              </a:ext>
            </a:extLst>
          </p:cNvPr>
          <p:cNvSpPr>
            <a:spLocks noGrp="1"/>
          </p:cNvSpPr>
          <p:nvPr>
            <p:ph type="ftr" sz="quarter" idx="11"/>
          </p:nvPr>
        </p:nvSpPr>
        <p:spPr/>
        <p:txBody>
          <a:bodyPr/>
          <a:lstStyle/>
          <a:p>
            <a:endParaRPr lang="en-US"/>
          </a:p>
        </p:txBody>
      </p:sp>
      <p:sp>
        <p:nvSpPr>
          <p:cNvPr id="8" name="Google Shape;230;p49">
            <a:extLst>
              <a:ext uri="{FF2B5EF4-FFF2-40B4-BE49-F238E27FC236}">
                <a16:creationId xmlns:a16="http://schemas.microsoft.com/office/drawing/2014/main" id="{B9E27048-10D8-4AF8-83D6-161EC8B2B203}"/>
              </a:ext>
            </a:extLst>
          </p:cNvPr>
          <p:cNvSpPr txBox="1"/>
          <p:nvPr userDrawn="1"/>
        </p:nvSpPr>
        <p:spPr>
          <a:xfrm>
            <a:off x="0" y="2"/>
            <a:ext cx="12192000" cy="1536633"/>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sz="1400" b="1">
              <a:solidFill>
                <a:srgbClr val="FFFFFF"/>
              </a:solidFill>
              <a:latin typeface="Helvetica Neue"/>
              <a:ea typeface="Helvetica Neue"/>
              <a:cs typeface="Helvetica Neue"/>
              <a:sym typeface="Helvetica Neue"/>
            </a:endParaRPr>
          </a:p>
        </p:txBody>
      </p:sp>
      <p:pic>
        <p:nvPicPr>
          <p:cNvPr id="9" name="Google Shape;247;p51">
            <a:extLst>
              <a:ext uri="{FF2B5EF4-FFF2-40B4-BE49-F238E27FC236}">
                <a16:creationId xmlns:a16="http://schemas.microsoft.com/office/drawing/2014/main" id="{112A745B-B640-4AA1-98B2-1E7278E8BA9A}"/>
              </a:ext>
            </a:extLst>
          </p:cNvPr>
          <p:cNvPicPr preferRelativeResize="0">
            <a:picLocks noChangeAspect="1"/>
          </p:cNvPicPr>
          <p:nvPr userDrawn="1"/>
        </p:nvPicPr>
        <p:blipFill rotWithShape="1">
          <a:blip r:embed="rId2">
            <a:alphaModFix/>
          </a:blip>
          <a:srcRect b="29873"/>
          <a:stretch/>
        </p:blipFill>
        <p:spPr>
          <a:xfrm>
            <a:off x="328464" y="6112933"/>
            <a:ext cx="1881336" cy="609600"/>
          </a:xfrm>
          <a:prstGeom prst="rect">
            <a:avLst/>
          </a:prstGeom>
          <a:noFill/>
          <a:ln>
            <a:noFill/>
          </a:ln>
        </p:spPr>
      </p:pic>
      <p:sp>
        <p:nvSpPr>
          <p:cNvPr id="2" name="Title 1">
            <a:extLst>
              <a:ext uri="{FF2B5EF4-FFF2-40B4-BE49-F238E27FC236}">
                <a16:creationId xmlns:a16="http://schemas.microsoft.com/office/drawing/2014/main" id="{D85251CE-303C-4F16-90CA-7AAD7AE42683}"/>
              </a:ext>
            </a:extLst>
          </p:cNvPr>
          <p:cNvSpPr>
            <a:spLocks noGrp="1"/>
          </p:cNvSpPr>
          <p:nvPr>
            <p:ph type="title"/>
          </p:nvPr>
        </p:nvSpPr>
        <p:spPr>
          <a:xfrm>
            <a:off x="838200" y="366186"/>
            <a:ext cx="10515600" cy="1170449"/>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
        <p:nvSpPr>
          <p:cNvPr id="10" name="Slide Number Placeholder 5">
            <a:extLst>
              <a:ext uri="{FF2B5EF4-FFF2-40B4-BE49-F238E27FC236}">
                <a16:creationId xmlns:a16="http://schemas.microsoft.com/office/drawing/2014/main" id="{99477F76-27F3-4527-B3B8-6B079B6F303E}"/>
              </a:ext>
            </a:extLst>
          </p:cNvPr>
          <p:cNvSpPr txBox="1">
            <a:spLocks/>
          </p:cNvSpPr>
          <p:nvPr userDrawn="1"/>
        </p:nvSpPr>
        <p:spPr>
          <a:xfrm>
            <a:off x="9120336" y="6356353"/>
            <a:ext cx="2743200" cy="366183"/>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z="1200" smtClean="0"/>
              <a:pPr/>
              <a:t>‹#›</a:t>
            </a:fld>
            <a:endParaRPr lang="en-US" sz="1200" dirty="0"/>
          </a:p>
        </p:txBody>
      </p:sp>
    </p:spTree>
    <p:extLst>
      <p:ext uri="{BB962C8B-B14F-4D97-AF65-F5344CB8AC3E}">
        <p14:creationId xmlns:p14="http://schemas.microsoft.com/office/powerpoint/2010/main" val="1976872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4ADD287-46A8-4594-9600-EB4900177FC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5FA11978-2065-4A58-9226-0DEC22DB1662}"/>
              </a:ext>
            </a:extLst>
          </p:cNvPr>
          <p:cNvSpPr>
            <a:spLocks noGrp="1"/>
          </p:cNvSpPr>
          <p:nvPr>
            <p:ph type="ftr" sz="quarter" idx="11"/>
          </p:nvPr>
        </p:nvSpPr>
        <p:spPr/>
        <p:txBody>
          <a:bodyPr/>
          <a:lstStyle/>
          <a:p>
            <a:endParaRPr lang="en-US"/>
          </a:p>
        </p:txBody>
      </p:sp>
      <p:sp>
        <p:nvSpPr>
          <p:cNvPr id="6" name="Google Shape;230;p49">
            <a:extLst>
              <a:ext uri="{FF2B5EF4-FFF2-40B4-BE49-F238E27FC236}">
                <a16:creationId xmlns:a16="http://schemas.microsoft.com/office/drawing/2014/main" id="{4161E6F3-BE0C-43BE-9BD0-937FF3E2E23C}"/>
              </a:ext>
            </a:extLst>
          </p:cNvPr>
          <p:cNvSpPr txBox="1"/>
          <p:nvPr userDrawn="1"/>
        </p:nvSpPr>
        <p:spPr>
          <a:xfrm>
            <a:off x="0" y="2"/>
            <a:ext cx="12192000" cy="1536633"/>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sz="1400" b="1">
              <a:solidFill>
                <a:srgbClr val="FFFFFF"/>
              </a:solidFill>
              <a:latin typeface="Helvetica Neue"/>
              <a:ea typeface="Helvetica Neue"/>
              <a:cs typeface="Helvetica Neue"/>
              <a:sym typeface="Helvetica Neue"/>
            </a:endParaRPr>
          </a:p>
        </p:txBody>
      </p:sp>
      <p:pic>
        <p:nvPicPr>
          <p:cNvPr id="7" name="Google Shape;247;p51">
            <a:extLst>
              <a:ext uri="{FF2B5EF4-FFF2-40B4-BE49-F238E27FC236}">
                <a16:creationId xmlns:a16="http://schemas.microsoft.com/office/drawing/2014/main" id="{ED6D7DB5-7D00-4004-AC78-D58F0A9E0100}"/>
              </a:ext>
            </a:extLst>
          </p:cNvPr>
          <p:cNvPicPr preferRelativeResize="0">
            <a:picLocks noChangeAspect="1"/>
          </p:cNvPicPr>
          <p:nvPr userDrawn="1"/>
        </p:nvPicPr>
        <p:blipFill rotWithShape="1">
          <a:blip r:embed="rId2">
            <a:alphaModFix/>
          </a:blip>
          <a:srcRect b="29873"/>
          <a:stretch/>
        </p:blipFill>
        <p:spPr>
          <a:xfrm>
            <a:off x="328464" y="6112933"/>
            <a:ext cx="1881336" cy="609600"/>
          </a:xfrm>
          <a:prstGeom prst="rect">
            <a:avLst/>
          </a:prstGeom>
          <a:noFill/>
          <a:ln>
            <a:noFill/>
          </a:ln>
        </p:spPr>
      </p:pic>
      <p:sp>
        <p:nvSpPr>
          <p:cNvPr id="2" name="Title 1">
            <a:extLst>
              <a:ext uri="{FF2B5EF4-FFF2-40B4-BE49-F238E27FC236}">
                <a16:creationId xmlns:a16="http://schemas.microsoft.com/office/drawing/2014/main" id="{C455EA06-2999-4182-AA4F-8A1D6954C072}"/>
              </a:ext>
            </a:extLst>
          </p:cNvPr>
          <p:cNvSpPr>
            <a:spLocks noGrp="1"/>
          </p:cNvSpPr>
          <p:nvPr>
            <p:ph type="title"/>
          </p:nvPr>
        </p:nvSpPr>
        <p:spPr>
          <a:xfrm>
            <a:off x="838200" y="366186"/>
            <a:ext cx="10515600" cy="1170449"/>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
        <p:nvSpPr>
          <p:cNvPr id="8" name="Slide Number Placeholder 5">
            <a:extLst>
              <a:ext uri="{FF2B5EF4-FFF2-40B4-BE49-F238E27FC236}">
                <a16:creationId xmlns:a16="http://schemas.microsoft.com/office/drawing/2014/main" id="{3E4F8D54-AD2B-44ED-ABC6-CC705ED874E0}"/>
              </a:ext>
            </a:extLst>
          </p:cNvPr>
          <p:cNvSpPr txBox="1">
            <a:spLocks/>
          </p:cNvSpPr>
          <p:nvPr userDrawn="1"/>
        </p:nvSpPr>
        <p:spPr>
          <a:xfrm>
            <a:off x="9120336" y="6356353"/>
            <a:ext cx="2743200" cy="366183"/>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z="1200" smtClean="0"/>
              <a:pPr/>
              <a:t>‹#›</a:t>
            </a:fld>
            <a:endParaRPr lang="en-US" sz="1200"/>
          </a:p>
        </p:txBody>
      </p:sp>
    </p:spTree>
    <p:extLst>
      <p:ext uri="{BB962C8B-B14F-4D97-AF65-F5344CB8AC3E}">
        <p14:creationId xmlns:p14="http://schemas.microsoft.com/office/powerpoint/2010/main" val="1727956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Google Shape;230;p49">
            <a:extLst>
              <a:ext uri="{FF2B5EF4-FFF2-40B4-BE49-F238E27FC236}">
                <a16:creationId xmlns:a16="http://schemas.microsoft.com/office/drawing/2014/main" id="{72B56A6A-6462-4E40-8C6F-EB86CE4AC215}"/>
              </a:ext>
            </a:extLst>
          </p:cNvPr>
          <p:cNvSpPr txBox="1"/>
          <p:nvPr userDrawn="1"/>
        </p:nvSpPr>
        <p:spPr>
          <a:xfrm>
            <a:off x="0" y="0"/>
            <a:ext cx="12192000" cy="6858000"/>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sz="1400" b="1">
              <a:solidFill>
                <a:srgbClr val="FFFFFF"/>
              </a:solidFill>
              <a:latin typeface="Helvetica Neue"/>
              <a:ea typeface="Helvetica Neue"/>
              <a:cs typeface="Helvetica Neue"/>
              <a:sym typeface="Helvetica Neue"/>
            </a:endParaRPr>
          </a:p>
        </p:txBody>
      </p:sp>
      <p:pic>
        <p:nvPicPr>
          <p:cNvPr id="7" name="Google Shape;240;p50">
            <a:extLst>
              <a:ext uri="{FF2B5EF4-FFF2-40B4-BE49-F238E27FC236}">
                <a16:creationId xmlns:a16="http://schemas.microsoft.com/office/drawing/2014/main" id="{3AC6954D-A2DC-4D75-B8CA-81940558E621}"/>
              </a:ext>
            </a:extLst>
          </p:cNvPr>
          <p:cNvPicPr preferRelativeResize="0">
            <a:picLocks noChangeAspect="1"/>
          </p:cNvPicPr>
          <p:nvPr userDrawn="1"/>
        </p:nvPicPr>
        <p:blipFill rotWithShape="1">
          <a:blip r:embed="rId2">
            <a:alphaModFix/>
          </a:blip>
          <a:srcRect b="29873"/>
          <a:stretch/>
        </p:blipFill>
        <p:spPr>
          <a:xfrm>
            <a:off x="322433" y="6071817"/>
            <a:ext cx="1881336" cy="609600"/>
          </a:xfrm>
          <a:prstGeom prst="rect">
            <a:avLst/>
          </a:prstGeom>
          <a:noFill/>
          <a:ln>
            <a:noFill/>
          </a:ln>
        </p:spPr>
      </p:pic>
      <p:sp>
        <p:nvSpPr>
          <p:cNvPr id="9" name="Slide Number Placeholder 5">
            <a:extLst>
              <a:ext uri="{FF2B5EF4-FFF2-40B4-BE49-F238E27FC236}">
                <a16:creationId xmlns:a16="http://schemas.microsoft.com/office/drawing/2014/main" id="{15BA8FDB-4A35-493F-B3BC-6AE97C71BB5D}"/>
              </a:ext>
            </a:extLst>
          </p:cNvPr>
          <p:cNvSpPr txBox="1">
            <a:spLocks/>
          </p:cNvSpPr>
          <p:nvPr userDrawn="1"/>
        </p:nvSpPr>
        <p:spPr>
          <a:xfrm>
            <a:off x="9120336" y="6356353"/>
            <a:ext cx="2743200" cy="366183"/>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z="1200" smtClean="0">
                <a:solidFill>
                  <a:schemeClr val="bg1"/>
                </a:solidFill>
              </a:rPr>
              <a:pPr/>
              <a:t>‹#›</a:t>
            </a:fld>
            <a:endParaRPr lang="en-US" sz="1200" dirty="0">
              <a:solidFill>
                <a:schemeClr val="bg1"/>
              </a:solidFill>
            </a:endParaRPr>
          </a:p>
        </p:txBody>
      </p:sp>
      <p:sp>
        <p:nvSpPr>
          <p:cNvPr id="12" name="Title 1">
            <a:extLst>
              <a:ext uri="{FF2B5EF4-FFF2-40B4-BE49-F238E27FC236}">
                <a16:creationId xmlns:a16="http://schemas.microsoft.com/office/drawing/2014/main" id="{038F3ACB-D9F8-4037-BF81-F3EF23C42FDC}"/>
              </a:ext>
            </a:extLst>
          </p:cNvPr>
          <p:cNvSpPr>
            <a:spLocks noGrp="1"/>
          </p:cNvSpPr>
          <p:nvPr>
            <p:ph type="title"/>
          </p:nvPr>
        </p:nvSpPr>
        <p:spPr>
          <a:xfrm>
            <a:off x="838200" y="366186"/>
            <a:ext cx="10515600" cy="1170449"/>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Tree>
    <p:extLst>
      <p:ext uri="{BB962C8B-B14F-4D97-AF65-F5344CB8AC3E}">
        <p14:creationId xmlns:p14="http://schemas.microsoft.com/office/powerpoint/2010/main" val="11652931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A62AD0-07E9-40C7-8FA6-7D5A7BE3A7E6}"/>
              </a:ext>
            </a:extLst>
          </p:cNvPr>
          <p:cNvSpPr>
            <a:spLocks noGrp="1"/>
          </p:cNvSpPr>
          <p:nvPr>
            <p:ph type="title"/>
          </p:nvPr>
        </p:nvSpPr>
        <p:spPr>
          <a:xfrm>
            <a:off x="838200" y="366186"/>
            <a:ext cx="10515600" cy="132503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AD5C24-4D38-4FA4-A0A3-DAC5E41EEF72}"/>
              </a:ext>
            </a:extLst>
          </p:cNvPr>
          <p:cNvSpPr>
            <a:spLocks noGrp="1"/>
          </p:cNvSpPr>
          <p:nvPr>
            <p:ph type="body" idx="1"/>
          </p:nvPr>
        </p:nvSpPr>
        <p:spPr>
          <a:xfrm>
            <a:off x="838200" y="1826684"/>
            <a:ext cx="10515600" cy="43497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A82CD9-BE2A-48C6-BC9C-C83F0CF4FB64}"/>
              </a:ext>
            </a:extLst>
          </p:cNvPr>
          <p:cNvSpPr>
            <a:spLocks noGrp="1"/>
          </p:cNvSpPr>
          <p:nvPr>
            <p:ph type="dt" sz="half" idx="2"/>
          </p:nvPr>
        </p:nvSpPr>
        <p:spPr>
          <a:xfrm>
            <a:off x="838200" y="6356353"/>
            <a:ext cx="2743200" cy="366183"/>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07650A4A-D046-4587-A96A-1A2FB40FCA0B}"/>
              </a:ext>
            </a:extLst>
          </p:cNvPr>
          <p:cNvSpPr>
            <a:spLocks noGrp="1"/>
          </p:cNvSpPr>
          <p:nvPr>
            <p:ph type="ftr" sz="quarter" idx="3"/>
          </p:nvPr>
        </p:nvSpPr>
        <p:spPr>
          <a:xfrm>
            <a:off x="4038600" y="6356353"/>
            <a:ext cx="4114800" cy="36618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808464103"/>
      </p:ext>
    </p:extLst>
  </p:cSld>
  <p:clrMap bg1="lt1" tx1="dk1" bg2="lt2" tx2="dk2" accent1="accent1" accent2="accent2" accent3="accent3" accent4="accent4" accent5="accent5" accent6="accent6" hlink="hlink" folHlink="folHlink"/>
  <p:sldLayoutIdLst>
    <p:sldLayoutId id="2147483697" r:id="rId1"/>
    <p:sldLayoutId id="2147483699" r:id="rId2"/>
    <p:sldLayoutId id="2147483701" r:id="rId3"/>
    <p:sldLayoutId id="2147483708"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dark.png"/>
          <p:cNvPicPr>
            <a:picLocks noChangeAspect="1"/>
          </p:cNvPicPr>
          <p:nvPr/>
        </p:nvPicPr>
        <p:blipFill>
          <a:blip r:embed="rId2"/>
          <a:stretch>
            <a:fillRect/>
          </a:stretch>
        </p:blipFill>
        <p:spPr>
          <a:xfrm>
            <a:off x="3855567" y="1691640"/>
            <a:ext cx="4480560" cy="1269794"/>
          </a:xfrm>
          <a:prstGeom prst="rect">
            <a:avLst/>
          </a:prstGeom>
        </p:spPr>
      </p:pic>
      <p:sp>
        <p:nvSpPr>
          <p:cNvPr id="4" name="Rectangle 3"/>
          <p:cNvSpPr/>
          <p:nvPr/>
        </p:nvSpPr>
        <p:spPr>
          <a:xfrm>
            <a:off x="0" y="4572000"/>
            <a:ext cx="12191695" cy="2286000"/>
          </a:xfrm>
          <a:prstGeom prst="rect">
            <a:avLst/>
          </a:prstGeom>
          <a:solidFill>
            <a:srgbClr val="011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4773168"/>
            <a:ext cx="11057839" cy="566928"/>
          </a:xfrm>
          <a:prstGeom prst="rect">
            <a:avLst/>
          </a:prstGeom>
          <a:noFill/>
        </p:spPr>
        <p:txBody>
          <a:bodyPr wrap="square" lIns="0" tIns="0" rIns="0" bIns="0" anchor="t">
            <a:spAutoFit/>
          </a:bodyPr>
          <a:lstStyle/>
          <a:p>
            <a:pPr algn="ctr">
              <a:lnSpc>
                <a:spcPct val="95000"/>
              </a:lnSpc>
              <a:spcAft>
                <a:spcPts val="0"/>
              </a:spcAft>
            </a:pPr>
            <a:r>
              <a:rPr sz="3600" b="0" i="0" u="sng">
                <a:solidFill>
                  <a:srgbClr val="FFFFFF"/>
                </a:solidFill>
                <a:latin typeface="Garamond"/>
              </a:rPr>
              <a:t>French swap spreads</a:t>
            </a:r>
          </a:p>
        </p:txBody>
      </p:sp>
      <p:sp>
        <p:nvSpPr>
          <p:cNvPr id="6" name="TextBox 5"/>
          <p:cNvSpPr txBox="1"/>
          <p:nvPr/>
        </p:nvSpPr>
        <p:spPr>
          <a:xfrm>
            <a:off x="566928" y="5358384"/>
            <a:ext cx="11057839" cy="365760"/>
          </a:xfrm>
          <a:prstGeom prst="rect">
            <a:avLst/>
          </a:prstGeom>
          <a:noFill/>
        </p:spPr>
        <p:txBody>
          <a:bodyPr wrap="square" lIns="0" tIns="0" rIns="0" bIns="0" anchor="t">
            <a:spAutoFit/>
          </a:bodyPr>
          <a:lstStyle/>
          <a:p>
            <a:pPr algn="ctr">
              <a:lnSpc>
                <a:spcPct val="95000"/>
              </a:lnSpc>
              <a:spcAft>
                <a:spcPts val="0"/>
              </a:spcAft>
            </a:pPr>
            <a:r>
              <a:rPr sz="1800" b="0" i="0" u="none">
                <a:solidFill>
                  <a:srgbClr val="FFFFFF"/>
                </a:solidFill>
                <a:latin typeface="Garamond"/>
              </a:rPr>
              <a:t>5-year OAT swap spread with non-recourse financing</a:t>
            </a:r>
          </a:p>
        </p:txBody>
      </p:sp>
      <p:sp>
        <p:nvSpPr>
          <p:cNvPr id="7" name="TextBox 6"/>
          <p:cNvSpPr txBox="1"/>
          <p:nvPr/>
        </p:nvSpPr>
        <p:spPr>
          <a:xfrm>
            <a:off x="566928" y="5760720"/>
            <a:ext cx="11057839" cy="365760"/>
          </a:xfrm>
          <a:prstGeom prst="rect">
            <a:avLst/>
          </a:prstGeom>
          <a:noFill/>
        </p:spPr>
        <p:txBody>
          <a:bodyPr wrap="square" lIns="0" tIns="0" rIns="0" bIns="0" anchor="t">
            <a:spAutoFit/>
          </a:bodyPr>
          <a:lstStyle/>
          <a:p>
            <a:pPr algn="ctr">
              <a:lnSpc>
                <a:spcPct val="95000"/>
              </a:lnSpc>
              <a:spcAft>
                <a:spcPts val="0"/>
              </a:spcAft>
            </a:pPr>
            <a:r>
              <a:rPr sz="2000" b="0" i="0" u="sng">
                <a:solidFill>
                  <a:srgbClr val="FFFFFF"/>
                </a:solidFill>
                <a:latin typeface="Garamond"/>
              </a:rPr>
              <a:t>October 2026</a:t>
            </a:r>
          </a:p>
        </p:txBody>
      </p:sp>
      <p:sp>
        <p:nvSpPr>
          <p:cNvPr id="8" name="TextBox 7"/>
          <p:cNvSpPr txBox="1"/>
          <p:nvPr/>
        </p:nvSpPr>
        <p:spPr>
          <a:xfrm>
            <a:off x="566928" y="6199632"/>
            <a:ext cx="11057839" cy="566928"/>
          </a:xfrm>
          <a:prstGeom prst="rect">
            <a:avLst/>
          </a:prstGeom>
          <a:noFill/>
        </p:spPr>
        <p:txBody>
          <a:bodyPr wrap="square" lIns="0" tIns="0" rIns="0" bIns="0" anchor="t">
            <a:spAutoFit/>
          </a:bodyPr>
          <a:lstStyle/>
          <a:p>
            <a:pPr algn="ctr">
              <a:lnSpc>
                <a:spcPct val="100000"/>
              </a:lnSpc>
              <a:spcAft>
                <a:spcPts val="0"/>
              </a:spcAft>
            </a:pPr>
            <a:r>
              <a:rPr sz="1100" b="0" i="0" u="none">
                <a:solidFill>
                  <a:srgbClr val="FFFFFF"/>
                </a:solidFill>
                <a:latin typeface="Garamond"/>
              </a:rPr>
              <a:t>CONFIDENTIAL AND PROPRIETARY — FOR DISCUSSION ONLY</a:t>
            </a:r>
          </a:p>
          <a:p>
            <a:pPr algn="ctr">
              <a:lnSpc>
                <a:spcPct val="100000"/>
              </a:lnSpc>
              <a:spcAft>
                <a:spcPts val="0"/>
              </a:spcAft>
            </a:pPr>
            <a:r>
              <a:rPr sz="1100" b="0" i="0" u="none">
                <a:solidFill>
                  <a:srgbClr val="FFFFFF"/>
                </a:solidFill>
                <a:latin typeface="Garamond"/>
              </a:rPr>
              <a:t>This presentation contains confidential information and is intended solely for the use of the named recipient(s). Returns shown are scenario illustrations, gross of fees. Please read the important information.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Disclaimer</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2</a:t>
            </a:r>
          </a:p>
        </p:txBody>
      </p:sp>
      <p:sp>
        <p:nvSpPr>
          <p:cNvPr id="5" name="TextBox 4"/>
          <p:cNvSpPr txBox="1"/>
          <p:nvPr/>
        </p:nvSpPr>
        <p:spPr>
          <a:xfrm>
            <a:off x="566928" y="1664207"/>
            <a:ext cx="11057839" cy="4206240"/>
          </a:xfrm>
          <a:prstGeom prst="rect">
            <a:avLst/>
          </a:prstGeom>
          <a:noFill/>
        </p:spPr>
        <p:txBody>
          <a:bodyPr wrap="square" lIns="0" tIns="0" rIns="0" bIns="0" anchor="t">
            <a:spAutoFit/>
          </a:bodyPr>
          <a:lstStyle/>
          <a:p>
            <a:pPr algn="l">
              <a:lnSpc>
                <a:spcPct val="100000"/>
              </a:lnSpc>
              <a:spcAft>
                <a:spcPts val="300"/>
              </a:spcAft>
            </a:pPr>
            <a:r>
              <a:rPr sz="1350" b="1" i="0" u="none">
                <a:solidFill>
                  <a:srgbClr val="011C40"/>
                </a:solidFill>
                <a:latin typeface="Garamond"/>
              </a:rPr>
              <a:t>No offer or solicitation</a:t>
            </a:r>
          </a:p>
          <a:p>
            <a:pPr algn="l">
              <a:lnSpc>
                <a:spcPct val="120000"/>
              </a:lnSpc>
              <a:spcAft>
                <a:spcPts val="1100"/>
              </a:spcAft>
            </a:pPr>
            <a:r>
              <a:rPr sz="1200" b="0" i="0" u="none">
                <a:solidFill>
                  <a:srgbClr val="5A6172"/>
                </a:solidFill>
                <a:latin typeface="Garamond"/>
              </a:rPr>
              <a:t>Nothing herein constitutes or should be construed as an offering of securities or a recommendation to purchase or sell securities or commodity interests. If an offer of securities were to be made in the future, it must be made only through a confidential private placement memorandum (“PPM”) and related subscription documents.</a:t>
            </a:r>
          </a:p>
          <a:p>
            <a:pPr algn="l">
              <a:lnSpc>
                <a:spcPct val="100000"/>
              </a:lnSpc>
              <a:spcAft>
                <a:spcPts val="300"/>
              </a:spcAft>
            </a:pPr>
            <a:r>
              <a:rPr sz="1350" b="1" i="0" u="none">
                <a:solidFill>
                  <a:srgbClr val="011C40"/>
                </a:solidFill>
                <a:latin typeface="Garamond"/>
              </a:rPr>
              <a:t>Eligibility requirements</a:t>
            </a:r>
          </a:p>
          <a:p>
            <a:pPr algn="l">
              <a:lnSpc>
                <a:spcPct val="120000"/>
              </a:lnSpc>
              <a:spcAft>
                <a:spcPts val="1100"/>
              </a:spcAft>
            </a:pPr>
            <a:r>
              <a:rPr sz="1200" b="0" i="0" u="none">
                <a:solidFill>
                  <a:srgbClr val="5A6172"/>
                </a:solidFill>
                <a:latin typeface="Garamond"/>
              </a:rPr>
              <a:t>Potential investors must meet the eligibility requirements set forth in the PPM. The information contained herein is for informational and discussion purposes only, reflects the opinions of the author and no other person, and to the extent factual is accurate only as the date hereof. Liminality Capital does not undertake to update any information that subsequently becomes inaccurate. Past performance is no guarantee of future results.</a:t>
            </a:r>
          </a:p>
          <a:p>
            <a:pPr algn="l">
              <a:lnSpc>
                <a:spcPct val="100000"/>
              </a:lnSpc>
              <a:spcAft>
                <a:spcPts val="300"/>
              </a:spcAft>
            </a:pPr>
            <a:r>
              <a:rPr sz="1350" b="1" i="0" u="none">
                <a:solidFill>
                  <a:srgbClr val="011C40"/>
                </a:solidFill>
                <a:latin typeface="Garamond"/>
              </a:rPr>
              <a:t>Not advice</a:t>
            </a:r>
          </a:p>
          <a:p>
            <a:pPr algn="l">
              <a:lnSpc>
                <a:spcPct val="120000"/>
              </a:lnSpc>
              <a:spcAft>
                <a:spcPts val="1100"/>
              </a:spcAft>
            </a:pPr>
            <a:r>
              <a:rPr sz="1200" b="0" i="0" u="none">
                <a:solidFill>
                  <a:srgbClr val="5A6172"/>
                </a:solidFill>
                <a:latin typeface="Garamond"/>
              </a:rPr>
              <a:t>This material is intended for informational purposes only and should not be construed as legal or tax advice, nor is it intended to replace the advice of a qualified attorney or tax advisor. The recipient should conduct his or her own analysis and consult with professional advisors prior to making any investment decisions.</a:t>
            </a:r>
          </a:p>
          <a:p>
            <a:pPr algn="l">
              <a:lnSpc>
                <a:spcPct val="100000"/>
              </a:lnSpc>
              <a:spcAft>
                <a:spcPts val="300"/>
              </a:spcAft>
            </a:pPr>
            <a:r>
              <a:rPr sz="1350" b="1" i="0" u="none">
                <a:solidFill>
                  <a:srgbClr val="011C40"/>
                </a:solidFill>
                <a:latin typeface="Garamond"/>
              </a:rPr>
              <a:t>Hypothetical Performance Results</a:t>
            </a:r>
          </a:p>
          <a:p>
            <a:pPr algn="l">
              <a:lnSpc>
                <a:spcPct val="120000"/>
              </a:lnSpc>
              <a:spcAft>
                <a:spcPts val="1100"/>
              </a:spcAft>
            </a:pPr>
            <a:r>
              <a:rPr sz="1200" b="0" i="0" u="none">
                <a:solidFill>
                  <a:srgbClr val="5A6172"/>
                </a:solidFill>
                <a:latin typeface="Garamond"/>
              </a:rPr>
              <a:t>Hypothetical performance results in this presentation have certain inherent limitations. Unlike the results shown in an actual performance record, these results do not represent the weighting of the portfolio as actually traded. No representation is being made that any future investment will or is likely to achieve outcomes or profits or losses similar to these being shown. The hypothetical performance results are gross and do not factor in any expenses (fund or otherwise), investment management fees or performance allocations – net performance results will be lower.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Liminality Capital</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3</a:t>
            </a:r>
          </a:p>
        </p:txBody>
      </p:sp>
      <p:sp>
        <p:nvSpPr>
          <p:cNvPr id="5" name="TextBox 4"/>
          <p:cNvSpPr txBox="1"/>
          <p:nvPr/>
        </p:nvSpPr>
        <p:spPr>
          <a:xfrm>
            <a:off x="566928" y="1755648"/>
            <a:ext cx="6675120" cy="1186220"/>
          </a:xfrm>
          <a:prstGeom prst="rect">
            <a:avLst/>
          </a:prstGeom>
          <a:noFill/>
        </p:spPr>
        <p:txBody>
          <a:bodyPr wrap="square" lIns="0" tIns="0" rIns="0" bIns="0" anchor="t">
            <a:spAutoFit/>
          </a:bodyPr>
          <a:lstStyle/>
          <a:p>
            <a:pPr algn="l">
              <a:lnSpc>
                <a:spcPct val="132000"/>
              </a:lnSpc>
              <a:spcAft>
                <a:spcPts val="0"/>
              </a:spcAft>
            </a:pPr>
            <a:r>
              <a:rPr sz="1450" b="0" i="0" u="none">
                <a:solidFill>
                  <a:srgbClr val="5A6172"/>
                </a:solidFill>
                <a:latin typeface="Garamond"/>
              </a:rPr>
              <a:t>Established in 2018, Liminality Capital LP is a private investment firm based in Boston, MA. The firm is registered as a Commodity Pool Operator and Commodity Trading Advisor with the Commodity Futures Trading Commission and is a National Futures Association member.</a:t>
            </a:r>
          </a:p>
        </p:txBody>
      </p:sp>
      <p:sp>
        <p:nvSpPr>
          <p:cNvPr id="6" name="TextBox 5"/>
          <p:cNvSpPr txBox="1"/>
          <p:nvPr/>
        </p:nvSpPr>
        <p:spPr>
          <a:xfrm>
            <a:off x="566928" y="3179612"/>
            <a:ext cx="6675120" cy="1186220"/>
          </a:xfrm>
          <a:prstGeom prst="rect">
            <a:avLst/>
          </a:prstGeom>
          <a:noFill/>
        </p:spPr>
        <p:txBody>
          <a:bodyPr wrap="square" lIns="0" tIns="0" rIns="0" bIns="0" anchor="t">
            <a:spAutoFit/>
          </a:bodyPr>
          <a:lstStyle/>
          <a:p>
            <a:pPr algn="l">
              <a:lnSpc>
                <a:spcPct val="132000"/>
              </a:lnSpc>
              <a:spcAft>
                <a:spcPts val="0"/>
              </a:spcAft>
            </a:pPr>
            <a:r>
              <a:rPr sz="1450" b="0" i="0" u="none">
                <a:solidFill>
                  <a:srgbClr val="5A6172"/>
                </a:solidFill>
                <a:latin typeface="Garamond"/>
              </a:rPr>
              <a:t>The firm’s primary investment vehicle, Liminality Partners LP, launched on June 1, 2019. Potential opportunities are drawn from a wide variety of asset classes, geographies, financial instruments and securities types, but with a particular focus on identifying price dislocations within derivatives markets to deliver asymmetric returns.</a:t>
            </a:r>
          </a:p>
        </p:txBody>
      </p:sp>
      <p:sp>
        <p:nvSpPr>
          <p:cNvPr id="7" name="Rounded Rectangle 6"/>
          <p:cNvSpPr/>
          <p:nvPr/>
        </p:nvSpPr>
        <p:spPr>
          <a:xfrm>
            <a:off x="7498079" y="1755648"/>
            <a:ext cx="4123944" cy="10058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19" y="1940540"/>
            <a:ext cx="3941063" cy="382701"/>
          </a:xfrm>
          <a:prstGeom prst="rect">
            <a:avLst/>
          </a:prstGeom>
          <a:noFill/>
        </p:spPr>
        <p:txBody>
          <a:bodyPr wrap="square" lIns="0" tIns="0" rIns="0" bIns="0" anchor="t">
            <a:spAutoFit/>
          </a:bodyPr>
          <a:lstStyle/>
          <a:p>
            <a:pPr algn="ctr">
              <a:lnSpc>
                <a:spcPct val="95000"/>
              </a:lnSpc>
              <a:spcAft>
                <a:spcPts val="0"/>
              </a:spcAft>
            </a:pPr>
            <a:r>
              <a:rPr sz="2600" b="1" i="0" u="none">
                <a:solidFill>
                  <a:srgbClr val="011C40"/>
                </a:solidFill>
                <a:latin typeface="Garamond"/>
              </a:rPr>
              <a:t>2018</a:t>
            </a:r>
          </a:p>
        </p:txBody>
      </p:sp>
      <p:sp>
        <p:nvSpPr>
          <p:cNvPr id="9" name="TextBox 8"/>
          <p:cNvSpPr txBox="1"/>
          <p:nvPr/>
        </p:nvSpPr>
        <p:spPr>
          <a:xfrm>
            <a:off x="7589519" y="2414682"/>
            <a:ext cx="3941063" cy="161912"/>
          </a:xfrm>
          <a:prstGeom prst="rect">
            <a:avLst/>
          </a:prstGeom>
          <a:noFill/>
        </p:spPr>
        <p:txBody>
          <a:bodyPr wrap="square" lIns="0" tIns="0" rIns="0" bIns="0" anchor="t">
            <a:spAutoFit/>
          </a:bodyPr>
          <a:lstStyle/>
          <a:p>
            <a:pPr algn="ctr">
              <a:lnSpc>
                <a:spcPct val="95000"/>
              </a:lnSpc>
              <a:spcAft>
                <a:spcPts val="0"/>
              </a:spcAft>
            </a:pPr>
            <a:r>
              <a:rPr sz="1100" b="0" i="0" u="none">
                <a:solidFill>
                  <a:srgbClr val="5A6172"/>
                </a:solidFill>
                <a:latin typeface="Garamond"/>
              </a:rPr>
              <a:t>Firm established</a:t>
            </a:r>
          </a:p>
        </p:txBody>
      </p:sp>
      <p:sp>
        <p:nvSpPr>
          <p:cNvPr id="10" name="Rounded Rectangle 9"/>
          <p:cNvSpPr/>
          <p:nvPr/>
        </p:nvSpPr>
        <p:spPr>
          <a:xfrm>
            <a:off x="7498079" y="2889503"/>
            <a:ext cx="4123944" cy="10058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19" y="3074396"/>
            <a:ext cx="3941063" cy="382701"/>
          </a:xfrm>
          <a:prstGeom prst="rect">
            <a:avLst/>
          </a:prstGeom>
          <a:noFill/>
        </p:spPr>
        <p:txBody>
          <a:bodyPr wrap="square" lIns="0" tIns="0" rIns="0" bIns="0" anchor="t">
            <a:spAutoFit/>
          </a:bodyPr>
          <a:lstStyle/>
          <a:p>
            <a:pPr algn="ctr">
              <a:lnSpc>
                <a:spcPct val="95000"/>
              </a:lnSpc>
              <a:spcAft>
                <a:spcPts val="0"/>
              </a:spcAft>
            </a:pPr>
            <a:r>
              <a:rPr sz="2600" b="1" i="0" u="none">
                <a:solidFill>
                  <a:srgbClr val="011C40"/>
                </a:solidFill>
                <a:latin typeface="Garamond"/>
              </a:rPr>
              <a:t>Boston, MA</a:t>
            </a:r>
          </a:p>
        </p:txBody>
      </p:sp>
      <p:sp>
        <p:nvSpPr>
          <p:cNvPr id="12" name="TextBox 11"/>
          <p:cNvSpPr txBox="1"/>
          <p:nvPr/>
        </p:nvSpPr>
        <p:spPr>
          <a:xfrm>
            <a:off x="7589519" y="3548538"/>
            <a:ext cx="3941063" cy="161912"/>
          </a:xfrm>
          <a:prstGeom prst="rect">
            <a:avLst/>
          </a:prstGeom>
          <a:noFill/>
        </p:spPr>
        <p:txBody>
          <a:bodyPr wrap="square" lIns="0" tIns="0" rIns="0" bIns="0" anchor="t">
            <a:spAutoFit/>
          </a:bodyPr>
          <a:lstStyle/>
          <a:p>
            <a:pPr algn="ctr">
              <a:lnSpc>
                <a:spcPct val="95000"/>
              </a:lnSpc>
              <a:spcAft>
                <a:spcPts val="0"/>
              </a:spcAft>
            </a:pPr>
            <a:r>
              <a:rPr sz="1100" b="0" i="0" u="none">
                <a:solidFill>
                  <a:srgbClr val="5A6172"/>
                </a:solidFill>
                <a:latin typeface="Garamond"/>
              </a:rPr>
              <a:t>Headquarters</a:t>
            </a:r>
          </a:p>
        </p:txBody>
      </p:sp>
      <p:sp>
        <p:nvSpPr>
          <p:cNvPr id="13" name="Rounded Rectangle 12"/>
          <p:cNvSpPr/>
          <p:nvPr/>
        </p:nvSpPr>
        <p:spPr>
          <a:xfrm>
            <a:off x="7498079" y="4023360"/>
            <a:ext cx="4123944" cy="10058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89519" y="4208252"/>
            <a:ext cx="3941063" cy="382701"/>
          </a:xfrm>
          <a:prstGeom prst="rect">
            <a:avLst/>
          </a:prstGeom>
          <a:noFill/>
        </p:spPr>
        <p:txBody>
          <a:bodyPr wrap="square" lIns="0" tIns="0" rIns="0" bIns="0" anchor="t">
            <a:spAutoFit/>
          </a:bodyPr>
          <a:lstStyle/>
          <a:p>
            <a:pPr algn="ctr">
              <a:lnSpc>
                <a:spcPct val="95000"/>
              </a:lnSpc>
              <a:spcAft>
                <a:spcPts val="0"/>
              </a:spcAft>
            </a:pPr>
            <a:r>
              <a:rPr sz="2600" b="1" i="0" u="none">
                <a:solidFill>
                  <a:srgbClr val="011C40"/>
                </a:solidFill>
                <a:latin typeface="Garamond"/>
              </a:rPr>
              <a:t>CPO / CTA</a:t>
            </a:r>
          </a:p>
        </p:txBody>
      </p:sp>
      <p:sp>
        <p:nvSpPr>
          <p:cNvPr id="15" name="TextBox 14"/>
          <p:cNvSpPr txBox="1"/>
          <p:nvPr/>
        </p:nvSpPr>
        <p:spPr>
          <a:xfrm>
            <a:off x="7589519" y="4682394"/>
            <a:ext cx="3941063" cy="161912"/>
          </a:xfrm>
          <a:prstGeom prst="rect">
            <a:avLst/>
          </a:prstGeom>
          <a:noFill/>
        </p:spPr>
        <p:txBody>
          <a:bodyPr wrap="square" lIns="0" tIns="0" rIns="0" bIns="0" anchor="t">
            <a:spAutoFit/>
          </a:bodyPr>
          <a:lstStyle/>
          <a:p>
            <a:pPr algn="ctr">
              <a:lnSpc>
                <a:spcPct val="95000"/>
              </a:lnSpc>
              <a:spcAft>
                <a:spcPts val="0"/>
              </a:spcAft>
            </a:pPr>
            <a:r>
              <a:rPr sz="1100" b="0" i="0" u="none">
                <a:solidFill>
                  <a:srgbClr val="5A6172"/>
                </a:solidFill>
                <a:latin typeface="Garamond"/>
              </a:rPr>
              <a:t>Registered with the CFTC; NFA member</a:t>
            </a:r>
          </a:p>
        </p:txBody>
      </p:sp>
      <p:sp>
        <p:nvSpPr>
          <p:cNvPr id="16" name="Rounded Rectangle 15"/>
          <p:cNvSpPr/>
          <p:nvPr/>
        </p:nvSpPr>
        <p:spPr>
          <a:xfrm>
            <a:off x="7498079" y="5157216"/>
            <a:ext cx="4123944" cy="10058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19" y="5342108"/>
            <a:ext cx="3941063" cy="382701"/>
          </a:xfrm>
          <a:prstGeom prst="rect">
            <a:avLst/>
          </a:prstGeom>
          <a:noFill/>
        </p:spPr>
        <p:txBody>
          <a:bodyPr wrap="square" lIns="0" tIns="0" rIns="0" bIns="0" anchor="t">
            <a:spAutoFit/>
          </a:bodyPr>
          <a:lstStyle/>
          <a:p>
            <a:pPr algn="ctr">
              <a:lnSpc>
                <a:spcPct val="95000"/>
              </a:lnSpc>
              <a:spcAft>
                <a:spcPts val="0"/>
              </a:spcAft>
            </a:pPr>
            <a:r>
              <a:rPr sz="2600" b="1" i="0" u="none">
                <a:solidFill>
                  <a:srgbClr val="011C40"/>
                </a:solidFill>
                <a:latin typeface="Garamond"/>
              </a:rPr>
              <a:t>June 2019</a:t>
            </a:r>
          </a:p>
        </p:txBody>
      </p:sp>
      <p:sp>
        <p:nvSpPr>
          <p:cNvPr id="18" name="TextBox 17"/>
          <p:cNvSpPr txBox="1"/>
          <p:nvPr/>
        </p:nvSpPr>
        <p:spPr>
          <a:xfrm>
            <a:off x="7589519" y="5816250"/>
            <a:ext cx="3941063" cy="161912"/>
          </a:xfrm>
          <a:prstGeom prst="rect">
            <a:avLst/>
          </a:prstGeom>
          <a:noFill/>
        </p:spPr>
        <p:txBody>
          <a:bodyPr wrap="square" lIns="0" tIns="0" rIns="0" bIns="0" anchor="t">
            <a:spAutoFit/>
          </a:bodyPr>
          <a:lstStyle/>
          <a:p>
            <a:pPr algn="ctr">
              <a:lnSpc>
                <a:spcPct val="95000"/>
              </a:lnSpc>
              <a:spcAft>
                <a:spcPts val="0"/>
              </a:spcAft>
            </a:pPr>
            <a:r>
              <a:rPr sz="1100" b="0" i="0" u="none">
                <a:solidFill>
                  <a:srgbClr val="5A6172"/>
                </a:solidFill>
                <a:latin typeface="Garamond"/>
              </a:rPr>
              <a:t>First fund launched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Executive summary: the French swap spread opportunity</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4</a:t>
            </a:r>
          </a:p>
        </p:txBody>
      </p:sp>
      <p:sp>
        <p:nvSpPr>
          <p:cNvPr id="5" name="TextBox 4"/>
          <p:cNvSpPr txBox="1"/>
          <p:nvPr/>
        </p:nvSpPr>
        <p:spPr>
          <a:xfrm>
            <a:off x="566928" y="1005840"/>
            <a:ext cx="11057839" cy="457200"/>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Trade recommendation: buy the spread between a French government bond and the euro swap curve, financed for 4.4 years with a floor making the leverage non-recourse</a:t>
            </a:r>
          </a:p>
        </p:txBody>
      </p:sp>
      <p:sp>
        <p:nvSpPr>
          <p:cNvPr id="6" name="TextBox 5"/>
          <p:cNvSpPr txBox="1"/>
          <p:nvPr/>
        </p:nvSpPr>
        <p:spPr>
          <a:xfrm>
            <a:off x="566928" y="1847088"/>
            <a:ext cx="274320" cy="918484"/>
          </a:xfrm>
          <a:prstGeom prst="rect">
            <a:avLst/>
          </a:prstGeom>
          <a:noFill/>
        </p:spPr>
        <p:txBody>
          <a:bodyPr wrap="square" lIns="0" tIns="0" rIns="0" bIns="0" anchor="t">
            <a:spAutoFit/>
          </a:bodyPr>
          <a:lstStyle/>
          <a:p>
            <a:pPr algn="l">
              <a:lnSpc>
                <a:spcPct val="114000"/>
              </a:lnSpc>
              <a:spcAft>
                <a:spcPts val="0"/>
              </a:spcAft>
            </a:pPr>
            <a:r>
              <a:rPr sz="1300" b="1" i="0" u="none">
                <a:solidFill>
                  <a:srgbClr val="011C40"/>
                </a:solidFill>
                <a:latin typeface="Garamond"/>
              </a:rPr>
              <a:t>1.</a:t>
            </a:r>
          </a:p>
        </p:txBody>
      </p:sp>
      <p:sp>
        <p:nvSpPr>
          <p:cNvPr id="7" name="TextBox 6"/>
          <p:cNvSpPr txBox="1"/>
          <p:nvPr/>
        </p:nvSpPr>
        <p:spPr>
          <a:xfrm>
            <a:off x="914400" y="1847088"/>
            <a:ext cx="6419088" cy="918484"/>
          </a:xfrm>
          <a:prstGeom prst="rect">
            <a:avLst/>
          </a:prstGeom>
          <a:noFill/>
        </p:spPr>
        <p:txBody>
          <a:bodyPr wrap="square" lIns="0" tIns="0" rIns="0" bIns="0" anchor="t">
            <a:spAutoFit/>
          </a:bodyPr>
          <a:lstStyle/>
          <a:p>
            <a:pPr algn="l">
              <a:lnSpc>
                <a:spcPct val="114000"/>
              </a:lnSpc>
              <a:spcAft>
                <a:spcPts val="0"/>
              </a:spcAft>
            </a:pPr>
            <a:r>
              <a:rPr sz="1300" b="1" i="0" u="none">
                <a:solidFill>
                  <a:srgbClr val="011C40"/>
                </a:solidFill>
                <a:latin typeface="Garamond"/>
              </a:rPr>
              <a:t>Dislocation: </a:t>
            </a:r>
            <a:r>
              <a:rPr sz="1300" b="0">
                <a:solidFill>
                  <a:srgbClr val="011C40"/>
                </a:solidFill>
                <a:latin typeface="Garamond"/>
              </a:rPr>
              <a:t>French government bonds (“OATs”) have dislocated against swaps in recent weeks as the market has grown nervous about French public finances amid increasing political uncertainty around budget negotiations and the increased probability of a populist government, left or right, in the upcoming April 2027 Presidential elections.</a:t>
            </a:r>
          </a:p>
        </p:txBody>
      </p:sp>
      <p:sp>
        <p:nvSpPr>
          <p:cNvPr id="8" name="TextBox 7"/>
          <p:cNvSpPr txBox="1"/>
          <p:nvPr/>
        </p:nvSpPr>
        <p:spPr>
          <a:xfrm>
            <a:off x="566928" y="2917972"/>
            <a:ext cx="274320" cy="918484"/>
          </a:xfrm>
          <a:prstGeom prst="rect">
            <a:avLst/>
          </a:prstGeom>
          <a:noFill/>
        </p:spPr>
        <p:txBody>
          <a:bodyPr wrap="square" lIns="0" tIns="0" rIns="0" bIns="0" anchor="t">
            <a:spAutoFit/>
          </a:bodyPr>
          <a:lstStyle/>
          <a:p>
            <a:pPr algn="l">
              <a:lnSpc>
                <a:spcPct val="114000"/>
              </a:lnSpc>
              <a:spcAft>
                <a:spcPts val="0"/>
              </a:spcAft>
            </a:pPr>
            <a:r>
              <a:rPr sz="1300" b="1" i="0" u="none">
                <a:solidFill>
                  <a:srgbClr val="011C40"/>
                </a:solidFill>
                <a:latin typeface="Garamond"/>
              </a:rPr>
              <a:t>2.</a:t>
            </a:r>
          </a:p>
        </p:txBody>
      </p:sp>
      <p:sp>
        <p:nvSpPr>
          <p:cNvPr id="9" name="TextBox 8"/>
          <p:cNvSpPr txBox="1"/>
          <p:nvPr/>
        </p:nvSpPr>
        <p:spPr>
          <a:xfrm>
            <a:off x="914400" y="2917972"/>
            <a:ext cx="6419088" cy="918484"/>
          </a:xfrm>
          <a:prstGeom prst="rect">
            <a:avLst/>
          </a:prstGeom>
          <a:noFill/>
        </p:spPr>
        <p:txBody>
          <a:bodyPr wrap="square" lIns="0" tIns="0" rIns="0" bIns="0" anchor="t">
            <a:spAutoFit/>
          </a:bodyPr>
          <a:lstStyle/>
          <a:p>
            <a:pPr algn="l">
              <a:lnSpc>
                <a:spcPct val="114000"/>
              </a:lnSpc>
              <a:spcAft>
                <a:spcPts val="0"/>
              </a:spcAft>
            </a:pPr>
            <a:r>
              <a:rPr sz="1300" b="1" i="0" u="none">
                <a:solidFill>
                  <a:srgbClr val="011C40"/>
                </a:solidFill>
                <a:latin typeface="Garamond"/>
              </a:rPr>
              <a:t>Non-recourse structuring: </a:t>
            </a:r>
            <a:r>
              <a:rPr sz="1300" b="0">
                <a:solidFill>
                  <a:srgbClr val="011C40"/>
                </a:solidFill>
                <a:latin typeface="Garamond"/>
              </a:rPr>
              <a:t>The attractiveness of the opportunity is heavily dependent on a proprietary financing structure: our position is financed for 4.4 years – within a year of maturity – with non-recourse leverage at €STR + 17bp, and a floor only 30bp out of the money.</a:t>
            </a:r>
          </a:p>
        </p:txBody>
      </p:sp>
      <p:sp>
        <p:nvSpPr>
          <p:cNvPr id="10" name="TextBox 9"/>
          <p:cNvSpPr txBox="1"/>
          <p:nvPr/>
        </p:nvSpPr>
        <p:spPr>
          <a:xfrm>
            <a:off x="566928" y="3988856"/>
            <a:ext cx="274320" cy="1377726"/>
          </a:xfrm>
          <a:prstGeom prst="rect">
            <a:avLst/>
          </a:prstGeom>
          <a:noFill/>
        </p:spPr>
        <p:txBody>
          <a:bodyPr wrap="square" lIns="0" tIns="0" rIns="0" bIns="0" anchor="t">
            <a:spAutoFit/>
          </a:bodyPr>
          <a:lstStyle/>
          <a:p>
            <a:pPr algn="l">
              <a:lnSpc>
                <a:spcPct val="114000"/>
              </a:lnSpc>
              <a:spcAft>
                <a:spcPts val="0"/>
              </a:spcAft>
            </a:pPr>
            <a:r>
              <a:rPr sz="1300" b="1" i="0" u="none">
                <a:solidFill>
                  <a:srgbClr val="011C40"/>
                </a:solidFill>
                <a:latin typeface="Garamond"/>
              </a:rPr>
              <a:t>3.</a:t>
            </a:r>
          </a:p>
        </p:txBody>
      </p:sp>
      <p:sp>
        <p:nvSpPr>
          <p:cNvPr id="11" name="TextBox 10"/>
          <p:cNvSpPr txBox="1"/>
          <p:nvPr/>
        </p:nvSpPr>
        <p:spPr>
          <a:xfrm>
            <a:off x="914400" y="3988856"/>
            <a:ext cx="6419088" cy="1377726"/>
          </a:xfrm>
          <a:prstGeom prst="rect">
            <a:avLst/>
          </a:prstGeom>
          <a:noFill/>
        </p:spPr>
        <p:txBody>
          <a:bodyPr wrap="square" lIns="0" tIns="0" rIns="0" bIns="0" anchor="t">
            <a:spAutoFit/>
          </a:bodyPr>
          <a:lstStyle/>
          <a:p>
            <a:pPr algn="l">
              <a:lnSpc>
                <a:spcPct val="114000"/>
              </a:lnSpc>
              <a:spcAft>
                <a:spcPts val="0"/>
              </a:spcAft>
            </a:pPr>
            <a:r>
              <a:rPr sz="1300" b="1" i="0" u="none">
                <a:solidFill>
                  <a:srgbClr val="011C40"/>
                </a:solidFill>
                <a:latin typeface="Garamond"/>
              </a:rPr>
              <a:t>Asymmetry and pull to par: </a:t>
            </a:r>
            <a:r>
              <a:rPr sz="1300" b="0">
                <a:solidFill>
                  <a:srgbClr val="011C40"/>
                </a:solidFill>
                <a:latin typeface="Garamond"/>
              </a:rPr>
              <a:t>Over the life of investment, the bond rolls from the 5.4-year point of the curve to the 1-year point, where a “pull to par” dynamic generally keeps spreads well anchored – in the case of France even through the euro sovereign crisis. If nothing changes, the roll alone returns 42% a year (4.8x). To break even, the 1-year spread at expiry just needs to be at −445bp or higher, a level even Spain never breached, and Italy breached only briefly, in November 2011.</a:t>
            </a:r>
          </a:p>
        </p:txBody>
      </p:sp>
      <p:sp>
        <p:nvSpPr>
          <p:cNvPr id="12" name="Rounded Rectangle 11"/>
          <p:cNvSpPr/>
          <p:nvPr/>
        </p:nvSpPr>
        <p:spPr>
          <a:xfrm>
            <a:off x="7680960" y="1847088"/>
            <a:ext cx="3941063" cy="35204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82128" y="2011680"/>
            <a:ext cx="3538727" cy="3200400"/>
          </a:xfrm>
          <a:prstGeom prst="rect">
            <a:avLst/>
          </a:prstGeom>
          <a:noFill/>
        </p:spPr>
        <p:txBody>
          <a:bodyPr wrap="square" lIns="0" tIns="0" rIns="0" bIns="0" anchor="t">
            <a:spAutoFit/>
          </a:bodyPr>
          <a:lstStyle/>
          <a:p>
            <a:pPr algn="l">
              <a:lnSpc>
                <a:spcPct val="114000"/>
              </a:lnSpc>
              <a:spcAft>
                <a:spcPts val="600"/>
              </a:spcAft>
            </a:pPr>
            <a:r>
              <a:rPr sz="1350" b="1" i="0" u="none">
                <a:solidFill>
                  <a:srgbClr val="011C40"/>
                </a:solidFill>
                <a:latin typeface="Garamond"/>
              </a:rPr>
              <a:t>The trade</a:t>
            </a:r>
          </a:p>
          <a:p>
            <a:pPr algn="l">
              <a:lnSpc>
                <a:spcPct val="114000"/>
              </a:lnSpc>
              <a:spcAft>
                <a:spcPts val="1000"/>
              </a:spcAft>
            </a:pPr>
            <a:r>
              <a:rPr sz="1120" b="1" i="0" u="none">
                <a:solidFill>
                  <a:srgbClr val="011C40"/>
                </a:solidFill>
                <a:latin typeface="Garamond"/>
              </a:rPr>
              <a:t>Buy a 5.4-year France versus Euribor swap spread, financed for 4.4 years with a floor making the leverage non-recourse.</a:t>
            </a:r>
          </a:p>
          <a:p>
            <a:pPr algn="l">
              <a:lnSpc>
                <a:spcPct val="114000"/>
              </a:lnSpc>
              <a:spcAft>
                <a:spcPts val="400"/>
              </a:spcAft>
            </a:pPr>
            <a:r>
              <a:rPr sz="1120" b="0" i="0" u="none">
                <a:solidFill>
                  <a:srgbClr val="011C40"/>
                </a:solidFill>
                <a:latin typeface="Garamond"/>
              </a:rPr>
              <a:t>Buy FRTR 3¼ 02/25/32 at 94.91, i.e. a 4.33% yield: 83bp over the matched swap, the cheapest since 2010.</a:t>
            </a:r>
          </a:p>
          <a:p>
            <a:pPr algn="l">
              <a:lnSpc>
                <a:spcPct val="114000"/>
              </a:lnSpc>
              <a:spcAft>
                <a:spcPts val="400"/>
              </a:spcAft>
            </a:pPr>
            <a:r>
              <a:rPr sz="1120" b="0" i="0" u="none">
                <a:solidFill>
                  <a:srgbClr val="011C40"/>
                </a:solidFill>
                <a:latin typeface="Garamond"/>
              </a:rPr>
              <a:t>Pay fixed on a 5.4-year 6m Euribor swap, DV01-neutral.</a:t>
            </a:r>
          </a:p>
          <a:p>
            <a:pPr algn="l">
              <a:lnSpc>
                <a:spcPct val="114000"/>
              </a:lnSpc>
              <a:spcAft>
                <a:spcPts val="400"/>
              </a:spcAft>
            </a:pPr>
            <a:r>
              <a:rPr sz="1120" b="0" i="0" u="none">
                <a:solidFill>
                  <a:srgbClr val="011C40"/>
                </a:solidFill>
                <a:latin typeface="Garamond"/>
              </a:rPr>
              <a:t>Buy floor struck ATMF – 30bp for 0.84%.</a:t>
            </a:r>
          </a:p>
          <a:p>
            <a:pPr algn="l">
              <a:lnSpc>
                <a:spcPct val="114000"/>
              </a:lnSpc>
              <a:spcAft>
                <a:spcPts val="400"/>
              </a:spcAft>
            </a:pPr>
            <a:r>
              <a:rPr sz="1120" b="0" i="0" u="none">
                <a:solidFill>
                  <a:srgbClr val="011C40"/>
                </a:solidFill>
                <a:latin typeface="Garamond"/>
              </a:rPr>
              <a:t>Present value of our maximum loss, 0.247%.</a:t>
            </a:r>
          </a:p>
          <a:p>
            <a:pPr algn="l">
              <a:lnSpc>
                <a:spcPct val="114000"/>
              </a:lnSpc>
              <a:spcAft>
                <a:spcPts val="1000"/>
              </a:spcAft>
            </a:pPr>
            <a:r>
              <a:rPr sz="1120" b="0" i="0" u="none">
                <a:solidFill>
                  <a:srgbClr val="011C40"/>
                </a:solidFill>
                <a:latin typeface="Garamond"/>
              </a:rPr>
              <a:t>Total capital at risk, 1.09%.</a:t>
            </a:r>
          </a:p>
          <a:p>
            <a:pPr algn="l">
              <a:lnSpc>
                <a:spcPct val="114000"/>
              </a:lnSpc>
              <a:spcAft>
                <a:spcPts val="400"/>
              </a:spcAft>
            </a:pPr>
            <a:r>
              <a:rPr sz="1120" b="1" i="0" u="none">
                <a:solidFill>
                  <a:srgbClr val="011C40"/>
                </a:solidFill>
                <a:latin typeface="Garamond"/>
              </a:rPr>
              <a:t>Spend 1.1m for 100m of swap spread exposure.</a:t>
            </a:r>
          </a:p>
        </p:txBody>
      </p:sp>
      <p:sp>
        <p:nvSpPr>
          <p:cNvPr id="14" name="TextBox 13"/>
          <p:cNvSpPr txBox="1"/>
          <p:nvPr/>
        </p:nvSpPr>
        <p:spPr>
          <a:xfrm>
            <a:off x="2487168" y="6319052"/>
            <a:ext cx="7818120" cy="301203"/>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Please see the disclosures page regarding the hypothetical performance results listed above. Italy's 1-year spread was below −445bp on 5 trading days, 11/8/2011 to 11/29/2011. Spreads are the swap rate less the bond yield versus the 6m Euribor swap. Source: Bloomberg, Liminality calculations.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What is a swap spread?</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5</a:t>
            </a:r>
          </a:p>
        </p:txBody>
      </p:sp>
      <p:sp>
        <p:nvSpPr>
          <p:cNvPr id="5" name="TextBox 4"/>
          <p:cNvSpPr txBox="1"/>
          <p:nvPr/>
        </p:nvSpPr>
        <p:spPr>
          <a:xfrm>
            <a:off x="566928" y="1664207"/>
            <a:ext cx="5346039" cy="914400"/>
          </a:xfrm>
          <a:prstGeom prst="rect">
            <a:avLst/>
          </a:prstGeom>
          <a:noFill/>
        </p:spPr>
        <p:txBody>
          <a:bodyPr wrap="square" lIns="0" tIns="0" rIns="0" bIns="0" anchor="t">
            <a:spAutoFit/>
          </a:bodyPr>
          <a:lstStyle/>
          <a:p>
            <a:pPr algn="l">
              <a:lnSpc>
                <a:spcPct val="114000"/>
              </a:lnSpc>
              <a:spcAft>
                <a:spcPts val="600"/>
              </a:spcAft>
            </a:pPr>
            <a:r>
              <a:rPr sz="1300" b="0" i="0" u="none">
                <a:solidFill>
                  <a:srgbClr val="011C40"/>
                </a:solidFill>
                <a:latin typeface="Garamond"/>
              </a:rPr>
              <a:t>A swap spread is the difference between a government bond yield and the swap rate of the same maturity. To be “long” the swap spread, buy the OAT and pay fixed on the swap, fully hedging the duration.</a:t>
            </a:r>
          </a:p>
        </p:txBody>
      </p:sp>
      <p:sp>
        <p:nvSpPr>
          <p:cNvPr id="6" name="TextBox 5"/>
          <p:cNvSpPr txBox="1"/>
          <p:nvPr/>
        </p:nvSpPr>
        <p:spPr>
          <a:xfrm>
            <a:off x="6278727" y="1664207"/>
            <a:ext cx="5346039" cy="914400"/>
          </a:xfrm>
          <a:prstGeom prst="rect">
            <a:avLst/>
          </a:prstGeom>
          <a:noFill/>
        </p:spPr>
        <p:txBody>
          <a:bodyPr wrap="square" lIns="0" tIns="0" rIns="0" bIns="0" anchor="t">
            <a:spAutoFit/>
          </a:bodyPr>
          <a:lstStyle/>
          <a:p>
            <a:pPr algn="l">
              <a:lnSpc>
                <a:spcPct val="114000"/>
              </a:lnSpc>
              <a:spcAft>
                <a:spcPts val="600"/>
              </a:spcAft>
            </a:pPr>
            <a:r>
              <a:rPr sz="1300" b="1" i="0" u="none">
                <a:solidFill>
                  <a:srgbClr val="011C40"/>
                </a:solidFill>
                <a:latin typeface="Garamond"/>
              </a:rPr>
              <a:t>In this deck the spread is the swap rate less the bond yield, so a bond that is cheap to swaps reads as a negative number.</a:t>
            </a:r>
          </a:p>
        </p:txBody>
      </p:sp>
      <p:sp>
        <p:nvSpPr>
          <p:cNvPr id="7" name="TextBox 6"/>
          <p:cNvSpPr txBox="1"/>
          <p:nvPr/>
        </p:nvSpPr>
        <p:spPr>
          <a:xfrm>
            <a:off x="566928" y="2761488"/>
            <a:ext cx="5346039" cy="256032"/>
          </a:xfrm>
          <a:prstGeom prst="rect">
            <a:avLst/>
          </a:prstGeom>
          <a:noFill/>
        </p:spPr>
        <p:txBody>
          <a:bodyPr wrap="square" lIns="0" tIns="0" rIns="0" bIns="0" anchor="t">
            <a:spAutoFit/>
          </a:bodyPr>
          <a:lstStyle/>
          <a:p>
            <a:pPr algn="l">
              <a:lnSpc>
                <a:spcPct val="95000"/>
              </a:lnSpc>
              <a:spcAft>
                <a:spcPts val="600"/>
              </a:spcAft>
            </a:pPr>
            <a:r>
              <a:rPr sz="1100" b="1" i="0" u="none">
                <a:solidFill>
                  <a:srgbClr val="011C40"/>
                </a:solidFill>
                <a:latin typeface="Garamond"/>
              </a:rPr>
              <a:t>French yield curves, 10/2/2026</a:t>
            </a:r>
          </a:p>
        </p:txBody>
      </p:sp>
      <p:graphicFrame>
        <p:nvGraphicFramePr>
          <p:cNvPr id="8" name="Chart 7"/>
          <p:cNvGraphicFramePr>
            <a:graphicFrameLocks noGrp="1"/>
          </p:cNvGraphicFramePr>
          <p:nvPr/>
        </p:nvGraphicFramePr>
        <p:xfrm>
          <a:off x="566928" y="3035808"/>
          <a:ext cx="5346039" cy="292608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6278727" y="2761488"/>
            <a:ext cx="5346039" cy="256032"/>
          </a:xfrm>
          <a:prstGeom prst="rect">
            <a:avLst/>
          </a:prstGeom>
          <a:noFill/>
        </p:spPr>
        <p:txBody>
          <a:bodyPr wrap="square" lIns="0" tIns="0" rIns="0" bIns="0" anchor="t">
            <a:spAutoFit/>
          </a:bodyPr>
          <a:lstStyle/>
          <a:p>
            <a:pPr algn="l">
              <a:lnSpc>
                <a:spcPct val="95000"/>
              </a:lnSpc>
              <a:spcAft>
                <a:spcPts val="600"/>
              </a:spcAft>
            </a:pPr>
            <a:r>
              <a:rPr sz="1100" b="1" i="0" u="none">
                <a:solidFill>
                  <a:srgbClr val="011C40"/>
                </a:solidFill>
                <a:latin typeface="Garamond"/>
              </a:rPr>
              <a:t>Swap spread at each point of the curve (swap less OAT)</a:t>
            </a:r>
          </a:p>
        </p:txBody>
      </p:sp>
      <p:graphicFrame>
        <p:nvGraphicFramePr>
          <p:cNvPr id="10" name="Chart 9"/>
          <p:cNvGraphicFramePr>
            <a:graphicFrameLocks noGrp="1"/>
          </p:cNvGraphicFramePr>
          <p:nvPr/>
        </p:nvGraphicFramePr>
        <p:xfrm>
          <a:off x="6278727" y="3035808"/>
          <a:ext cx="5346039"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2487168" y="6469654"/>
            <a:ext cx="7818120" cy="150601"/>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As of 10/2/2026. Source: Bloomberg, Liminality calculations.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The current dislocation</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6</a:t>
            </a:r>
          </a:p>
        </p:txBody>
      </p:sp>
      <p:sp>
        <p:nvSpPr>
          <p:cNvPr id="5" name="TextBox 4"/>
          <p:cNvSpPr txBox="1"/>
          <p:nvPr/>
        </p:nvSpPr>
        <p:spPr>
          <a:xfrm>
            <a:off x="566928" y="1005840"/>
            <a:ext cx="11057839" cy="457200"/>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France swap spreads versus the 6m Euribor swap, weekly, since 2010</a:t>
            </a:r>
          </a:p>
        </p:txBody>
      </p:sp>
      <p:graphicFrame>
        <p:nvGraphicFramePr>
          <p:cNvPr id="6" name="Chart 5"/>
          <p:cNvGraphicFramePr>
            <a:graphicFrameLocks noGrp="1"/>
          </p:cNvGraphicFramePr>
          <p:nvPr/>
        </p:nvGraphicFramePr>
        <p:xfrm>
          <a:off x="566928" y="1783080"/>
          <a:ext cx="11057839" cy="420624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2487168" y="6469654"/>
            <a:ext cx="7818120" cy="150601"/>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Spreads are the swap rate less the bond yield, so more negative is cheaper. As of 10/2/2026. Source: Bloomberg, Liminality calculations.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Why is there a dislocation?</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7</a:t>
            </a:r>
          </a:p>
        </p:txBody>
      </p:sp>
      <p:sp>
        <p:nvSpPr>
          <p:cNvPr id="5" name="Rounded Rectangle 4"/>
          <p:cNvSpPr/>
          <p:nvPr/>
        </p:nvSpPr>
        <p:spPr>
          <a:xfrm>
            <a:off x="566928" y="1783080"/>
            <a:ext cx="5346039" cy="434340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78727" y="1783080"/>
            <a:ext cx="5346039" cy="4343400"/>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956816"/>
            <a:ext cx="4833975" cy="365760"/>
          </a:xfrm>
          <a:prstGeom prst="rect">
            <a:avLst/>
          </a:prstGeom>
          <a:noFill/>
        </p:spPr>
        <p:txBody>
          <a:bodyPr wrap="square" lIns="0" tIns="0" rIns="0" bIns="0" anchor="t">
            <a:spAutoFit/>
          </a:bodyPr>
          <a:lstStyle/>
          <a:p>
            <a:pPr algn="l">
              <a:lnSpc>
                <a:spcPct val="95000"/>
              </a:lnSpc>
              <a:spcAft>
                <a:spcPts val="600"/>
              </a:spcAft>
            </a:pPr>
            <a:r>
              <a:rPr sz="1700" b="1" i="0" u="none">
                <a:solidFill>
                  <a:srgbClr val="011C40"/>
                </a:solidFill>
                <a:latin typeface="Garamond"/>
              </a:rPr>
              <a:t>Long-term factors</a:t>
            </a:r>
          </a:p>
        </p:txBody>
      </p:sp>
      <p:sp>
        <p:nvSpPr>
          <p:cNvPr id="8" name="TextBox 7"/>
          <p:cNvSpPr txBox="1"/>
          <p:nvPr/>
        </p:nvSpPr>
        <p:spPr>
          <a:xfrm>
            <a:off x="6534759" y="1956816"/>
            <a:ext cx="4833975" cy="365760"/>
          </a:xfrm>
          <a:prstGeom prst="rect">
            <a:avLst/>
          </a:prstGeom>
          <a:noFill/>
        </p:spPr>
        <p:txBody>
          <a:bodyPr wrap="square" lIns="0" tIns="0" rIns="0" bIns="0" anchor="t">
            <a:spAutoFit/>
          </a:bodyPr>
          <a:lstStyle/>
          <a:p>
            <a:pPr algn="l">
              <a:lnSpc>
                <a:spcPct val="95000"/>
              </a:lnSpc>
              <a:spcAft>
                <a:spcPts val="600"/>
              </a:spcAft>
            </a:pPr>
            <a:r>
              <a:rPr sz="1700" b="1" i="0" u="none">
                <a:solidFill>
                  <a:srgbClr val="011C40"/>
                </a:solidFill>
                <a:latin typeface="Garamond"/>
              </a:rPr>
              <a:t>Short-term factors</a:t>
            </a:r>
          </a:p>
        </p:txBody>
      </p:sp>
      <p:sp>
        <p:nvSpPr>
          <p:cNvPr id="9" name="Oval 8"/>
          <p:cNvSpPr/>
          <p:nvPr/>
        </p:nvSpPr>
        <p:spPr>
          <a:xfrm>
            <a:off x="822960" y="2534716"/>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468879"/>
            <a:ext cx="4651095" cy="645542"/>
          </a:xfrm>
          <a:prstGeom prst="rect">
            <a:avLst/>
          </a:prstGeom>
          <a:noFill/>
        </p:spPr>
        <p:txBody>
          <a:bodyPr wrap="square" lIns="0" tIns="0" rIns="0" bIns="0" anchor="t">
            <a:spAutoFit/>
          </a:bodyPr>
          <a:lstStyle/>
          <a:p>
            <a:pPr algn="l">
              <a:lnSpc>
                <a:spcPct val="112000"/>
              </a:lnSpc>
              <a:spcAft>
                <a:spcPts val="0"/>
              </a:spcAft>
            </a:pPr>
            <a:r>
              <a:rPr sz="1240" b="0" i="0" u="none">
                <a:solidFill>
                  <a:srgbClr val="011C40"/>
                </a:solidFill>
                <a:latin typeface="Garamond"/>
              </a:rPr>
              <a:t>Budget and fiscal: a deficit of 5.1% of GDP in 2025 and debt of 116% of GDP, the widest and the fastest-rising of the euro area's four large economies.</a:t>
            </a:r>
          </a:p>
        </p:txBody>
      </p:sp>
      <p:sp>
        <p:nvSpPr>
          <p:cNvPr id="11" name="Oval 10"/>
          <p:cNvSpPr/>
          <p:nvPr/>
        </p:nvSpPr>
        <p:spPr>
          <a:xfrm>
            <a:off x="822960" y="3294558"/>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3228722"/>
            <a:ext cx="4651095" cy="645542"/>
          </a:xfrm>
          <a:prstGeom prst="rect">
            <a:avLst/>
          </a:prstGeom>
          <a:noFill/>
        </p:spPr>
        <p:txBody>
          <a:bodyPr wrap="square" lIns="0" tIns="0" rIns="0" bIns="0" anchor="t">
            <a:spAutoFit/>
          </a:bodyPr>
          <a:lstStyle/>
          <a:p>
            <a:pPr algn="l">
              <a:lnSpc>
                <a:spcPct val="112000"/>
              </a:lnSpc>
              <a:spcAft>
                <a:spcPts val="0"/>
              </a:spcAft>
            </a:pPr>
            <a:r>
              <a:rPr sz="1240" b="0" i="0" u="none">
                <a:solidFill>
                  <a:srgbClr val="011C40"/>
                </a:solidFill>
                <a:latin typeface="Garamond"/>
              </a:rPr>
              <a:t>Political dysfunction: no majority since June 2024, governments falling on the budget, and no visible will to fix the arithmetic before the 2027 election.</a:t>
            </a:r>
          </a:p>
        </p:txBody>
      </p:sp>
      <p:sp>
        <p:nvSpPr>
          <p:cNvPr id="13" name="Oval 12"/>
          <p:cNvSpPr/>
          <p:nvPr/>
        </p:nvSpPr>
        <p:spPr>
          <a:xfrm>
            <a:off x="822960" y="40544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3988564"/>
            <a:ext cx="4651095" cy="645542"/>
          </a:xfrm>
          <a:prstGeom prst="rect">
            <a:avLst/>
          </a:prstGeom>
          <a:noFill/>
        </p:spPr>
        <p:txBody>
          <a:bodyPr wrap="square" lIns="0" tIns="0" rIns="0" bIns="0" anchor="t">
            <a:spAutoFit/>
          </a:bodyPr>
          <a:lstStyle/>
          <a:p>
            <a:pPr algn="l">
              <a:lnSpc>
                <a:spcPct val="112000"/>
              </a:lnSpc>
              <a:spcAft>
                <a:spcPts val="0"/>
              </a:spcAft>
            </a:pPr>
            <a:r>
              <a:rPr sz="1240" b="0" i="0" u="none">
                <a:solidFill>
                  <a:srgbClr val="011C40"/>
                </a:solidFill>
                <a:latin typeface="Garamond"/>
              </a:rPr>
              <a:t>A negative feedback loop: net interest has risen from 1.3% of GDP in 2020 to 2.1% in 2025 as the debt reprices, so higher yields push the deficit further.</a:t>
            </a:r>
          </a:p>
        </p:txBody>
      </p:sp>
      <p:sp>
        <p:nvSpPr>
          <p:cNvPr id="15" name="Oval 14"/>
          <p:cNvSpPr/>
          <p:nvPr/>
        </p:nvSpPr>
        <p:spPr>
          <a:xfrm>
            <a:off x="6534759" y="2534716"/>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17639" y="2468879"/>
            <a:ext cx="4651095" cy="860722"/>
          </a:xfrm>
          <a:prstGeom prst="rect">
            <a:avLst/>
          </a:prstGeom>
          <a:noFill/>
        </p:spPr>
        <p:txBody>
          <a:bodyPr wrap="square" lIns="0" tIns="0" rIns="0" bIns="0" anchor="t">
            <a:spAutoFit/>
          </a:bodyPr>
          <a:lstStyle/>
          <a:p>
            <a:pPr algn="l">
              <a:lnSpc>
                <a:spcPct val="112000"/>
              </a:lnSpc>
              <a:spcAft>
                <a:spcPts val="0"/>
              </a:spcAft>
            </a:pPr>
            <a:r>
              <a:rPr sz="1240" b="0" i="0" u="none">
                <a:solidFill>
                  <a:srgbClr val="011C40"/>
                </a:solidFill>
                <a:latin typeface="Garamond"/>
              </a:rPr>
              <a:t>Levered unwinds: the 5-year spread fell 34bp in ten trading days to −83bp. The triggers: the 2026 deficit target missed (5.4% against 5%), a ratings downgrade (Scope, AA− to A+), and Lagarde calling debt near 120% of GDP a serious problem.</a:t>
            </a:r>
          </a:p>
        </p:txBody>
      </p:sp>
      <p:sp>
        <p:nvSpPr>
          <p:cNvPr id="17" name="Oval 16"/>
          <p:cNvSpPr/>
          <p:nvPr/>
        </p:nvSpPr>
        <p:spPr>
          <a:xfrm>
            <a:off x="6534759" y="3509739"/>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17639" y="3443902"/>
            <a:ext cx="4651095" cy="645542"/>
          </a:xfrm>
          <a:prstGeom prst="rect">
            <a:avLst/>
          </a:prstGeom>
          <a:noFill/>
        </p:spPr>
        <p:txBody>
          <a:bodyPr wrap="square" lIns="0" tIns="0" rIns="0" bIns="0" anchor="t">
            <a:spAutoFit/>
          </a:bodyPr>
          <a:lstStyle/>
          <a:p>
            <a:pPr algn="l">
              <a:lnSpc>
                <a:spcPct val="112000"/>
              </a:lnSpc>
              <a:spcAft>
                <a:spcPts val="0"/>
              </a:spcAft>
            </a:pPr>
            <a:r>
              <a:rPr sz="1240" b="0" i="0" u="none">
                <a:solidFill>
                  <a:srgbClr val="011C40"/>
                </a:solidFill>
                <a:latin typeface="Garamond"/>
              </a:rPr>
              <a:t>Rates globally moving higher and more volatile: the 5-year euro swap rate is 3.50% against 2.36% a year ago, with the possibility that a global tightening cycle could still be in its early innings.</a:t>
            </a:r>
          </a:p>
        </p:txBody>
      </p:sp>
      <p:sp>
        <p:nvSpPr>
          <p:cNvPr id="19" name="Oval 18"/>
          <p:cNvSpPr/>
          <p:nvPr/>
        </p:nvSpPr>
        <p:spPr>
          <a:xfrm>
            <a:off x="6534759" y="4269581"/>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17639" y="4203744"/>
            <a:ext cx="4651095" cy="430361"/>
          </a:xfrm>
          <a:prstGeom prst="rect">
            <a:avLst/>
          </a:prstGeom>
          <a:noFill/>
        </p:spPr>
        <p:txBody>
          <a:bodyPr wrap="square" lIns="0" tIns="0" rIns="0" bIns="0" anchor="t">
            <a:spAutoFit/>
          </a:bodyPr>
          <a:lstStyle/>
          <a:p>
            <a:pPr algn="l">
              <a:lnSpc>
                <a:spcPct val="112000"/>
              </a:lnSpc>
              <a:spcAft>
                <a:spcPts val="0"/>
              </a:spcAft>
            </a:pPr>
            <a:r>
              <a:rPr sz="1240" b="0" i="0" u="none">
                <a:solidFill>
                  <a:srgbClr val="011C40"/>
                </a:solidFill>
                <a:latin typeface="Garamond"/>
              </a:rPr>
              <a:t>Polls showing the far right and far left leading into the presidential election of April and May 2027.</a:t>
            </a:r>
          </a:p>
        </p:txBody>
      </p:sp>
      <p:sp>
        <p:nvSpPr>
          <p:cNvPr id="21" name="Oval 20"/>
          <p:cNvSpPr/>
          <p:nvPr/>
        </p:nvSpPr>
        <p:spPr>
          <a:xfrm>
            <a:off x="6534759" y="4814242"/>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17639" y="4748406"/>
            <a:ext cx="4651095" cy="430361"/>
          </a:xfrm>
          <a:prstGeom prst="rect">
            <a:avLst/>
          </a:prstGeom>
          <a:noFill/>
        </p:spPr>
        <p:txBody>
          <a:bodyPr wrap="square" lIns="0" tIns="0" rIns="0" bIns="0" anchor="t">
            <a:spAutoFit/>
          </a:bodyPr>
          <a:lstStyle/>
          <a:p>
            <a:pPr algn="l">
              <a:lnSpc>
                <a:spcPct val="112000"/>
              </a:lnSpc>
              <a:spcAft>
                <a:spcPts val="0"/>
              </a:spcAft>
            </a:pPr>
            <a:r>
              <a:rPr sz="1240" b="0" i="0" u="none">
                <a:solidFill>
                  <a:srgbClr val="011C40"/>
                </a:solidFill>
                <a:latin typeface="Garamond"/>
              </a:rPr>
              <a:t>The far left-wing candidate for President, Mélenchon, recently proposed cancelling the French debt held by the central bank.</a:t>
            </a:r>
          </a:p>
        </p:txBody>
      </p:sp>
      <p:sp>
        <p:nvSpPr>
          <p:cNvPr id="23" name="Rounded Rectangle 22"/>
          <p:cNvSpPr/>
          <p:nvPr/>
        </p:nvSpPr>
        <p:spPr>
          <a:xfrm>
            <a:off x="6534759" y="5349240"/>
            <a:ext cx="4833975" cy="744423"/>
          </a:xfrm>
          <a:prstGeom prst="roundRect">
            <a:avLst>
              <a:gd name="adj" fmla="val 4000"/>
            </a:avLst>
          </a:prstGeom>
          <a:solidFill>
            <a:srgbClr val="FFF4C2"/>
          </a:solidFill>
          <a:ln w="9525">
            <a:solidFill>
              <a:srgbClr val="7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17639" y="5532120"/>
            <a:ext cx="4468215" cy="378663"/>
          </a:xfrm>
          <a:prstGeom prst="rect">
            <a:avLst/>
          </a:prstGeom>
          <a:noFill/>
        </p:spPr>
        <p:txBody>
          <a:bodyPr wrap="square" lIns="0" tIns="0" rIns="0" bIns="0" anchor="t">
            <a:spAutoFit/>
          </a:bodyPr>
          <a:lstStyle/>
          <a:p>
            <a:pPr algn="l">
              <a:lnSpc>
                <a:spcPct val="114000"/>
              </a:lnSpc>
              <a:spcAft>
                <a:spcPts val="200"/>
              </a:spcAft>
            </a:pPr>
            <a:r>
              <a:rPr sz="1000" b="1" i="0" u="none">
                <a:solidFill>
                  <a:srgbClr val="011C40"/>
                </a:solidFill>
                <a:latin typeface="Garamond"/>
              </a:rPr>
              <a:t>INTERNAL NOTE - delete before circulation</a:t>
            </a:r>
          </a:p>
          <a:p>
            <a:pPr algn="l">
              <a:lnSpc>
                <a:spcPct val="114000"/>
              </a:lnSpc>
              <a:spcAft>
                <a:spcPts val="0"/>
              </a:spcAft>
            </a:pPr>
            <a:r>
              <a:rPr sz="1000" b="0" i="0" u="none">
                <a:solidFill>
                  <a:srgbClr val="5A6172"/>
                </a:solidFill>
                <a:latin typeface="Garamond"/>
              </a:rPr>
              <a:t>Short-term factors still need to be tweaked (Charlie, 10/7/2026).</a:t>
            </a:r>
          </a:p>
        </p:txBody>
      </p:sp>
      <p:sp>
        <p:nvSpPr>
          <p:cNvPr id="25" name="TextBox 24"/>
          <p:cNvSpPr txBox="1"/>
          <p:nvPr/>
        </p:nvSpPr>
        <p:spPr>
          <a:xfrm>
            <a:off x="2487168" y="6168450"/>
            <a:ext cx="7818120" cy="451805"/>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Fiscal figures: Eurostat and OECD via Bloomberg, latest full year 2025. Spread and swap moves: Bloomberg, to 10/2/2026. Triggers: Political Alpha Research, 10/5/2026; Scope's downgrade of 9/18/2026 per Bloomberg. The attribution of the recent move to levered unwinds is Liminality's judgement. Source: Eurostat, OECD, Bloomberg, Political Alpha, Liminality calculations.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Where the return comes from</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8</a:t>
            </a:r>
          </a:p>
        </p:txBody>
      </p:sp>
      <p:sp>
        <p:nvSpPr>
          <p:cNvPr id="5" name="TextBox 4"/>
          <p:cNvSpPr txBox="1"/>
          <p:nvPr/>
        </p:nvSpPr>
        <p:spPr>
          <a:xfrm>
            <a:off x="566928" y="1005840"/>
            <a:ext cx="11057839" cy="457200"/>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Carry on the package, the floating-rate basis, and roll-down; all per 100m of bond notional</a:t>
            </a:r>
          </a:p>
        </p:txBody>
      </p:sp>
      <p:sp>
        <p:nvSpPr>
          <p:cNvPr id="6" name="Rounded Rectangle 5"/>
          <p:cNvSpPr/>
          <p:nvPr/>
        </p:nvSpPr>
        <p:spPr>
          <a:xfrm>
            <a:off x="566928" y="1847088"/>
            <a:ext cx="3503066" cy="269748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2029968"/>
            <a:ext cx="3100730" cy="310896"/>
          </a:xfrm>
          <a:prstGeom prst="rect">
            <a:avLst/>
          </a:prstGeom>
          <a:noFill/>
        </p:spPr>
        <p:txBody>
          <a:bodyPr wrap="square" lIns="0" tIns="0" rIns="0" bIns="0" anchor="t">
            <a:spAutoFit/>
          </a:bodyPr>
          <a:lstStyle/>
          <a:p>
            <a:pPr algn="l">
              <a:lnSpc>
                <a:spcPct val="95000"/>
              </a:lnSpc>
              <a:spcAft>
                <a:spcPts val="600"/>
              </a:spcAft>
            </a:pPr>
            <a:r>
              <a:rPr sz="1400" b="1" i="0" u="none">
                <a:solidFill>
                  <a:srgbClr val="011C40"/>
                </a:solidFill>
                <a:latin typeface="Garamond"/>
              </a:rPr>
              <a:t>1  Carry on the spread</a:t>
            </a:r>
          </a:p>
        </p:txBody>
      </p:sp>
      <p:sp>
        <p:nvSpPr>
          <p:cNvPr id="8" name="TextBox 7"/>
          <p:cNvSpPr txBox="1"/>
          <p:nvPr/>
        </p:nvSpPr>
        <p:spPr>
          <a:xfrm>
            <a:off x="768096" y="2414016"/>
            <a:ext cx="3100730" cy="457200"/>
          </a:xfrm>
          <a:prstGeom prst="rect">
            <a:avLst/>
          </a:prstGeom>
          <a:noFill/>
        </p:spPr>
        <p:txBody>
          <a:bodyPr wrap="square" lIns="0" tIns="0" rIns="0" bIns="0" anchor="t">
            <a:spAutoFit/>
          </a:bodyPr>
          <a:lstStyle/>
          <a:p>
            <a:pPr algn="l">
              <a:lnSpc>
                <a:spcPct val="95000"/>
              </a:lnSpc>
              <a:spcAft>
                <a:spcPts val="600"/>
              </a:spcAft>
            </a:pPr>
            <a:r>
              <a:rPr sz="2400" b="1" i="0" u="none">
                <a:solidFill>
                  <a:srgbClr val="2C7A5A"/>
                </a:solidFill>
                <a:latin typeface="Garamond"/>
              </a:rPr>
              <a:t>82.9bp a year</a:t>
            </a:r>
          </a:p>
        </p:txBody>
      </p:sp>
      <p:sp>
        <p:nvSpPr>
          <p:cNvPr id="9" name="TextBox 8"/>
          <p:cNvSpPr txBox="1"/>
          <p:nvPr/>
        </p:nvSpPr>
        <p:spPr>
          <a:xfrm>
            <a:off x="768096" y="2962656"/>
            <a:ext cx="3100730" cy="1463040"/>
          </a:xfrm>
          <a:prstGeom prst="rect">
            <a:avLst/>
          </a:prstGeom>
          <a:noFill/>
        </p:spPr>
        <p:txBody>
          <a:bodyPr wrap="square" lIns="0" tIns="0" rIns="0" bIns="0" anchor="t">
            <a:spAutoFit/>
          </a:bodyPr>
          <a:lstStyle/>
          <a:p>
            <a:pPr algn="l">
              <a:lnSpc>
                <a:spcPct val="112000"/>
              </a:lnSpc>
              <a:spcAft>
                <a:spcPts val="600"/>
              </a:spcAft>
            </a:pPr>
            <a:r>
              <a:rPr sz="1080" b="0" i="0" u="none">
                <a:solidFill>
                  <a:srgbClr val="5A6172"/>
                </a:solidFill>
                <a:latin typeface="Garamond"/>
              </a:rPr>
              <a:t>Receive the bond yield, 4.33%. Pay the fixed swap rate of the same maturity, 3.50%. The difference is the swap spread, earned for as long as the position is held.</a:t>
            </a:r>
          </a:p>
        </p:txBody>
      </p:sp>
      <p:sp>
        <p:nvSpPr>
          <p:cNvPr id="10" name="Rounded Rectangle 9"/>
          <p:cNvSpPr/>
          <p:nvPr/>
        </p:nvSpPr>
        <p:spPr>
          <a:xfrm>
            <a:off x="4344314" y="1847088"/>
            <a:ext cx="3503066" cy="2697480"/>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45482" y="2029968"/>
            <a:ext cx="3100730" cy="310896"/>
          </a:xfrm>
          <a:prstGeom prst="rect">
            <a:avLst/>
          </a:prstGeom>
          <a:noFill/>
        </p:spPr>
        <p:txBody>
          <a:bodyPr wrap="square" lIns="0" tIns="0" rIns="0" bIns="0" anchor="t">
            <a:spAutoFit/>
          </a:bodyPr>
          <a:lstStyle/>
          <a:p>
            <a:pPr algn="l">
              <a:lnSpc>
                <a:spcPct val="95000"/>
              </a:lnSpc>
              <a:spcAft>
                <a:spcPts val="600"/>
              </a:spcAft>
            </a:pPr>
            <a:r>
              <a:rPr sz="1400" b="1" i="0" u="none">
                <a:solidFill>
                  <a:srgbClr val="011C40"/>
                </a:solidFill>
                <a:latin typeface="Garamond"/>
              </a:rPr>
              <a:t>2  The floating legs</a:t>
            </a:r>
          </a:p>
        </p:txBody>
      </p:sp>
      <p:sp>
        <p:nvSpPr>
          <p:cNvPr id="12" name="TextBox 11"/>
          <p:cNvSpPr txBox="1"/>
          <p:nvPr/>
        </p:nvSpPr>
        <p:spPr>
          <a:xfrm>
            <a:off x="4545482" y="2414016"/>
            <a:ext cx="3100730" cy="457200"/>
          </a:xfrm>
          <a:prstGeom prst="rect">
            <a:avLst/>
          </a:prstGeom>
          <a:noFill/>
        </p:spPr>
        <p:txBody>
          <a:bodyPr wrap="square" lIns="0" tIns="0" rIns="0" bIns="0" anchor="t">
            <a:spAutoFit/>
          </a:bodyPr>
          <a:lstStyle/>
          <a:p>
            <a:pPr algn="l">
              <a:lnSpc>
                <a:spcPct val="95000"/>
              </a:lnSpc>
              <a:spcAft>
                <a:spcPts val="600"/>
              </a:spcAft>
            </a:pPr>
            <a:r>
              <a:rPr sz="2400" b="1" i="0" u="none">
                <a:solidFill>
                  <a:srgbClr val="C9922E"/>
                </a:solidFill>
                <a:latin typeface="Garamond"/>
              </a:rPr>
              <a:t>basis less 17bp</a:t>
            </a:r>
          </a:p>
        </p:txBody>
      </p:sp>
      <p:sp>
        <p:nvSpPr>
          <p:cNvPr id="13" name="TextBox 12"/>
          <p:cNvSpPr txBox="1"/>
          <p:nvPr/>
        </p:nvSpPr>
        <p:spPr>
          <a:xfrm>
            <a:off x="4545482" y="2962656"/>
            <a:ext cx="3100730" cy="1463040"/>
          </a:xfrm>
          <a:prstGeom prst="rect">
            <a:avLst/>
          </a:prstGeom>
          <a:noFill/>
        </p:spPr>
        <p:txBody>
          <a:bodyPr wrap="square" lIns="0" tIns="0" rIns="0" bIns="0" anchor="t">
            <a:spAutoFit/>
          </a:bodyPr>
          <a:lstStyle/>
          <a:p>
            <a:pPr algn="l">
              <a:lnSpc>
                <a:spcPct val="112000"/>
              </a:lnSpc>
              <a:spcAft>
                <a:spcPts val="600"/>
              </a:spcAft>
            </a:pPr>
            <a:r>
              <a:rPr sz="1080" b="0" i="0" u="none">
                <a:solidFill>
                  <a:srgbClr val="5A6172"/>
                </a:solidFill>
                <a:latin typeface="Garamond"/>
              </a:rPr>
              <a:t>The swap pays us 6m Euribor; the financing charges us €STR + 17bp. In the US version the two floating rates are both SOFR and cancel. Here the residual is the 6m Euribor / €STR basis, 32bp on the 5-year curve today, which widens when funding markets are stressed.</a:t>
            </a:r>
          </a:p>
        </p:txBody>
      </p:sp>
      <p:sp>
        <p:nvSpPr>
          <p:cNvPr id="14" name="Rounded Rectangle 13"/>
          <p:cNvSpPr/>
          <p:nvPr/>
        </p:nvSpPr>
        <p:spPr>
          <a:xfrm>
            <a:off x="8121700" y="1847088"/>
            <a:ext cx="3503066" cy="269748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2868" y="2029968"/>
            <a:ext cx="3100730" cy="310896"/>
          </a:xfrm>
          <a:prstGeom prst="rect">
            <a:avLst/>
          </a:prstGeom>
          <a:noFill/>
        </p:spPr>
        <p:txBody>
          <a:bodyPr wrap="square" lIns="0" tIns="0" rIns="0" bIns="0" anchor="t">
            <a:spAutoFit/>
          </a:bodyPr>
          <a:lstStyle/>
          <a:p>
            <a:pPr algn="l">
              <a:lnSpc>
                <a:spcPct val="95000"/>
              </a:lnSpc>
              <a:spcAft>
                <a:spcPts val="600"/>
              </a:spcAft>
            </a:pPr>
            <a:r>
              <a:rPr sz="1400" b="1" i="0" u="none">
                <a:solidFill>
                  <a:srgbClr val="011C40"/>
                </a:solidFill>
                <a:latin typeface="Garamond"/>
              </a:rPr>
              <a:t>3  Roll-down</a:t>
            </a:r>
          </a:p>
        </p:txBody>
      </p:sp>
      <p:sp>
        <p:nvSpPr>
          <p:cNvPr id="16" name="TextBox 15"/>
          <p:cNvSpPr txBox="1"/>
          <p:nvPr/>
        </p:nvSpPr>
        <p:spPr>
          <a:xfrm>
            <a:off x="8322868" y="2414016"/>
            <a:ext cx="3100730" cy="457200"/>
          </a:xfrm>
          <a:prstGeom prst="rect">
            <a:avLst/>
          </a:prstGeom>
          <a:noFill/>
        </p:spPr>
        <p:txBody>
          <a:bodyPr wrap="square" lIns="0" tIns="0" rIns="0" bIns="0" anchor="t">
            <a:spAutoFit/>
          </a:bodyPr>
          <a:lstStyle/>
          <a:p>
            <a:pPr algn="l">
              <a:lnSpc>
                <a:spcPct val="95000"/>
              </a:lnSpc>
              <a:spcAft>
                <a:spcPts val="600"/>
              </a:spcAft>
            </a:pPr>
            <a:r>
              <a:rPr sz="2400" b="1" i="0" u="none">
                <a:solidFill>
                  <a:srgbClr val="011C40"/>
                </a:solidFill>
                <a:latin typeface="Garamond"/>
              </a:rPr>
              <a:t>+82bp over the life</a:t>
            </a:r>
          </a:p>
        </p:txBody>
      </p:sp>
      <p:sp>
        <p:nvSpPr>
          <p:cNvPr id="17" name="TextBox 16"/>
          <p:cNvSpPr txBox="1"/>
          <p:nvPr/>
        </p:nvSpPr>
        <p:spPr>
          <a:xfrm>
            <a:off x="8322868" y="2962656"/>
            <a:ext cx="3100730" cy="1463040"/>
          </a:xfrm>
          <a:prstGeom prst="rect">
            <a:avLst/>
          </a:prstGeom>
          <a:noFill/>
        </p:spPr>
        <p:txBody>
          <a:bodyPr wrap="square" lIns="0" tIns="0" rIns="0" bIns="0" anchor="t">
            <a:spAutoFit/>
          </a:bodyPr>
          <a:lstStyle/>
          <a:p>
            <a:pPr algn="l">
              <a:lnSpc>
                <a:spcPct val="112000"/>
              </a:lnSpc>
              <a:spcAft>
                <a:spcPts val="600"/>
              </a:spcAft>
            </a:pPr>
            <a:r>
              <a:rPr sz="1080" b="0" i="0" u="none">
                <a:solidFill>
                  <a:srgbClr val="5A6172"/>
                </a:solidFill>
                <a:latin typeface="Garamond"/>
              </a:rPr>
              <a:t>The bond is a 5.4-year bond at −83bp. At expiry it is a 1-year bond, and the 1-year point sits at −1.3bp today. If the curve does not move, the spread tightens by that difference as the bond rolls, taken as a price gain (the gain is the spread change times the DV01: about one cent per basis point for a one-year bond, more for a longer one).</a:t>
            </a:r>
          </a:p>
        </p:txBody>
      </p:sp>
      <p:sp>
        <p:nvSpPr>
          <p:cNvPr id="18" name="Rounded Rectangle 17"/>
          <p:cNvSpPr/>
          <p:nvPr/>
        </p:nvSpPr>
        <p:spPr>
          <a:xfrm>
            <a:off x="566928" y="4754880"/>
            <a:ext cx="11057839" cy="1203665"/>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4937760"/>
            <a:ext cx="10692079" cy="837905"/>
          </a:xfrm>
          <a:prstGeom prst="rect">
            <a:avLst/>
          </a:prstGeom>
          <a:noFill/>
        </p:spPr>
        <p:txBody>
          <a:bodyPr wrap="square" lIns="0" tIns="0" rIns="0" bIns="0" anchor="t">
            <a:spAutoFit/>
          </a:bodyPr>
          <a:lstStyle/>
          <a:p>
            <a:pPr algn="l">
              <a:lnSpc>
                <a:spcPct val="114000"/>
              </a:lnSpc>
              <a:spcAft>
                <a:spcPts val="200"/>
              </a:spcAft>
            </a:pPr>
            <a:r>
              <a:rPr sz="1150" b="1" i="0" u="none">
                <a:solidFill>
                  <a:srgbClr val="011C40"/>
                </a:solidFill>
                <a:latin typeface="Garamond"/>
              </a:rPr>
              <a:t>On the capital, approximately, for intuition</a:t>
            </a:r>
          </a:p>
          <a:p>
            <a:pPr algn="l">
              <a:lnSpc>
                <a:spcPct val="114000"/>
              </a:lnSpc>
              <a:spcAft>
                <a:spcPts val="0"/>
              </a:spcAft>
            </a:pPr>
            <a:r>
              <a:rPr sz="1150" b="0" i="0" u="none">
                <a:solidFill>
                  <a:srgbClr val="5A6172"/>
                </a:solidFill>
                <a:latin typeface="Garamond"/>
              </a:rPr>
              <a:t>The position is 100m of bond notional against 1.1m of capital. Carry of 83bp a year on 100m is about 75% of the capital a year, or about 332% over the 4.4 years. The roll-down, about 82bp realised once at a one-year duration, adds about 74%. That is roughly 406% before the floating-leg basis and the cost of the floor; the model's 4.75x, which nets both, is on the scenario page.</a:t>
            </a:r>
          </a:p>
        </p:txBody>
      </p:sp>
      <p:sp>
        <p:nvSpPr>
          <p:cNvPr id="20" name="TextBox 19"/>
          <p:cNvSpPr txBox="1"/>
          <p:nvPr/>
        </p:nvSpPr>
        <p:spPr>
          <a:xfrm>
            <a:off x="2487168" y="6017849"/>
            <a:ext cx="6766560" cy="602406"/>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Please see the disclosures page regarding the hypothetical performance results listed above. The same page on the €STR basis is in the appendix (page 13). Levels on 10/2/2026: bond yield from Bloomberg; matched-maturity swap implied by the model's entry spread of −82.9bp; basis from the 5-year 6m Euribor swap less the 5-year €STR OIS. Roll-down ignores convexity and any change in the curve. Source: Bloomberg, Liminality calculations.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Scenario analysis: 4.4-year IRR and multiple of capital at expiry</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9</a:t>
            </a:r>
          </a:p>
        </p:txBody>
      </p:sp>
      <p:sp>
        <p:nvSpPr>
          <p:cNvPr id="5" name="TextBox 4"/>
          <p:cNvSpPr txBox="1"/>
          <p:nvPr/>
        </p:nvSpPr>
        <p:spPr>
          <a:xfrm>
            <a:off x="566928" y="1005840"/>
            <a:ext cx="11057839" cy="457200"/>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Returns depend on where the 1-year France swap spread is when the structure expires. The history since 2010 is on the left; the scenario levels are the dashed lines, each labelled with its multiple</a:t>
            </a:r>
          </a:p>
        </p:txBody>
      </p:sp>
      <p:graphicFrame>
        <p:nvGraphicFramePr>
          <p:cNvPr id="6" name="Chart 5"/>
          <p:cNvGraphicFramePr>
            <a:graphicFrameLocks noGrp="1"/>
          </p:cNvGraphicFramePr>
          <p:nvPr/>
        </p:nvGraphicFramePr>
        <p:xfrm>
          <a:off x="566928" y="1847088"/>
          <a:ext cx="5074920" cy="4160520"/>
        </p:xfrm>
        <a:graphic>
          <a:graphicData uri="http://schemas.openxmlformats.org/drawingml/2006/chart">
            <c:chart xmlns:c="http://schemas.openxmlformats.org/drawingml/2006/chart" xmlns:r="http://schemas.openxmlformats.org/officeDocument/2006/relationships" r:id="rId2"/>
          </a:graphicData>
        </a:graphic>
      </p:graphicFrame>
      <p:cxnSp>
        <p:nvCxnSpPr>
          <p:cNvPr id="7" name="Connector 6"/>
          <p:cNvCxnSpPr/>
          <p:nvPr/>
        </p:nvCxnSpPr>
        <p:spPr>
          <a:xfrm>
            <a:off x="4728362" y="2523900"/>
            <a:ext cx="182880" cy="0"/>
          </a:xfrm>
          <a:prstGeom prst="line">
            <a:avLst/>
          </a:prstGeom>
          <a:ln w="9525">
            <a:solidFill>
              <a:srgbClr val="2C7A5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947818" y="2446176"/>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2C7A5A"/>
                </a:solidFill>
                <a:latin typeface="Garamond"/>
              </a:rPr>
              <a:t>5.0x</a:t>
            </a:r>
          </a:p>
        </p:txBody>
      </p:sp>
      <p:cxnSp>
        <p:nvCxnSpPr>
          <p:cNvPr id="9" name="Connector 8"/>
          <p:cNvCxnSpPr/>
          <p:nvPr/>
        </p:nvCxnSpPr>
        <p:spPr>
          <a:xfrm>
            <a:off x="4728362" y="2656470"/>
            <a:ext cx="182880" cy="41166"/>
          </a:xfrm>
          <a:prstGeom prst="line">
            <a:avLst/>
          </a:prstGeom>
          <a:ln w="9525">
            <a:solidFill>
              <a:srgbClr val="3C8DB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947818" y="2619912"/>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3C8DBC"/>
                </a:solidFill>
                <a:latin typeface="Garamond"/>
              </a:rPr>
              <a:t>4.8x</a:t>
            </a:r>
          </a:p>
        </p:txBody>
      </p:sp>
      <p:cxnSp>
        <p:nvCxnSpPr>
          <p:cNvPr id="11" name="Connector 10"/>
          <p:cNvCxnSpPr/>
          <p:nvPr/>
        </p:nvCxnSpPr>
        <p:spPr>
          <a:xfrm>
            <a:off x="4728362" y="3026127"/>
            <a:ext cx="182880" cy="0"/>
          </a:xfrm>
          <a:prstGeom prst="line">
            <a:avLst/>
          </a:prstGeom>
          <a:ln w="9525">
            <a:solidFill>
              <a:srgbClr val="011C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47818" y="2948403"/>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011C40"/>
                </a:solidFill>
                <a:latin typeface="Garamond"/>
              </a:rPr>
              <a:t>4.0x</a:t>
            </a:r>
          </a:p>
        </p:txBody>
      </p:sp>
      <p:cxnSp>
        <p:nvCxnSpPr>
          <p:cNvPr id="13" name="Connector 12"/>
          <p:cNvCxnSpPr/>
          <p:nvPr/>
        </p:nvCxnSpPr>
        <p:spPr>
          <a:xfrm>
            <a:off x="4728362" y="4234186"/>
            <a:ext cx="182880" cy="0"/>
          </a:xfrm>
          <a:prstGeom prst="line">
            <a:avLst/>
          </a:prstGeom>
          <a:ln w="9525">
            <a:solidFill>
              <a:srgbClr val="6A4C9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947818" y="4156462"/>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6A4C93"/>
                </a:solidFill>
                <a:latin typeface="Garamond"/>
              </a:rPr>
              <a:t>1.8x</a:t>
            </a:r>
          </a:p>
        </p:txBody>
      </p:sp>
      <p:cxnSp>
        <p:nvCxnSpPr>
          <p:cNvPr id="15" name="Connector 14"/>
          <p:cNvCxnSpPr/>
          <p:nvPr/>
        </p:nvCxnSpPr>
        <p:spPr>
          <a:xfrm>
            <a:off x="4728362" y="4664020"/>
            <a:ext cx="182880" cy="0"/>
          </a:xfrm>
          <a:prstGeom prst="line">
            <a:avLst/>
          </a:prstGeom>
          <a:ln w="9525">
            <a:solidFill>
              <a:srgbClr val="5A617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47818" y="4586296"/>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5A6172"/>
                </a:solidFill>
                <a:latin typeface="Garamond"/>
              </a:rPr>
              <a:t>1.0x</a:t>
            </a:r>
          </a:p>
        </p:txBody>
      </p:sp>
      <p:cxnSp>
        <p:nvCxnSpPr>
          <p:cNvPr id="17" name="Connector 16"/>
          <p:cNvCxnSpPr/>
          <p:nvPr/>
        </p:nvCxnSpPr>
        <p:spPr>
          <a:xfrm>
            <a:off x="4728362" y="5238639"/>
            <a:ext cx="182880" cy="0"/>
          </a:xfrm>
          <a:prstGeom prst="line">
            <a:avLst/>
          </a:prstGeom>
          <a:ln w="9525">
            <a:solidFill>
              <a:srgbClr val="B3332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947818" y="5160915"/>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B3332E"/>
                </a:solidFill>
                <a:latin typeface="Garamond"/>
              </a:rPr>
              <a:t>0x</a:t>
            </a:r>
          </a:p>
        </p:txBody>
      </p:sp>
      <p:cxnSp>
        <p:nvCxnSpPr>
          <p:cNvPr id="19" name="Connector 18"/>
          <p:cNvCxnSpPr/>
          <p:nvPr/>
        </p:nvCxnSpPr>
        <p:spPr>
          <a:xfrm>
            <a:off x="4728362" y="5433196"/>
            <a:ext cx="182880" cy="0"/>
          </a:xfrm>
          <a:prstGeom prst="line">
            <a:avLst/>
          </a:prstGeom>
          <a:ln w="9525">
            <a:solidFill>
              <a:srgbClr val="B3332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47818" y="5355472"/>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B3332E"/>
                </a:solidFill>
                <a:latin typeface="Garamond"/>
              </a:rPr>
              <a:t>0x</a:t>
            </a:r>
          </a:p>
        </p:txBody>
      </p:sp>
      <p:sp>
        <p:nvSpPr>
          <p:cNvPr id="21" name="TextBox 20"/>
          <p:cNvSpPr txBox="1"/>
          <p:nvPr/>
        </p:nvSpPr>
        <p:spPr>
          <a:xfrm>
            <a:off x="6419088" y="2084988"/>
            <a:ext cx="658368" cy="201168"/>
          </a:xfrm>
          <a:prstGeom prst="rect">
            <a:avLst/>
          </a:prstGeom>
          <a:noFill/>
        </p:spPr>
        <p:txBody>
          <a:bodyPr wrap="square" lIns="0" tIns="0" rIns="0" bIns="0" anchor="t">
            <a:spAutoFit/>
          </a:bodyPr>
          <a:lstStyle/>
          <a:p>
            <a:pPr algn="r">
              <a:lnSpc>
                <a:spcPct val="100000"/>
              </a:lnSpc>
              <a:spcAft>
                <a:spcPts val="0"/>
              </a:spcAft>
            </a:pPr>
            <a:r>
              <a:rPr sz="950" b="1" i="0" u="none">
                <a:solidFill>
                  <a:srgbClr val="011C40"/>
                </a:solidFill>
                <a:latin typeface="Garamond"/>
              </a:rPr>
              <a:t>Spread</a:t>
            </a:r>
          </a:p>
        </p:txBody>
      </p:sp>
      <p:sp>
        <p:nvSpPr>
          <p:cNvPr id="22" name="TextBox 21"/>
          <p:cNvSpPr txBox="1"/>
          <p:nvPr/>
        </p:nvSpPr>
        <p:spPr>
          <a:xfrm>
            <a:off x="7132320" y="2084988"/>
            <a:ext cx="621792" cy="201168"/>
          </a:xfrm>
          <a:prstGeom prst="rect">
            <a:avLst/>
          </a:prstGeom>
          <a:noFill/>
        </p:spPr>
        <p:txBody>
          <a:bodyPr wrap="square" lIns="0" tIns="0" rIns="0" bIns="0" anchor="t">
            <a:spAutoFit/>
          </a:bodyPr>
          <a:lstStyle/>
          <a:p>
            <a:pPr algn="r">
              <a:lnSpc>
                <a:spcPct val="100000"/>
              </a:lnSpc>
              <a:spcAft>
                <a:spcPts val="0"/>
              </a:spcAft>
            </a:pPr>
            <a:r>
              <a:rPr sz="950" b="1" i="0" u="none">
                <a:solidFill>
                  <a:srgbClr val="011C40"/>
                </a:solidFill>
                <a:latin typeface="Garamond"/>
              </a:rPr>
              <a:t>IRR</a:t>
            </a:r>
          </a:p>
        </p:txBody>
      </p:sp>
      <p:sp>
        <p:nvSpPr>
          <p:cNvPr id="23" name="TextBox 22"/>
          <p:cNvSpPr txBox="1"/>
          <p:nvPr/>
        </p:nvSpPr>
        <p:spPr>
          <a:xfrm>
            <a:off x="7808975" y="2084988"/>
            <a:ext cx="3813048" cy="201168"/>
          </a:xfrm>
          <a:prstGeom prst="rect">
            <a:avLst/>
          </a:prstGeom>
          <a:noFill/>
        </p:spPr>
        <p:txBody>
          <a:bodyPr wrap="square" lIns="0" tIns="0" rIns="0" bIns="0" anchor="t">
            <a:spAutoFit/>
          </a:bodyPr>
          <a:lstStyle/>
          <a:p>
            <a:pPr algn="l">
              <a:lnSpc>
                <a:spcPct val="100000"/>
              </a:lnSpc>
              <a:spcAft>
                <a:spcPts val="0"/>
              </a:spcAft>
            </a:pPr>
            <a:r>
              <a:rPr sz="950" b="1" i="0" u="none">
                <a:solidFill>
                  <a:srgbClr val="011C40"/>
                </a:solidFill>
                <a:latin typeface="Garamond"/>
              </a:rPr>
              <a:t>Scenario: 1-year spread at expiry</a:t>
            </a:r>
          </a:p>
        </p:txBody>
      </p:sp>
      <p:cxnSp>
        <p:nvCxnSpPr>
          <p:cNvPr id="24" name="Connector 23"/>
          <p:cNvCxnSpPr/>
          <p:nvPr/>
        </p:nvCxnSpPr>
        <p:spPr>
          <a:xfrm>
            <a:off x="6144768" y="2322732"/>
            <a:ext cx="5477256" cy="0"/>
          </a:xfrm>
          <a:prstGeom prst="line">
            <a:avLst/>
          </a:prstGeom>
          <a:ln w="12700">
            <a:solidFill>
              <a:srgbClr val="011C4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217920" y="2450748"/>
            <a:ext cx="118872" cy="118872"/>
          </a:xfrm>
          <a:prstGeom prst="ellipse">
            <a:avLst/>
          </a:prstGeom>
          <a:solidFill>
            <a:srgbClr val="2C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19088" y="2414172"/>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28bp</a:t>
            </a:r>
          </a:p>
        </p:txBody>
      </p:sp>
      <p:sp>
        <p:nvSpPr>
          <p:cNvPr id="27" name="TextBox 26"/>
          <p:cNvSpPr txBox="1"/>
          <p:nvPr/>
        </p:nvSpPr>
        <p:spPr>
          <a:xfrm>
            <a:off x="7132320" y="2414172"/>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44.0%</a:t>
            </a:r>
          </a:p>
        </p:txBody>
      </p:sp>
      <p:sp>
        <p:nvSpPr>
          <p:cNvPr id="28" name="TextBox 27"/>
          <p:cNvSpPr txBox="1"/>
          <p:nvPr/>
        </p:nvSpPr>
        <p:spPr>
          <a:xfrm>
            <a:off x="7808975" y="2414172"/>
            <a:ext cx="3813048" cy="182880"/>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Median since 2010</a:t>
            </a:r>
          </a:p>
        </p:txBody>
      </p:sp>
      <p:sp>
        <p:nvSpPr>
          <p:cNvPr id="29" name="Oval 28"/>
          <p:cNvSpPr/>
          <p:nvPr/>
        </p:nvSpPr>
        <p:spPr>
          <a:xfrm>
            <a:off x="6217920" y="2697636"/>
            <a:ext cx="118872" cy="118872"/>
          </a:xfrm>
          <a:prstGeom prst="ellipse">
            <a:avLst/>
          </a:prstGeom>
          <a:solidFill>
            <a:srgbClr val="3C8D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2661060"/>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−1.3bp</a:t>
            </a:r>
          </a:p>
        </p:txBody>
      </p:sp>
      <p:sp>
        <p:nvSpPr>
          <p:cNvPr id="31" name="TextBox 30"/>
          <p:cNvSpPr txBox="1"/>
          <p:nvPr/>
        </p:nvSpPr>
        <p:spPr>
          <a:xfrm>
            <a:off x="7132320" y="2661060"/>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42.3%</a:t>
            </a:r>
          </a:p>
        </p:txBody>
      </p:sp>
      <p:sp>
        <p:nvSpPr>
          <p:cNvPr id="32" name="TextBox 31"/>
          <p:cNvSpPr txBox="1"/>
          <p:nvPr/>
        </p:nvSpPr>
        <p:spPr>
          <a:xfrm>
            <a:off x="7808975" y="2661060"/>
            <a:ext cx="3813048" cy="182880"/>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Roll to spot: curve unchanged (6bp above the 1-year low since 2010)</a:t>
            </a:r>
          </a:p>
        </p:txBody>
      </p:sp>
      <p:sp>
        <p:nvSpPr>
          <p:cNvPr id="33" name="Oval 32"/>
          <p:cNvSpPr/>
          <p:nvPr/>
        </p:nvSpPr>
        <p:spPr>
          <a:xfrm>
            <a:off x="6217920" y="2952975"/>
            <a:ext cx="118872" cy="118872"/>
          </a:xfrm>
          <a:prstGeom prst="ellipse">
            <a:avLst/>
          </a:prstGeom>
          <a:solidFill>
            <a:srgbClr val="011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19088" y="2916399"/>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−83bp</a:t>
            </a:r>
          </a:p>
        </p:txBody>
      </p:sp>
      <p:sp>
        <p:nvSpPr>
          <p:cNvPr id="35" name="TextBox 34"/>
          <p:cNvSpPr txBox="1"/>
          <p:nvPr/>
        </p:nvSpPr>
        <p:spPr>
          <a:xfrm>
            <a:off x="7132320" y="2916399"/>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37.2%</a:t>
            </a:r>
          </a:p>
        </p:txBody>
      </p:sp>
      <p:sp>
        <p:nvSpPr>
          <p:cNvPr id="36" name="TextBox 35"/>
          <p:cNvSpPr txBox="1"/>
          <p:nvPr/>
        </p:nvSpPr>
        <p:spPr>
          <a:xfrm>
            <a:off x="7808975" y="2916399"/>
            <a:ext cx="3813048" cy="294386"/>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No roll: the bond's spread unchanged (the 5-year point's cheapest since 2010)</a:t>
            </a:r>
          </a:p>
        </p:txBody>
      </p:sp>
      <p:sp>
        <p:nvSpPr>
          <p:cNvPr id="37" name="Oval 36"/>
          <p:cNvSpPr/>
          <p:nvPr/>
        </p:nvSpPr>
        <p:spPr>
          <a:xfrm>
            <a:off x="6217920" y="4161034"/>
            <a:ext cx="118872" cy="118872"/>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19088" y="4124458"/>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−350bp</a:t>
            </a:r>
          </a:p>
        </p:txBody>
      </p:sp>
      <p:sp>
        <p:nvSpPr>
          <p:cNvPr id="39" name="TextBox 38"/>
          <p:cNvSpPr txBox="1"/>
          <p:nvPr/>
        </p:nvSpPr>
        <p:spPr>
          <a:xfrm>
            <a:off x="7132320" y="4124458"/>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14.5%</a:t>
            </a:r>
          </a:p>
        </p:txBody>
      </p:sp>
      <p:sp>
        <p:nvSpPr>
          <p:cNvPr id="40" name="TextBox 39"/>
          <p:cNvSpPr txBox="1"/>
          <p:nvPr/>
        </p:nvSpPr>
        <p:spPr>
          <a:xfrm>
            <a:off x="7808975" y="4124458"/>
            <a:ext cx="3813048" cy="182880"/>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Italy's 2011 crisis level: below this for only 28 trading days</a:t>
            </a:r>
          </a:p>
        </p:txBody>
      </p:sp>
      <p:sp>
        <p:nvSpPr>
          <p:cNvPr id="41" name="Oval 40"/>
          <p:cNvSpPr/>
          <p:nvPr/>
        </p:nvSpPr>
        <p:spPr>
          <a:xfrm>
            <a:off x="6217920" y="4590868"/>
            <a:ext cx="118872" cy="118872"/>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19088" y="4554292"/>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−445bp</a:t>
            </a:r>
          </a:p>
        </p:txBody>
      </p:sp>
      <p:sp>
        <p:nvSpPr>
          <p:cNvPr id="43" name="TextBox 42"/>
          <p:cNvSpPr txBox="1"/>
          <p:nvPr/>
        </p:nvSpPr>
        <p:spPr>
          <a:xfrm>
            <a:off x="7132320" y="4554292"/>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0.0%</a:t>
            </a:r>
          </a:p>
        </p:txBody>
      </p:sp>
      <p:sp>
        <p:nvSpPr>
          <p:cNvPr id="44" name="TextBox 43"/>
          <p:cNvSpPr txBox="1"/>
          <p:nvPr/>
        </p:nvSpPr>
        <p:spPr>
          <a:xfrm>
            <a:off x="7808975" y="4554292"/>
            <a:ext cx="3813048" cy="182880"/>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Investment break-even</a:t>
            </a:r>
          </a:p>
        </p:txBody>
      </p:sp>
      <p:sp>
        <p:nvSpPr>
          <p:cNvPr id="45" name="Oval 44"/>
          <p:cNvSpPr/>
          <p:nvPr/>
        </p:nvSpPr>
        <p:spPr>
          <a:xfrm>
            <a:off x="6217920" y="5165487"/>
            <a:ext cx="118872" cy="118872"/>
          </a:xfrm>
          <a:prstGeom prst="ellipse">
            <a:avLst/>
          </a:prstGeom>
          <a:solidFill>
            <a:srgbClr val="B3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19088" y="5128911"/>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−572bp</a:t>
            </a:r>
          </a:p>
        </p:txBody>
      </p:sp>
      <p:sp>
        <p:nvSpPr>
          <p:cNvPr id="47" name="TextBox 46"/>
          <p:cNvSpPr txBox="1"/>
          <p:nvPr/>
        </p:nvSpPr>
        <p:spPr>
          <a:xfrm>
            <a:off x="7132320" y="5128911"/>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total loss</a:t>
            </a:r>
          </a:p>
        </p:txBody>
      </p:sp>
      <p:sp>
        <p:nvSpPr>
          <p:cNvPr id="48" name="TextBox 47"/>
          <p:cNvSpPr txBox="1"/>
          <p:nvPr/>
        </p:nvSpPr>
        <p:spPr>
          <a:xfrm>
            <a:off x="7808975" y="5128911"/>
            <a:ext cx="3813048" cy="182880"/>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Full impairment at expiry</a:t>
            </a:r>
          </a:p>
        </p:txBody>
      </p:sp>
      <p:sp>
        <p:nvSpPr>
          <p:cNvPr id="49" name="Oval 48"/>
          <p:cNvSpPr/>
          <p:nvPr/>
        </p:nvSpPr>
        <p:spPr>
          <a:xfrm>
            <a:off x="6217920" y="5412375"/>
            <a:ext cx="118872" cy="118872"/>
          </a:xfrm>
          <a:prstGeom prst="ellipse">
            <a:avLst/>
          </a:prstGeom>
          <a:solidFill>
            <a:srgbClr val="B3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19088" y="5375799"/>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−615bp</a:t>
            </a:r>
          </a:p>
        </p:txBody>
      </p:sp>
      <p:sp>
        <p:nvSpPr>
          <p:cNvPr id="51" name="TextBox 50"/>
          <p:cNvSpPr txBox="1"/>
          <p:nvPr/>
        </p:nvSpPr>
        <p:spPr>
          <a:xfrm>
            <a:off x="7132320" y="5375799"/>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total loss</a:t>
            </a:r>
          </a:p>
        </p:txBody>
      </p:sp>
      <p:sp>
        <p:nvSpPr>
          <p:cNvPr id="52" name="TextBox 51"/>
          <p:cNvSpPr txBox="1"/>
          <p:nvPr/>
        </p:nvSpPr>
        <p:spPr>
          <a:xfrm>
            <a:off x="7808975" y="5375799"/>
            <a:ext cx="3813048" cy="182880"/>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Italy's 1-year point at its euro-crisis low, 11/9/2011</a:t>
            </a:r>
          </a:p>
        </p:txBody>
      </p:sp>
      <p:sp>
        <p:nvSpPr>
          <p:cNvPr id="53" name="TextBox 52"/>
          <p:cNvSpPr txBox="1"/>
          <p:nvPr/>
        </p:nvSpPr>
        <p:spPr>
          <a:xfrm>
            <a:off x="2487168" y="6469654"/>
            <a:ext cx="7818120" cy="150601"/>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Please see the disclosures page regarding the hypothetical performance results listed above. Entry spread −82.9bp. Source: Bloomberg, Liminality calculations.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Risk: Italy and Spain during the euro crisis</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10</a:t>
            </a:r>
          </a:p>
        </p:txBody>
      </p:sp>
      <p:sp>
        <p:nvSpPr>
          <p:cNvPr id="5" name="TextBox 4"/>
          <p:cNvSpPr txBox="1"/>
          <p:nvPr/>
        </p:nvSpPr>
        <p:spPr>
          <a:xfrm>
            <a:off x="566928" y="1005840"/>
            <a:ext cx="11057839" cy="457200"/>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Our structure rolls into a 1-year swap spread at expiry</a:t>
            </a:r>
          </a:p>
        </p:txBody>
      </p:sp>
      <p:sp>
        <p:nvSpPr>
          <p:cNvPr id="6" name="TextBox 5"/>
          <p:cNvSpPr txBox="1"/>
          <p:nvPr/>
        </p:nvSpPr>
        <p:spPr>
          <a:xfrm>
            <a:off x="566928" y="1755648"/>
            <a:ext cx="11057839" cy="274320"/>
          </a:xfrm>
          <a:prstGeom prst="rect">
            <a:avLst/>
          </a:prstGeom>
          <a:noFill/>
        </p:spPr>
        <p:txBody>
          <a:bodyPr wrap="square" lIns="0" tIns="0" rIns="0" bIns="0" anchor="t">
            <a:spAutoFit/>
          </a:bodyPr>
          <a:lstStyle/>
          <a:p>
            <a:pPr algn="ctr">
              <a:lnSpc>
                <a:spcPct val="95000"/>
              </a:lnSpc>
              <a:spcAft>
                <a:spcPts val="600"/>
              </a:spcAft>
            </a:pPr>
            <a:r>
              <a:rPr sz="1200" b="1" i="0" u="none">
                <a:solidFill>
                  <a:srgbClr val="011C40"/>
                </a:solidFill>
                <a:latin typeface="Garamond"/>
              </a:rPr>
              <a:t>1-year swap spreads versus 6m Euribor, weekly, 2010 to 2013</a:t>
            </a:r>
          </a:p>
        </p:txBody>
      </p:sp>
      <p:graphicFrame>
        <p:nvGraphicFramePr>
          <p:cNvPr id="7" name="Chart 6"/>
          <p:cNvGraphicFramePr>
            <a:graphicFrameLocks noGrp="1"/>
          </p:cNvGraphicFramePr>
          <p:nvPr/>
        </p:nvGraphicFramePr>
        <p:xfrm>
          <a:off x="1389888" y="2048256"/>
          <a:ext cx="9411919" cy="402336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2487168" y="6469654"/>
            <a:ext cx="7818120" cy="150601"/>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Italy's 1-year spread bottomed at −615bp on 11/9/2011. Source: Bloomberg, Liminality calculations.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Risks</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11</a:t>
            </a:r>
          </a:p>
        </p:txBody>
      </p:sp>
      <p:sp>
        <p:nvSpPr>
          <p:cNvPr id="5" name="Oval 4"/>
          <p:cNvSpPr/>
          <p:nvPr/>
        </p:nvSpPr>
        <p:spPr>
          <a:xfrm>
            <a:off x="566928" y="1912924"/>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47088"/>
            <a:ext cx="10874959" cy="238607"/>
          </a:xfrm>
          <a:prstGeom prst="rect">
            <a:avLst/>
          </a:prstGeom>
          <a:noFill/>
        </p:spPr>
        <p:txBody>
          <a:bodyPr wrap="square" lIns="0" tIns="0" rIns="0" bIns="0" anchor="t">
            <a:spAutoFit/>
          </a:bodyPr>
          <a:lstStyle/>
          <a:p>
            <a:pPr algn="l">
              <a:lnSpc>
                <a:spcPct val="110000"/>
              </a:lnSpc>
              <a:spcAft>
                <a:spcPts val="0"/>
              </a:spcAft>
            </a:pPr>
            <a:r>
              <a:rPr sz="1400" b="1" i="0" u="none">
                <a:solidFill>
                  <a:srgbClr val="011C40"/>
                </a:solidFill>
                <a:latin typeface="Garamond"/>
              </a:rPr>
              <a:t>Near-term mark to market</a:t>
            </a:r>
          </a:p>
        </p:txBody>
      </p:sp>
      <p:sp>
        <p:nvSpPr>
          <p:cNvPr id="7" name="Oval 6"/>
          <p:cNvSpPr/>
          <p:nvPr/>
        </p:nvSpPr>
        <p:spPr>
          <a:xfrm>
            <a:off x="566928" y="2329332"/>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263495"/>
            <a:ext cx="10874959" cy="238607"/>
          </a:xfrm>
          <a:prstGeom prst="rect">
            <a:avLst/>
          </a:prstGeom>
          <a:noFill/>
        </p:spPr>
        <p:txBody>
          <a:bodyPr wrap="square" lIns="0" tIns="0" rIns="0" bIns="0" anchor="t">
            <a:spAutoFit/>
          </a:bodyPr>
          <a:lstStyle/>
          <a:p>
            <a:pPr algn="l">
              <a:lnSpc>
                <a:spcPct val="110000"/>
              </a:lnSpc>
              <a:spcAft>
                <a:spcPts val="0"/>
              </a:spcAft>
            </a:pPr>
            <a:r>
              <a:rPr sz="1400" b="1" i="0" u="none">
                <a:solidFill>
                  <a:srgbClr val="011C40"/>
                </a:solidFill>
                <a:latin typeface="Garamond"/>
              </a:rPr>
              <a:t>At expiry: a dislocation to Italy's 2011 levels on 2/25/2031</a:t>
            </a:r>
          </a:p>
        </p:txBody>
      </p:sp>
      <p:sp>
        <p:nvSpPr>
          <p:cNvPr id="9" name="Oval 8"/>
          <p:cNvSpPr/>
          <p:nvPr/>
        </p:nvSpPr>
        <p:spPr>
          <a:xfrm>
            <a:off x="566928" y="274574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2679903"/>
            <a:ext cx="10874959" cy="238607"/>
          </a:xfrm>
          <a:prstGeom prst="rect">
            <a:avLst/>
          </a:prstGeom>
          <a:noFill/>
        </p:spPr>
        <p:txBody>
          <a:bodyPr wrap="square" lIns="0" tIns="0" rIns="0" bIns="0" anchor="t">
            <a:spAutoFit/>
          </a:bodyPr>
          <a:lstStyle/>
          <a:p>
            <a:pPr algn="l">
              <a:lnSpc>
                <a:spcPct val="110000"/>
              </a:lnSpc>
              <a:spcAft>
                <a:spcPts val="0"/>
              </a:spcAft>
            </a:pPr>
            <a:r>
              <a:rPr sz="1400" b="1" i="0" u="none">
                <a:solidFill>
                  <a:srgbClr val="011C40"/>
                </a:solidFill>
                <a:latin typeface="Garamond"/>
              </a:rPr>
              <a:t>Before expiry: a crisis that leads to exit from the euro, or default</a:t>
            </a:r>
          </a:p>
        </p:txBody>
      </p:sp>
      <p:sp>
        <p:nvSpPr>
          <p:cNvPr id="11" name="Rounded Rectangle 10"/>
          <p:cNvSpPr/>
          <p:nvPr/>
        </p:nvSpPr>
        <p:spPr>
          <a:xfrm>
            <a:off x="566928" y="3370630"/>
            <a:ext cx="11057839" cy="762086"/>
          </a:xfrm>
          <a:prstGeom prst="roundRect">
            <a:avLst>
              <a:gd name="adj" fmla="val 4000"/>
            </a:avLst>
          </a:prstGeom>
          <a:solidFill>
            <a:srgbClr val="FFF4C2"/>
          </a:solidFill>
          <a:ln w="9525">
            <a:solidFill>
              <a:srgbClr val="7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3553510"/>
            <a:ext cx="10692079" cy="396326"/>
          </a:xfrm>
          <a:prstGeom prst="rect">
            <a:avLst/>
          </a:prstGeom>
          <a:noFill/>
        </p:spPr>
        <p:txBody>
          <a:bodyPr wrap="square" lIns="0" tIns="0" rIns="0" bIns="0" anchor="t">
            <a:spAutoFit/>
          </a:bodyPr>
          <a:lstStyle/>
          <a:p>
            <a:pPr algn="l">
              <a:lnSpc>
                <a:spcPct val="114000"/>
              </a:lnSpc>
              <a:spcAft>
                <a:spcPts val="200"/>
              </a:spcAft>
            </a:pPr>
            <a:r>
              <a:rPr sz="1050" b="1" i="0" u="none">
                <a:solidFill>
                  <a:srgbClr val="011C40"/>
                </a:solidFill>
                <a:latin typeface="Garamond"/>
              </a:rPr>
              <a:t>INTERNAL NOTE - delete before circulation</a:t>
            </a:r>
          </a:p>
          <a:p>
            <a:pPr algn="l">
              <a:lnSpc>
                <a:spcPct val="114000"/>
              </a:lnSpc>
              <a:spcAft>
                <a:spcPts val="0"/>
              </a:spcAft>
            </a:pPr>
            <a:r>
              <a:rPr sz="1050" b="0" i="0" u="none">
                <a:solidFill>
                  <a:srgbClr val="5A6172"/>
                </a:solidFill>
                <a:latin typeface="Garamond"/>
              </a:rPr>
              <a:t>Text to add (Charlie, 10/7/2026).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Why we don't think France will exit the EUR or default</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12</a:t>
            </a:r>
          </a:p>
        </p:txBody>
      </p:sp>
      <p:sp>
        <p:nvSpPr>
          <p:cNvPr id="5" name="Oval 4"/>
          <p:cNvSpPr/>
          <p:nvPr/>
        </p:nvSpPr>
        <p:spPr>
          <a:xfrm>
            <a:off x="566928" y="1848916"/>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783080"/>
            <a:ext cx="5074920" cy="467299"/>
          </a:xfrm>
          <a:prstGeom prst="rect">
            <a:avLst/>
          </a:prstGeom>
          <a:noFill/>
        </p:spPr>
        <p:txBody>
          <a:bodyPr wrap="square" lIns="0" tIns="0" rIns="0" bIns="0" anchor="t">
            <a:spAutoFit/>
          </a:bodyPr>
          <a:lstStyle/>
          <a:p>
            <a:pPr algn="l">
              <a:lnSpc>
                <a:spcPct val="116000"/>
              </a:lnSpc>
              <a:spcAft>
                <a:spcPts val="0"/>
              </a:spcAft>
            </a:pPr>
            <a:r>
              <a:rPr sz="1300" b="0" i="0" u="none">
                <a:solidFill>
                  <a:srgbClr val="011C40"/>
                </a:solidFill>
                <a:latin typeface="Garamond"/>
              </a:rPr>
              <a:t>France’s fiscal problems, while ugly and likely to get uglier in the near term, are not unsolvable. They are due only to a failure of political will thus far.</a:t>
            </a:r>
          </a:p>
        </p:txBody>
      </p:sp>
      <p:sp>
        <p:nvSpPr>
          <p:cNvPr id="7" name="Oval 6"/>
          <p:cNvSpPr/>
          <p:nvPr/>
        </p:nvSpPr>
        <p:spPr>
          <a:xfrm>
            <a:off x="566928" y="2455915"/>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390079"/>
            <a:ext cx="5074920" cy="700948"/>
          </a:xfrm>
          <a:prstGeom prst="rect">
            <a:avLst/>
          </a:prstGeom>
          <a:noFill/>
        </p:spPr>
        <p:txBody>
          <a:bodyPr wrap="square" lIns="0" tIns="0" rIns="0" bIns="0" anchor="t">
            <a:spAutoFit/>
          </a:bodyPr>
          <a:lstStyle/>
          <a:p>
            <a:pPr algn="l">
              <a:lnSpc>
                <a:spcPct val="116000"/>
              </a:lnSpc>
              <a:spcAft>
                <a:spcPts val="0"/>
              </a:spcAft>
            </a:pPr>
            <a:r>
              <a:rPr sz="1300" b="0" i="0" u="none">
                <a:solidFill>
                  <a:srgbClr val="011C40"/>
                </a:solidFill>
                <a:latin typeface="Garamond"/>
              </a:rPr>
              <a:t>When the consequences of their reckless fiscal policy become acute – and sufficiently onerous – the politics will change. When faced with the choice of “death or disease”, they will choose disease.</a:t>
            </a:r>
          </a:p>
        </p:txBody>
      </p:sp>
      <p:sp>
        <p:nvSpPr>
          <p:cNvPr id="9" name="Oval 8"/>
          <p:cNvSpPr/>
          <p:nvPr/>
        </p:nvSpPr>
        <p:spPr>
          <a:xfrm>
            <a:off x="566928" y="3296564"/>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3230727"/>
            <a:ext cx="5074920" cy="233649"/>
          </a:xfrm>
          <a:prstGeom prst="rect">
            <a:avLst/>
          </a:prstGeom>
          <a:noFill/>
        </p:spPr>
        <p:txBody>
          <a:bodyPr wrap="square" lIns="0" tIns="0" rIns="0" bIns="0" anchor="t">
            <a:spAutoFit/>
          </a:bodyPr>
          <a:lstStyle/>
          <a:p>
            <a:pPr algn="l">
              <a:lnSpc>
                <a:spcPct val="116000"/>
              </a:lnSpc>
              <a:spcAft>
                <a:spcPts val="0"/>
              </a:spcAft>
            </a:pPr>
            <a:r>
              <a:rPr sz="1300" b="0" i="0" u="none">
                <a:solidFill>
                  <a:srgbClr val="011C40"/>
                </a:solidFill>
                <a:latin typeface="Garamond"/>
              </a:rPr>
              <a:t>What are the consequences they will be faced with?</a:t>
            </a:r>
          </a:p>
        </p:txBody>
      </p:sp>
      <p:sp>
        <p:nvSpPr>
          <p:cNvPr id="11" name="Oval 10"/>
          <p:cNvSpPr/>
          <p:nvPr/>
        </p:nvSpPr>
        <p:spPr>
          <a:xfrm>
            <a:off x="886968" y="3651625"/>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9848" y="3585789"/>
            <a:ext cx="4754880" cy="459242"/>
          </a:xfrm>
          <a:prstGeom prst="rect">
            <a:avLst/>
          </a:prstGeom>
          <a:noFill/>
        </p:spPr>
        <p:txBody>
          <a:bodyPr wrap="square" lIns="0" tIns="0" rIns="0" bIns="0" anchor="t">
            <a:spAutoFit/>
          </a:bodyPr>
          <a:lstStyle/>
          <a:p>
            <a:pPr algn="l">
              <a:lnSpc>
                <a:spcPct val="114000"/>
              </a:lnSpc>
              <a:spcAft>
                <a:spcPts val="0"/>
              </a:spcAft>
            </a:pPr>
            <a:r>
              <a:rPr sz="1300" b="0" i="0" u="none">
                <a:solidFill>
                  <a:srgbClr val="011C40"/>
                </a:solidFill>
                <a:latin typeface="Garamond"/>
              </a:rPr>
              <a:t>A spike in interest rates beyond some threshold – the “Liz Truss moment”.</a:t>
            </a:r>
          </a:p>
        </p:txBody>
      </p:sp>
      <p:sp>
        <p:nvSpPr>
          <p:cNvPr id="13" name="Oval 12"/>
          <p:cNvSpPr/>
          <p:nvPr/>
        </p:nvSpPr>
        <p:spPr>
          <a:xfrm>
            <a:off x="886968" y="4199768"/>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9848" y="4133931"/>
            <a:ext cx="4754880" cy="229621"/>
          </a:xfrm>
          <a:prstGeom prst="rect">
            <a:avLst/>
          </a:prstGeom>
          <a:noFill/>
        </p:spPr>
        <p:txBody>
          <a:bodyPr wrap="square" lIns="0" tIns="0" rIns="0" bIns="0" anchor="t">
            <a:spAutoFit/>
          </a:bodyPr>
          <a:lstStyle/>
          <a:p>
            <a:pPr algn="l">
              <a:lnSpc>
                <a:spcPct val="114000"/>
              </a:lnSpc>
              <a:spcAft>
                <a:spcPts val="0"/>
              </a:spcAft>
            </a:pPr>
            <a:r>
              <a:rPr sz="1300" b="0" i="0" u="none">
                <a:solidFill>
                  <a:srgbClr val="011C40"/>
                </a:solidFill>
                <a:latin typeface="Garamond"/>
              </a:rPr>
              <a:t>The potential collapse of their banks.</a:t>
            </a:r>
          </a:p>
        </p:txBody>
      </p:sp>
      <p:sp>
        <p:nvSpPr>
          <p:cNvPr id="15" name="Oval 14"/>
          <p:cNvSpPr/>
          <p:nvPr/>
        </p:nvSpPr>
        <p:spPr>
          <a:xfrm>
            <a:off x="6236208" y="1848916"/>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19088" y="1783080"/>
            <a:ext cx="5205679" cy="467299"/>
          </a:xfrm>
          <a:prstGeom prst="rect">
            <a:avLst/>
          </a:prstGeom>
          <a:noFill/>
        </p:spPr>
        <p:txBody>
          <a:bodyPr wrap="square" lIns="0" tIns="0" rIns="0" bIns="0" anchor="t">
            <a:spAutoFit/>
          </a:bodyPr>
          <a:lstStyle/>
          <a:p>
            <a:pPr algn="l">
              <a:lnSpc>
                <a:spcPct val="116000"/>
              </a:lnSpc>
              <a:spcAft>
                <a:spcPts val="0"/>
              </a:spcAft>
            </a:pPr>
            <a:r>
              <a:rPr sz="1300" b="0" i="0" u="none">
                <a:solidFill>
                  <a:srgbClr val="011C40"/>
                </a:solidFill>
                <a:latin typeface="Garamond"/>
              </a:rPr>
              <a:t>In an acute crisis, and particularly if France agrees to make the necessary changes, we believe the ECB will step in to stabilize their debt markets.</a:t>
            </a:r>
          </a:p>
        </p:txBody>
      </p:sp>
      <p:sp>
        <p:nvSpPr>
          <p:cNvPr id="17" name="Oval 16"/>
          <p:cNvSpPr/>
          <p:nvPr/>
        </p:nvSpPr>
        <p:spPr>
          <a:xfrm>
            <a:off x="6556248" y="2437627"/>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39128" y="2371791"/>
            <a:ext cx="4885639" cy="667667"/>
          </a:xfrm>
          <a:prstGeom prst="rect">
            <a:avLst/>
          </a:prstGeom>
          <a:noFill/>
        </p:spPr>
        <p:txBody>
          <a:bodyPr wrap="square" lIns="0" tIns="0" rIns="0" bIns="0" anchor="t">
            <a:spAutoFit/>
          </a:bodyPr>
          <a:lstStyle/>
          <a:p>
            <a:pPr algn="l">
              <a:lnSpc>
                <a:spcPct val="114000"/>
              </a:lnSpc>
              <a:spcAft>
                <a:spcPts val="0"/>
              </a:spcAft>
            </a:pPr>
            <a:r>
              <a:rPr sz="1260" b="0" i="0" u="none">
                <a:solidFill>
                  <a:srgbClr val="011C40"/>
                </a:solidFill>
                <a:latin typeface="Garamond"/>
              </a:rPr>
              <a:t>Political integration in Europe fundamentally changed in 2012, when they effectively socialized their collective debt. And we believe trade and national security issues are dramatically more significant today.</a:t>
            </a:r>
          </a:p>
        </p:txBody>
      </p:sp>
      <p:sp>
        <p:nvSpPr>
          <p:cNvPr id="19" name="Oval 18"/>
          <p:cNvSpPr/>
          <p:nvPr/>
        </p:nvSpPr>
        <p:spPr>
          <a:xfrm>
            <a:off x="6556248" y="3232295"/>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39128" y="3166458"/>
            <a:ext cx="4885639" cy="445111"/>
          </a:xfrm>
          <a:prstGeom prst="rect">
            <a:avLst/>
          </a:prstGeom>
          <a:noFill/>
        </p:spPr>
        <p:txBody>
          <a:bodyPr wrap="square" lIns="0" tIns="0" rIns="0" bIns="0" anchor="t">
            <a:spAutoFit/>
          </a:bodyPr>
          <a:lstStyle/>
          <a:p>
            <a:pPr algn="l">
              <a:lnSpc>
                <a:spcPct val="114000"/>
              </a:lnSpc>
              <a:spcAft>
                <a:spcPts val="0"/>
              </a:spcAft>
            </a:pPr>
            <a:r>
              <a:rPr sz="1260" b="0" i="0" u="none">
                <a:solidFill>
                  <a:srgbClr val="011C40"/>
                </a:solidFill>
                <a:latin typeface="Garamond"/>
              </a:rPr>
              <a:t>France is too big to fail, with 19% of euro-area output. A French default would be the end of the EUR.</a:t>
            </a:r>
          </a:p>
        </p:txBody>
      </p:sp>
      <p:sp>
        <p:nvSpPr>
          <p:cNvPr id="21" name="Oval 20"/>
          <p:cNvSpPr/>
          <p:nvPr/>
        </p:nvSpPr>
        <p:spPr>
          <a:xfrm>
            <a:off x="6556248" y="3804406"/>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39128" y="3738570"/>
            <a:ext cx="4885639" cy="667667"/>
          </a:xfrm>
          <a:prstGeom prst="rect">
            <a:avLst/>
          </a:prstGeom>
          <a:noFill/>
        </p:spPr>
        <p:txBody>
          <a:bodyPr wrap="square" lIns="0" tIns="0" rIns="0" bIns="0" anchor="t">
            <a:spAutoFit/>
          </a:bodyPr>
          <a:lstStyle/>
          <a:p>
            <a:pPr algn="l">
              <a:lnSpc>
                <a:spcPct val="114000"/>
              </a:lnSpc>
              <a:spcAft>
                <a:spcPts val="0"/>
              </a:spcAft>
            </a:pPr>
            <a:r>
              <a:rPr sz="1260" b="0" i="0" u="none">
                <a:solidFill>
                  <a:srgbClr val="011C40"/>
                </a:solidFill>
                <a:latin typeface="Garamond"/>
              </a:rPr>
              <a:t>They already have the available tools, built and designed precisely for this purpose: the ESM, the ECB’s OMT and since 2022 the Transmission Protection Instrument.</a:t>
            </a:r>
          </a:p>
        </p:txBody>
      </p:sp>
      <p:sp>
        <p:nvSpPr>
          <p:cNvPr id="23" name="Oval 22"/>
          <p:cNvSpPr/>
          <p:nvPr/>
        </p:nvSpPr>
        <p:spPr>
          <a:xfrm>
            <a:off x="6556248" y="4599074"/>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39128" y="4533237"/>
            <a:ext cx="4885639" cy="667667"/>
          </a:xfrm>
          <a:prstGeom prst="rect">
            <a:avLst/>
          </a:prstGeom>
          <a:noFill/>
        </p:spPr>
        <p:txBody>
          <a:bodyPr wrap="square" lIns="0" tIns="0" rIns="0" bIns="0" anchor="t">
            <a:spAutoFit/>
          </a:bodyPr>
          <a:lstStyle/>
          <a:p>
            <a:pPr algn="l">
              <a:lnSpc>
                <a:spcPct val="114000"/>
              </a:lnSpc>
              <a:spcAft>
                <a:spcPts val="0"/>
              </a:spcAft>
            </a:pPr>
            <a:r>
              <a:rPr sz="1260" b="0" i="0" u="none">
                <a:solidFill>
                  <a:srgbClr val="011C40"/>
                </a:solidFill>
                <a:latin typeface="Garamond"/>
              </a:rPr>
              <a:t>Leaving the euro has no legal route short of leaving the EU, and no major party proposes it; the far right dropped the idea after 2017 because it lost votes.</a:t>
            </a:r>
          </a:p>
        </p:txBody>
      </p:sp>
      <p:sp>
        <p:nvSpPr>
          <p:cNvPr id="25" name="TextBox 24"/>
          <p:cNvSpPr txBox="1"/>
          <p:nvPr/>
        </p:nvSpPr>
        <p:spPr>
          <a:xfrm>
            <a:off x="2487168" y="6319052"/>
            <a:ext cx="7818120" cy="301203"/>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Output share: Eurostat nominal GDP 2025 via Bloomberg. ESM treaty in force 9/27/2012; OMT announced 9/6/2012; TPI 7/21/2022. Source: Eurostat, ECB, ESM, Liminality.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Appendix: the return as if the swap were on €STR</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13</a:t>
            </a:r>
          </a:p>
        </p:txBody>
      </p:sp>
      <p:sp>
        <p:nvSpPr>
          <p:cNvPr id="5" name="TextBox 4"/>
          <p:cNvSpPr txBox="1"/>
          <p:nvPr/>
        </p:nvSpPr>
        <p:spPr>
          <a:xfrm>
            <a:off x="566928" y="1005840"/>
            <a:ext cx="11057839" cy="457200"/>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The same three sources with the spread measured against €STR OIS, the financing rate; all per 100m of bond notional</a:t>
            </a:r>
          </a:p>
        </p:txBody>
      </p:sp>
      <p:sp>
        <p:nvSpPr>
          <p:cNvPr id="6" name="Rounded Rectangle 5"/>
          <p:cNvSpPr/>
          <p:nvPr/>
        </p:nvSpPr>
        <p:spPr>
          <a:xfrm>
            <a:off x="566928" y="1783080"/>
            <a:ext cx="3503066" cy="224028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1929384"/>
            <a:ext cx="3100730" cy="292608"/>
          </a:xfrm>
          <a:prstGeom prst="rect">
            <a:avLst/>
          </a:prstGeom>
          <a:noFill/>
        </p:spPr>
        <p:txBody>
          <a:bodyPr wrap="square" lIns="0" tIns="0" rIns="0" bIns="0" anchor="t">
            <a:spAutoFit/>
          </a:bodyPr>
          <a:lstStyle/>
          <a:p>
            <a:pPr algn="l">
              <a:lnSpc>
                <a:spcPct val="95000"/>
              </a:lnSpc>
              <a:spcAft>
                <a:spcPts val="600"/>
              </a:spcAft>
            </a:pPr>
            <a:r>
              <a:rPr sz="1300" b="1" i="0" u="none">
                <a:solidFill>
                  <a:srgbClr val="011C40"/>
                </a:solidFill>
                <a:latin typeface="Garamond"/>
              </a:rPr>
              <a:t>1  Carry on the spread</a:t>
            </a:r>
          </a:p>
        </p:txBody>
      </p:sp>
      <p:sp>
        <p:nvSpPr>
          <p:cNvPr id="8" name="TextBox 7"/>
          <p:cNvSpPr txBox="1"/>
          <p:nvPr/>
        </p:nvSpPr>
        <p:spPr>
          <a:xfrm>
            <a:off x="768096" y="2240279"/>
            <a:ext cx="3100730" cy="402336"/>
          </a:xfrm>
          <a:prstGeom prst="rect">
            <a:avLst/>
          </a:prstGeom>
          <a:noFill/>
        </p:spPr>
        <p:txBody>
          <a:bodyPr wrap="square" lIns="0" tIns="0" rIns="0" bIns="0" anchor="t">
            <a:spAutoFit/>
          </a:bodyPr>
          <a:lstStyle/>
          <a:p>
            <a:pPr algn="l">
              <a:lnSpc>
                <a:spcPct val="95000"/>
              </a:lnSpc>
              <a:spcAft>
                <a:spcPts val="600"/>
              </a:spcAft>
            </a:pPr>
            <a:r>
              <a:rPr sz="2000" b="1" i="0" u="none">
                <a:solidFill>
                  <a:srgbClr val="2C7A5A"/>
                </a:solidFill>
                <a:latin typeface="Garamond"/>
              </a:rPr>
              <a:t>115bp a year</a:t>
            </a:r>
          </a:p>
        </p:txBody>
      </p:sp>
      <p:sp>
        <p:nvSpPr>
          <p:cNvPr id="9" name="TextBox 8"/>
          <p:cNvSpPr txBox="1"/>
          <p:nvPr/>
        </p:nvSpPr>
        <p:spPr>
          <a:xfrm>
            <a:off x="768096" y="2679192"/>
            <a:ext cx="3100730" cy="1234440"/>
          </a:xfrm>
          <a:prstGeom prst="rect">
            <a:avLst/>
          </a:prstGeom>
          <a:noFill/>
        </p:spPr>
        <p:txBody>
          <a:bodyPr wrap="square" lIns="0" tIns="0" rIns="0" bIns="0" anchor="t">
            <a:spAutoFit/>
          </a:bodyPr>
          <a:lstStyle/>
          <a:p>
            <a:pPr algn="l">
              <a:lnSpc>
                <a:spcPct val="112000"/>
              </a:lnSpc>
              <a:spcAft>
                <a:spcPts val="600"/>
              </a:spcAft>
            </a:pPr>
            <a:r>
              <a:rPr sz="1040" b="0" i="0" u="none">
                <a:solidFill>
                  <a:srgbClr val="5A6172"/>
                </a:solidFill>
                <a:latin typeface="Garamond"/>
              </a:rPr>
              <a:t>Receive the bond yield, 4.33%. Pay the €STR swap rate of the same maturity, 3.17%. The spread versus €STR is −115bp: the Euribor spread of −83bp plus the 32bp Euribor / €STR basis.</a:t>
            </a:r>
          </a:p>
        </p:txBody>
      </p:sp>
      <p:sp>
        <p:nvSpPr>
          <p:cNvPr id="10" name="Rounded Rectangle 9"/>
          <p:cNvSpPr/>
          <p:nvPr/>
        </p:nvSpPr>
        <p:spPr>
          <a:xfrm>
            <a:off x="4344314" y="1783080"/>
            <a:ext cx="3503066" cy="2240280"/>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45482" y="1929384"/>
            <a:ext cx="3100730" cy="292608"/>
          </a:xfrm>
          <a:prstGeom prst="rect">
            <a:avLst/>
          </a:prstGeom>
          <a:noFill/>
        </p:spPr>
        <p:txBody>
          <a:bodyPr wrap="square" lIns="0" tIns="0" rIns="0" bIns="0" anchor="t">
            <a:spAutoFit/>
          </a:bodyPr>
          <a:lstStyle/>
          <a:p>
            <a:pPr algn="l">
              <a:lnSpc>
                <a:spcPct val="95000"/>
              </a:lnSpc>
              <a:spcAft>
                <a:spcPts val="600"/>
              </a:spcAft>
            </a:pPr>
            <a:r>
              <a:rPr sz="1300" b="1" i="0" u="none">
                <a:solidFill>
                  <a:srgbClr val="011C40"/>
                </a:solidFill>
                <a:latin typeface="Garamond"/>
              </a:rPr>
              <a:t>2  The floating legs</a:t>
            </a:r>
          </a:p>
        </p:txBody>
      </p:sp>
      <p:sp>
        <p:nvSpPr>
          <p:cNvPr id="12" name="TextBox 11"/>
          <p:cNvSpPr txBox="1"/>
          <p:nvPr/>
        </p:nvSpPr>
        <p:spPr>
          <a:xfrm>
            <a:off x="4545482" y="2240279"/>
            <a:ext cx="3100730" cy="292388"/>
          </a:xfrm>
          <a:prstGeom prst="rect">
            <a:avLst/>
          </a:prstGeom>
          <a:noFill/>
        </p:spPr>
        <p:txBody>
          <a:bodyPr wrap="square" lIns="0" tIns="0" rIns="0" bIns="0" anchor="t">
            <a:spAutoFit/>
          </a:bodyPr>
          <a:lstStyle/>
          <a:p>
            <a:pPr algn="l">
              <a:lnSpc>
                <a:spcPct val="95000"/>
              </a:lnSpc>
              <a:spcAft>
                <a:spcPts val="600"/>
              </a:spcAft>
            </a:pPr>
            <a:r>
              <a:rPr lang="en-US" sz="2000" b="1" i="0" u="none" dirty="0">
                <a:solidFill>
                  <a:srgbClr val="C9922E"/>
                </a:solidFill>
                <a:latin typeface="Garamond"/>
              </a:rPr>
              <a:t>C</a:t>
            </a:r>
            <a:r>
              <a:rPr sz="2000" b="1" i="0" u="none" dirty="0">
                <a:solidFill>
                  <a:srgbClr val="C9922E"/>
                </a:solidFill>
                <a:latin typeface="Garamond"/>
              </a:rPr>
              <a:t>ancel</a:t>
            </a:r>
            <a:r>
              <a:rPr lang="en-US" sz="2000" b="1" i="0" u="none" dirty="0">
                <a:solidFill>
                  <a:srgbClr val="C9922E"/>
                </a:solidFill>
                <a:latin typeface="Garamond"/>
              </a:rPr>
              <a:t> out</a:t>
            </a:r>
            <a:r>
              <a:rPr sz="2000" b="1" i="0" u="none" dirty="0">
                <a:solidFill>
                  <a:srgbClr val="C9922E"/>
                </a:solidFill>
                <a:latin typeface="Garamond"/>
              </a:rPr>
              <a:t>, less 17bp</a:t>
            </a:r>
          </a:p>
        </p:txBody>
      </p:sp>
      <p:sp>
        <p:nvSpPr>
          <p:cNvPr id="13" name="TextBox 12"/>
          <p:cNvSpPr txBox="1"/>
          <p:nvPr/>
        </p:nvSpPr>
        <p:spPr>
          <a:xfrm>
            <a:off x="4545482" y="2679192"/>
            <a:ext cx="3100730" cy="1234440"/>
          </a:xfrm>
          <a:prstGeom prst="rect">
            <a:avLst/>
          </a:prstGeom>
          <a:noFill/>
        </p:spPr>
        <p:txBody>
          <a:bodyPr wrap="square" lIns="0" tIns="0" rIns="0" bIns="0" anchor="t">
            <a:spAutoFit/>
          </a:bodyPr>
          <a:lstStyle/>
          <a:p>
            <a:pPr algn="l">
              <a:lnSpc>
                <a:spcPct val="112000"/>
              </a:lnSpc>
              <a:spcAft>
                <a:spcPts val="600"/>
              </a:spcAft>
            </a:pPr>
            <a:r>
              <a:rPr sz="1040" b="0" i="0" u="none">
                <a:solidFill>
                  <a:srgbClr val="5A6172"/>
                </a:solidFill>
                <a:latin typeface="Garamond"/>
              </a:rPr>
              <a:t>The €STR swap pays us €STR; the financing charges us €STR + 17bp. The two floating rates cancel, as SOFR does in the US version, and the funding spread is all that is left: 115bp − 17bp = 98bp a year of net carry.</a:t>
            </a:r>
          </a:p>
        </p:txBody>
      </p:sp>
      <p:sp>
        <p:nvSpPr>
          <p:cNvPr id="14" name="Rounded Rectangle 13"/>
          <p:cNvSpPr/>
          <p:nvPr/>
        </p:nvSpPr>
        <p:spPr>
          <a:xfrm>
            <a:off x="8121700" y="1783080"/>
            <a:ext cx="3503066" cy="224028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2868" y="1929384"/>
            <a:ext cx="3100730" cy="292608"/>
          </a:xfrm>
          <a:prstGeom prst="rect">
            <a:avLst/>
          </a:prstGeom>
          <a:noFill/>
        </p:spPr>
        <p:txBody>
          <a:bodyPr wrap="square" lIns="0" tIns="0" rIns="0" bIns="0" anchor="t">
            <a:spAutoFit/>
          </a:bodyPr>
          <a:lstStyle/>
          <a:p>
            <a:pPr algn="l">
              <a:lnSpc>
                <a:spcPct val="95000"/>
              </a:lnSpc>
              <a:spcAft>
                <a:spcPts val="600"/>
              </a:spcAft>
            </a:pPr>
            <a:r>
              <a:rPr sz="1300" b="1" i="0" u="none">
                <a:solidFill>
                  <a:srgbClr val="011C40"/>
                </a:solidFill>
                <a:latin typeface="Garamond"/>
              </a:rPr>
              <a:t>3  Roll-down</a:t>
            </a:r>
          </a:p>
        </p:txBody>
      </p:sp>
      <p:sp>
        <p:nvSpPr>
          <p:cNvPr id="16" name="TextBox 15"/>
          <p:cNvSpPr txBox="1"/>
          <p:nvPr/>
        </p:nvSpPr>
        <p:spPr>
          <a:xfrm>
            <a:off x="8322868" y="2240279"/>
            <a:ext cx="3100730" cy="402336"/>
          </a:xfrm>
          <a:prstGeom prst="rect">
            <a:avLst/>
          </a:prstGeom>
          <a:noFill/>
        </p:spPr>
        <p:txBody>
          <a:bodyPr wrap="square" lIns="0" tIns="0" rIns="0" bIns="0" anchor="t">
            <a:spAutoFit/>
          </a:bodyPr>
          <a:lstStyle/>
          <a:p>
            <a:pPr algn="l">
              <a:lnSpc>
                <a:spcPct val="95000"/>
              </a:lnSpc>
              <a:spcAft>
                <a:spcPts val="600"/>
              </a:spcAft>
            </a:pPr>
            <a:r>
              <a:rPr sz="2000" b="1" i="0" u="none">
                <a:solidFill>
                  <a:srgbClr val="011C40"/>
                </a:solidFill>
                <a:latin typeface="Garamond"/>
              </a:rPr>
              <a:t>+73bp over the life</a:t>
            </a:r>
          </a:p>
        </p:txBody>
      </p:sp>
      <p:sp>
        <p:nvSpPr>
          <p:cNvPr id="17" name="TextBox 16"/>
          <p:cNvSpPr txBox="1"/>
          <p:nvPr/>
        </p:nvSpPr>
        <p:spPr>
          <a:xfrm>
            <a:off x="8322868" y="2679192"/>
            <a:ext cx="3100730" cy="1234440"/>
          </a:xfrm>
          <a:prstGeom prst="rect">
            <a:avLst/>
          </a:prstGeom>
          <a:noFill/>
        </p:spPr>
        <p:txBody>
          <a:bodyPr wrap="square" lIns="0" tIns="0" rIns="0" bIns="0" anchor="t">
            <a:spAutoFit/>
          </a:bodyPr>
          <a:lstStyle/>
          <a:p>
            <a:pPr algn="l">
              <a:lnSpc>
                <a:spcPct val="112000"/>
              </a:lnSpc>
              <a:spcAft>
                <a:spcPts val="600"/>
              </a:spcAft>
            </a:pPr>
            <a:r>
              <a:rPr sz="1040" b="0" i="0" u="none">
                <a:solidFill>
                  <a:srgbClr val="5A6172"/>
                </a:solidFill>
                <a:latin typeface="Garamond"/>
              </a:rPr>
              <a:t>On the €STR basis the 1-year point sits at −42bp today, so the roll from −115bp is 73bp, against 82bp on the Euribor basis. The 9bp gap is the slope of the basis curve, 41bp at 1 year against 32bp at 5 years, which the Euribor spread carries and the €STR spread does not. The model works on the Euribor spread.</a:t>
            </a:r>
          </a:p>
        </p:txBody>
      </p:sp>
      <p:sp>
        <p:nvSpPr>
          <p:cNvPr id="18" name="TextBox 17"/>
          <p:cNvSpPr txBox="1"/>
          <p:nvPr/>
        </p:nvSpPr>
        <p:spPr>
          <a:xfrm>
            <a:off x="566928" y="4187952"/>
            <a:ext cx="11057839" cy="238112"/>
          </a:xfrm>
          <a:prstGeom prst="rect">
            <a:avLst/>
          </a:prstGeom>
          <a:noFill/>
        </p:spPr>
        <p:txBody>
          <a:bodyPr wrap="square" lIns="0" tIns="0" rIns="0" bIns="0" anchor="t">
            <a:spAutoFit/>
          </a:bodyPr>
          <a:lstStyle/>
          <a:p>
            <a:pPr algn="l">
              <a:lnSpc>
                <a:spcPct val="95000"/>
              </a:lnSpc>
              <a:spcAft>
                <a:spcPts val="600"/>
              </a:spcAft>
            </a:pPr>
            <a:r>
              <a:rPr sz="1100" b="1" i="0" u="none">
                <a:solidFill>
                  <a:srgbClr val="011C40"/>
                </a:solidFill>
                <a:latin typeface="Garamond"/>
              </a:rPr>
              <a:t>France 5-year swap spread on both bases, weekly since 2010</a:t>
            </a:r>
          </a:p>
        </p:txBody>
      </p:sp>
      <p:graphicFrame>
        <p:nvGraphicFramePr>
          <p:cNvPr id="19" name="Chart 18"/>
          <p:cNvGraphicFramePr>
            <a:graphicFrameLocks noGrp="1"/>
          </p:cNvGraphicFramePr>
          <p:nvPr/>
        </p:nvGraphicFramePr>
        <p:xfrm>
          <a:off x="566928" y="4443984"/>
          <a:ext cx="11057839" cy="1645920"/>
        </p:xfrm>
        <a:graphic>
          <a:graphicData uri="http://schemas.openxmlformats.org/drawingml/2006/chart">
            <c:chart xmlns:c="http://schemas.openxmlformats.org/drawingml/2006/chart" xmlns:r="http://schemas.openxmlformats.org/officeDocument/2006/relationships" r:id="rId2"/>
          </a:graphicData>
        </a:graphic>
      </p:graphicFrame>
      <p:sp>
        <p:nvSpPr>
          <p:cNvPr id="20" name="TextBox 19"/>
          <p:cNvSpPr txBox="1"/>
          <p:nvPr/>
        </p:nvSpPr>
        <p:spPr>
          <a:xfrm>
            <a:off x="2487168" y="6319052"/>
            <a:ext cx="7818120" cy="301203"/>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Please see the disclosures page regarding the hypothetical performance results listed above. €STR OIS from Bloomberg EESWE, with EONIA less 8.5bp before October 2019, the ECB's recalibration. As of 10/2/2026. Source: Bloomberg, Liminality calculations.</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vidends_v2" id="{56D19956-A5E6-4E61-B296-8A0BAA4F67C7}" vid="{BBA9B4DC-5569-4260-A357-39FE9E7D175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E3B7708-103C-4AB3-BD83-0C3A963F1603}">
  <we:reference id="WA200010001" version="1.0.0.1" store="Omex" storeType="OMEX"/>
  <we:alternateReferences>
    <we:reference id="WA200010001" version="1.0.0.1" store="WA200010001" storeType="OMEX"/>
  </we:alternateReferences>
  <we:properties>
    <we:property name="claude.fileId" value="&quot;feb735f2-bf62-4664-b1d7-59656c52649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6C65B0F106080448CC440CD0B47B642" ma:contentTypeVersion="15" ma:contentTypeDescription="Create a new document." ma:contentTypeScope="" ma:versionID="23b60c0138c00645af4788556affe79e">
  <xsd:schema xmlns:xsd="http://www.w3.org/2001/XMLSchema" xmlns:xs="http://www.w3.org/2001/XMLSchema" xmlns:p="http://schemas.microsoft.com/office/2006/metadata/properties" xmlns:ns2="ee892943-9abb-4ecc-84c4-6c4ebc2a981f" xmlns:ns3="c0b1cd37-714f-4ee7-8d09-352e1c2211e5" targetNamespace="http://schemas.microsoft.com/office/2006/metadata/properties" ma:root="true" ma:fieldsID="c477f695ed6b55cbc0570e427ce9046c" ns2:_="" ns3:_="">
    <xsd:import namespace="ee892943-9abb-4ecc-84c4-6c4ebc2a981f"/>
    <xsd:import namespace="c0b1cd37-714f-4ee7-8d09-352e1c2211e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ServiceLocatio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892943-9abb-4ecc-84c4-6c4ebc2a98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931d2bf-6c71-4737-8a02-ebc0833cf04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description="" ma:hidden="true" ma:indexed="true" ma:internalName="MediaServiceObjectDetectorVersions" ma:readOnly="true">
      <xsd:simpleType>
        <xsd:restriction base="dms:Text"/>
      </xsd:simpleType>
    </xsd:element>
    <xsd:element name="MediaServiceDateTaken" ma:index="19" nillable="true" ma:displayName="MediaServiceDateTaken" ma:description="" ma:hidden="true" ma:indexed="true" ma:internalName="MediaServiceDateTaken" ma:readOnly="true">
      <xsd:simpleType>
        <xsd:restriction base="dms:Text"/>
      </xsd:simpleType>
    </xsd:element>
    <xsd:element name="MediaServiceLocation" ma:index="20" nillable="true" ma:displayName="Location" ma:descrip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0b1cd37-714f-4ee7-8d09-352e1c2211e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58845c6b-5f9d-4c18-b6fe-ad977bf02bbd}" ma:internalName="TaxCatchAll" ma:showField="CatchAllData" ma:web="c0b1cd37-714f-4ee7-8d09-352e1c2211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0b1cd37-714f-4ee7-8d09-352e1c2211e5" xsi:nil="true"/>
    <lcf76f155ced4ddcb4097134ff3c332f xmlns="ee892943-9abb-4ecc-84c4-6c4ebc2a981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3386CA3-872E-4B23-960A-B564860DA50A}">
  <ds:schemaRefs>
    <ds:schemaRef ds:uri="http://schemas.microsoft.com/sharepoint/v3/contenttype/forms"/>
  </ds:schemaRefs>
</ds:datastoreItem>
</file>

<file path=customXml/itemProps2.xml><?xml version="1.0" encoding="utf-8"?>
<ds:datastoreItem xmlns:ds="http://schemas.openxmlformats.org/officeDocument/2006/customXml" ds:itemID="{706E7466-A0AC-4A00-9673-E73941EEB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892943-9abb-4ecc-84c4-6c4ebc2a981f"/>
    <ds:schemaRef ds:uri="c0b1cd37-714f-4ee7-8d09-352e1c2211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D238523-C039-4774-8025-800A7A57634C}">
  <ds:schemaRefs>
    <ds:schemaRef ds:uri="http://www.w3.org/XML/1998/namespace"/>
    <ds:schemaRef ds:uri="ee892943-9abb-4ecc-84c4-6c4ebc2a981f"/>
    <ds:schemaRef ds:uri="http://purl.org/dc/dcmitype/"/>
    <ds:schemaRef ds:uri="http://schemas.microsoft.com/office/2006/documentManagement/types"/>
    <ds:schemaRef ds:uri="http://purl.org/dc/elements/1.1/"/>
    <ds:schemaRef ds:uri="http://purl.org/dc/terms/"/>
    <ds:schemaRef ds:uri="http://schemas.microsoft.com/office/infopath/2007/PartnerControls"/>
    <ds:schemaRef ds:uri="http://schemas.openxmlformats.org/package/2006/metadata/core-properties"/>
    <ds:schemaRef ds:uri="c0b1cd37-714f-4ee7-8d09-352e1c2211e5"/>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63766</TotalTime>
  <Words>2594</Words>
  <Application>Microsoft Office PowerPoint</Application>
  <PresentationFormat>Widescreen</PresentationFormat>
  <Paragraphs>162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Calibri Light</vt:lpstr>
      <vt:lpstr>Garamond</vt:lpstr>
      <vt:lpstr>Arial</vt:lpstr>
      <vt:lpstr>Helvetica Neue</vt:lpstr>
      <vt:lpstr>Custom Design</vt:lpstr>
      <vt:lpstr>PowerPoint Presentation</vt:lpstr>
      <vt:lpstr>Disclaimer</vt:lpstr>
      <vt:lpstr>Liminality Capital</vt:lpstr>
      <vt:lpstr>Executive summary: the French swap spread opportunity</vt:lpstr>
      <vt:lpstr>What is a swap spread?</vt:lpstr>
      <vt:lpstr>The current dislocation</vt:lpstr>
      <vt:lpstr>Why is there a dislocation?</vt:lpstr>
      <vt:lpstr>Where the return comes from</vt:lpstr>
      <vt:lpstr>Scenario analysis: 4.4-year IRR and multiple of capital at expiry</vt:lpstr>
      <vt:lpstr>Risk: Italy and Spain during the euro crisis</vt:lpstr>
      <vt:lpstr>Risks</vt:lpstr>
      <vt:lpstr>Why we don't think France will exit the EUR or default</vt:lpstr>
      <vt:lpstr>Appendix: the return as if the swap were on €STR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 Derr</dc:creator>
  <cp:lastModifiedBy>Charlie Ledley</cp:lastModifiedBy>
  <cp:revision>108</cp:revision>
  <cp:lastPrinted>2025-06-25T14:55:21Z</cp:lastPrinted>
  <dcterms:modified xsi:type="dcterms:W3CDTF">2026-10-08T14:29:42Z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0x01010076C65B0F106080448CC440CD0B47B642</vt:lpwstr>
  </property>
  <property fmtid="{D5CDD505-2E9C-101B-9397-08002B2CF9AE}" pid="3" name="MediaServiceImageTags">
    <vt:lpwstr/>
  </property>
</Properties>
</file>