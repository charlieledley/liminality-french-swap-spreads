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21"/>
  </p:notesMasterIdLst>
  <p:sldIdLst>
    <p:sldId id="256" r:id="rId5"/>
    <p:sldId id="257" r:id="rId6"/>
    <p:sldId id="258" r:id="rId7"/>
    <p:sldId id="299" r:id="rId8"/>
    <p:sldId id="282" r:id="rId9"/>
    <p:sldId id="261" r:id="rId10"/>
    <p:sldId id="286" r:id="rId11"/>
    <p:sldId id="288" r:id="rId12"/>
    <p:sldId id="289" r:id="rId13"/>
    <p:sldId id="290" r:id="rId14"/>
    <p:sldId id="291" r:id="rId15"/>
    <p:sldId id="292" r:id="rId16"/>
    <p:sldId id="265" r:id="rId17"/>
    <p:sldId id="266" r:id="rId18"/>
    <p:sldId id="296" r:id="rId19"/>
    <p:sldId id="297" r:id="rId20"/>
  </p:sldIdLst>
  <p:sldSz cx="12192000" cy="6858000"/>
  <p:notesSz cx="7315200" cy="9601200"/>
  <p:embeddedFontLst>
    <p:embeddedFont>
      <p:font typeface="Garamond" panose="02020404030301010803" pitchFamily="18" charset="0"/>
      <p:regular r:id="rId22"/>
      <p:bold r:id="rId23"/>
      <p:italic r:id="rId24"/>
    </p:embeddedFont>
    <p:embeddedFont>
      <p:font typeface="Helvetica Neue"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E9EBF5"/>
    <a:srgbClr val="6A6A6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64372D-13CB-4354-B163-E00462AA7454}" v="1" dt="2026-10-08T11:01:34.453"/>
    <p1510:client id="{595CBB95-0B4A-436B-BF4A-F1EE904DD72D}" v="1" dt="2026-10-08T14:30:58.4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59" autoAdjust="0"/>
    <p:restoredTop sz="94404" autoAdjust="0"/>
  </p:normalViewPr>
  <p:slideViewPr>
    <p:cSldViewPr snapToGrid="0">
      <p:cViewPr>
        <p:scale>
          <a:sx n="90" d="100"/>
          <a:sy n="90" d="100"/>
        </p:scale>
        <p:origin x="-140" y="-2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ie Ledley" userId="4fd6789a-5b68-4c67-b2dd-741fccd174a7" providerId="ADAL" clId="{ADEF4E80-B48C-4EE4-8026-C9587D54C67A}"/>
    <pc:docChg chg="modSld">
      <pc:chgData name="Charlie Ledley" userId="4fd6789a-5b68-4c67-b2dd-741fccd174a7" providerId="ADAL" clId="{ADEF4E80-B48C-4EE4-8026-C9587D54C67A}" dt="2026-10-08T14:31:22.957" v="193" actId="20577"/>
      <pc:docMkLst>
        <pc:docMk/>
      </pc:docMkLst>
      <pc:sldChg chg="modSp mod">
        <pc:chgData name="Charlie Ledley" userId="4fd6789a-5b68-4c67-b2dd-741fccd174a7" providerId="ADAL" clId="{ADEF4E80-B48C-4EE4-8026-C9587D54C67A}" dt="2026-10-08T14:18:31.878" v="114" actId="20577"/>
        <pc:sldMkLst>
          <pc:docMk/>
          <pc:sldMk cId="3969890273" sldId="282"/>
        </pc:sldMkLst>
        <pc:spChg chg="mod">
          <ac:chgData name="Charlie Ledley" userId="4fd6789a-5b68-4c67-b2dd-741fccd174a7" providerId="ADAL" clId="{ADEF4E80-B48C-4EE4-8026-C9587D54C67A}" dt="2026-10-08T14:18:31.878" v="114" actId="20577"/>
          <ac:spMkLst>
            <pc:docMk/>
            <pc:sldMk cId="3969890273" sldId="282"/>
            <ac:spMk id="5" creationId="{00000000-0000-0000-0000-000000000000}"/>
          </ac:spMkLst>
        </pc:spChg>
      </pc:sldChg>
      <pc:sldChg chg="modSp mod">
        <pc:chgData name="Charlie Ledley" userId="4fd6789a-5b68-4c67-b2dd-741fccd174a7" providerId="ADAL" clId="{ADEF4E80-B48C-4EE4-8026-C9587D54C67A}" dt="2026-10-08T14:20:43.659" v="121" actId="20577"/>
        <pc:sldMkLst>
          <pc:docMk/>
          <pc:sldMk cId="2847053670" sldId="286"/>
        </pc:sldMkLst>
        <pc:spChg chg="mod">
          <ac:chgData name="Charlie Ledley" userId="4fd6789a-5b68-4c67-b2dd-741fccd174a7" providerId="ADAL" clId="{ADEF4E80-B48C-4EE4-8026-C9587D54C67A}" dt="2026-10-08T14:20:43.659" v="121" actId="20577"/>
          <ac:spMkLst>
            <pc:docMk/>
            <pc:sldMk cId="2847053670" sldId="286"/>
            <ac:spMk id="10" creationId="{00000000-0000-0000-0000-000000000000}"/>
          </ac:spMkLst>
        </pc:spChg>
      </pc:sldChg>
      <pc:sldChg chg="modSp mod">
        <pc:chgData name="Charlie Ledley" userId="4fd6789a-5b68-4c67-b2dd-741fccd174a7" providerId="ADAL" clId="{ADEF4E80-B48C-4EE4-8026-C9587D54C67A}" dt="2026-10-08T14:31:22.957" v="193" actId="20577"/>
        <pc:sldMkLst>
          <pc:docMk/>
          <pc:sldMk cId="2511181265" sldId="288"/>
        </pc:sldMkLst>
        <pc:spChg chg="mod">
          <ac:chgData name="Charlie Ledley" userId="4fd6789a-5b68-4c67-b2dd-741fccd174a7" providerId="ADAL" clId="{ADEF4E80-B48C-4EE4-8026-C9587D54C67A}" dt="2026-10-08T14:25:53.192" v="169" actId="20577"/>
          <ac:spMkLst>
            <pc:docMk/>
            <pc:sldMk cId="2511181265" sldId="288"/>
            <ac:spMk id="12" creationId="{00000000-0000-0000-0000-000000000000}"/>
          </ac:spMkLst>
        </pc:spChg>
        <pc:spChg chg="mod">
          <ac:chgData name="Charlie Ledley" userId="4fd6789a-5b68-4c67-b2dd-741fccd174a7" providerId="ADAL" clId="{ADEF4E80-B48C-4EE4-8026-C9587D54C67A}" dt="2026-10-08T14:31:22.957" v="193" actId="20577"/>
          <ac:spMkLst>
            <pc:docMk/>
            <pc:sldMk cId="2511181265" sldId="288"/>
            <ac:spMk id="13" creationId="{00000000-0000-0000-0000-000000000000}"/>
          </ac:spMkLst>
        </pc:spChg>
        <pc:spChg chg="mod">
          <ac:chgData name="Charlie Ledley" userId="4fd6789a-5b68-4c67-b2dd-741fccd174a7" providerId="ADAL" clId="{ADEF4E80-B48C-4EE4-8026-C9587D54C67A}" dt="2026-10-08T14:24:08.344" v="167" actId="1035"/>
          <ac:spMkLst>
            <pc:docMk/>
            <pc:sldMk cId="2511181265" sldId="288"/>
            <ac:spMk id="20" creationId="{00000000-0000-0000-0000-000000000000}"/>
          </ac:spMkLst>
        </pc:spChg>
      </pc:sldChg>
      <pc:sldChg chg="modSp mod">
        <pc:chgData name="Charlie Ledley" userId="4fd6789a-5b68-4c67-b2dd-741fccd174a7" providerId="ADAL" clId="{ADEF4E80-B48C-4EE4-8026-C9587D54C67A}" dt="2026-10-08T14:13:37.428" v="6" actId="20577"/>
        <pc:sldMkLst>
          <pc:docMk/>
          <pc:sldMk cId="2597505158" sldId="299"/>
        </pc:sldMkLst>
        <pc:spChg chg="mod">
          <ac:chgData name="Charlie Ledley" userId="4fd6789a-5b68-4c67-b2dd-741fccd174a7" providerId="ADAL" clId="{ADEF4E80-B48C-4EE4-8026-C9587D54C67A}" dt="2026-10-08T14:13:37.428" v="6" actId="20577"/>
          <ac:spMkLst>
            <pc:docMk/>
            <pc:sldMk cId="2597505158" sldId="299"/>
            <ac:spMk id="1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OAT yield</c:v>
                </c:pt>
              </c:strCache>
            </c:strRef>
          </c:tx>
          <c:spPr>
            <a:ln w="25400">
              <a:solidFill>
                <a:srgbClr val="011C40"/>
              </a:solidFill>
            </a:ln>
          </c:spPr>
          <c:marker>
            <c:symbol val="circle"/>
            <c:size val="6"/>
            <c:spPr>
              <a:solidFill>
                <a:srgbClr val="011C40"/>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3.3</c:v>
                </c:pt>
                <c:pt idx="1">
                  <c:v>3.7227000000000001</c:v>
                </c:pt>
                <c:pt idx="2">
                  <c:v>3.9298999999999999</c:v>
                </c:pt>
                <c:pt idx="3">
                  <c:v>4.1136999999999997</c:v>
                </c:pt>
                <c:pt idx="4">
                  <c:v>4.3259999999999996</c:v>
                </c:pt>
                <c:pt idx="5">
                  <c:v>4.4177</c:v>
                </c:pt>
                <c:pt idx="6">
                  <c:v>4.5434000000000001</c:v>
                </c:pt>
                <c:pt idx="7">
                  <c:v>4.6585999999999999</c:v>
                </c:pt>
                <c:pt idx="8">
                  <c:v>4.7630999999999997</c:v>
                </c:pt>
                <c:pt idx="9">
                  <c:v>4.867</c:v>
                </c:pt>
                <c:pt idx="10">
                  <c:v>5.1856</c:v>
                </c:pt>
                <c:pt idx="11">
                  <c:v>5.2824999999999998</c:v>
                </c:pt>
                <c:pt idx="12">
                  <c:v>5.2896999999999998</c:v>
                </c:pt>
                <c:pt idx="13">
                  <c:v>5.4263000000000003</c:v>
                </c:pt>
              </c:numCache>
            </c:numRef>
          </c:yVal>
          <c:smooth val="0"/>
          <c:extLst>
            <c:ext xmlns:c16="http://schemas.microsoft.com/office/drawing/2014/chart" uri="{C3380CC4-5D6E-409C-BE32-E72D297353CC}">
              <c16:uniqueId val="{00000000-68F4-46FC-94B4-2DB1D4667BFA}"/>
            </c:ext>
          </c:extLst>
        </c:ser>
        <c:ser>
          <c:idx val="1"/>
          <c:order val="1"/>
          <c:tx>
            <c:strRef>
              <c:f>Sheet1!$B$17</c:f>
              <c:strCache>
                <c:ptCount val="1"/>
                <c:pt idx="0">
                  <c:v>6m Euribor swap rate</c:v>
                </c:pt>
              </c:strCache>
            </c:strRef>
          </c:tx>
          <c:spPr>
            <a:ln w="25400">
              <a:solidFill>
                <a:srgbClr val="3C8DBC"/>
              </a:solidFill>
            </a:ln>
          </c:spPr>
          <c:marker>
            <c:symbol val="circle"/>
            <c:size val="6"/>
            <c:spPr>
              <a:solidFill>
                <a:srgbClr val="3C8DBC"/>
              </a:solidFill>
              <a:ln>
                <a:noFill/>
              </a:ln>
            </c:spPr>
          </c:marker>
          <c:xVal>
            <c:numRef>
              <c:f>Sheet1!$A$18:$A$31</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Sheet1!$B$18:$B$31</c:f>
              <c:numCache>
                <c:formatCode>General</c:formatCode>
                <c:ptCount val="14"/>
                <c:pt idx="0">
                  <c:v>3.3006000000000002</c:v>
                </c:pt>
                <c:pt idx="1">
                  <c:v>3.4529999999999998</c:v>
                </c:pt>
                <c:pt idx="2">
                  <c:v>3.4899</c:v>
                </c:pt>
                <c:pt idx="3">
                  <c:v>3.4992000000000001</c:v>
                </c:pt>
                <c:pt idx="4">
                  <c:v>3.5009999999999999</c:v>
                </c:pt>
                <c:pt idx="5">
                  <c:v>3.5110999999999999</c:v>
                </c:pt>
                <c:pt idx="6">
                  <c:v>3.5261999999999998</c:v>
                </c:pt>
                <c:pt idx="7">
                  <c:v>3.548</c:v>
                </c:pt>
                <c:pt idx="8">
                  <c:v>3.5625</c:v>
                </c:pt>
                <c:pt idx="9">
                  <c:v>3.5830000000000002</c:v>
                </c:pt>
                <c:pt idx="10">
                  <c:v>3.6423000000000001</c:v>
                </c:pt>
                <c:pt idx="11">
                  <c:v>3.6093000000000002</c:v>
                </c:pt>
                <c:pt idx="12">
                  <c:v>3.5251999999999999</c:v>
                </c:pt>
                <c:pt idx="13">
                  <c:v>3.4348000000000001</c:v>
                </c:pt>
              </c:numCache>
            </c:numRef>
          </c:yVal>
          <c:smooth val="0"/>
          <c:extLst>
            <c:ext xmlns:c16="http://schemas.microsoft.com/office/drawing/2014/chart" uri="{C3380CC4-5D6E-409C-BE32-E72D297353CC}">
              <c16:uniqueId val="{00000001-68F4-46FC-94B4-2DB1D4667BFA}"/>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CE3EF"/>
            </a:solidFill>
          </a:ln>
        </c:spPr>
        <c:txPr>
          <a:bodyPr/>
          <a:lstStyle/>
          <a:p>
            <a:pPr>
              <a:defRPr sz="900">
                <a:solidFill>
                  <a:srgbClr val="5A6172"/>
                </a:solidFill>
              </a:defRPr>
            </a:pPr>
            <a:endParaRPr lang="en-US"/>
          </a:p>
        </c:txPr>
        <c:crossAx val="-2129643912"/>
        <c:crosses val="autoZero"/>
        <c:crossBetween val="midCat"/>
        <c:majorUnit val="5"/>
      </c:valAx>
      <c:valAx>
        <c:axId val="-2129643912"/>
        <c:scaling>
          <c:orientation val="minMax"/>
          <c:max val="5.5"/>
          <c:min val="3"/>
        </c:scaling>
        <c:delete val="0"/>
        <c:axPos val="l"/>
        <c:majorGridlines>
          <c:spPr>
            <a:ln w="7620">
              <a:solidFill>
                <a:srgbClr val="DCE3EF"/>
              </a:solidFill>
            </a:ln>
          </c:spPr>
        </c:majorGridlines>
        <c:numFmt formatCode="0.0&quot;%&quot;" sourceLinked="0"/>
        <c:majorTickMark val="out"/>
        <c:minorTickMark val="none"/>
        <c:tickLblPos val="low"/>
        <c:spPr>
          <a:ln>
            <a:noFill/>
          </a:ln>
        </c:spPr>
        <c:txPr>
          <a:bodyPr/>
          <a:lstStyle/>
          <a:p>
            <a:pPr>
              <a:defRPr sz="90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900">
          <a:latin typeface="Garamo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Swap spread</c:v>
                </c:pt>
              </c:strCache>
            </c:strRef>
          </c:tx>
          <c:spPr>
            <a:ln w="25400">
              <a:solidFill>
                <a:srgbClr val="B3332E"/>
              </a:solidFill>
            </a:ln>
          </c:spPr>
          <c:marker>
            <c:symbol val="circle"/>
            <c:size val="6"/>
            <c:spPr>
              <a:solidFill>
                <a:srgbClr val="B3332E"/>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0.06</c:v>
                </c:pt>
                <c:pt idx="1">
                  <c:v>-26.97</c:v>
                </c:pt>
                <c:pt idx="2">
                  <c:v>-44</c:v>
                </c:pt>
                <c:pt idx="3">
                  <c:v>-61.45</c:v>
                </c:pt>
                <c:pt idx="4">
                  <c:v>-82.5</c:v>
                </c:pt>
                <c:pt idx="5">
                  <c:v>-90.66</c:v>
                </c:pt>
                <c:pt idx="6">
                  <c:v>-101.72</c:v>
                </c:pt>
                <c:pt idx="7">
                  <c:v>-111.06</c:v>
                </c:pt>
                <c:pt idx="8">
                  <c:v>-120.06</c:v>
                </c:pt>
                <c:pt idx="9">
                  <c:v>-128.4</c:v>
                </c:pt>
                <c:pt idx="10">
                  <c:v>-154.33000000000001</c:v>
                </c:pt>
                <c:pt idx="11">
                  <c:v>-167.32</c:v>
                </c:pt>
                <c:pt idx="12">
                  <c:v>-176.45</c:v>
                </c:pt>
                <c:pt idx="13">
                  <c:v>-199.15</c:v>
                </c:pt>
              </c:numCache>
            </c:numRef>
          </c:yVal>
          <c:smooth val="0"/>
          <c:extLst>
            <c:ext xmlns:c16="http://schemas.microsoft.com/office/drawing/2014/chart" uri="{C3380CC4-5D6E-409C-BE32-E72D297353CC}">
              <c16:uniqueId val="{00000000-B353-4251-9839-5B10A69AC308}"/>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CE3EF"/>
            </a:solidFill>
          </a:ln>
        </c:spPr>
        <c:txPr>
          <a:bodyPr/>
          <a:lstStyle/>
          <a:p>
            <a:pPr>
              <a:defRPr sz="900">
                <a:solidFill>
                  <a:srgbClr val="5A6172"/>
                </a:solidFill>
              </a:defRPr>
            </a:pPr>
            <a:endParaRPr lang="en-US"/>
          </a:p>
        </c:txPr>
        <c:crossAx val="-2129643912"/>
        <c:crosses val="autoZero"/>
        <c:crossBetween val="midCat"/>
        <c:majorUnit val="5"/>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00">
                <a:solidFill>
                  <a:srgbClr val="5A6172"/>
                </a:solidFill>
              </a:defRPr>
            </a:pPr>
            <a:endParaRPr lang="en-US"/>
          </a:p>
        </c:txPr>
        <c:crossAx val="-2128940872"/>
        <c:crosses val="autoZero"/>
        <c:crossBetween val="midCat"/>
      </c:valAx>
    </c:plotArea>
    <c:plotVisOnly val="1"/>
    <c:dispBlanksAs val="gap"/>
    <c:showDLblsOverMax val="0"/>
  </c:chart>
  <c:txPr>
    <a:bodyPr/>
    <a:lstStyle/>
    <a:p>
      <a:pPr>
        <a:defRPr sz="900">
          <a:latin typeface="Garamon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5-year</c:v>
                </c:pt>
              </c:strCache>
            </c:strRef>
          </c:tx>
          <c:spPr>
            <a:ln w="25400">
              <a:solidFill>
                <a:srgbClr val="011C40"/>
              </a:solidFill>
            </a:ln>
          </c:spPr>
          <c:marker>
            <c:symbol val="none"/>
          </c:marker>
          <c:dLbls>
            <c:dLbl>
              <c:idx val="874"/>
              <c:tx>
                <c:rich>
                  <a:bodyPr/>
                  <a:lstStyle/>
                  <a:p>
                    <a:r>
                      <a:rPr lang="en-US" sz="950" b="1">
                        <a:solidFill>
                          <a:srgbClr val="011C40"/>
                        </a:solidFill>
                        <a:latin typeface="Garamond"/>
                      </a:rPr>
                      <a:t>5-year −83bp, the cheapest since 2010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0C1-47F0-B078-F177E6126D9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33</c:v>
                </c:pt>
                <c:pt idx="1">
                  <c:v>28.8</c:v>
                </c:pt>
                <c:pt idx="2">
                  <c:v>30.9</c:v>
                </c:pt>
                <c:pt idx="3">
                  <c:v>12.1</c:v>
                </c:pt>
                <c:pt idx="4">
                  <c:v>15.02</c:v>
                </c:pt>
                <c:pt idx="5">
                  <c:v>16.100000000000001</c:v>
                </c:pt>
                <c:pt idx="6">
                  <c:v>15.68</c:v>
                </c:pt>
                <c:pt idx="7">
                  <c:v>15.1</c:v>
                </c:pt>
                <c:pt idx="8">
                  <c:v>16.899999999999999</c:v>
                </c:pt>
                <c:pt idx="9">
                  <c:v>15.7</c:v>
                </c:pt>
                <c:pt idx="10">
                  <c:v>15.35</c:v>
                </c:pt>
                <c:pt idx="11">
                  <c:v>17.38</c:v>
                </c:pt>
                <c:pt idx="12">
                  <c:v>12.71</c:v>
                </c:pt>
                <c:pt idx="13">
                  <c:v>13.1</c:v>
                </c:pt>
                <c:pt idx="14">
                  <c:v>15.09</c:v>
                </c:pt>
                <c:pt idx="15">
                  <c:v>15.4</c:v>
                </c:pt>
                <c:pt idx="16">
                  <c:v>15.1</c:v>
                </c:pt>
                <c:pt idx="17">
                  <c:v>21.9</c:v>
                </c:pt>
                <c:pt idx="18">
                  <c:v>35.6</c:v>
                </c:pt>
                <c:pt idx="19">
                  <c:v>36.1</c:v>
                </c:pt>
                <c:pt idx="20">
                  <c:v>43.9</c:v>
                </c:pt>
                <c:pt idx="21">
                  <c:v>37.700000000000003</c:v>
                </c:pt>
                <c:pt idx="22">
                  <c:v>34.4</c:v>
                </c:pt>
                <c:pt idx="23">
                  <c:v>28.4</c:v>
                </c:pt>
                <c:pt idx="24">
                  <c:v>6.7</c:v>
                </c:pt>
                <c:pt idx="25">
                  <c:v>7.43</c:v>
                </c:pt>
                <c:pt idx="26">
                  <c:v>15.4</c:v>
                </c:pt>
                <c:pt idx="27">
                  <c:v>13.4</c:v>
                </c:pt>
                <c:pt idx="28">
                  <c:v>13.6</c:v>
                </c:pt>
                <c:pt idx="29">
                  <c:v>21</c:v>
                </c:pt>
                <c:pt idx="30">
                  <c:v>19.7</c:v>
                </c:pt>
                <c:pt idx="31">
                  <c:v>23.2</c:v>
                </c:pt>
                <c:pt idx="32">
                  <c:v>19.05</c:v>
                </c:pt>
                <c:pt idx="33">
                  <c:v>19.399999999999999</c:v>
                </c:pt>
                <c:pt idx="34">
                  <c:v>16.899999999999999</c:v>
                </c:pt>
                <c:pt idx="35">
                  <c:v>29</c:v>
                </c:pt>
                <c:pt idx="36">
                  <c:v>20.3</c:v>
                </c:pt>
                <c:pt idx="37">
                  <c:v>21.2</c:v>
                </c:pt>
                <c:pt idx="38">
                  <c:v>25.87</c:v>
                </c:pt>
                <c:pt idx="39">
                  <c:v>22.3</c:v>
                </c:pt>
                <c:pt idx="40">
                  <c:v>25.7</c:v>
                </c:pt>
                <c:pt idx="41">
                  <c:v>30.6</c:v>
                </c:pt>
                <c:pt idx="42">
                  <c:v>23.7</c:v>
                </c:pt>
                <c:pt idx="43">
                  <c:v>24.85</c:v>
                </c:pt>
                <c:pt idx="44">
                  <c:v>29.1</c:v>
                </c:pt>
                <c:pt idx="45">
                  <c:v>31.1</c:v>
                </c:pt>
                <c:pt idx="46">
                  <c:v>29.88</c:v>
                </c:pt>
                <c:pt idx="47">
                  <c:v>31.5</c:v>
                </c:pt>
                <c:pt idx="48">
                  <c:v>32.049999999999997</c:v>
                </c:pt>
                <c:pt idx="49">
                  <c:v>37.590000000000003</c:v>
                </c:pt>
                <c:pt idx="50">
                  <c:v>32.450000000000003</c:v>
                </c:pt>
                <c:pt idx="51">
                  <c:v>37.299999999999997</c:v>
                </c:pt>
                <c:pt idx="52">
                  <c:v>35.4</c:v>
                </c:pt>
                <c:pt idx="53">
                  <c:v>31.85</c:v>
                </c:pt>
                <c:pt idx="54">
                  <c:v>35.799999999999997</c:v>
                </c:pt>
                <c:pt idx="55">
                  <c:v>16.25</c:v>
                </c:pt>
                <c:pt idx="56">
                  <c:v>11.4</c:v>
                </c:pt>
                <c:pt idx="57">
                  <c:v>17.600000000000001</c:v>
                </c:pt>
                <c:pt idx="58">
                  <c:v>15.3</c:v>
                </c:pt>
                <c:pt idx="59">
                  <c:v>14.8</c:v>
                </c:pt>
                <c:pt idx="60">
                  <c:v>15.7</c:v>
                </c:pt>
                <c:pt idx="61">
                  <c:v>11.4</c:v>
                </c:pt>
                <c:pt idx="62">
                  <c:v>16.8</c:v>
                </c:pt>
                <c:pt idx="63">
                  <c:v>19.399999999999999</c:v>
                </c:pt>
                <c:pt idx="64">
                  <c:v>16.95</c:v>
                </c:pt>
                <c:pt idx="65">
                  <c:v>14.9</c:v>
                </c:pt>
                <c:pt idx="66">
                  <c:v>18.3</c:v>
                </c:pt>
                <c:pt idx="67">
                  <c:v>14.2</c:v>
                </c:pt>
                <c:pt idx="68">
                  <c:v>15.6</c:v>
                </c:pt>
                <c:pt idx="69">
                  <c:v>16.3</c:v>
                </c:pt>
                <c:pt idx="70">
                  <c:v>11.7</c:v>
                </c:pt>
                <c:pt idx="71">
                  <c:v>16.5</c:v>
                </c:pt>
                <c:pt idx="72">
                  <c:v>13.2</c:v>
                </c:pt>
                <c:pt idx="73">
                  <c:v>18.2</c:v>
                </c:pt>
                <c:pt idx="74">
                  <c:v>18.3</c:v>
                </c:pt>
                <c:pt idx="75">
                  <c:v>16.899999999999999</c:v>
                </c:pt>
                <c:pt idx="76">
                  <c:v>8</c:v>
                </c:pt>
                <c:pt idx="77">
                  <c:v>5.75</c:v>
                </c:pt>
                <c:pt idx="78">
                  <c:v>9.5</c:v>
                </c:pt>
                <c:pt idx="79">
                  <c:v>13.1</c:v>
                </c:pt>
                <c:pt idx="80">
                  <c:v>6.15</c:v>
                </c:pt>
                <c:pt idx="81">
                  <c:v>11.3</c:v>
                </c:pt>
                <c:pt idx="82">
                  <c:v>17.899999999999999</c:v>
                </c:pt>
                <c:pt idx="83">
                  <c:v>31.1</c:v>
                </c:pt>
                <c:pt idx="84">
                  <c:v>23</c:v>
                </c:pt>
                <c:pt idx="85">
                  <c:v>30.4</c:v>
                </c:pt>
                <c:pt idx="86">
                  <c:v>32.6</c:v>
                </c:pt>
                <c:pt idx="87">
                  <c:v>22.8</c:v>
                </c:pt>
                <c:pt idx="88">
                  <c:v>30.7</c:v>
                </c:pt>
                <c:pt idx="89">
                  <c:v>20.7</c:v>
                </c:pt>
                <c:pt idx="90">
                  <c:v>15.8</c:v>
                </c:pt>
                <c:pt idx="91">
                  <c:v>22.6</c:v>
                </c:pt>
                <c:pt idx="92">
                  <c:v>13.7</c:v>
                </c:pt>
                <c:pt idx="93">
                  <c:v>-4.2</c:v>
                </c:pt>
                <c:pt idx="94">
                  <c:v>-23.3</c:v>
                </c:pt>
                <c:pt idx="95">
                  <c:v>-2.7</c:v>
                </c:pt>
                <c:pt idx="96">
                  <c:v>-9</c:v>
                </c:pt>
                <c:pt idx="97">
                  <c:v>-42.5</c:v>
                </c:pt>
                <c:pt idx="98">
                  <c:v>-48.2</c:v>
                </c:pt>
                <c:pt idx="99">
                  <c:v>-71.849999999999994</c:v>
                </c:pt>
                <c:pt idx="100">
                  <c:v>-21.1</c:v>
                </c:pt>
                <c:pt idx="101">
                  <c:v>-25</c:v>
                </c:pt>
                <c:pt idx="102">
                  <c:v>-16.100000000000001</c:v>
                </c:pt>
                <c:pt idx="103">
                  <c:v>-2.5</c:v>
                </c:pt>
                <c:pt idx="104">
                  <c:v>-14.7</c:v>
                </c:pt>
                <c:pt idx="105">
                  <c:v>-56.8</c:v>
                </c:pt>
                <c:pt idx="106">
                  <c:v>-32.1</c:v>
                </c:pt>
                <c:pt idx="107">
                  <c:v>-18.5</c:v>
                </c:pt>
                <c:pt idx="108">
                  <c:v>-15.3</c:v>
                </c:pt>
                <c:pt idx="109">
                  <c:v>-1</c:v>
                </c:pt>
                <c:pt idx="110">
                  <c:v>-7</c:v>
                </c:pt>
                <c:pt idx="111">
                  <c:v>-16</c:v>
                </c:pt>
                <c:pt idx="112">
                  <c:v>-5.9</c:v>
                </c:pt>
                <c:pt idx="113">
                  <c:v>2.8</c:v>
                </c:pt>
                <c:pt idx="114">
                  <c:v>-19</c:v>
                </c:pt>
                <c:pt idx="115">
                  <c:v>-11.65</c:v>
                </c:pt>
                <c:pt idx="116">
                  <c:v>-16.649999999999999</c:v>
                </c:pt>
                <c:pt idx="117">
                  <c:v>-7.77</c:v>
                </c:pt>
                <c:pt idx="118">
                  <c:v>-25.43</c:v>
                </c:pt>
                <c:pt idx="119">
                  <c:v>-30.4</c:v>
                </c:pt>
                <c:pt idx="120">
                  <c:v>-35.299999999999997</c:v>
                </c:pt>
                <c:pt idx="121">
                  <c:v>-25.12</c:v>
                </c:pt>
                <c:pt idx="122">
                  <c:v>-26.35</c:v>
                </c:pt>
                <c:pt idx="123">
                  <c:v>-25.58</c:v>
                </c:pt>
                <c:pt idx="124">
                  <c:v>-29.55</c:v>
                </c:pt>
                <c:pt idx="125">
                  <c:v>-8.1999999999999993</c:v>
                </c:pt>
                <c:pt idx="126">
                  <c:v>3.63</c:v>
                </c:pt>
                <c:pt idx="127">
                  <c:v>-9.33</c:v>
                </c:pt>
                <c:pt idx="128">
                  <c:v>-8.74</c:v>
                </c:pt>
                <c:pt idx="129">
                  <c:v>-5.21</c:v>
                </c:pt>
                <c:pt idx="130">
                  <c:v>-9.6999999999999993</c:v>
                </c:pt>
                <c:pt idx="131">
                  <c:v>9.06</c:v>
                </c:pt>
                <c:pt idx="132">
                  <c:v>17.100000000000001</c:v>
                </c:pt>
                <c:pt idx="133">
                  <c:v>10.9</c:v>
                </c:pt>
                <c:pt idx="134">
                  <c:v>7.53</c:v>
                </c:pt>
                <c:pt idx="135">
                  <c:v>23.37</c:v>
                </c:pt>
                <c:pt idx="136">
                  <c:v>17.68</c:v>
                </c:pt>
                <c:pt idx="137">
                  <c:v>11.73</c:v>
                </c:pt>
                <c:pt idx="138">
                  <c:v>9.1999999999999993</c:v>
                </c:pt>
                <c:pt idx="139">
                  <c:v>1.7</c:v>
                </c:pt>
                <c:pt idx="140">
                  <c:v>7.5</c:v>
                </c:pt>
                <c:pt idx="141">
                  <c:v>9.5</c:v>
                </c:pt>
                <c:pt idx="142">
                  <c:v>-4.4800000000000004</c:v>
                </c:pt>
                <c:pt idx="143">
                  <c:v>4.0999999999999996</c:v>
                </c:pt>
                <c:pt idx="144">
                  <c:v>1.52</c:v>
                </c:pt>
                <c:pt idx="145">
                  <c:v>7.45</c:v>
                </c:pt>
                <c:pt idx="146">
                  <c:v>8.6999999999999993</c:v>
                </c:pt>
                <c:pt idx="147">
                  <c:v>5.45</c:v>
                </c:pt>
                <c:pt idx="148">
                  <c:v>2.5</c:v>
                </c:pt>
                <c:pt idx="149">
                  <c:v>4.7</c:v>
                </c:pt>
                <c:pt idx="150">
                  <c:v>9.1999999999999993</c:v>
                </c:pt>
                <c:pt idx="151">
                  <c:v>8</c:v>
                </c:pt>
                <c:pt idx="152">
                  <c:v>12.2</c:v>
                </c:pt>
                <c:pt idx="153">
                  <c:v>12.05</c:v>
                </c:pt>
                <c:pt idx="154">
                  <c:v>21.07</c:v>
                </c:pt>
                <c:pt idx="155">
                  <c:v>19.399999999999999</c:v>
                </c:pt>
                <c:pt idx="156">
                  <c:v>15.14</c:v>
                </c:pt>
                <c:pt idx="157">
                  <c:v>11.77</c:v>
                </c:pt>
                <c:pt idx="158">
                  <c:v>14.8</c:v>
                </c:pt>
                <c:pt idx="159">
                  <c:v>16.350000000000001</c:v>
                </c:pt>
                <c:pt idx="160">
                  <c:v>-6.25</c:v>
                </c:pt>
                <c:pt idx="161">
                  <c:v>2.0499999999999998</c:v>
                </c:pt>
                <c:pt idx="162">
                  <c:v>-3.95</c:v>
                </c:pt>
                <c:pt idx="163">
                  <c:v>-7.05</c:v>
                </c:pt>
                <c:pt idx="164">
                  <c:v>-6.8</c:v>
                </c:pt>
                <c:pt idx="165">
                  <c:v>-5.75</c:v>
                </c:pt>
                <c:pt idx="166">
                  <c:v>-4.1500000000000004</c:v>
                </c:pt>
                <c:pt idx="167">
                  <c:v>-0.45</c:v>
                </c:pt>
                <c:pt idx="168">
                  <c:v>1.5</c:v>
                </c:pt>
                <c:pt idx="169">
                  <c:v>3.43</c:v>
                </c:pt>
                <c:pt idx="170">
                  <c:v>14.25</c:v>
                </c:pt>
                <c:pt idx="171">
                  <c:v>5.45</c:v>
                </c:pt>
                <c:pt idx="172">
                  <c:v>5</c:v>
                </c:pt>
                <c:pt idx="173">
                  <c:v>4.4000000000000004</c:v>
                </c:pt>
                <c:pt idx="174">
                  <c:v>8.3000000000000007</c:v>
                </c:pt>
                <c:pt idx="175">
                  <c:v>3.75</c:v>
                </c:pt>
                <c:pt idx="176">
                  <c:v>8.4</c:v>
                </c:pt>
                <c:pt idx="177">
                  <c:v>9.6999999999999993</c:v>
                </c:pt>
                <c:pt idx="178">
                  <c:v>4.2</c:v>
                </c:pt>
                <c:pt idx="179">
                  <c:v>6.1</c:v>
                </c:pt>
                <c:pt idx="180">
                  <c:v>6.9</c:v>
                </c:pt>
                <c:pt idx="181">
                  <c:v>7.4</c:v>
                </c:pt>
                <c:pt idx="182">
                  <c:v>-10</c:v>
                </c:pt>
                <c:pt idx="183">
                  <c:v>-3.6</c:v>
                </c:pt>
                <c:pt idx="184">
                  <c:v>-5.7</c:v>
                </c:pt>
                <c:pt idx="185">
                  <c:v>-2.7</c:v>
                </c:pt>
                <c:pt idx="186">
                  <c:v>1.7</c:v>
                </c:pt>
                <c:pt idx="187">
                  <c:v>5.47</c:v>
                </c:pt>
                <c:pt idx="188">
                  <c:v>1.75</c:v>
                </c:pt>
                <c:pt idx="189">
                  <c:v>5.85</c:v>
                </c:pt>
                <c:pt idx="190">
                  <c:v>1.35</c:v>
                </c:pt>
                <c:pt idx="191">
                  <c:v>1.9</c:v>
                </c:pt>
                <c:pt idx="192">
                  <c:v>0.96</c:v>
                </c:pt>
                <c:pt idx="193">
                  <c:v>-1.71</c:v>
                </c:pt>
                <c:pt idx="194">
                  <c:v>3.6</c:v>
                </c:pt>
                <c:pt idx="195">
                  <c:v>2.2000000000000002</c:v>
                </c:pt>
                <c:pt idx="196">
                  <c:v>4.7</c:v>
                </c:pt>
                <c:pt idx="197">
                  <c:v>4.9000000000000004</c:v>
                </c:pt>
                <c:pt idx="198">
                  <c:v>4.0999999999999996</c:v>
                </c:pt>
                <c:pt idx="199">
                  <c:v>4.9000000000000004</c:v>
                </c:pt>
                <c:pt idx="200">
                  <c:v>10.4</c:v>
                </c:pt>
                <c:pt idx="201">
                  <c:v>5.75</c:v>
                </c:pt>
                <c:pt idx="202">
                  <c:v>4.46</c:v>
                </c:pt>
                <c:pt idx="203">
                  <c:v>5.31</c:v>
                </c:pt>
                <c:pt idx="204">
                  <c:v>5.8</c:v>
                </c:pt>
                <c:pt idx="205">
                  <c:v>5.0599999999999996</c:v>
                </c:pt>
                <c:pt idx="206">
                  <c:v>2.4500000000000002</c:v>
                </c:pt>
                <c:pt idx="207">
                  <c:v>4.7</c:v>
                </c:pt>
                <c:pt idx="208">
                  <c:v>4.45</c:v>
                </c:pt>
                <c:pt idx="209">
                  <c:v>6.5</c:v>
                </c:pt>
                <c:pt idx="210">
                  <c:v>3.58</c:v>
                </c:pt>
                <c:pt idx="211">
                  <c:v>4.5599999999999996</c:v>
                </c:pt>
                <c:pt idx="212">
                  <c:v>5</c:v>
                </c:pt>
                <c:pt idx="213">
                  <c:v>13.2</c:v>
                </c:pt>
                <c:pt idx="214">
                  <c:v>10.09</c:v>
                </c:pt>
                <c:pt idx="215">
                  <c:v>5.85</c:v>
                </c:pt>
                <c:pt idx="216">
                  <c:v>-5.56</c:v>
                </c:pt>
                <c:pt idx="217">
                  <c:v>-5.41</c:v>
                </c:pt>
                <c:pt idx="218">
                  <c:v>-2.27</c:v>
                </c:pt>
                <c:pt idx="219">
                  <c:v>-2.4500000000000002</c:v>
                </c:pt>
                <c:pt idx="220">
                  <c:v>-0.45</c:v>
                </c:pt>
                <c:pt idx="221">
                  <c:v>1.4</c:v>
                </c:pt>
                <c:pt idx="222">
                  <c:v>5.41</c:v>
                </c:pt>
                <c:pt idx="223">
                  <c:v>2.78</c:v>
                </c:pt>
                <c:pt idx="224">
                  <c:v>5.15</c:v>
                </c:pt>
                <c:pt idx="225">
                  <c:v>4.95</c:v>
                </c:pt>
                <c:pt idx="226">
                  <c:v>7.46</c:v>
                </c:pt>
                <c:pt idx="227">
                  <c:v>9.1</c:v>
                </c:pt>
                <c:pt idx="228">
                  <c:v>7.8</c:v>
                </c:pt>
                <c:pt idx="229">
                  <c:v>9.39</c:v>
                </c:pt>
                <c:pt idx="230">
                  <c:v>8.8000000000000007</c:v>
                </c:pt>
                <c:pt idx="231">
                  <c:v>14.68</c:v>
                </c:pt>
                <c:pt idx="232">
                  <c:v>10.65</c:v>
                </c:pt>
                <c:pt idx="233">
                  <c:v>11.3</c:v>
                </c:pt>
                <c:pt idx="234">
                  <c:v>1.3</c:v>
                </c:pt>
                <c:pt idx="235">
                  <c:v>3.4</c:v>
                </c:pt>
                <c:pt idx="236">
                  <c:v>5.5</c:v>
                </c:pt>
                <c:pt idx="237">
                  <c:v>6.07</c:v>
                </c:pt>
                <c:pt idx="238">
                  <c:v>9.7100000000000009</c:v>
                </c:pt>
                <c:pt idx="239">
                  <c:v>11.9</c:v>
                </c:pt>
                <c:pt idx="240">
                  <c:v>14.69</c:v>
                </c:pt>
                <c:pt idx="241">
                  <c:v>16.7</c:v>
                </c:pt>
                <c:pt idx="242">
                  <c:v>11.45</c:v>
                </c:pt>
                <c:pt idx="243">
                  <c:v>13.75</c:v>
                </c:pt>
                <c:pt idx="244">
                  <c:v>16.809999999999999</c:v>
                </c:pt>
                <c:pt idx="245">
                  <c:v>10.8</c:v>
                </c:pt>
                <c:pt idx="246">
                  <c:v>9.6</c:v>
                </c:pt>
                <c:pt idx="247">
                  <c:v>12.25</c:v>
                </c:pt>
                <c:pt idx="248">
                  <c:v>11.05</c:v>
                </c:pt>
                <c:pt idx="249">
                  <c:v>11.7</c:v>
                </c:pt>
                <c:pt idx="250">
                  <c:v>6.1</c:v>
                </c:pt>
                <c:pt idx="251">
                  <c:v>10.050000000000001</c:v>
                </c:pt>
                <c:pt idx="252">
                  <c:v>14.6</c:v>
                </c:pt>
                <c:pt idx="253">
                  <c:v>13.3</c:v>
                </c:pt>
                <c:pt idx="254">
                  <c:v>12.8</c:v>
                </c:pt>
                <c:pt idx="255">
                  <c:v>13.1</c:v>
                </c:pt>
                <c:pt idx="256">
                  <c:v>13.29</c:v>
                </c:pt>
                <c:pt idx="257">
                  <c:v>15.7</c:v>
                </c:pt>
                <c:pt idx="258">
                  <c:v>15</c:v>
                </c:pt>
                <c:pt idx="259">
                  <c:v>16.5</c:v>
                </c:pt>
                <c:pt idx="260">
                  <c:v>18.8</c:v>
                </c:pt>
                <c:pt idx="261">
                  <c:v>20.399999999999999</c:v>
                </c:pt>
                <c:pt idx="262">
                  <c:v>19.75</c:v>
                </c:pt>
                <c:pt idx="263">
                  <c:v>23.39</c:v>
                </c:pt>
                <c:pt idx="264">
                  <c:v>20.56</c:v>
                </c:pt>
                <c:pt idx="265">
                  <c:v>25.7</c:v>
                </c:pt>
                <c:pt idx="266">
                  <c:v>24.4</c:v>
                </c:pt>
                <c:pt idx="267">
                  <c:v>25.4</c:v>
                </c:pt>
                <c:pt idx="268">
                  <c:v>26.38</c:v>
                </c:pt>
                <c:pt idx="269">
                  <c:v>21.3</c:v>
                </c:pt>
                <c:pt idx="270">
                  <c:v>24.14</c:v>
                </c:pt>
                <c:pt idx="271">
                  <c:v>23.15</c:v>
                </c:pt>
                <c:pt idx="272">
                  <c:v>21.4</c:v>
                </c:pt>
                <c:pt idx="273">
                  <c:v>20.23</c:v>
                </c:pt>
                <c:pt idx="274">
                  <c:v>19.7</c:v>
                </c:pt>
                <c:pt idx="275">
                  <c:v>21.65</c:v>
                </c:pt>
                <c:pt idx="276">
                  <c:v>18.86</c:v>
                </c:pt>
                <c:pt idx="277">
                  <c:v>19.5</c:v>
                </c:pt>
                <c:pt idx="278">
                  <c:v>16.190000000000001</c:v>
                </c:pt>
                <c:pt idx="279">
                  <c:v>17.3</c:v>
                </c:pt>
                <c:pt idx="280">
                  <c:v>17.14</c:v>
                </c:pt>
                <c:pt idx="281">
                  <c:v>18.47</c:v>
                </c:pt>
                <c:pt idx="282">
                  <c:v>20.3</c:v>
                </c:pt>
                <c:pt idx="283">
                  <c:v>18.22</c:v>
                </c:pt>
                <c:pt idx="284">
                  <c:v>18.8</c:v>
                </c:pt>
                <c:pt idx="285">
                  <c:v>16.89</c:v>
                </c:pt>
                <c:pt idx="286">
                  <c:v>19.440000000000001</c:v>
                </c:pt>
                <c:pt idx="287">
                  <c:v>16.62</c:v>
                </c:pt>
                <c:pt idx="288">
                  <c:v>18.649999999999999</c:v>
                </c:pt>
                <c:pt idx="289">
                  <c:v>18.829999999999998</c:v>
                </c:pt>
                <c:pt idx="290">
                  <c:v>22.2</c:v>
                </c:pt>
                <c:pt idx="291">
                  <c:v>22.85</c:v>
                </c:pt>
                <c:pt idx="292">
                  <c:v>23.72</c:v>
                </c:pt>
                <c:pt idx="293">
                  <c:v>23.8</c:v>
                </c:pt>
                <c:pt idx="294">
                  <c:v>19.78</c:v>
                </c:pt>
                <c:pt idx="295">
                  <c:v>17.34</c:v>
                </c:pt>
                <c:pt idx="296">
                  <c:v>20.28</c:v>
                </c:pt>
                <c:pt idx="297">
                  <c:v>20.5</c:v>
                </c:pt>
                <c:pt idx="298">
                  <c:v>22.87</c:v>
                </c:pt>
                <c:pt idx="299">
                  <c:v>13.9</c:v>
                </c:pt>
                <c:pt idx="300">
                  <c:v>16.559999999999999</c:v>
                </c:pt>
                <c:pt idx="301">
                  <c:v>15.1</c:v>
                </c:pt>
                <c:pt idx="302">
                  <c:v>16.71</c:v>
                </c:pt>
                <c:pt idx="303">
                  <c:v>19.399999999999999</c:v>
                </c:pt>
                <c:pt idx="304">
                  <c:v>18.09</c:v>
                </c:pt>
                <c:pt idx="305">
                  <c:v>14.96</c:v>
                </c:pt>
                <c:pt idx="306">
                  <c:v>17.72</c:v>
                </c:pt>
                <c:pt idx="307">
                  <c:v>16.39</c:v>
                </c:pt>
                <c:pt idx="308">
                  <c:v>18.3</c:v>
                </c:pt>
                <c:pt idx="309">
                  <c:v>16.63</c:v>
                </c:pt>
                <c:pt idx="310">
                  <c:v>19.64</c:v>
                </c:pt>
                <c:pt idx="311">
                  <c:v>21.5</c:v>
                </c:pt>
                <c:pt idx="312">
                  <c:v>23.5</c:v>
                </c:pt>
                <c:pt idx="313">
                  <c:v>25.18</c:v>
                </c:pt>
                <c:pt idx="314">
                  <c:v>21.12</c:v>
                </c:pt>
                <c:pt idx="315">
                  <c:v>18.670000000000002</c:v>
                </c:pt>
                <c:pt idx="316">
                  <c:v>18.5</c:v>
                </c:pt>
                <c:pt idx="317">
                  <c:v>22.25</c:v>
                </c:pt>
                <c:pt idx="318">
                  <c:v>19.079999999999998</c:v>
                </c:pt>
                <c:pt idx="319">
                  <c:v>18.850000000000001</c:v>
                </c:pt>
                <c:pt idx="320">
                  <c:v>21</c:v>
                </c:pt>
                <c:pt idx="321">
                  <c:v>21.15</c:v>
                </c:pt>
                <c:pt idx="322">
                  <c:v>18</c:v>
                </c:pt>
                <c:pt idx="323">
                  <c:v>22.32</c:v>
                </c:pt>
                <c:pt idx="324">
                  <c:v>20.62</c:v>
                </c:pt>
                <c:pt idx="325">
                  <c:v>22.15</c:v>
                </c:pt>
                <c:pt idx="326">
                  <c:v>23.3</c:v>
                </c:pt>
                <c:pt idx="327">
                  <c:v>24.4</c:v>
                </c:pt>
                <c:pt idx="328">
                  <c:v>24.7</c:v>
                </c:pt>
                <c:pt idx="329">
                  <c:v>24.03</c:v>
                </c:pt>
                <c:pt idx="330">
                  <c:v>17</c:v>
                </c:pt>
                <c:pt idx="331">
                  <c:v>19.100000000000001</c:v>
                </c:pt>
                <c:pt idx="332">
                  <c:v>17.8</c:v>
                </c:pt>
                <c:pt idx="333">
                  <c:v>18.48</c:v>
                </c:pt>
                <c:pt idx="334">
                  <c:v>19.8</c:v>
                </c:pt>
                <c:pt idx="335">
                  <c:v>17.82</c:v>
                </c:pt>
                <c:pt idx="336">
                  <c:v>17.5</c:v>
                </c:pt>
                <c:pt idx="337">
                  <c:v>13.59</c:v>
                </c:pt>
                <c:pt idx="338">
                  <c:v>20</c:v>
                </c:pt>
                <c:pt idx="339">
                  <c:v>25.5</c:v>
                </c:pt>
                <c:pt idx="340">
                  <c:v>24.4</c:v>
                </c:pt>
                <c:pt idx="341">
                  <c:v>22.84</c:v>
                </c:pt>
                <c:pt idx="342">
                  <c:v>22.65</c:v>
                </c:pt>
                <c:pt idx="343">
                  <c:v>25.1</c:v>
                </c:pt>
                <c:pt idx="344">
                  <c:v>26.97</c:v>
                </c:pt>
                <c:pt idx="345">
                  <c:v>28.5</c:v>
                </c:pt>
                <c:pt idx="346">
                  <c:v>27.16</c:v>
                </c:pt>
                <c:pt idx="347">
                  <c:v>27.89</c:v>
                </c:pt>
                <c:pt idx="348">
                  <c:v>26.05</c:v>
                </c:pt>
                <c:pt idx="349">
                  <c:v>24.77</c:v>
                </c:pt>
                <c:pt idx="350">
                  <c:v>26.5</c:v>
                </c:pt>
                <c:pt idx="351">
                  <c:v>27.1</c:v>
                </c:pt>
                <c:pt idx="352">
                  <c:v>30.3</c:v>
                </c:pt>
                <c:pt idx="353">
                  <c:v>28.2</c:v>
                </c:pt>
                <c:pt idx="354">
                  <c:v>30.7</c:v>
                </c:pt>
                <c:pt idx="355">
                  <c:v>31.87</c:v>
                </c:pt>
                <c:pt idx="356">
                  <c:v>28.9</c:v>
                </c:pt>
                <c:pt idx="357">
                  <c:v>31.93</c:v>
                </c:pt>
                <c:pt idx="358">
                  <c:v>26.9</c:v>
                </c:pt>
                <c:pt idx="359">
                  <c:v>28.6</c:v>
                </c:pt>
                <c:pt idx="360">
                  <c:v>11.2</c:v>
                </c:pt>
                <c:pt idx="361">
                  <c:v>16.899999999999999</c:v>
                </c:pt>
                <c:pt idx="362">
                  <c:v>19.7</c:v>
                </c:pt>
                <c:pt idx="363">
                  <c:v>20.3</c:v>
                </c:pt>
                <c:pt idx="364">
                  <c:v>22.2</c:v>
                </c:pt>
                <c:pt idx="365">
                  <c:v>20.6</c:v>
                </c:pt>
                <c:pt idx="366">
                  <c:v>14.3</c:v>
                </c:pt>
                <c:pt idx="367">
                  <c:v>11.5</c:v>
                </c:pt>
                <c:pt idx="368">
                  <c:v>14.8</c:v>
                </c:pt>
                <c:pt idx="369">
                  <c:v>7.6</c:v>
                </c:pt>
                <c:pt idx="370">
                  <c:v>8</c:v>
                </c:pt>
                <c:pt idx="371">
                  <c:v>2.2000000000000002</c:v>
                </c:pt>
                <c:pt idx="372">
                  <c:v>4.2</c:v>
                </c:pt>
                <c:pt idx="373">
                  <c:v>8.1999999999999993</c:v>
                </c:pt>
                <c:pt idx="374">
                  <c:v>13.5</c:v>
                </c:pt>
                <c:pt idx="375">
                  <c:v>9.9</c:v>
                </c:pt>
                <c:pt idx="376">
                  <c:v>1</c:v>
                </c:pt>
                <c:pt idx="377">
                  <c:v>15.1</c:v>
                </c:pt>
                <c:pt idx="378">
                  <c:v>6.85</c:v>
                </c:pt>
                <c:pt idx="379">
                  <c:v>15.4</c:v>
                </c:pt>
                <c:pt idx="380">
                  <c:v>4.9000000000000004</c:v>
                </c:pt>
                <c:pt idx="381">
                  <c:v>7.6</c:v>
                </c:pt>
                <c:pt idx="382">
                  <c:v>29.9</c:v>
                </c:pt>
                <c:pt idx="383">
                  <c:v>30.15</c:v>
                </c:pt>
                <c:pt idx="384">
                  <c:v>28.2</c:v>
                </c:pt>
                <c:pt idx="385">
                  <c:v>31.8</c:v>
                </c:pt>
                <c:pt idx="386">
                  <c:v>34.85</c:v>
                </c:pt>
                <c:pt idx="387">
                  <c:v>37</c:v>
                </c:pt>
                <c:pt idx="388">
                  <c:v>39.5</c:v>
                </c:pt>
                <c:pt idx="389">
                  <c:v>35.68</c:v>
                </c:pt>
                <c:pt idx="390">
                  <c:v>34.81</c:v>
                </c:pt>
                <c:pt idx="391">
                  <c:v>32.049999999999997</c:v>
                </c:pt>
                <c:pt idx="392">
                  <c:v>30.55</c:v>
                </c:pt>
                <c:pt idx="393">
                  <c:v>31.05</c:v>
                </c:pt>
                <c:pt idx="394">
                  <c:v>32.51</c:v>
                </c:pt>
                <c:pt idx="395">
                  <c:v>35.700000000000003</c:v>
                </c:pt>
                <c:pt idx="396">
                  <c:v>35.15</c:v>
                </c:pt>
                <c:pt idx="397">
                  <c:v>35.25</c:v>
                </c:pt>
                <c:pt idx="398">
                  <c:v>34.97</c:v>
                </c:pt>
                <c:pt idx="399">
                  <c:v>35.5</c:v>
                </c:pt>
                <c:pt idx="400">
                  <c:v>37.5</c:v>
                </c:pt>
                <c:pt idx="401">
                  <c:v>40.1</c:v>
                </c:pt>
                <c:pt idx="402">
                  <c:v>38.799999999999997</c:v>
                </c:pt>
                <c:pt idx="403">
                  <c:v>40</c:v>
                </c:pt>
                <c:pt idx="404">
                  <c:v>26.12</c:v>
                </c:pt>
                <c:pt idx="405">
                  <c:v>25.11</c:v>
                </c:pt>
                <c:pt idx="406">
                  <c:v>26.7</c:v>
                </c:pt>
                <c:pt idx="407">
                  <c:v>26.51</c:v>
                </c:pt>
                <c:pt idx="408">
                  <c:v>31.07</c:v>
                </c:pt>
                <c:pt idx="409">
                  <c:v>30.4</c:v>
                </c:pt>
                <c:pt idx="410">
                  <c:v>30.38</c:v>
                </c:pt>
                <c:pt idx="411">
                  <c:v>33.200000000000003</c:v>
                </c:pt>
                <c:pt idx="412">
                  <c:v>30.95</c:v>
                </c:pt>
                <c:pt idx="413">
                  <c:v>35.049999999999997</c:v>
                </c:pt>
                <c:pt idx="414">
                  <c:v>36.049999999999997</c:v>
                </c:pt>
                <c:pt idx="415">
                  <c:v>33.47</c:v>
                </c:pt>
                <c:pt idx="416">
                  <c:v>33.450000000000003</c:v>
                </c:pt>
                <c:pt idx="417">
                  <c:v>32.6</c:v>
                </c:pt>
                <c:pt idx="418">
                  <c:v>30.2</c:v>
                </c:pt>
                <c:pt idx="419">
                  <c:v>28.95</c:v>
                </c:pt>
                <c:pt idx="420">
                  <c:v>30</c:v>
                </c:pt>
                <c:pt idx="421">
                  <c:v>27.45</c:v>
                </c:pt>
                <c:pt idx="422">
                  <c:v>26.42</c:v>
                </c:pt>
                <c:pt idx="423">
                  <c:v>27.75</c:v>
                </c:pt>
                <c:pt idx="424">
                  <c:v>29.7</c:v>
                </c:pt>
                <c:pt idx="425">
                  <c:v>29.78</c:v>
                </c:pt>
                <c:pt idx="426">
                  <c:v>30.45</c:v>
                </c:pt>
                <c:pt idx="427">
                  <c:v>30.15</c:v>
                </c:pt>
                <c:pt idx="428">
                  <c:v>32.950000000000003</c:v>
                </c:pt>
                <c:pt idx="429">
                  <c:v>35.61</c:v>
                </c:pt>
                <c:pt idx="430">
                  <c:v>35.82</c:v>
                </c:pt>
                <c:pt idx="431">
                  <c:v>35.1</c:v>
                </c:pt>
                <c:pt idx="432">
                  <c:v>33.65</c:v>
                </c:pt>
                <c:pt idx="433">
                  <c:v>34.15</c:v>
                </c:pt>
                <c:pt idx="434">
                  <c:v>34.950000000000003</c:v>
                </c:pt>
                <c:pt idx="435">
                  <c:v>34.049999999999997</c:v>
                </c:pt>
                <c:pt idx="436">
                  <c:v>35.549999999999997</c:v>
                </c:pt>
                <c:pt idx="437">
                  <c:v>35.67</c:v>
                </c:pt>
                <c:pt idx="438">
                  <c:v>38.6</c:v>
                </c:pt>
                <c:pt idx="439">
                  <c:v>38.4</c:v>
                </c:pt>
                <c:pt idx="440">
                  <c:v>38.65</c:v>
                </c:pt>
                <c:pt idx="441">
                  <c:v>39.67</c:v>
                </c:pt>
                <c:pt idx="442">
                  <c:v>42.13</c:v>
                </c:pt>
                <c:pt idx="443">
                  <c:v>24.88</c:v>
                </c:pt>
                <c:pt idx="444">
                  <c:v>26.3</c:v>
                </c:pt>
                <c:pt idx="445">
                  <c:v>25.7</c:v>
                </c:pt>
                <c:pt idx="446">
                  <c:v>24.81</c:v>
                </c:pt>
                <c:pt idx="447">
                  <c:v>24.65</c:v>
                </c:pt>
                <c:pt idx="448">
                  <c:v>23.5</c:v>
                </c:pt>
                <c:pt idx="449">
                  <c:v>26.4</c:v>
                </c:pt>
                <c:pt idx="450">
                  <c:v>25.75</c:v>
                </c:pt>
                <c:pt idx="451">
                  <c:v>25.47</c:v>
                </c:pt>
                <c:pt idx="452">
                  <c:v>24.35</c:v>
                </c:pt>
                <c:pt idx="453">
                  <c:v>23.5</c:v>
                </c:pt>
                <c:pt idx="454">
                  <c:v>20.9</c:v>
                </c:pt>
                <c:pt idx="455">
                  <c:v>21.82</c:v>
                </c:pt>
                <c:pt idx="456">
                  <c:v>22.6</c:v>
                </c:pt>
                <c:pt idx="457">
                  <c:v>22.02</c:v>
                </c:pt>
                <c:pt idx="458">
                  <c:v>21.9</c:v>
                </c:pt>
                <c:pt idx="459">
                  <c:v>21.68</c:v>
                </c:pt>
                <c:pt idx="460">
                  <c:v>24.45</c:v>
                </c:pt>
                <c:pt idx="461">
                  <c:v>25.1</c:v>
                </c:pt>
                <c:pt idx="462">
                  <c:v>23.5</c:v>
                </c:pt>
                <c:pt idx="463">
                  <c:v>24.13</c:v>
                </c:pt>
                <c:pt idx="464">
                  <c:v>24.39</c:v>
                </c:pt>
                <c:pt idx="465">
                  <c:v>25.55</c:v>
                </c:pt>
                <c:pt idx="466">
                  <c:v>24.95</c:v>
                </c:pt>
                <c:pt idx="467">
                  <c:v>24.6</c:v>
                </c:pt>
                <c:pt idx="468">
                  <c:v>19.7</c:v>
                </c:pt>
                <c:pt idx="469">
                  <c:v>16.7</c:v>
                </c:pt>
                <c:pt idx="470">
                  <c:v>17.71</c:v>
                </c:pt>
                <c:pt idx="471">
                  <c:v>20.91</c:v>
                </c:pt>
                <c:pt idx="472">
                  <c:v>22.5</c:v>
                </c:pt>
                <c:pt idx="473">
                  <c:v>23.85</c:v>
                </c:pt>
                <c:pt idx="474">
                  <c:v>23</c:v>
                </c:pt>
                <c:pt idx="475">
                  <c:v>19.7</c:v>
                </c:pt>
                <c:pt idx="476">
                  <c:v>21.9</c:v>
                </c:pt>
                <c:pt idx="477">
                  <c:v>20.77</c:v>
                </c:pt>
                <c:pt idx="478">
                  <c:v>21.32</c:v>
                </c:pt>
                <c:pt idx="479">
                  <c:v>24</c:v>
                </c:pt>
                <c:pt idx="480">
                  <c:v>25.72</c:v>
                </c:pt>
                <c:pt idx="481">
                  <c:v>27</c:v>
                </c:pt>
                <c:pt idx="482">
                  <c:v>28.06</c:v>
                </c:pt>
                <c:pt idx="483">
                  <c:v>27</c:v>
                </c:pt>
                <c:pt idx="484">
                  <c:v>26.42</c:v>
                </c:pt>
                <c:pt idx="485">
                  <c:v>27</c:v>
                </c:pt>
                <c:pt idx="486">
                  <c:v>28.7</c:v>
                </c:pt>
                <c:pt idx="487">
                  <c:v>28.9</c:v>
                </c:pt>
                <c:pt idx="488">
                  <c:v>27.32</c:v>
                </c:pt>
                <c:pt idx="489">
                  <c:v>27.05</c:v>
                </c:pt>
                <c:pt idx="490">
                  <c:v>27.2</c:v>
                </c:pt>
                <c:pt idx="491">
                  <c:v>29.5</c:v>
                </c:pt>
                <c:pt idx="492">
                  <c:v>29.8</c:v>
                </c:pt>
                <c:pt idx="493">
                  <c:v>26.48</c:v>
                </c:pt>
                <c:pt idx="494">
                  <c:v>28.3</c:v>
                </c:pt>
                <c:pt idx="495">
                  <c:v>28.95</c:v>
                </c:pt>
                <c:pt idx="496">
                  <c:v>28.75</c:v>
                </c:pt>
                <c:pt idx="497">
                  <c:v>27.1</c:v>
                </c:pt>
                <c:pt idx="498">
                  <c:v>27.6</c:v>
                </c:pt>
                <c:pt idx="499">
                  <c:v>27.07</c:v>
                </c:pt>
                <c:pt idx="500">
                  <c:v>25.88</c:v>
                </c:pt>
                <c:pt idx="501">
                  <c:v>24.5</c:v>
                </c:pt>
                <c:pt idx="502">
                  <c:v>22.97</c:v>
                </c:pt>
                <c:pt idx="503">
                  <c:v>26.57</c:v>
                </c:pt>
                <c:pt idx="504">
                  <c:v>24.4</c:v>
                </c:pt>
                <c:pt idx="505">
                  <c:v>24.02</c:v>
                </c:pt>
                <c:pt idx="506">
                  <c:v>24.57</c:v>
                </c:pt>
                <c:pt idx="507">
                  <c:v>21.05</c:v>
                </c:pt>
                <c:pt idx="508">
                  <c:v>23.05</c:v>
                </c:pt>
                <c:pt idx="509">
                  <c:v>22.1</c:v>
                </c:pt>
                <c:pt idx="510">
                  <c:v>24.2</c:v>
                </c:pt>
                <c:pt idx="511">
                  <c:v>15.4</c:v>
                </c:pt>
                <c:pt idx="512">
                  <c:v>16.2</c:v>
                </c:pt>
                <c:pt idx="513">
                  <c:v>16.8</c:v>
                </c:pt>
                <c:pt idx="514">
                  <c:v>17.05</c:v>
                </c:pt>
                <c:pt idx="515">
                  <c:v>15.9</c:v>
                </c:pt>
                <c:pt idx="516">
                  <c:v>16.22</c:v>
                </c:pt>
                <c:pt idx="517">
                  <c:v>16.91</c:v>
                </c:pt>
                <c:pt idx="518">
                  <c:v>16.82</c:v>
                </c:pt>
                <c:pt idx="519">
                  <c:v>17.38</c:v>
                </c:pt>
                <c:pt idx="520">
                  <c:v>19.62</c:v>
                </c:pt>
                <c:pt idx="521">
                  <c:v>20.95</c:v>
                </c:pt>
                <c:pt idx="522">
                  <c:v>19.899999999999999</c:v>
                </c:pt>
                <c:pt idx="523">
                  <c:v>19.25</c:v>
                </c:pt>
                <c:pt idx="524">
                  <c:v>17.600000000000001</c:v>
                </c:pt>
                <c:pt idx="525">
                  <c:v>18.899999999999999</c:v>
                </c:pt>
                <c:pt idx="526">
                  <c:v>20.8</c:v>
                </c:pt>
                <c:pt idx="527">
                  <c:v>20.7</c:v>
                </c:pt>
                <c:pt idx="528">
                  <c:v>18.5</c:v>
                </c:pt>
                <c:pt idx="529">
                  <c:v>18.98</c:v>
                </c:pt>
                <c:pt idx="530">
                  <c:v>19.649999999999999</c:v>
                </c:pt>
                <c:pt idx="531">
                  <c:v>19.7</c:v>
                </c:pt>
                <c:pt idx="532">
                  <c:v>2.4700000000000002</c:v>
                </c:pt>
                <c:pt idx="533">
                  <c:v>5.82</c:v>
                </c:pt>
                <c:pt idx="534">
                  <c:v>17.100000000000001</c:v>
                </c:pt>
                <c:pt idx="535">
                  <c:v>4.91</c:v>
                </c:pt>
                <c:pt idx="536">
                  <c:v>6.53</c:v>
                </c:pt>
                <c:pt idx="537">
                  <c:v>5.49</c:v>
                </c:pt>
                <c:pt idx="538">
                  <c:v>10.29</c:v>
                </c:pt>
                <c:pt idx="539">
                  <c:v>14.6</c:v>
                </c:pt>
                <c:pt idx="540">
                  <c:v>14.25</c:v>
                </c:pt>
                <c:pt idx="541">
                  <c:v>9.2799999999999994</c:v>
                </c:pt>
                <c:pt idx="542">
                  <c:v>11.8</c:v>
                </c:pt>
                <c:pt idx="543">
                  <c:v>15.9</c:v>
                </c:pt>
                <c:pt idx="544">
                  <c:v>16.2</c:v>
                </c:pt>
                <c:pt idx="545">
                  <c:v>17.100000000000001</c:v>
                </c:pt>
                <c:pt idx="546">
                  <c:v>16.2</c:v>
                </c:pt>
                <c:pt idx="547">
                  <c:v>17.45</c:v>
                </c:pt>
                <c:pt idx="548">
                  <c:v>16.190000000000001</c:v>
                </c:pt>
                <c:pt idx="549">
                  <c:v>15.55</c:v>
                </c:pt>
                <c:pt idx="550">
                  <c:v>16.79</c:v>
                </c:pt>
                <c:pt idx="551">
                  <c:v>15.65</c:v>
                </c:pt>
                <c:pt idx="552">
                  <c:v>17.5</c:v>
                </c:pt>
                <c:pt idx="553">
                  <c:v>18.100000000000001</c:v>
                </c:pt>
                <c:pt idx="554">
                  <c:v>16</c:v>
                </c:pt>
                <c:pt idx="555">
                  <c:v>16.5</c:v>
                </c:pt>
                <c:pt idx="556">
                  <c:v>16.2</c:v>
                </c:pt>
                <c:pt idx="557">
                  <c:v>16.829999999999998</c:v>
                </c:pt>
                <c:pt idx="558">
                  <c:v>14.5</c:v>
                </c:pt>
                <c:pt idx="559">
                  <c:v>17.52</c:v>
                </c:pt>
                <c:pt idx="560">
                  <c:v>18.07</c:v>
                </c:pt>
                <c:pt idx="561">
                  <c:v>18.8</c:v>
                </c:pt>
                <c:pt idx="562">
                  <c:v>18.2</c:v>
                </c:pt>
                <c:pt idx="563">
                  <c:v>20.37</c:v>
                </c:pt>
                <c:pt idx="564">
                  <c:v>20</c:v>
                </c:pt>
                <c:pt idx="565">
                  <c:v>20.399999999999999</c:v>
                </c:pt>
                <c:pt idx="566">
                  <c:v>21.3</c:v>
                </c:pt>
                <c:pt idx="567">
                  <c:v>19.75</c:v>
                </c:pt>
                <c:pt idx="568">
                  <c:v>20.6</c:v>
                </c:pt>
                <c:pt idx="569">
                  <c:v>20.95</c:v>
                </c:pt>
                <c:pt idx="570">
                  <c:v>20.64</c:v>
                </c:pt>
                <c:pt idx="571">
                  <c:v>21</c:v>
                </c:pt>
                <c:pt idx="572">
                  <c:v>20.8</c:v>
                </c:pt>
                <c:pt idx="573">
                  <c:v>20.8</c:v>
                </c:pt>
                <c:pt idx="574">
                  <c:v>21.7</c:v>
                </c:pt>
                <c:pt idx="575">
                  <c:v>19.8</c:v>
                </c:pt>
                <c:pt idx="576">
                  <c:v>19.649999999999999</c:v>
                </c:pt>
                <c:pt idx="577">
                  <c:v>19.2</c:v>
                </c:pt>
                <c:pt idx="578">
                  <c:v>20.83</c:v>
                </c:pt>
                <c:pt idx="579">
                  <c:v>21.2</c:v>
                </c:pt>
                <c:pt idx="580">
                  <c:v>20.2</c:v>
                </c:pt>
                <c:pt idx="581">
                  <c:v>19.55</c:v>
                </c:pt>
                <c:pt idx="582">
                  <c:v>21.62</c:v>
                </c:pt>
                <c:pt idx="583">
                  <c:v>22.1</c:v>
                </c:pt>
                <c:pt idx="584">
                  <c:v>24.1</c:v>
                </c:pt>
                <c:pt idx="585">
                  <c:v>25.94</c:v>
                </c:pt>
                <c:pt idx="586">
                  <c:v>25.92</c:v>
                </c:pt>
                <c:pt idx="587">
                  <c:v>25.7</c:v>
                </c:pt>
                <c:pt idx="588">
                  <c:v>24.26</c:v>
                </c:pt>
                <c:pt idx="589">
                  <c:v>25.13</c:v>
                </c:pt>
                <c:pt idx="590">
                  <c:v>26.08</c:v>
                </c:pt>
                <c:pt idx="591">
                  <c:v>25.5</c:v>
                </c:pt>
                <c:pt idx="592">
                  <c:v>24.11</c:v>
                </c:pt>
                <c:pt idx="593">
                  <c:v>22.54</c:v>
                </c:pt>
                <c:pt idx="594">
                  <c:v>24.18</c:v>
                </c:pt>
                <c:pt idx="595">
                  <c:v>25.32</c:v>
                </c:pt>
                <c:pt idx="596">
                  <c:v>25.77</c:v>
                </c:pt>
                <c:pt idx="597">
                  <c:v>24.83</c:v>
                </c:pt>
                <c:pt idx="598">
                  <c:v>24.3</c:v>
                </c:pt>
                <c:pt idx="599">
                  <c:v>25.14</c:v>
                </c:pt>
                <c:pt idx="600">
                  <c:v>26.94</c:v>
                </c:pt>
                <c:pt idx="601">
                  <c:v>25.4</c:v>
                </c:pt>
                <c:pt idx="602">
                  <c:v>28.4</c:v>
                </c:pt>
                <c:pt idx="603">
                  <c:v>30.59</c:v>
                </c:pt>
                <c:pt idx="604">
                  <c:v>16.48</c:v>
                </c:pt>
                <c:pt idx="605">
                  <c:v>16.2</c:v>
                </c:pt>
                <c:pt idx="606">
                  <c:v>14.2</c:v>
                </c:pt>
                <c:pt idx="607">
                  <c:v>15.4</c:v>
                </c:pt>
                <c:pt idx="608">
                  <c:v>13.19</c:v>
                </c:pt>
                <c:pt idx="609">
                  <c:v>13.65</c:v>
                </c:pt>
                <c:pt idx="610">
                  <c:v>14</c:v>
                </c:pt>
                <c:pt idx="611">
                  <c:v>15.8</c:v>
                </c:pt>
                <c:pt idx="612">
                  <c:v>16.05</c:v>
                </c:pt>
                <c:pt idx="613">
                  <c:v>15.32</c:v>
                </c:pt>
                <c:pt idx="614">
                  <c:v>18.55</c:v>
                </c:pt>
                <c:pt idx="615">
                  <c:v>18.55</c:v>
                </c:pt>
                <c:pt idx="616">
                  <c:v>20.149999999999999</c:v>
                </c:pt>
                <c:pt idx="617">
                  <c:v>20.95</c:v>
                </c:pt>
                <c:pt idx="618">
                  <c:v>23.23</c:v>
                </c:pt>
                <c:pt idx="619">
                  <c:v>28.58</c:v>
                </c:pt>
                <c:pt idx="620">
                  <c:v>29.48</c:v>
                </c:pt>
                <c:pt idx="621">
                  <c:v>27.4</c:v>
                </c:pt>
                <c:pt idx="622">
                  <c:v>27.84</c:v>
                </c:pt>
                <c:pt idx="623">
                  <c:v>26.38</c:v>
                </c:pt>
                <c:pt idx="624">
                  <c:v>28.55</c:v>
                </c:pt>
                <c:pt idx="625">
                  <c:v>29.1</c:v>
                </c:pt>
                <c:pt idx="626">
                  <c:v>27.9</c:v>
                </c:pt>
                <c:pt idx="627">
                  <c:v>26.38</c:v>
                </c:pt>
                <c:pt idx="628">
                  <c:v>26.4</c:v>
                </c:pt>
                <c:pt idx="629">
                  <c:v>27.15</c:v>
                </c:pt>
                <c:pt idx="630">
                  <c:v>29.7</c:v>
                </c:pt>
                <c:pt idx="631">
                  <c:v>26.1</c:v>
                </c:pt>
                <c:pt idx="632">
                  <c:v>34.700000000000003</c:v>
                </c:pt>
                <c:pt idx="633">
                  <c:v>38.6</c:v>
                </c:pt>
                <c:pt idx="634">
                  <c:v>40.700000000000003</c:v>
                </c:pt>
                <c:pt idx="635">
                  <c:v>52.7</c:v>
                </c:pt>
                <c:pt idx="636">
                  <c:v>47.7</c:v>
                </c:pt>
                <c:pt idx="637">
                  <c:v>44</c:v>
                </c:pt>
                <c:pt idx="638">
                  <c:v>42.5</c:v>
                </c:pt>
                <c:pt idx="639">
                  <c:v>40.700000000000003</c:v>
                </c:pt>
                <c:pt idx="640">
                  <c:v>39.5</c:v>
                </c:pt>
                <c:pt idx="641">
                  <c:v>48.1</c:v>
                </c:pt>
                <c:pt idx="642">
                  <c:v>48.18</c:v>
                </c:pt>
                <c:pt idx="643">
                  <c:v>53.9</c:v>
                </c:pt>
                <c:pt idx="644">
                  <c:v>54.2</c:v>
                </c:pt>
                <c:pt idx="645">
                  <c:v>49.1</c:v>
                </c:pt>
                <c:pt idx="646">
                  <c:v>45.5</c:v>
                </c:pt>
                <c:pt idx="647">
                  <c:v>48.4</c:v>
                </c:pt>
                <c:pt idx="648">
                  <c:v>46.1</c:v>
                </c:pt>
                <c:pt idx="649">
                  <c:v>37.72</c:v>
                </c:pt>
                <c:pt idx="650">
                  <c:v>46.2</c:v>
                </c:pt>
                <c:pt idx="651">
                  <c:v>32.85</c:v>
                </c:pt>
                <c:pt idx="652">
                  <c:v>32.6</c:v>
                </c:pt>
                <c:pt idx="653">
                  <c:v>32</c:v>
                </c:pt>
                <c:pt idx="654">
                  <c:v>36.1</c:v>
                </c:pt>
                <c:pt idx="655">
                  <c:v>39.6</c:v>
                </c:pt>
                <c:pt idx="656">
                  <c:v>44.9</c:v>
                </c:pt>
                <c:pt idx="657">
                  <c:v>50.1</c:v>
                </c:pt>
                <c:pt idx="658">
                  <c:v>47.8</c:v>
                </c:pt>
                <c:pt idx="659">
                  <c:v>47.1</c:v>
                </c:pt>
                <c:pt idx="660">
                  <c:v>53.9</c:v>
                </c:pt>
                <c:pt idx="661">
                  <c:v>50</c:v>
                </c:pt>
                <c:pt idx="662">
                  <c:v>47.4</c:v>
                </c:pt>
                <c:pt idx="663">
                  <c:v>47.8</c:v>
                </c:pt>
                <c:pt idx="664">
                  <c:v>57.4</c:v>
                </c:pt>
                <c:pt idx="665">
                  <c:v>61.8</c:v>
                </c:pt>
                <c:pt idx="666">
                  <c:v>69</c:v>
                </c:pt>
                <c:pt idx="667">
                  <c:v>62.97</c:v>
                </c:pt>
                <c:pt idx="668">
                  <c:v>54.02</c:v>
                </c:pt>
                <c:pt idx="669">
                  <c:v>58.9</c:v>
                </c:pt>
                <c:pt idx="670">
                  <c:v>56.5</c:v>
                </c:pt>
                <c:pt idx="671">
                  <c:v>42.1</c:v>
                </c:pt>
                <c:pt idx="672">
                  <c:v>49.6</c:v>
                </c:pt>
                <c:pt idx="673">
                  <c:v>41.5</c:v>
                </c:pt>
                <c:pt idx="674">
                  <c:v>47.9</c:v>
                </c:pt>
                <c:pt idx="675">
                  <c:v>43.65</c:v>
                </c:pt>
                <c:pt idx="676">
                  <c:v>39.18</c:v>
                </c:pt>
                <c:pt idx="677">
                  <c:v>41.3</c:v>
                </c:pt>
                <c:pt idx="678">
                  <c:v>36.6</c:v>
                </c:pt>
                <c:pt idx="679">
                  <c:v>36.200000000000003</c:v>
                </c:pt>
                <c:pt idx="680">
                  <c:v>28.25</c:v>
                </c:pt>
                <c:pt idx="681">
                  <c:v>33.229999999999997</c:v>
                </c:pt>
                <c:pt idx="682">
                  <c:v>34.380000000000003</c:v>
                </c:pt>
                <c:pt idx="683">
                  <c:v>34.200000000000003</c:v>
                </c:pt>
                <c:pt idx="684">
                  <c:v>29.6</c:v>
                </c:pt>
                <c:pt idx="685">
                  <c:v>32.1</c:v>
                </c:pt>
                <c:pt idx="686">
                  <c:v>33.700000000000003</c:v>
                </c:pt>
                <c:pt idx="687">
                  <c:v>29.22</c:v>
                </c:pt>
                <c:pt idx="688">
                  <c:v>29.1</c:v>
                </c:pt>
                <c:pt idx="689">
                  <c:v>45.27</c:v>
                </c:pt>
                <c:pt idx="690">
                  <c:v>43.65</c:v>
                </c:pt>
                <c:pt idx="691">
                  <c:v>40</c:v>
                </c:pt>
                <c:pt idx="692">
                  <c:v>39</c:v>
                </c:pt>
                <c:pt idx="693">
                  <c:v>31.05</c:v>
                </c:pt>
                <c:pt idx="694">
                  <c:v>36</c:v>
                </c:pt>
                <c:pt idx="695">
                  <c:v>41.05</c:v>
                </c:pt>
                <c:pt idx="696">
                  <c:v>37.5</c:v>
                </c:pt>
                <c:pt idx="697">
                  <c:v>38.15</c:v>
                </c:pt>
                <c:pt idx="698">
                  <c:v>37.450000000000003</c:v>
                </c:pt>
                <c:pt idx="699">
                  <c:v>35.450000000000003</c:v>
                </c:pt>
                <c:pt idx="700">
                  <c:v>38.43</c:v>
                </c:pt>
                <c:pt idx="701">
                  <c:v>32.9</c:v>
                </c:pt>
                <c:pt idx="702">
                  <c:v>34</c:v>
                </c:pt>
                <c:pt idx="703">
                  <c:v>35.79</c:v>
                </c:pt>
                <c:pt idx="704">
                  <c:v>34.93</c:v>
                </c:pt>
                <c:pt idx="705">
                  <c:v>33.729999999999997</c:v>
                </c:pt>
                <c:pt idx="706">
                  <c:v>32.94</c:v>
                </c:pt>
                <c:pt idx="707">
                  <c:v>34.049999999999997</c:v>
                </c:pt>
                <c:pt idx="708">
                  <c:v>31.8</c:v>
                </c:pt>
                <c:pt idx="709">
                  <c:v>33.65</c:v>
                </c:pt>
                <c:pt idx="710">
                  <c:v>33.979999999999997</c:v>
                </c:pt>
                <c:pt idx="711">
                  <c:v>33</c:v>
                </c:pt>
                <c:pt idx="712">
                  <c:v>32.5</c:v>
                </c:pt>
                <c:pt idx="713">
                  <c:v>30.23</c:v>
                </c:pt>
                <c:pt idx="714">
                  <c:v>28.2</c:v>
                </c:pt>
                <c:pt idx="715">
                  <c:v>23.98</c:v>
                </c:pt>
                <c:pt idx="716">
                  <c:v>24.18</c:v>
                </c:pt>
                <c:pt idx="717">
                  <c:v>25.22</c:v>
                </c:pt>
                <c:pt idx="718">
                  <c:v>23.8</c:v>
                </c:pt>
                <c:pt idx="719">
                  <c:v>22.3</c:v>
                </c:pt>
                <c:pt idx="720">
                  <c:v>21.95</c:v>
                </c:pt>
                <c:pt idx="721">
                  <c:v>17.399999999999999</c:v>
                </c:pt>
                <c:pt idx="722">
                  <c:v>15.5</c:v>
                </c:pt>
                <c:pt idx="723">
                  <c:v>12.8</c:v>
                </c:pt>
                <c:pt idx="724">
                  <c:v>16.100000000000001</c:v>
                </c:pt>
                <c:pt idx="725">
                  <c:v>16.850000000000001</c:v>
                </c:pt>
                <c:pt idx="726">
                  <c:v>16</c:v>
                </c:pt>
                <c:pt idx="727">
                  <c:v>14.09</c:v>
                </c:pt>
                <c:pt idx="728">
                  <c:v>16.899999999999999</c:v>
                </c:pt>
                <c:pt idx="729">
                  <c:v>20.07</c:v>
                </c:pt>
                <c:pt idx="730">
                  <c:v>17.600000000000001</c:v>
                </c:pt>
                <c:pt idx="731">
                  <c:v>12.6</c:v>
                </c:pt>
                <c:pt idx="732">
                  <c:v>11.9</c:v>
                </c:pt>
                <c:pt idx="733">
                  <c:v>10.199999999999999</c:v>
                </c:pt>
                <c:pt idx="734">
                  <c:v>10.33</c:v>
                </c:pt>
                <c:pt idx="735">
                  <c:v>10.7</c:v>
                </c:pt>
                <c:pt idx="736">
                  <c:v>8.1199999999999992</c:v>
                </c:pt>
                <c:pt idx="737">
                  <c:v>8.33</c:v>
                </c:pt>
                <c:pt idx="738">
                  <c:v>7.2</c:v>
                </c:pt>
                <c:pt idx="739">
                  <c:v>4.28</c:v>
                </c:pt>
                <c:pt idx="740">
                  <c:v>5.0999999999999996</c:v>
                </c:pt>
                <c:pt idx="741">
                  <c:v>6.17</c:v>
                </c:pt>
                <c:pt idx="742">
                  <c:v>5.94</c:v>
                </c:pt>
                <c:pt idx="743">
                  <c:v>2</c:v>
                </c:pt>
                <c:pt idx="744">
                  <c:v>2.85</c:v>
                </c:pt>
                <c:pt idx="745">
                  <c:v>5.98</c:v>
                </c:pt>
                <c:pt idx="746">
                  <c:v>5.08</c:v>
                </c:pt>
                <c:pt idx="747">
                  <c:v>4</c:v>
                </c:pt>
                <c:pt idx="748">
                  <c:v>4.38</c:v>
                </c:pt>
                <c:pt idx="749">
                  <c:v>3</c:v>
                </c:pt>
                <c:pt idx="750">
                  <c:v>2.15</c:v>
                </c:pt>
                <c:pt idx="751">
                  <c:v>0.69</c:v>
                </c:pt>
                <c:pt idx="752">
                  <c:v>0.3</c:v>
                </c:pt>
                <c:pt idx="753">
                  <c:v>-2.59</c:v>
                </c:pt>
                <c:pt idx="754">
                  <c:v>-14.48</c:v>
                </c:pt>
                <c:pt idx="755">
                  <c:v>-14.75</c:v>
                </c:pt>
                <c:pt idx="756">
                  <c:v>-15.5</c:v>
                </c:pt>
                <c:pt idx="757">
                  <c:v>-10.98</c:v>
                </c:pt>
                <c:pt idx="758">
                  <c:v>-12.1</c:v>
                </c:pt>
                <c:pt idx="759">
                  <c:v>-11.7</c:v>
                </c:pt>
                <c:pt idx="760">
                  <c:v>-12.9</c:v>
                </c:pt>
                <c:pt idx="761">
                  <c:v>-14.65</c:v>
                </c:pt>
                <c:pt idx="762">
                  <c:v>-14.8</c:v>
                </c:pt>
                <c:pt idx="763">
                  <c:v>-16.79</c:v>
                </c:pt>
                <c:pt idx="764">
                  <c:v>-15</c:v>
                </c:pt>
                <c:pt idx="765">
                  <c:v>-16.600000000000001</c:v>
                </c:pt>
                <c:pt idx="766">
                  <c:v>-12.25</c:v>
                </c:pt>
                <c:pt idx="767">
                  <c:v>-15</c:v>
                </c:pt>
                <c:pt idx="768">
                  <c:v>-22</c:v>
                </c:pt>
                <c:pt idx="769">
                  <c:v>-23.23</c:v>
                </c:pt>
                <c:pt idx="770">
                  <c:v>-21.4</c:v>
                </c:pt>
                <c:pt idx="771">
                  <c:v>-23.25</c:v>
                </c:pt>
                <c:pt idx="772">
                  <c:v>-21.89</c:v>
                </c:pt>
                <c:pt idx="773">
                  <c:v>-27.9</c:v>
                </c:pt>
                <c:pt idx="774">
                  <c:v>-35.18</c:v>
                </c:pt>
                <c:pt idx="775">
                  <c:v>-38.96</c:v>
                </c:pt>
                <c:pt idx="776">
                  <c:v>-41</c:v>
                </c:pt>
                <c:pt idx="777">
                  <c:v>-36.9</c:v>
                </c:pt>
                <c:pt idx="778">
                  <c:v>-44.65</c:v>
                </c:pt>
                <c:pt idx="779">
                  <c:v>-44.79</c:v>
                </c:pt>
                <c:pt idx="780">
                  <c:v>-43.2</c:v>
                </c:pt>
                <c:pt idx="781">
                  <c:v>-43.4</c:v>
                </c:pt>
                <c:pt idx="782">
                  <c:v>-46.59</c:v>
                </c:pt>
                <c:pt idx="783">
                  <c:v>-53.35</c:v>
                </c:pt>
                <c:pt idx="784">
                  <c:v>-52</c:v>
                </c:pt>
                <c:pt idx="785">
                  <c:v>-47.9</c:v>
                </c:pt>
                <c:pt idx="786">
                  <c:v>-42.45</c:v>
                </c:pt>
                <c:pt idx="787">
                  <c:v>-42.5</c:v>
                </c:pt>
                <c:pt idx="788">
                  <c:v>-42.8</c:v>
                </c:pt>
                <c:pt idx="789">
                  <c:v>-35.799999999999997</c:v>
                </c:pt>
                <c:pt idx="790">
                  <c:v>-39.85</c:v>
                </c:pt>
                <c:pt idx="791">
                  <c:v>-38.299999999999997</c:v>
                </c:pt>
                <c:pt idx="792">
                  <c:v>-38.200000000000003</c:v>
                </c:pt>
                <c:pt idx="793">
                  <c:v>-36.200000000000003</c:v>
                </c:pt>
                <c:pt idx="794">
                  <c:v>-35.47</c:v>
                </c:pt>
                <c:pt idx="795">
                  <c:v>-32.68</c:v>
                </c:pt>
                <c:pt idx="796">
                  <c:v>-32.21</c:v>
                </c:pt>
                <c:pt idx="797">
                  <c:v>-30.4</c:v>
                </c:pt>
                <c:pt idx="798">
                  <c:v>-30.8</c:v>
                </c:pt>
                <c:pt idx="799">
                  <c:v>-28.77</c:v>
                </c:pt>
                <c:pt idx="800">
                  <c:v>-27.6</c:v>
                </c:pt>
                <c:pt idx="801">
                  <c:v>-28.2</c:v>
                </c:pt>
                <c:pt idx="802">
                  <c:v>-27.76</c:v>
                </c:pt>
                <c:pt idx="803">
                  <c:v>-25.4</c:v>
                </c:pt>
                <c:pt idx="804">
                  <c:v>-41.1</c:v>
                </c:pt>
                <c:pt idx="805">
                  <c:v>-41.65</c:v>
                </c:pt>
                <c:pt idx="806">
                  <c:v>-44.87</c:v>
                </c:pt>
                <c:pt idx="807">
                  <c:v>-45.55</c:v>
                </c:pt>
                <c:pt idx="808">
                  <c:v>-42.5</c:v>
                </c:pt>
                <c:pt idx="809">
                  <c:v>-44.4</c:v>
                </c:pt>
                <c:pt idx="810">
                  <c:v>-46.27</c:v>
                </c:pt>
                <c:pt idx="811">
                  <c:v>-46</c:v>
                </c:pt>
                <c:pt idx="812">
                  <c:v>-43.1</c:v>
                </c:pt>
                <c:pt idx="813">
                  <c:v>-42.07</c:v>
                </c:pt>
                <c:pt idx="814">
                  <c:v>-40.9</c:v>
                </c:pt>
                <c:pt idx="815">
                  <c:v>-44.23</c:v>
                </c:pt>
                <c:pt idx="816">
                  <c:v>-44.74</c:v>
                </c:pt>
                <c:pt idx="817">
                  <c:v>-50.96</c:v>
                </c:pt>
                <c:pt idx="818">
                  <c:v>-48.12</c:v>
                </c:pt>
                <c:pt idx="819">
                  <c:v>-45.21</c:v>
                </c:pt>
                <c:pt idx="820">
                  <c:v>-45.83</c:v>
                </c:pt>
                <c:pt idx="821">
                  <c:v>-43.8</c:v>
                </c:pt>
                <c:pt idx="822">
                  <c:v>-42.67</c:v>
                </c:pt>
                <c:pt idx="823">
                  <c:v>-44</c:v>
                </c:pt>
                <c:pt idx="824">
                  <c:v>-38.549999999999997</c:v>
                </c:pt>
                <c:pt idx="825">
                  <c:v>-41.45</c:v>
                </c:pt>
                <c:pt idx="826">
                  <c:v>-38.5</c:v>
                </c:pt>
                <c:pt idx="827">
                  <c:v>-38.299999999999997</c:v>
                </c:pt>
                <c:pt idx="828">
                  <c:v>-33.880000000000003</c:v>
                </c:pt>
                <c:pt idx="829">
                  <c:v>-36</c:v>
                </c:pt>
                <c:pt idx="830">
                  <c:v>-32.4</c:v>
                </c:pt>
                <c:pt idx="831">
                  <c:v>-32.39</c:v>
                </c:pt>
                <c:pt idx="832">
                  <c:v>-30.66</c:v>
                </c:pt>
                <c:pt idx="833">
                  <c:v>-29.13</c:v>
                </c:pt>
                <c:pt idx="834">
                  <c:v>-26.4</c:v>
                </c:pt>
                <c:pt idx="835">
                  <c:v>-29.2</c:v>
                </c:pt>
                <c:pt idx="836">
                  <c:v>-26.57</c:v>
                </c:pt>
                <c:pt idx="837">
                  <c:v>-27.9</c:v>
                </c:pt>
                <c:pt idx="838">
                  <c:v>-19.899999999999999</c:v>
                </c:pt>
                <c:pt idx="839">
                  <c:v>-20.6</c:v>
                </c:pt>
                <c:pt idx="840">
                  <c:v>-22.31</c:v>
                </c:pt>
                <c:pt idx="841">
                  <c:v>-20.7</c:v>
                </c:pt>
                <c:pt idx="842">
                  <c:v>-19.57</c:v>
                </c:pt>
                <c:pt idx="843">
                  <c:v>-18.71</c:v>
                </c:pt>
                <c:pt idx="844">
                  <c:v>-25.19</c:v>
                </c:pt>
                <c:pt idx="845">
                  <c:v>-26.06</c:v>
                </c:pt>
                <c:pt idx="846">
                  <c:v>-27.1</c:v>
                </c:pt>
                <c:pt idx="847">
                  <c:v>-24.98</c:v>
                </c:pt>
                <c:pt idx="848">
                  <c:v>-23.1</c:v>
                </c:pt>
                <c:pt idx="849">
                  <c:v>-23.2</c:v>
                </c:pt>
                <c:pt idx="850">
                  <c:v>-21</c:v>
                </c:pt>
                <c:pt idx="851">
                  <c:v>-21.5</c:v>
                </c:pt>
                <c:pt idx="852">
                  <c:v>-21.6</c:v>
                </c:pt>
                <c:pt idx="853">
                  <c:v>-20</c:v>
                </c:pt>
                <c:pt idx="854">
                  <c:v>-21.06</c:v>
                </c:pt>
                <c:pt idx="855">
                  <c:v>-18.43</c:v>
                </c:pt>
                <c:pt idx="856">
                  <c:v>-19.149999999999999</c:v>
                </c:pt>
                <c:pt idx="857">
                  <c:v>-21.66</c:v>
                </c:pt>
                <c:pt idx="858">
                  <c:v>-33.409999999999997</c:v>
                </c:pt>
                <c:pt idx="859">
                  <c:v>-32.5</c:v>
                </c:pt>
                <c:pt idx="860">
                  <c:v>-33.71</c:v>
                </c:pt>
                <c:pt idx="861">
                  <c:v>-34</c:v>
                </c:pt>
                <c:pt idx="862">
                  <c:v>-32.799999999999997</c:v>
                </c:pt>
                <c:pt idx="863">
                  <c:v>-33.24</c:v>
                </c:pt>
                <c:pt idx="864">
                  <c:v>-33.729999999999997</c:v>
                </c:pt>
                <c:pt idx="865">
                  <c:v>-33.479999999999997</c:v>
                </c:pt>
                <c:pt idx="866">
                  <c:v>-32.54</c:v>
                </c:pt>
                <c:pt idx="867">
                  <c:v>-38.17</c:v>
                </c:pt>
                <c:pt idx="868">
                  <c:v>-40</c:v>
                </c:pt>
                <c:pt idx="869">
                  <c:v>-36.33</c:v>
                </c:pt>
                <c:pt idx="870">
                  <c:v>-36.82</c:v>
                </c:pt>
                <c:pt idx="871">
                  <c:v>-42.72</c:v>
                </c:pt>
                <c:pt idx="872">
                  <c:v>-48.74</c:v>
                </c:pt>
                <c:pt idx="873">
                  <c:v>-48.84</c:v>
                </c:pt>
                <c:pt idx="874">
                  <c:v>-83.1</c:v>
                </c:pt>
              </c:numCache>
            </c:numRef>
          </c:yVal>
          <c:smooth val="0"/>
          <c:extLst>
            <c:ext xmlns:c16="http://schemas.microsoft.com/office/drawing/2014/chart" uri="{C3380CC4-5D6E-409C-BE32-E72D297353CC}">
              <c16:uniqueId val="{00000001-E0C1-47F0-B078-F177E6126D99}"/>
            </c:ext>
          </c:extLst>
        </c:ser>
        <c:ser>
          <c:idx val="1"/>
          <c:order val="1"/>
          <c:tx>
            <c:strRef>
              <c:f>Sheet1!$B$878</c:f>
              <c:strCache>
                <c:ptCount val="1"/>
                <c:pt idx="0">
                  <c:v>1-year</c:v>
                </c:pt>
              </c:strCache>
            </c:strRef>
          </c:tx>
          <c:spPr>
            <a:ln w="25400">
              <a:solidFill>
                <a:srgbClr val="3C8DBC"/>
              </a:solidFill>
            </a:ln>
          </c:spPr>
          <c:marker>
            <c:symbol val="none"/>
          </c:marker>
          <c:dLbls>
            <c:dLbl>
              <c:idx val="874"/>
              <c:tx>
                <c:rich>
                  <a:bodyPr/>
                  <a:lstStyle/>
                  <a:p>
                    <a:r>
                      <a:rPr lang="en-US" sz="950" b="1">
                        <a:solidFill>
                          <a:srgbClr val="3C8DBC"/>
                        </a:solidFill>
                        <a:latin typeface="Garamond"/>
                      </a:rPr>
                      <a:t>1-year −1bp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0C1-47F0-B078-F177E6126D9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Sheet1!$A$879:$A$1753</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Sheet1!$B$879:$B$1753</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3-E0C1-47F0-B078-F177E6126D99}"/>
            </c:ext>
          </c:extLst>
        </c:ser>
        <c:dLbls>
          <c:showLegendKey val="0"/>
          <c:showVal val="0"/>
          <c:showCatName val="0"/>
          <c:showSerName val="0"/>
          <c:showPercent val="0"/>
          <c:showBubbleSize val="0"/>
        </c:dLbls>
        <c:axId val="-2128940872"/>
        <c:axId val="-2129643912"/>
      </c:scatterChart>
      <c:valAx>
        <c:axId val="-2128940872"/>
        <c:scaling>
          <c:orientation val="minMax"/>
          <c:max val="47393"/>
          <c:min val="40179"/>
        </c:scaling>
        <c:delete val="0"/>
        <c:axPos val="b"/>
        <c:numFmt formatCode="yyyy" sourceLinked="0"/>
        <c:majorTickMark val="out"/>
        <c:minorTickMark val="none"/>
        <c:tickLblPos val="low"/>
        <c:spPr>
          <a:ln>
            <a:solidFill>
              <a:srgbClr val="DCE3EF"/>
            </a:solidFill>
          </a:ln>
        </c:spPr>
        <c:txPr>
          <a:bodyPr/>
          <a:lstStyle/>
          <a:p>
            <a:pPr>
              <a:defRPr sz="950">
                <a:solidFill>
                  <a:srgbClr val="5A6172"/>
                </a:solidFill>
              </a:defRPr>
            </a:pPr>
            <a:endParaRPr lang="en-US"/>
          </a:p>
        </c:txPr>
        <c:crossAx val="-2129643912"/>
        <c:crosses val="autoZero"/>
        <c:crossBetween val="midCat"/>
        <c:majorUnit val="730"/>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5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950">
          <a:latin typeface="Garamo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A1B2"/>
            </a:solidFill>
            <a:ln>
              <a:noFill/>
            </a:ln>
          </c:spPr>
          <c:invertIfNegative val="1"/>
          <c:dPt>
            <c:idx val="3"/>
            <c:invertIfNegative val="1"/>
            <c:bubble3D val="0"/>
            <c:spPr>
              <a:solidFill>
                <a:srgbClr val="2A9D8F"/>
              </a:solidFill>
              <a:ln>
                <a:noFill/>
              </a:ln>
            </c:spPr>
            <c:extLst>
              <c:ext xmlns:c16="http://schemas.microsoft.com/office/drawing/2014/chart" uri="{C3380CC4-5D6E-409C-BE32-E72D297353CC}">
                <c16:uniqueId val="{00000001-FA7A-4A22-8FD3-73DAA9781222}"/>
              </c:ext>
            </c:extLst>
          </c:dPt>
          <c:dLbls>
            <c:numFmt formatCode="&quot;+€&quot;0.0&quot;m&quot;" sourceLinked="0"/>
            <c:spPr>
              <a:noFill/>
              <a:ln>
                <a:noFill/>
              </a:ln>
              <a:effectLst/>
            </c:spPr>
            <c:txPr>
              <a:bodyPr wrap="none"/>
              <a:lstStyle/>
              <a:p>
                <a:pPr>
                  <a:defRPr sz="1400" b="1">
                    <a:solidFill>
                      <a:srgbClr val="011C40"/>
                    </a:solidFill>
                    <a:latin typeface="Garamond"/>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5"/>
              <c:pt idx="0">
                <c:v>Break-even
−445bp
95.73</c:v>
              </c:pt>
              <c:pt idx="1">
                <c:v>Italy 2011
−350bp
96.60</c:v>
              </c:pt>
              <c:pt idx="2">
                <c:v>No roll
−83bp
99.12</c:v>
              </c:pt>
              <c:pt idx="3">
                <c:v>Roll to spot
−3bp
99.89</c:v>
              </c:pt>
              <c:pt idx="4">
                <c:v>Median
+28bp
100.19</c:v>
              </c:pt>
            </c:strLit>
          </c:cat>
          <c:val>
            <c:numLit>
              <c:formatCode>General</c:formatCode>
              <c:ptCount val="5"/>
              <c:pt idx="0">
                <c:v>1.02</c:v>
              </c:pt>
              <c:pt idx="1">
                <c:v>1.88</c:v>
              </c:pt>
              <c:pt idx="2">
                <c:v>4.4000000000000004</c:v>
              </c:pt>
              <c:pt idx="3">
                <c:v>5.17</c:v>
              </c:pt>
              <c:pt idx="4">
                <c:v>5.48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FA7A-4A22-8FD3-73DAA9781222}"/>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0C6CF"/>
            </a:solidFill>
          </a:ln>
        </c:spPr>
        <c:txPr>
          <a:bodyPr rot="0" vert="horz"/>
          <a:lstStyle/>
          <a:p>
            <a:pPr>
              <a:defRPr sz="1400" b="0">
                <a:solidFill>
                  <a:srgbClr val="011C40"/>
                </a:solidFill>
                <a:latin typeface="Garamond"/>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2"/>
          <c:y val="0.03"/>
          <c:w val="0.7"/>
          <c:h val="0.87"/>
        </c:manualLayout>
      </c:layout>
      <c:scatterChart>
        <c:scatterStyle val="lineMarker"/>
        <c:varyColors val="0"/>
        <c:ser>
          <c:idx val="0"/>
          <c:order val="0"/>
          <c:tx>
            <c:strRef>
              <c:f>Sheet1!$B$1</c:f>
              <c:strCache>
                <c:ptCount val="1"/>
                <c:pt idx="0">
                  <c:v>1-year France spread</c:v>
                </c:pt>
              </c:strCache>
            </c:strRef>
          </c:tx>
          <c:spPr>
            <a:ln w="22225">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0-B612-4098-A359-4E94E6A0678C}"/>
            </c:ext>
          </c:extLst>
        </c:ser>
        <c:ser>
          <c:idx val="1"/>
          <c:order val="1"/>
          <c:tx>
            <c:strRef>
              <c:f>Sheet1!$B$878</c:f>
              <c:strCache>
                <c:ptCount val="1"/>
                <c:pt idx="0">
                  <c:v>S1</c:v>
                </c:pt>
              </c:strCache>
            </c:strRef>
          </c:tx>
          <c:spPr>
            <a:ln w="19050">
              <a:solidFill>
                <a:srgbClr val="2C7A5A"/>
              </a:solidFill>
              <a:prstDash val="dash"/>
            </a:ln>
          </c:spPr>
          <c:marker>
            <c:symbol val="none"/>
          </c:marker>
          <c:xVal>
            <c:numRef>
              <c:f>Sheet1!$A$879:$A$880</c:f>
              <c:numCache>
                <c:formatCode>General</c:formatCode>
                <c:ptCount val="2"/>
                <c:pt idx="0">
                  <c:v>40179</c:v>
                </c:pt>
                <c:pt idx="1">
                  <c:v>46297</c:v>
                </c:pt>
              </c:numCache>
            </c:numRef>
          </c:xVal>
          <c:yVal>
            <c:numRef>
              <c:f>Sheet1!$B$879:$B$880</c:f>
              <c:numCache>
                <c:formatCode>General</c:formatCode>
                <c:ptCount val="2"/>
                <c:pt idx="0">
                  <c:v>28</c:v>
                </c:pt>
                <c:pt idx="1">
                  <c:v>28</c:v>
                </c:pt>
              </c:numCache>
            </c:numRef>
          </c:yVal>
          <c:smooth val="0"/>
          <c:extLst>
            <c:ext xmlns:c16="http://schemas.microsoft.com/office/drawing/2014/chart" uri="{C3380CC4-5D6E-409C-BE32-E72D297353CC}">
              <c16:uniqueId val="{00000001-B612-4098-A359-4E94E6A0678C}"/>
            </c:ext>
          </c:extLst>
        </c:ser>
        <c:ser>
          <c:idx val="2"/>
          <c:order val="2"/>
          <c:tx>
            <c:strRef>
              <c:f>Sheet1!$B$882</c:f>
              <c:strCache>
                <c:ptCount val="1"/>
                <c:pt idx="0">
                  <c:v>S3</c:v>
                </c:pt>
              </c:strCache>
            </c:strRef>
          </c:tx>
          <c:spPr>
            <a:ln w="19050">
              <a:solidFill>
                <a:srgbClr val="3C8DBC"/>
              </a:solidFill>
              <a:prstDash val="dash"/>
            </a:ln>
          </c:spPr>
          <c:marker>
            <c:symbol val="none"/>
          </c:marker>
          <c:xVal>
            <c:numRef>
              <c:f>Sheet1!$A$883:$A$884</c:f>
              <c:numCache>
                <c:formatCode>General</c:formatCode>
                <c:ptCount val="2"/>
                <c:pt idx="0">
                  <c:v>40179</c:v>
                </c:pt>
                <c:pt idx="1">
                  <c:v>46297</c:v>
                </c:pt>
              </c:numCache>
            </c:numRef>
          </c:xVal>
          <c:yVal>
            <c:numRef>
              <c:f>Sheet1!$B$883:$B$884</c:f>
              <c:numCache>
                <c:formatCode>General</c:formatCode>
                <c:ptCount val="2"/>
                <c:pt idx="0">
                  <c:v>-1.3</c:v>
                </c:pt>
                <c:pt idx="1">
                  <c:v>-1.3</c:v>
                </c:pt>
              </c:numCache>
            </c:numRef>
          </c:yVal>
          <c:smooth val="0"/>
          <c:extLst>
            <c:ext xmlns:c16="http://schemas.microsoft.com/office/drawing/2014/chart" uri="{C3380CC4-5D6E-409C-BE32-E72D297353CC}">
              <c16:uniqueId val="{00000002-B612-4098-A359-4E94E6A0678C}"/>
            </c:ext>
          </c:extLst>
        </c:ser>
        <c:ser>
          <c:idx val="3"/>
          <c:order val="3"/>
          <c:tx>
            <c:strRef>
              <c:f>Sheet1!$B$886</c:f>
              <c:strCache>
                <c:ptCount val="1"/>
                <c:pt idx="0">
                  <c:v>S4</c:v>
                </c:pt>
              </c:strCache>
            </c:strRef>
          </c:tx>
          <c:spPr>
            <a:ln w="19050">
              <a:solidFill>
                <a:srgbClr val="011C40"/>
              </a:solidFill>
              <a:prstDash val="dash"/>
            </a:ln>
          </c:spPr>
          <c:marker>
            <c:symbol val="none"/>
          </c:marker>
          <c:xVal>
            <c:numRef>
              <c:f>Sheet1!$A$887:$A$888</c:f>
              <c:numCache>
                <c:formatCode>General</c:formatCode>
                <c:ptCount val="2"/>
                <c:pt idx="0">
                  <c:v>40179</c:v>
                </c:pt>
                <c:pt idx="1">
                  <c:v>46297</c:v>
                </c:pt>
              </c:numCache>
            </c:numRef>
          </c:xVal>
          <c:yVal>
            <c:numRef>
              <c:f>Sheet1!$B$887:$B$888</c:f>
              <c:numCache>
                <c:formatCode>General</c:formatCode>
                <c:ptCount val="2"/>
                <c:pt idx="0">
                  <c:v>-83</c:v>
                </c:pt>
                <c:pt idx="1">
                  <c:v>-83</c:v>
                </c:pt>
              </c:numCache>
            </c:numRef>
          </c:yVal>
          <c:smooth val="0"/>
          <c:extLst>
            <c:ext xmlns:c16="http://schemas.microsoft.com/office/drawing/2014/chart" uri="{C3380CC4-5D6E-409C-BE32-E72D297353CC}">
              <c16:uniqueId val="{00000003-B612-4098-A359-4E94E6A0678C}"/>
            </c:ext>
          </c:extLst>
        </c:ser>
        <c:ser>
          <c:idx val="4"/>
          <c:order val="4"/>
          <c:tx>
            <c:strRef>
              <c:f>Sheet1!$B$890</c:f>
              <c:strCache>
                <c:ptCount val="1"/>
                <c:pt idx="0">
                  <c:v>S5</c:v>
                </c:pt>
              </c:strCache>
            </c:strRef>
          </c:tx>
          <c:spPr>
            <a:ln w="19050">
              <a:solidFill>
                <a:srgbClr val="6A4C93"/>
              </a:solidFill>
              <a:prstDash val="dash"/>
            </a:ln>
          </c:spPr>
          <c:marker>
            <c:symbol val="none"/>
          </c:marker>
          <c:xVal>
            <c:numRef>
              <c:f>Sheet1!$A$891:$A$892</c:f>
              <c:numCache>
                <c:formatCode>General</c:formatCode>
                <c:ptCount val="2"/>
                <c:pt idx="0">
                  <c:v>40179</c:v>
                </c:pt>
                <c:pt idx="1">
                  <c:v>46297</c:v>
                </c:pt>
              </c:numCache>
            </c:numRef>
          </c:xVal>
          <c:yVal>
            <c:numRef>
              <c:f>Sheet1!$B$891:$B$892</c:f>
              <c:numCache>
                <c:formatCode>General</c:formatCode>
                <c:ptCount val="2"/>
                <c:pt idx="0">
                  <c:v>-350</c:v>
                </c:pt>
                <c:pt idx="1">
                  <c:v>-350</c:v>
                </c:pt>
              </c:numCache>
            </c:numRef>
          </c:yVal>
          <c:smooth val="0"/>
          <c:extLst>
            <c:ext xmlns:c16="http://schemas.microsoft.com/office/drawing/2014/chart" uri="{C3380CC4-5D6E-409C-BE32-E72D297353CC}">
              <c16:uniqueId val="{00000004-B612-4098-A359-4E94E6A0678C}"/>
            </c:ext>
          </c:extLst>
        </c:ser>
        <c:ser>
          <c:idx val="5"/>
          <c:order val="5"/>
          <c:tx>
            <c:strRef>
              <c:f>Sheet1!$B$894</c:f>
              <c:strCache>
                <c:ptCount val="1"/>
                <c:pt idx="0">
                  <c:v>BE</c:v>
                </c:pt>
              </c:strCache>
            </c:strRef>
          </c:tx>
          <c:spPr>
            <a:ln w="19050">
              <a:solidFill>
                <a:srgbClr val="5A6172"/>
              </a:solidFill>
              <a:prstDash val="dash"/>
            </a:ln>
          </c:spPr>
          <c:marker>
            <c:symbol val="none"/>
          </c:marker>
          <c:xVal>
            <c:numRef>
              <c:f>Sheet1!$A$895:$A$896</c:f>
              <c:numCache>
                <c:formatCode>General</c:formatCode>
                <c:ptCount val="2"/>
                <c:pt idx="0">
                  <c:v>40179</c:v>
                </c:pt>
                <c:pt idx="1">
                  <c:v>46297</c:v>
                </c:pt>
              </c:numCache>
            </c:numRef>
          </c:xVal>
          <c:yVal>
            <c:numRef>
              <c:f>Sheet1!$B$895:$B$896</c:f>
              <c:numCache>
                <c:formatCode>General</c:formatCode>
                <c:ptCount val="2"/>
                <c:pt idx="0">
                  <c:v>-445</c:v>
                </c:pt>
                <c:pt idx="1">
                  <c:v>-445</c:v>
                </c:pt>
              </c:numCache>
            </c:numRef>
          </c:yVal>
          <c:smooth val="0"/>
          <c:extLst>
            <c:ext xmlns:c16="http://schemas.microsoft.com/office/drawing/2014/chart" uri="{C3380CC4-5D6E-409C-BE32-E72D297353CC}">
              <c16:uniqueId val="{00000005-B612-4098-A359-4E94E6A0678C}"/>
            </c:ext>
          </c:extLst>
        </c:ser>
        <c:ser>
          <c:idx val="6"/>
          <c:order val="6"/>
          <c:tx>
            <c:strRef>
              <c:f>Sheet1!$B$898</c:f>
              <c:strCache>
                <c:ptCount val="1"/>
                <c:pt idx="0">
                  <c:v>IMP</c:v>
                </c:pt>
              </c:strCache>
            </c:strRef>
          </c:tx>
          <c:spPr>
            <a:ln w="19050">
              <a:solidFill>
                <a:srgbClr val="B3332E"/>
              </a:solidFill>
              <a:prstDash val="dash"/>
            </a:ln>
          </c:spPr>
          <c:marker>
            <c:symbol val="none"/>
          </c:marker>
          <c:xVal>
            <c:numRef>
              <c:f>Sheet1!$A$899:$A$900</c:f>
              <c:numCache>
                <c:formatCode>General</c:formatCode>
                <c:ptCount val="2"/>
                <c:pt idx="0">
                  <c:v>40179</c:v>
                </c:pt>
                <c:pt idx="1">
                  <c:v>46297</c:v>
                </c:pt>
              </c:numCache>
            </c:numRef>
          </c:xVal>
          <c:yVal>
            <c:numRef>
              <c:f>Sheet1!$B$899:$B$900</c:f>
              <c:numCache>
                <c:formatCode>General</c:formatCode>
                <c:ptCount val="2"/>
                <c:pt idx="0">
                  <c:v>-572</c:v>
                </c:pt>
                <c:pt idx="1">
                  <c:v>-572</c:v>
                </c:pt>
              </c:numCache>
            </c:numRef>
          </c:yVal>
          <c:smooth val="0"/>
          <c:extLst>
            <c:ext xmlns:c16="http://schemas.microsoft.com/office/drawing/2014/chart" uri="{C3380CC4-5D6E-409C-BE32-E72D297353CC}">
              <c16:uniqueId val="{00000006-B612-4098-A359-4E94E6A0678C}"/>
            </c:ext>
          </c:extLst>
        </c:ser>
        <c:ser>
          <c:idx val="7"/>
          <c:order val="7"/>
          <c:tx>
            <c:strRef>
              <c:f>Sheet1!$B$902</c:f>
              <c:strCache>
                <c:ptCount val="1"/>
                <c:pt idx="0">
                  <c:v>S6</c:v>
                </c:pt>
              </c:strCache>
            </c:strRef>
          </c:tx>
          <c:spPr>
            <a:ln w="19050">
              <a:solidFill>
                <a:srgbClr val="B3332E"/>
              </a:solidFill>
              <a:prstDash val="dash"/>
            </a:ln>
          </c:spPr>
          <c:marker>
            <c:symbol val="none"/>
          </c:marker>
          <c:xVal>
            <c:numRef>
              <c:f>Sheet1!$A$903:$A$904</c:f>
              <c:numCache>
                <c:formatCode>General</c:formatCode>
                <c:ptCount val="2"/>
                <c:pt idx="0">
                  <c:v>40179</c:v>
                </c:pt>
                <c:pt idx="1">
                  <c:v>46297</c:v>
                </c:pt>
              </c:numCache>
            </c:numRef>
          </c:xVal>
          <c:yVal>
            <c:numRef>
              <c:f>Sheet1!$B$903:$B$904</c:f>
              <c:numCache>
                <c:formatCode>General</c:formatCode>
                <c:ptCount val="2"/>
                <c:pt idx="0">
                  <c:v>-615</c:v>
                </c:pt>
                <c:pt idx="1">
                  <c:v>-615</c:v>
                </c:pt>
              </c:numCache>
            </c:numRef>
          </c:yVal>
          <c:smooth val="0"/>
          <c:extLst>
            <c:ext xmlns:c16="http://schemas.microsoft.com/office/drawing/2014/chart" uri="{C3380CC4-5D6E-409C-BE32-E72D297353CC}">
              <c16:uniqueId val="{00000007-B612-4098-A359-4E94E6A0678C}"/>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CE3EF"/>
            </a:solidFill>
          </a:ln>
        </c:spPr>
        <c:txPr>
          <a:bodyPr/>
          <a:lstStyle/>
          <a:p>
            <a:pPr>
              <a:defRPr sz="950">
                <a:solidFill>
                  <a:srgbClr val="5A6172"/>
                </a:solidFill>
              </a:defRPr>
            </a:pPr>
            <a:endParaRPr lang="en-US"/>
          </a:p>
        </c:txPr>
        <c:crossAx val="-2129643912"/>
        <c:crosses val="autoZero"/>
        <c:crossBetween val="midCat"/>
        <c:majorUnit val="1461"/>
      </c:valAx>
      <c:valAx>
        <c:axId val="-2129643912"/>
        <c:scaling>
          <c:orientation val="minMax"/>
          <c:max val="150"/>
          <c:min val="-650"/>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50">
                <a:solidFill>
                  <a:srgbClr val="5A6172"/>
                </a:solidFill>
              </a:defRPr>
            </a:pPr>
            <a:endParaRPr lang="en-US"/>
          </a:p>
        </c:txPr>
        <c:crossAx val="-2128940872"/>
        <c:crosses val="autoZero"/>
        <c:crossBetween val="midCat"/>
      </c:valAx>
    </c:plotArea>
    <c:plotVisOnly val="1"/>
    <c:dispBlanksAs val="gap"/>
    <c:showDLblsOverMax val="0"/>
  </c:chart>
  <c:txPr>
    <a:bodyPr/>
    <a:lstStyle/>
    <a:p>
      <a:pPr>
        <a:defRPr sz="950">
          <a:latin typeface="Garamond"/>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Italy</c:v>
                </c:pt>
              </c:strCache>
            </c:strRef>
          </c:tx>
          <c:spPr>
            <a:ln w="28575">
              <a:solidFill>
                <a:srgbClr val="B3332E"/>
              </a:solidFill>
            </a:ln>
          </c:spPr>
          <c:marker>
            <c:symbol val="none"/>
          </c:marker>
          <c:xVal>
            <c:numRef>
              <c:f>Sheet1!$A$2:$A$210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Sheet1!$B$2:$B$210</c:f>
              <c:numCache>
                <c:formatCode>General</c:formatCode>
                <c:ptCount val="209"/>
                <c:pt idx="0">
                  <c:v>39.6</c:v>
                </c:pt>
                <c:pt idx="1">
                  <c:v>47.35</c:v>
                </c:pt>
                <c:pt idx="2">
                  <c:v>37.299999999999997</c:v>
                </c:pt>
                <c:pt idx="3">
                  <c:v>35.950000000000003</c:v>
                </c:pt>
                <c:pt idx="4">
                  <c:v>14.95</c:v>
                </c:pt>
                <c:pt idx="5">
                  <c:v>4</c:v>
                </c:pt>
                <c:pt idx="6">
                  <c:v>14.97</c:v>
                </c:pt>
                <c:pt idx="7">
                  <c:v>20.350000000000001</c:v>
                </c:pt>
                <c:pt idx="8">
                  <c:v>19.170000000000002</c:v>
                </c:pt>
                <c:pt idx="9">
                  <c:v>27.95</c:v>
                </c:pt>
                <c:pt idx="10">
                  <c:v>21</c:v>
                </c:pt>
                <c:pt idx="11">
                  <c:v>21</c:v>
                </c:pt>
                <c:pt idx="12">
                  <c:v>23.3</c:v>
                </c:pt>
                <c:pt idx="13">
                  <c:v>21.6</c:v>
                </c:pt>
                <c:pt idx="14">
                  <c:v>21.9</c:v>
                </c:pt>
                <c:pt idx="15">
                  <c:v>16.45</c:v>
                </c:pt>
                <c:pt idx="16">
                  <c:v>15.5</c:v>
                </c:pt>
                <c:pt idx="17">
                  <c:v>4.7</c:v>
                </c:pt>
                <c:pt idx="18">
                  <c:v>-37</c:v>
                </c:pt>
                <c:pt idx="19">
                  <c:v>-18.8</c:v>
                </c:pt>
                <c:pt idx="20">
                  <c:v>-15.8</c:v>
                </c:pt>
                <c:pt idx="21">
                  <c:v>-14.7</c:v>
                </c:pt>
                <c:pt idx="22">
                  <c:v>-17.95</c:v>
                </c:pt>
                <c:pt idx="23">
                  <c:v>-26.1</c:v>
                </c:pt>
                <c:pt idx="24">
                  <c:v>-3.4</c:v>
                </c:pt>
                <c:pt idx="25">
                  <c:v>-9.25</c:v>
                </c:pt>
                <c:pt idx="26">
                  <c:v>-7.45</c:v>
                </c:pt>
                <c:pt idx="27">
                  <c:v>-23.8</c:v>
                </c:pt>
                <c:pt idx="28">
                  <c:v>-19.850000000000001</c:v>
                </c:pt>
                <c:pt idx="29">
                  <c:v>-21.9</c:v>
                </c:pt>
                <c:pt idx="30">
                  <c:v>-16</c:v>
                </c:pt>
                <c:pt idx="31">
                  <c:v>-9</c:v>
                </c:pt>
                <c:pt idx="32">
                  <c:v>-16.399999999999999</c:v>
                </c:pt>
                <c:pt idx="33">
                  <c:v>-12.35</c:v>
                </c:pt>
                <c:pt idx="34">
                  <c:v>-13.2</c:v>
                </c:pt>
                <c:pt idx="35">
                  <c:v>-5.7</c:v>
                </c:pt>
                <c:pt idx="36">
                  <c:v>-24.5</c:v>
                </c:pt>
                <c:pt idx="37">
                  <c:v>-21.8</c:v>
                </c:pt>
                <c:pt idx="38">
                  <c:v>-25.85</c:v>
                </c:pt>
                <c:pt idx="39">
                  <c:v>-26.95</c:v>
                </c:pt>
                <c:pt idx="40">
                  <c:v>-17.600000000000001</c:v>
                </c:pt>
                <c:pt idx="41">
                  <c:v>-17.899999999999999</c:v>
                </c:pt>
                <c:pt idx="42">
                  <c:v>-11.6</c:v>
                </c:pt>
                <c:pt idx="43">
                  <c:v>-16.02</c:v>
                </c:pt>
                <c:pt idx="44">
                  <c:v>-25.15</c:v>
                </c:pt>
                <c:pt idx="45">
                  <c:v>-29.7</c:v>
                </c:pt>
                <c:pt idx="46">
                  <c:v>-24.05</c:v>
                </c:pt>
                <c:pt idx="47">
                  <c:v>-59.33</c:v>
                </c:pt>
                <c:pt idx="48">
                  <c:v>-52.2</c:v>
                </c:pt>
                <c:pt idx="49">
                  <c:v>-54</c:v>
                </c:pt>
                <c:pt idx="50">
                  <c:v>-47.6</c:v>
                </c:pt>
                <c:pt idx="51">
                  <c:v>-55.15</c:v>
                </c:pt>
                <c:pt idx="52">
                  <c:v>-62.5</c:v>
                </c:pt>
                <c:pt idx="53">
                  <c:v>-59.15</c:v>
                </c:pt>
                <c:pt idx="54">
                  <c:v>-50.55</c:v>
                </c:pt>
                <c:pt idx="55">
                  <c:v>-24.85</c:v>
                </c:pt>
                <c:pt idx="56">
                  <c:v>-27.95</c:v>
                </c:pt>
                <c:pt idx="57">
                  <c:v>-7.87</c:v>
                </c:pt>
                <c:pt idx="58">
                  <c:v>-26.9</c:v>
                </c:pt>
                <c:pt idx="59">
                  <c:v>-18.3</c:v>
                </c:pt>
                <c:pt idx="60">
                  <c:v>-16.8</c:v>
                </c:pt>
                <c:pt idx="61">
                  <c:v>-13.13</c:v>
                </c:pt>
                <c:pt idx="62">
                  <c:v>-13.1</c:v>
                </c:pt>
                <c:pt idx="63">
                  <c:v>-2.88</c:v>
                </c:pt>
                <c:pt idx="64">
                  <c:v>3.1</c:v>
                </c:pt>
                <c:pt idx="65">
                  <c:v>8.5</c:v>
                </c:pt>
                <c:pt idx="66">
                  <c:v>10.73</c:v>
                </c:pt>
                <c:pt idx="67">
                  <c:v>-5.9</c:v>
                </c:pt>
                <c:pt idx="68">
                  <c:v>-12.4</c:v>
                </c:pt>
                <c:pt idx="69">
                  <c:v>-10.45</c:v>
                </c:pt>
                <c:pt idx="70">
                  <c:v>-5.0999999999999996</c:v>
                </c:pt>
                <c:pt idx="71">
                  <c:v>-14.4</c:v>
                </c:pt>
                <c:pt idx="72">
                  <c:v>-16</c:v>
                </c:pt>
                <c:pt idx="73">
                  <c:v>-19.3</c:v>
                </c:pt>
                <c:pt idx="74">
                  <c:v>-7.4</c:v>
                </c:pt>
                <c:pt idx="75">
                  <c:v>-17.399999999999999</c:v>
                </c:pt>
                <c:pt idx="76">
                  <c:v>-23.6</c:v>
                </c:pt>
                <c:pt idx="77">
                  <c:v>-43.2</c:v>
                </c:pt>
                <c:pt idx="78">
                  <c:v>-28.6</c:v>
                </c:pt>
                <c:pt idx="79">
                  <c:v>-37.700000000000003</c:v>
                </c:pt>
                <c:pt idx="80">
                  <c:v>-147.4</c:v>
                </c:pt>
                <c:pt idx="81">
                  <c:v>-87.8</c:v>
                </c:pt>
                <c:pt idx="82">
                  <c:v>-115.15</c:v>
                </c:pt>
                <c:pt idx="83">
                  <c:v>-151.30000000000001</c:v>
                </c:pt>
                <c:pt idx="84">
                  <c:v>-134.19999999999999</c:v>
                </c:pt>
                <c:pt idx="85">
                  <c:v>-120.8</c:v>
                </c:pt>
                <c:pt idx="86">
                  <c:v>-122</c:v>
                </c:pt>
                <c:pt idx="87">
                  <c:v>-123.2</c:v>
                </c:pt>
                <c:pt idx="88">
                  <c:v>-190</c:v>
                </c:pt>
                <c:pt idx="89">
                  <c:v>-186.65</c:v>
                </c:pt>
                <c:pt idx="90">
                  <c:v>-213.1</c:v>
                </c:pt>
                <c:pt idx="91">
                  <c:v>-186</c:v>
                </c:pt>
                <c:pt idx="92">
                  <c:v>-159.4</c:v>
                </c:pt>
                <c:pt idx="93">
                  <c:v>-190.1</c:v>
                </c:pt>
                <c:pt idx="94">
                  <c:v>-201.4</c:v>
                </c:pt>
                <c:pt idx="95">
                  <c:v>-236.1</c:v>
                </c:pt>
                <c:pt idx="96">
                  <c:v>-366.55</c:v>
                </c:pt>
                <c:pt idx="97">
                  <c:v>-420.45</c:v>
                </c:pt>
                <c:pt idx="98">
                  <c:v>-374.3</c:v>
                </c:pt>
                <c:pt idx="99">
                  <c:v>-501</c:v>
                </c:pt>
                <c:pt idx="100">
                  <c:v>-409.5</c:v>
                </c:pt>
                <c:pt idx="101">
                  <c:v>-383.7</c:v>
                </c:pt>
                <c:pt idx="102">
                  <c:v>-282.75</c:v>
                </c:pt>
                <c:pt idx="103">
                  <c:v>-258</c:v>
                </c:pt>
                <c:pt idx="104">
                  <c:v>-231.9</c:v>
                </c:pt>
                <c:pt idx="105">
                  <c:v>-228.9</c:v>
                </c:pt>
                <c:pt idx="106">
                  <c:v>-159.19999999999999</c:v>
                </c:pt>
                <c:pt idx="107">
                  <c:v>-127.7</c:v>
                </c:pt>
                <c:pt idx="108">
                  <c:v>-102.2</c:v>
                </c:pt>
                <c:pt idx="109">
                  <c:v>-78</c:v>
                </c:pt>
                <c:pt idx="110">
                  <c:v>-83.15</c:v>
                </c:pt>
                <c:pt idx="111">
                  <c:v>-98.5</c:v>
                </c:pt>
                <c:pt idx="112">
                  <c:v>-69.650000000000006</c:v>
                </c:pt>
                <c:pt idx="113">
                  <c:v>0.8</c:v>
                </c:pt>
                <c:pt idx="114">
                  <c:v>-12.7</c:v>
                </c:pt>
                <c:pt idx="115">
                  <c:v>-21.7</c:v>
                </c:pt>
                <c:pt idx="116">
                  <c:v>-37</c:v>
                </c:pt>
                <c:pt idx="117">
                  <c:v>-63.1</c:v>
                </c:pt>
                <c:pt idx="118">
                  <c:v>-93.95</c:v>
                </c:pt>
                <c:pt idx="119">
                  <c:v>-131.1</c:v>
                </c:pt>
                <c:pt idx="120">
                  <c:v>-128.4</c:v>
                </c:pt>
                <c:pt idx="121">
                  <c:v>-120</c:v>
                </c:pt>
                <c:pt idx="122">
                  <c:v>-95.8</c:v>
                </c:pt>
                <c:pt idx="123">
                  <c:v>-120.6</c:v>
                </c:pt>
                <c:pt idx="124">
                  <c:v>-182.3</c:v>
                </c:pt>
                <c:pt idx="125">
                  <c:v>-185.5</c:v>
                </c:pt>
                <c:pt idx="126">
                  <c:v>-250.6</c:v>
                </c:pt>
                <c:pt idx="127">
                  <c:v>-222.2</c:v>
                </c:pt>
                <c:pt idx="128">
                  <c:v>-291.60000000000002</c:v>
                </c:pt>
                <c:pt idx="129">
                  <c:v>-224.6</c:v>
                </c:pt>
                <c:pt idx="130">
                  <c:v>-221.9</c:v>
                </c:pt>
                <c:pt idx="131">
                  <c:v>-209.2</c:v>
                </c:pt>
                <c:pt idx="132">
                  <c:v>-200.75</c:v>
                </c:pt>
                <c:pt idx="133">
                  <c:v>-235</c:v>
                </c:pt>
                <c:pt idx="134">
                  <c:v>-216.55</c:v>
                </c:pt>
                <c:pt idx="135">
                  <c:v>-160.94999999999999</c:v>
                </c:pt>
                <c:pt idx="136">
                  <c:v>-188.3</c:v>
                </c:pt>
                <c:pt idx="137">
                  <c:v>-187.7</c:v>
                </c:pt>
                <c:pt idx="138">
                  <c:v>-193.5</c:v>
                </c:pt>
                <c:pt idx="139">
                  <c:v>-149.80000000000001</c:v>
                </c:pt>
                <c:pt idx="140">
                  <c:v>-125.85</c:v>
                </c:pt>
                <c:pt idx="141">
                  <c:v>-121.1</c:v>
                </c:pt>
                <c:pt idx="142">
                  <c:v>-112.5</c:v>
                </c:pt>
                <c:pt idx="143">
                  <c:v>-140.9</c:v>
                </c:pt>
                <c:pt idx="144">
                  <c:v>-130.80000000000001</c:v>
                </c:pt>
                <c:pt idx="145">
                  <c:v>-124.35</c:v>
                </c:pt>
                <c:pt idx="146">
                  <c:v>-114.05</c:v>
                </c:pt>
                <c:pt idx="147">
                  <c:v>-125.3</c:v>
                </c:pt>
                <c:pt idx="148">
                  <c:v>-125.2</c:v>
                </c:pt>
                <c:pt idx="149">
                  <c:v>-130.75</c:v>
                </c:pt>
                <c:pt idx="150">
                  <c:v>-121.8</c:v>
                </c:pt>
                <c:pt idx="151">
                  <c:v>-103.2</c:v>
                </c:pt>
                <c:pt idx="152">
                  <c:v>-97.9</c:v>
                </c:pt>
                <c:pt idx="153">
                  <c:v>-113.1</c:v>
                </c:pt>
                <c:pt idx="154">
                  <c:v>-109.4</c:v>
                </c:pt>
                <c:pt idx="155">
                  <c:v>-85.6</c:v>
                </c:pt>
                <c:pt idx="156">
                  <c:v>-96.1</c:v>
                </c:pt>
                <c:pt idx="157">
                  <c:v>-61.1</c:v>
                </c:pt>
                <c:pt idx="158">
                  <c:v>-45.1</c:v>
                </c:pt>
                <c:pt idx="159">
                  <c:v>-46.1</c:v>
                </c:pt>
                <c:pt idx="160">
                  <c:v>-45.6</c:v>
                </c:pt>
                <c:pt idx="161">
                  <c:v>-48.9</c:v>
                </c:pt>
                <c:pt idx="162">
                  <c:v>-58.2</c:v>
                </c:pt>
                <c:pt idx="163">
                  <c:v>-65.099999999999994</c:v>
                </c:pt>
                <c:pt idx="164">
                  <c:v>-74.8</c:v>
                </c:pt>
                <c:pt idx="165">
                  <c:v>-96.8</c:v>
                </c:pt>
                <c:pt idx="166">
                  <c:v>-85</c:v>
                </c:pt>
                <c:pt idx="167">
                  <c:v>-88.15</c:v>
                </c:pt>
                <c:pt idx="168">
                  <c:v>-80.2</c:v>
                </c:pt>
                <c:pt idx="169">
                  <c:v>-80</c:v>
                </c:pt>
                <c:pt idx="170">
                  <c:v>-56.7</c:v>
                </c:pt>
                <c:pt idx="171">
                  <c:v>-58</c:v>
                </c:pt>
                <c:pt idx="172">
                  <c:v>-46.9</c:v>
                </c:pt>
                <c:pt idx="173">
                  <c:v>-42.2</c:v>
                </c:pt>
                <c:pt idx="174">
                  <c:v>-28.6</c:v>
                </c:pt>
                <c:pt idx="175">
                  <c:v>-32.549999999999997</c:v>
                </c:pt>
                <c:pt idx="176">
                  <c:v>-38.9</c:v>
                </c:pt>
                <c:pt idx="177">
                  <c:v>-52</c:v>
                </c:pt>
                <c:pt idx="178">
                  <c:v>-43.3</c:v>
                </c:pt>
                <c:pt idx="179">
                  <c:v>-42.8</c:v>
                </c:pt>
                <c:pt idx="180">
                  <c:v>-59</c:v>
                </c:pt>
                <c:pt idx="181">
                  <c:v>-76.8</c:v>
                </c:pt>
                <c:pt idx="182">
                  <c:v>-75.2</c:v>
                </c:pt>
                <c:pt idx="183">
                  <c:v>-60.4</c:v>
                </c:pt>
                <c:pt idx="184">
                  <c:v>-77.099999999999994</c:v>
                </c:pt>
                <c:pt idx="185">
                  <c:v>-66.599999999999994</c:v>
                </c:pt>
                <c:pt idx="186">
                  <c:v>-61.5</c:v>
                </c:pt>
                <c:pt idx="187">
                  <c:v>-55.4</c:v>
                </c:pt>
                <c:pt idx="188">
                  <c:v>-55</c:v>
                </c:pt>
                <c:pt idx="189">
                  <c:v>-58.2</c:v>
                </c:pt>
                <c:pt idx="190">
                  <c:v>-59.2</c:v>
                </c:pt>
                <c:pt idx="191">
                  <c:v>-71.2</c:v>
                </c:pt>
                <c:pt idx="192">
                  <c:v>-78.099999999999994</c:v>
                </c:pt>
                <c:pt idx="193">
                  <c:v>-88.9</c:v>
                </c:pt>
                <c:pt idx="194">
                  <c:v>-69.2</c:v>
                </c:pt>
                <c:pt idx="195">
                  <c:v>-72.8</c:v>
                </c:pt>
                <c:pt idx="196">
                  <c:v>-50.45</c:v>
                </c:pt>
                <c:pt idx="197">
                  <c:v>-53.3</c:v>
                </c:pt>
                <c:pt idx="198">
                  <c:v>-37.9</c:v>
                </c:pt>
                <c:pt idx="199">
                  <c:v>-41.5</c:v>
                </c:pt>
                <c:pt idx="200">
                  <c:v>-30.8</c:v>
                </c:pt>
                <c:pt idx="201">
                  <c:v>-23.9</c:v>
                </c:pt>
                <c:pt idx="202">
                  <c:v>-32.9</c:v>
                </c:pt>
                <c:pt idx="203">
                  <c:v>-32.4</c:v>
                </c:pt>
                <c:pt idx="204">
                  <c:v>-36.700000000000003</c:v>
                </c:pt>
                <c:pt idx="205">
                  <c:v>-38.1</c:v>
                </c:pt>
                <c:pt idx="206">
                  <c:v>-35.6</c:v>
                </c:pt>
                <c:pt idx="207">
                  <c:v>-39</c:v>
                </c:pt>
                <c:pt idx="208">
                  <c:v>-51.2</c:v>
                </c:pt>
              </c:numCache>
            </c:numRef>
          </c:yVal>
          <c:smooth val="0"/>
          <c:extLst>
            <c:ext xmlns:c16="http://schemas.microsoft.com/office/drawing/2014/chart" uri="{C3380CC4-5D6E-409C-BE32-E72D297353CC}">
              <c16:uniqueId val="{00000000-DF05-46D0-B4FF-80C0CD51868A}"/>
            </c:ext>
          </c:extLst>
        </c:ser>
        <c:ser>
          <c:idx val="1"/>
          <c:order val="1"/>
          <c:tx>
            <c:strRef>
              <c:f>Sheet1!$B$212</c:f>
              <c:strCache>
                <c:ptCount val="1"/>
                <c:pt idx="0">
                  <c:v>Spain</c:v>
                </c:pt>
              </c:strCache>
            </c:strRef>
          </c:tx>
          <c:spPr>
            <a:ln w="25400">
              <a:solidFill>
                <a:srgbClr val="2A9D8F"/>
              </a:solidFill>
            </a:ln>
          </c:spPr>
          <c:marker>
            <c:symbol val="none"/>
          </c:marker>
          <c:xVal>
            <c:numRef>
              <c:f>Sheet1!$A$213:$A$329</c:f>
              <c:numCache>
                <c:formatCode>General</c:formatCode>
                <c:ptCount val="117"/>
                <c:pt idx="0">
                  <c:v>40823</c:v>
                </c:pt>
                <c:pt idx="1">
                  <c:v>40830</c:v>
                </c:pt>
                <c:pt idx="2">
                  <c:v>40837</c:v>
                </c:pt>
                <c:pt idx="3">
                  <c:v>40844</c:v>
                </c:pt>
                <c:pt idx="4">
                  <c:v>40851</c:v>
                </c:pt>
                <c:pt idx="5">
                  <c:v>40858</c:v>
                </c:pt>
                <c:pt idx="6">
                  <c:v>40865</c:v>
                </c:pt>
                <c:pt idx="7">
                  <c:v>40872</c:v>
                </c:pt>
                <c:pt idx="8">
                  <c:v>40879</c:v>
                </c:pt>
                <c:pt idx="9">
                  <c:v>40886</c:v>
                </c:pt>
                <c:pt idx="10">
                  <c:v>40893</c:v>
                </c:pt>
                <c:pt idx="11">
                  <c:v>40900</c:v>
                </c:pt>
                <c:pt idx="12">
                  <c:v>40907</c:v>
                </c:pt>
                <c:pt idx="13">
                  <c:v>40914</c:v>
                </c:pt>
                <c:pt idx="14">
                  <c:v>40921</c:v>
                </c:pt>
                <c:pt idx="15">
                  <c:v>40928</c:v>
                </c:pt>
                <c:pt idx="16">
                  <c:v>40935</c:v>
                </c:pt>
                <c:pt idx="17">
                  <c:v>40942</c:v>
                </c:pt>
                <c:pt idx="18">
                  <c:v>40949</c:v>
                </c:pt>
                <c:pt idx="19">
                  <c:v>40956</c:v>
                </c:pt>
                <c:pt idx="20">
                  <c:v>40963</c:v>
                </c:pt>
                <c:pt idx="21">
                  <c:v>40970</c:v>
                </c:pt>
                <c:pt idx="22">
                  <c:v>40977</c:v>
                </c:pt>
                <c:pt idx="23">
                  <c:v>40984</c:v>
                </c:pt>
                <c:pt idx="24">
                  <c:v>40991</c:v>
                </c:pt>
                <c:pt idx="25">
                  <c:v>40998</c:v>
                </c:pt>
                <c:pt idx="26">
                  <c:v>41005</c:v>
                </c:pt>
                <c:pt idx="27">
                  <c:v>41012</c:v>
                </c:pt>
                <c:pt idx="28">
                  <c:v>41019</c:v>
                </c:pt>
                <c:pt idx="29">
                  <c:v>41026</c:v>
                </c:pt>
                <c:pt idx="30">
                  <c:v>41033</c:v>
                </c:pt>
                <c:pt idx="31">
                  <c:v>41040</c:v>
                </c:pt>
                <c:pt idx="32">
                  <c:v>41047</c:v>
                </c:pt>
                <c:pt idx="33">
                  <c:v>41054</c:v>
                </c:pt>
                <c:pt idx="34">
                  <c:v>41061</c:v>
                </c:pt>
                <c:pt idx="35">
                  <c:v>41068</c:v>
                </c:pt>
                <c:pt idx="36">
                  <c:v>41075</c:v>
                </c:pt>
                <c:pt idx="37">
                  <c:v>41082</c:v>
                </c:pt>
                <c:pt idx="38">
                  <c:v>41089</c:v>
                </c:pt>
                <c:pt idx="39">
                  <c:v>41096</c:v>
                </c:pt>
                <c:pt idx="40">
                  <c:v>41103</c:v>
                </c:pt>
                <c:pt idx="41">
                  <c:v>41110</c:v>
                </c:pt>
                <c:pt idx="42">
                  <c:v>41117</c:v>
                </c:pt>
                <c:pt idx="43">
                  <c:v>41124</c:v>
                </c:pt>
                <c:pt idx="44">
                  <c:v>41131</c:v>
                </c:pt>
                <c:pt idx="45">
                  <c:v>41138</c:v>
                </c:pt>
                <c:pt idx="46">
                  <c:v>41145</c:v>
                </c:pt>
                <c:pt idx="47">
                  <c:v>41152</c:v>
                </c:pt>
                <c:pt idx="48">
                  <c:v>41159</c:v>
                </c:pt>
                <c:pt idx="49">
                  <c:v>41166</c:v>
                </c:pt>
                <c:pt idx="50">
                  <c:v>41173</c:v>
                </c:pt>
                <c:pt idx="51">
                  <c:v>41180</c:v>
                </c:pt>
                <c:pt idx="52">
                  <c:v>41187</c:v>
                </c:pt>
                <c:pt idx="53">
                  <c:v>41194</c:v>
                </c:pt>
                <c:pt idx="54">
                  <c:v>41201</c:v>
                </c:pt>
                <c:pt idx="55">
                  <c:v>41208</c:v>
                </c:pt>
                <c:pt idx="56">
                  <c:v>41215</c:v>
                </c:pt>
                <c:pt idx="57">
                  <c:v>41222</c:v>
                </c:pt>
                <c:pt idx="58">
                  <c:v>41229</c:v>
                </c:pt>
                <c:pt idx="59">
                  <c:v>41236</c:v>
                </c:pt>
                <c:pt idx="60">
                  <c:v>41243</c:v>
                </c:pt>
                <c:pt idx="61">
                  <c:v>41250</c:v>
                </c:pt>
                <c:pt idx="62">
                  <c:v>41257</c:v>
                </c:pt>
                <c:pt idx="63">
                  <c:v>41264</c:v>
                </c:pt>
                <c:pt idx="64">
                  <c:v>41271</c:v>
                </c:pt>
                <c:pt idx="65">
                  <c:v>41278</c:v>
                </c:pt>
                <c:pt idx="66">
                  <c:v>41285</c:v>
                </c:pt>
                <c:pt idx="67">
                  <c:v>41292</c:v>
                </c:pt>
                <c:pt idx="68">
                  <c:v>41299</c:v>
                </c:pt>
                <c:pt idx="69">
                  <c:v>41306</c:v>
                </c:pt>
                <c:pt idx="70">
                  <c:v>41313</c:v>
                </c:pt>
                <c:pt idx="71">
                  <c:v>41320</c:v>
                </c:pt>
                <c:pt idx="72">
                  <c:v>41327</c:v>
                </c:pt>
                <c:pt idx="73">
                  <c:v>41334</c:v>
                </c:pt>
                <c:pt idx="74">
                  <c:v>41341</c:v>
                </c:pt>
                <c:pt idx="75">
                  <c:v>41348</c:v>
                </c:pt>
                <c:pt idx="76">
                  <c:v>41355</c:v>
                </c:pt>
                <c:pt idx="77">
                  <c:v>41362</c:v>
                </c:pt>
                <c:pt idx="78">
                  <c:v>41369</c:v>
                </c:pt>
                <c:pt idx="79">
                  <c:v>41376</c:v>
                </c:pt>
                <c:pt idx="80">
                  <c:v>41383</c:v>
                </c:pt>
                <c:pt idx="81">
                  <c:v>41390</c:v>
                </c:pt>
                <c:pt idx="82">
                  <c:v>41397</c:v>
                </c:pt>
                <c:pt idx="83">
                  <c:v>41404</c:v>
                </c:pt>
                <c:pt idx="84">
                  <c:v>41411</c:v>
                </c:pt>
                <c:pt idx="85">
                  <c:v>41418</c:v>
                </c:pt>
                <c:pt idx="86">
                  <c:v>41425</c:v>
                </c:pt>
                <c:pt idx="87">
                  <c:v>41432</c:v>
                </c:pt>
                <c:pt idx="88">
                  <c:v>41439</c:v>
                </c:pt>
                <c:pt idx="89">
                  <c:v>41446</c:v>
                </c:pt>
                <c:pt idx="90">
                  <c:v>41453</c:v>
                </c:pt>
                <c:pt idx="91">
                  <c:v>41460</c:v>
                </c:pt>
                <c:pt idx="92">
                  <c:v>41467</c:v>
                </c:pt>
                <c:pt idx="93">
                  <c:v>41474</c:v>
                </c:pt>
                <c:pt idx="94">
                  <c:v>41481</c:v>
                </c:pt>
                <c:pt idx="95">
                  <c:v>41488</c:v>
                </c:pt>
                <c:pt idx="96">
                  <c:v>41495</c:v>
                </c:pt>
                <c:pt idx="97">
                  <c:v>41502</c:v>
                </c:pt>
                <c:pt idx="98">
                  <c:v>41509</c:v>
                </c:pt>
                <c:pt idx="99">
                  <c:v>41516</c:v>
                </c:pt>
                <c:pt idx="100">
                  <c:v>41523</c:v>
                </c:pt>
                <c:pt idx="101">
                  <c:v>41530</c:v>
                </c:pt>
                <c:pt idx="102">
                  <c:v>41537</c:v>
                </c:pt>
                <c:pt idx="103">
                  <c:v>41544</c:v>
                </c:pt>
                <c:pt idx="104">
                  <c:v>41551</c:v>
                </c:pt>
                <c:pt idx="105">
                  <c:v>41558</c:v>
                </c:pt>
                <c:pt idx="106">
                  <c:v>41565</c:v>
                </c:pt>
                <c:pt idx="107">
                  <c:v>41572</c:v>
                </c:pt>
                <c:pt idx="108">
                  <c:v>41579</c:v>
                </c:pt>
                <c:pt idx="109">
                  <c:v>41586</c:v>
                </c:pt>
                <c:pt idx="110">
                  <c:v>41593</c:v>
                </c:pt>
                <c:pt idx="111">
                  <c:v>41600</c:v>
                </c:pt>
                <c:pt idx="112">
                  <c:v>41607</c:v>
                </c:pt>
                <c:pt idx="113">
                  <c:v>41614</c:v>
                </c:pt>
                <c:pt idx="114">
                  <c:v>41621</c:v>
                </c:pt>
                <c:pt idx="115">
                  <c:v>41628</c:v>
                </c:pt>
                <c:pt idx="116">
                  <c:v>41635</c:v>
                </c:pt>
              </c:numCache>
            </c:numRef>
          </c:xVal>
          <c:yVal>
            <c:numRef>
              <c:f>Sheet1!$B$213:$B$329</c:f>
              <c:numCache>
                <c:formatCode>General</c:formatCode>
                <c:ptCount val="117"/>
                <c:pt idx="0">
                  <c:v>-149.44999999999999</c:v>
                </c:pt>
                <c:pt idx="1">
                  <c:v>-160.12</c:v>
                </c:pt>
                <c:pt idx="2">
                  <c:v>-211.85</c:v>
                </c:pt>
                <c:pt idx="3">
                  <c:v>-190.25</c:v>
                </c:pt>
                <c:pt idx="4">
                  <c:v>-228.66</c:v>
                </c:pt>
                <c:pt idx="5">
                  <c:v>-297.99</c:v>
                </c:pt>
                <c:pt idx="6">
                  <c:v>-356.97</c:v>
                </c:pt>
                <c:pt idx="7">
                  <c:v>-363.67</c:v>
                </c:pt>
                <c:pt idx="8">
                  <c:v>-278.66000000000003</c:v>
                </c:pt>
                <c:pt idx="9">
                  <c:v>-267.22000000000003</c:v>
                </c:pt>
                <c:pt idx="10">
                  <c:v>-146.37</c:v>
                </c:pt>
                <c:pt idx="11">
                  <c:v>-156.88999999999999</c:v>
                </c:pt>
                <c:pt idx="12">
                  <c:v>-139.54</c:v>
                </c:pt>
                <c:pt idx="13">
                  <c:v>-140.91999999999999</c:v>
                </c:pt>
                <c:pt idx="14">
                  <c:v>-94.15</c:v>
                </c:pt>
                <c:pt idx="15">
                  <c:v>-104.35</c:v>
                </c:pt>
                <c:pt idx="16">
                  <c:v>-44.75</c:v>
                </c:pt>
                <c:pt idx="17">
                  <c:v>-31.28</c:v>
                </c:pt>
                <c:pt idx="18">
                  <c:v>-33.75</c:v>
                </c:pt>
                <c:pt idx="19">
                  <c:v>-59.61</c:v>
                </c:pt>
                <c:pt idx="20">
                  <c:v>-35.409999999999997</c:v>
                </c:pt>
                <c:pt idx="21">
                  <c:v>2.93</c:v>
                </c:pt>
                <c:pt idx="22">
                  <c:v>-8.52</c:v>
                </c:pt>
                <c:pt idx="23">
                  <c:v>-13.84</c:v>
                </c:pt>
                <c:pt idx="24">
                  <c:v>-57.38</c:v>
                </c:pt>
                <c:pt idx="25">
                  <c:v>-67.81</c:v>
                </c:pt>
                <c:pt idx="26">
                  <c:v>-93.27</c:v>
                </c:pt>
                <c:pt idx="27">
                  <c:v>-145.19999999999999</c:v>
                </c:pt>
                <c:pt idx="28">
                  <c:v>-162.08000000000001</c:v>
                </c:pt>
                <c:pt idx="29">
                  <c:v>-154.15</c:v>
                </c:pt>
                <c:pt idx="30">
                  <c:v>-142.44999999999999</c:v>
                </c:pt>
                <c:pt idx="31">
                  <c:v>-155.78</c:v>
                </c:pt>
                <c:pt idx="32">
                  <c:v>-224.52</c:v>
                </c:pt>
                <c:pt idx="33">
                  <c:v>-222.09</c:v>
                </c:pt>
                <c:pt idx="34">
                  <c:v>-298.08999999999997</c:v>
                </c:pt>
                <c:pt idx="35">
                  <c:v>-248.21</c:v>
                </c:pt>
                <c:pt idx="36">
                  <c:v>-304.06</c:v>
                </c:pt>
                <c:pt idx="37">
                  <c:v>-312.62</c:v>
                </c:pt>
                <c:pt idx="38">
                  <c:v>-299.89999999999998</c:v>
                </c:pt>
                <c:pt idx="39">
                  <c:v>-312.17</c:v>
                </c:pt>
                <c:pt idx="40">
                  <c:v>-271.07</c:v>
                </c:pt>
                <c:pt idx="41">
                  <c:v>-370.65</c:v>
                </c:pt>
                <c:pt idx="42">
                  <c:v>-366.89</c:v>
                </c:pt>
                <c:pt idx="43">
                  <c:v>-215.66</c:v>
                </c:pt>
                <c:pt idx="44">
                  <c:v>-226.17</c:v>
                </c:pt>
                <c:pt idx="45">
                  <c:v>-256.77999999999997</c:v>
                </c:pt>
                <c:pt idx="46">
                  <c:v>-227.34</c:v>
                </c:pt>
                <c:pt idx="47">
                  <c:v>-220.7</c:v>
                </c:pt>
                <c:pt idx="48">
                  <c:v>-178.6</c:v>
                </c:pt>
                <c:pt idx="49">
                  <c:v>-178.61</c:v>
                </c:pt>
                <c:pt idx="50">
                  <c:v>-195.38</c:v>
                </c:pt>
                <c:pt idx="51">
                  <c:v>-216.33</c:v>
                </c:pt>
                <c:pt idx="52">
                  <c:v>-196.5</c:v>
                </c:pt>
                <c:pt idx="53">
                  <c:v>-239.69</c:v>
                </c:pt>
                <c:pt idx="54">
                  <c:v>-195.21</c:v>
                </c:pt>
                <c:pt idx="55">
                  <c:v>-222.07</c:v>
                </c:pt>
                <c:pt idx="56">
                  <c:v>-204.4</c:v>
                </c:pt>
                <c:pt idx="57">
                  <c:v>-224.07</c:v>
                </c:pt>
                <c:pt idx="58">
                  <c:v>-232.7</c:v>
                </c:pt>
                <c:pt idx="59">
                  <c:v>-214.86</c:v>
                </c:pt>
                <c:pt idx="60">
                  <c:v>-185.06</c:v>
                </c:pt>
                <c:pt idx="61">
                  <c:v>-211.73</c:v>
                </c:pt>
                <c:pt idx="62">
                  <c:v>-205.94</c:v>
                </c:pt>
                <c:pt idx="63">
                  <c:v>-180.09</c:v>
                </c:pt>
                <c:pt idx="64">
                  <c:v>-177.49</c:v>
                </c:pt>
                <c:pt idx="65">
                  <c:v>-114.66</c:v>
                </c:pt>
                <c:pt idx="66">
                  <c:v>-86.25</c:v>
                </c:pt>
                <c:pt idx="67">
                  <c:v>-111.1</c:v>
                </c:pt>
                <c:pt idx="68">
                  <c:v>-86.3</c:v>
                </c:pt>
                <c:pt idx="69">
                  <c:v>-86.64</c:v>
                </c:pt>
                <c:pt idx="70">
                  <c:v>-100.08</c:v>
                </c:pt>
                <c:pt idx="71">
                  <c:v>-98.94</c:v>
                </c:pt>
                <c:pt idx="72">
                  <c:v>-100.79</c:v>
                </c:pt>
                <c:pt idx="73">
                  <c:v>-104.68</c:v>
                </c:pt>
                <c:pt idx="74">
                  <c:v>-93.58</c:v>
                </c:pt>
                <c:pt idx="75">
                  <c:v>-100.01</c:v>
                </c:pt>
                <c:pt idx="76">
                  <c:v>-91.68</c:v>
                </c:pt>
                <c:pt idx="77">
                  <c:v>-101.48</c:v>
                </c:pt>
                <c:pt idx="78">
                  <c:v>-88</c:v>
                </c:pt>
                <c:pt idx="79">
                  <c:v>-76.8</c:v>
                </c:pt>
                <c:pt idx="80">
                  <c:v>-80.63</c:v>
                </c:pt>
                <c:pt idx="81">
                  <c:v>-70.84</c:v>
                </c:pt>
                <c:pt idx="82">
                  <c:v>-44.51</c:v>
                </c:pt>
                <c:pt idx="83">
                  <c:v>-55.4</c:v>
                </c:pt>
                <c:pt idx="84">
                  <c:v>-62.53</c:v>
                </c:pt>
                <c:pt idx="85">
                  <c:v>-76.73</c:v>
                </c:pt>
                <c:pt idx="86">
                  <c:v>-73.75</c:v>
                </c:pt>
                <c:pt idx="87">
                  <c:v>-76.55</c:v>
                </c:pt>
                <c:pt idx="88">
                  <c:v>-89.04</c:v>
                </c:pt>
                <c:pt idx="89">
                  <c:v>-105.06</c:v>
                </c:pt>
                <c:pt idx="90">
                  <c:v>-107.67</c:v>
                </c:pt>
                <c:pt idx="91">
                  <c:v>-78.95</c:v>
                </c:pt>
                <c:pt idx="92">
                  <c:v>-97.28</c:v>
                </c:pt>
                <c:pt idx="93">
                  <c:v>-98.48</c:v>
                </c:pt>
                <c:pt idx="94">
                  <c:v>-80.540000000000006</c:v>
                </c:pt>
                <c:pt idx="95">
                  <c:v>-74.36</c:v>
                </c:pt>
                <c:pt idx="96">
                  <c:v>-69.19</c:v>
                </c:pt>
                <c:pt idx="97">
                  <c:v>-69.28</c:v>
                </c:pt>
                <c:pt idx="98">
                  <c:v>-75.97</c:v>
                </c:pt>
                <c:pt idx="99">
                  <c:v>-82.38</c:v>
                </c:pt>
                <c:pt idx="100">
                  <c:v>-81.93</c:v>
                </c:pt>
                <c:pt idx="101">
                  <c:v>-81.400000000000006</c:v>
                </c:pt>
                <c:pt idx="102">
                  <c:v>-75.86</c:v>
                </c:pt>
                <c:pt idx="103">
                  <c:v>-69.489999999999995</c:v>
                </c:pt>
                <c:pt idx="104">
                  <c:v>-47.04</c:v>
                </c:pt>
                <c:pt idx="105">
                  <c:v>-51.26</c:v>
                </c:pt>
                <c:pt idx="106">
                  <c:v>-43.21</c:v>
                </c:pt>
                <c:pt idx="107">
                  <c:v>-44.8</c:v>
                </c:pt>
                <c:pt idx="108">
                  <c:v>-29.02</c:v>
                </c:pt>
                <c:pt idx="109">
                  <c:v>-22.89</c:v>
                </c:pt>
                <c:pt idx="110">
                  <c:v>-22.42</c:v>
                </c:pt>
                <c:pt idx="111">
                  <c:v>-31.19</c:v>
                </c:pt>
                <c:pt idx="112">
                  <c:v>-41.04</c:v>
                </c:pt>
                <c:pt idx="113">
                  <c:v>-49.72</c:v>
                </c:pt>
                <c:pt idx="114">
                  <c:v>-43.84</c:v>
                </c:pt>
                <c:pt idx="115">
                  <c:v>-52.87</c:v>
                </c:pt>
                <c:pt idx="116">
                  <c:v>-52.97</c:v>
                </c:pt>
              </c:numCache>
            </c:numRef>
          </c:yVal>
          <c:smooth val="0"/>
          <c:extLst>
            <c:ext xmlns:c16="http://schemas.microsoft.com/office/drawing/2014/chart" uri="{C3380CC4-5D6E-409C-BE32-E72D297353CC}">
              <c16:uniqueId val="{00000001-DF05-46D0-B4FF-80C0CD51868A}"/>
            </c:ext>
          </c:extLst>
        </c:ser>
        <c:ser>
          <c:idx val="2"/>
          <c:order val="2"/>
          <c:tx>
            <c:strRef>
              <c:f>Sheet1!$B$331</c:f>
              <c:strCache>
                <c:ptCount val="1"/>
                <c:pt idx="0">
                  <c:v>France</c:v>
                </c:pt>
              </c:strCache>
            </c:strRef>
          </c:tx>
          <c:spPr>
            <a:ln w="25400">
              <a:solidFill>
                <a:srgbClr val="011C40"/>
              </a:solidFill>
            </a:ln>
          </c:spPr>
          <c:marker>
            <c:symbol val="none"/>
          </c:marker>
          <c:xVal>
            <c:numRef>
              <c:f>Sheet1!$A$332:$A$540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Sheet1!$B$332:$B$540</c:f>
              <c:numCache>
                <c:formatCode>General</c:formatCode>
                <c:ptCount val="209"/>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numCache>
            </c:numRef>
          </c:yVal>
          <c:smooth val="0"/>
          <c:extLst>
            <c:ext xmlns:c16="http://schemas.microsoft.com/office/drawing/2014/chart" uri="{C3380CC4-5D6E-409C-BE32-E72D297353CC}">
              <c16:uniqueId val="{00000002-DF05-46D0-B4FF-80C0CD51868A}"/>
            </c:ext>
          </c:extLst>
        </c:ser>
        <c:ser>
          <c:idx val="3"/>
          <c:order val="3"/>
          <c:tx>
            <c:strRef>
              <c:f>Sheet1!$B$542</c:f>
              <c:strCache>
                <c:ptCount val="1"/>
                <c:pt idx="0">
                  <c:v>Break-even</c:v>
                </c:pt>
              </c:strCache>
            </c:strRef>
          </c:tx>
          <c:spPr>
            <a:ln w="19050">
              <a:solidFill>
                <a:srgbClr val="5A6172"/>
              </a:solidFill>
              <a:prstDash val="dash"/>
            </a:ln>
          </c:spPr>
          <c:marker>
            <c:symbol val="none"/>
          </c:marker>
          <c:dLbls>
            <c:dLbl>
              <c:idx val="1"/>
              <c:tx>
                <c:rich>
                  <a:bodyPr/>
                  <a:lstStyle/>
                  <a:p>
                    <a:r>
                      <a:rPr lang="en-US" sz="900" b="1">
                        <a:solidFill>
                          <a:srgbClr val="5A6172"/>
                        </a:solidFill>
                        <a:latin typeface="Garamond"/>
                      </a:rPr>
                      <a:t>break-even −445bp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F05-46D0-B4FF-80C0CD51868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Sheet1!$A$543:$A$544</c:f>
              <c:numCache>
                <c:formatCode>General</c:formatCode>
                <c:ptCount val="2"/>
                <c:pt idx="0">
                  <c:v>40179</c:v>
                </c:pt>
                <c:pt idx="1">
                  <c:v>41639</c:v>
                </c:pt>
              </c:numCache>
            </c:numRef>
          </c:xVal>
          <c:yVal>
            <c:numRef>
              <c:f>Sheet1!$B$543:$B$544</c:f>
              <c:numCache>
                <c:formatCode>General</c:formatCode>
                <c:ptCount val="2"/>
                <c:pt idx="0">
                  <c:v>-445</c:v>
                </c:pt>
                <c:pt idx="1">
                  <c:v>-445</c:v>
                </c:pt>
              </c:numCache>
            </c:numRef>
          </c:yVal>
          <c:smooth val="0"/>
          <c:extLst>
            <c:ext xmlns:c16="http://schemas.microsoft.com/office/drawing/2014/chart" uri="{C3380CC4-5D6E-409C-BE32-E72D297353CC}">
              <c16:uniqueId val="{00000004-DF05-46D0-B4FF-80C0CD51868A}"/>
            </c:ext>
          </c:extLst>
        </c:ser>
        <c:dLbls>
          <c:showLegendKey val="0"/>
          <c:showVal val="0"/>
          <c:showCatName val="0"/>
          <c:showSerName val="0"/>
          <c:showPercent val="0"/>
          <c:showBubbleSize val="0"/>
        </c:dLbls>
        <c:axId val="-2128940872"/>
        <c:axId val="-2129643912"/>
      </c:scatterChart>
      <c:valAx>
        <c:axId val="-2128940872"/>
        <c:scaling>
          <c:orientation val="minMax"/>
          <c:max val="41820"/>
          <c:min val="40179"/>
        </c:scaling>
        <c:delete val="0"/>
        <c:axPos val="b"/>
        <c:numFmt formatCode="yyyy" sourceLinked="0"/>
        <c:majorTickMark val="out"/>
        <c:minorTickMark val="none"/>
        <c:tickLblPos val="low"/>
        <c:spPr>
          <a:ln>
            <a:solidFill>
              <a:srgbClr val="DCE3EF"/>
            </a:solidFill>
          </a:ln>
        </c:spPr>
        <c:txPr>
          <a:bodyPr/>
          <a:lstStyle/>
          <a:p>
            <a:pPr>
              <a:defRPr sz="950">
                <a:solidFill>
                  <a:srgbClr val="5A6172"/>
                </a:solidFill>
              </a:defRPr>
            </a:pPr>
            <a:endParaRPr lang="en-US"/>
          </a:p>
        </c:txPr>
        <c:crossAx val="-2129643912"/>
        <c:crosses val="autoZero"/>
        <c:crossBetween val="midCat"/>
        <c:majorUnit val="366"/>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95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950">
          <a:latin typeface="Garamond"/>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versus the 6m Euribor swap (the deck's basis)</c:v>
                </c:pt>
              </c:strCache>
            </c:strRef>
          </c:tx>
          <c:spPr>
            <a:ln w="22225">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33</c:v>
                </c:pt>
                <c:pt idx="1">
                  <c:v>28.8</c:v>
                </c:pt>
                <c:pt idx="2">
                  <c:v>30.9</c:v>
                </c:pt>
                <c:pt idx="3">
                  <c:v>12.1</c:v>
                </c:pt>
                <c:pt idx="4">
                  <c:v>15.02</c:v>
                </c:pt>
                <c:pt idx="5">
                  <c:v>16.100000000000001</c:v>
                </c:pt>
                <c:pt idx="6">
                  <c:v>15.68</c:v>
                </c:pt>
                <c:pt idx="7">
                  <c:v>15.1</c:v>
                </c:pt>
                <c:pt idx="8">
                  <c:v>16.899999999999999</c:v>
                </c:pt>
                <c:pt idx="9">
                  <c:v>15.7</c:v>
                </c:pt>
                <c:pt idx="10">
                  <c:v>15.35</c:v>
                </c:pt>
                <c:pt idx="11">
                  <c:v>17.38</c:v>
                </c:pt>
                <c:pt idx="12">
                  <c:v>12.71</c:v>
                </c:pt>
                <c:pt idx="13">
                  <c:v>13.1</c:v>
                </c:pt>
                <c:pt idx="14">
                  <c:v>15.09</c:v>
                </c:pt>
                <c:pt idx="15">
                  <c:v>15.4</c:v>
                </c:pt>
                <c:pt idx="16">
                  <c:v>15.1</c:v>
                </c:pt>
                <c:pt idx="17">
                  <c:v>21.9</c:v>
                </c:pt>
                <c:pt idx="18">
                  <c:v>35.6</c:v>
                </c:pt>
                <c:pt idx="19">
                  <c:v>36.1</c:v>
                </c:pt>
                <c:pt idx="20">
                  <c:v>43.9</c:v>
                </c:pt>
                <c:pt idx="21">
                  <c:v>37.700000000000003</c:v>
                </c:pt>
                <c:pt idx="22">
                  <c:v>34.4</c:v>
                </c:pt>
                <c:pt idx="23">
                  <c:v>28.4</c:v>
                </c:pt>
                <c:pt idx="24">
                  <c:v>6.7</c:v>
                </c:pt>
                <c:pt idx="25">
                  <c:v>7.43</c:v>
                </c:pt>
                <c:pt idx="26">
                  <c:v>15.4</c:v>
                </c:pt>
                <c:pt idx="27">
                  <c:v>13.4</c:v>
                </c:pt>
                <c:pt idx="28">
                  <c:v>13.6</c:v>
                </c:pt>
                <c:pt idx="29">
                  <c:v>21</c:v>
                </c:pt>
                <c:pt idx="30">
                  <c:v>19.7</c:v>
                </c:pt>
                <c:pt idx="31">
                  <c:v>23.2</c:v>
                </c:pt>
                <c:pt idx="32">
                  <c:v>19.05</c:v>
                </c:pt>
                <c:pt idx="33">
                  <c:v>19.399999999999999</c:v>
                </c:pt>
                <c:pt idx="34">
                  <c:v>16.899999999999999</c:v>
                </c:pt>
                <c:pt idx="35">
                  <c:v>29</c:v>
                </c:pt>
                <c:pt idx="36">
                  <c:v>20.3</c:v>
                </c:pt>
                <c:pt idx="37">
                  <c:v>21.2</c:v>
                </c:pt>
                <c:pt idx="38">
                  <c:v>25.87</c:v>
                </c:pt>
                <c:pt idx="39">
                  <c:v>22.3</c:v>
                </c:pt>
                <c:pt idx="40">
                  <c:v>25.7</c:v>
                </c:pt>
                <c:pt idx="41">
                  <c:v>30.6</c:v>
                </c:pt>
                <c:pt idx="42">
                  <c:v>23.7</c:v>
                </c:pt>
                <c:pt idx="43">
                  <c:v>24.85</c:v>
                </c:pt>
                <c:pt idx="44">
                  <c:v>29.1</c:v>
                </c:pt>
                <c:pt idx="45">
                  <c:v>31.1</c:v>
                </c:pt>
                <c:pt idx="46">
                  <c:v>29.88</c:v>
                </c:pt>
                <c:pt idx="47">
                  <c:v>31.5</c:v>
                </c:pt>
                <c:pt idx="48">
                  <c:v>32.049999999999997</c:v>
                </c:pt>
                <c:pt idx="49">
                  <c:v>37.590000000000003</c:v>
                </c:pt>
                <c:pt idx="50">
                  <c:v>32.450000000000003</c:v>
                </c:pt>
                <c:pt idx="51">
                  <c:v>37.299999999999997</c:v>
                </c:pt>
                <c:pt idx="52">
                  <c:v>35.4</c:v>
                </c:pt>
                <c:pt idx="53">
                  <c:v>31.85</c:v>
                </c:pt>
                <c:pt idx="54">
                  <c:v>35.799999999999997</c:v>
                </c:pt>
                <c:pt idx="55">
                  <c:v>16.25</c:v>
                </c:pt>
                <c:pt idx="56">
                  <c:v>11.4</c:v>
                </c:pt>
                <c:pt idx="57">
                  <c:v>17.600000000000001</c:v>
                </c:pt>
                <c:pt idx="58">
                  <c:v>15.3</c:v>
                </c:pt>
                <c:pt idx="59">
                  <c:v>14.8</c:v>
                </c:pt>
                <c:pt idx="60">
                  <c:v>15.7</c:v>
                </c:pt>
                <c:pt idx="61">
                  <c:v>11.4</c:v>
                </c:pt>
                <c:pt idx="62">
                  <c:v>16.8</c:v>
                </c:pt>
                <c:pt idx="63">
                  <c:v>19.399999999999999</c:v>
                </c:pt>
                <c:pt idx="64">
                  <c:v>16.95</c:v>
                </c:pt>
                <c:pt idx="65">
                  <c:v>14.9</c:v>
                </c:pt>
                <c:pt idx="66">
                  <c:v>18.3</c:v>
                </c:pt>
                <c:pt idx="67">
                  <c:v>14.2</c:v>
                </c:pt>
                <c:pt idx="68">
                  <c:v>15.6</c:v>
                </c:pt>
                <c:pt idx="69">
                  <c:v>16.3</c:v>
                </c:pt>
                <c:pt idx="70">
                  <c:v>11.7</c:v>
                </c:pt>
                <c:pt idx="71">
                  <c:v>16.5</c:v>
                </c:pt>
                <c:pt idx="72">
                  <c:v>13.2</c:v>
                </c:pt>
                <c:pt idx="73">
                  <c:v>18.2</c:v>
                </c:pt>
                <c:pt idx="74">
                  <c:v>18.3</c:v>
                </c:pt>
                <c:pt idx="75">
                  <c:v>16.899999999999999</c:v>
                </c:pt>
                <c:pt idx="76">
                  <c:v>8</c:v>
                </c:pt>
                <c:pt idx="77">
                  <c:v>5.75</c:v>
                </c:pt>
                <c:pt idx="78">
                  <c:v>9.5</c:v>
                </c:pt>
                <c:pt idx="79">
                  <c:v>13.1</c:v>
                </c:pt>
                <c:pt idx="80">
                  <c:v>6.15</c:v>
                </c:pt>
                <c:pt idx="81">
                  <c:v>11.3</c:v>
                </c:pt>
                <c:pt idx="82">
                  <c:v>17.899999999999999</c:v>
                </c:pt>
                <c:pt idx="83">
                  <c:v>31.1</c:v>
                </c:pt>
                <c:pt idx="84">
                  <c:v>23</c:v>
                </c:pt>
                <c:pt idx="85">
                  <c:v>30.4</c:v>
                </c:pt>
                <c:pt idx="86">
                  <c:v>32.6</c:v>
                </c:pt>
                <c:pt idx="87">
                  <c:v>22.8</c:v>
                </c:pt>
                <c:pt idx="88">
                  <c:v>30.7</c:v>
                </c:pt>
                <c:pt idx="89">
                  <c:v>20.7</c:v>
                </c:pt>
                <c:pt idx="90">
                  <c:v>15.8</c:v>
                </c:pt>
                <c:pt idx="91">
                  <c:v>22.6</c:v>
                </c:pt>
                <c:pt idx="92">
                  <c:v>13.7</c:v>
                </c:pt>
                <c:pt idx="93">
                  <c:v>-4.2</c:v>
                </c:pt>
                <c:pt idx="94">
                  <c:v>-23.3</c:v>
                </c:pt>
                <c:pt idx="95">
                  <c:v>-2.7</c:v>
                </c:pt>
                <c:pt idx="96">
                  <c:v>-9</c:v>
                </c:pt>
                <c:pt idx="97">
                  <c:v>-42.5</c:v>
                </c:pt>
                <c:pt idx="98">
                  <c:v>-48.2</c:v>
                </c:pt>
                <c:pt idx="99">
                  <c:v>-71.849999999999994</c:v>
                </c:pt>
                <c:pt idx="100">
                  <c:v>-21.1</c:v>
                </c:pt>
                <c:pt idx="101">
                  <c:v>-25</c:v>
                </c:pt>
                <c:pt idx="102">
                  <c:v>-16.100000000000001</c:v>
                </c:pt>
                <c:pt idx="103">
                  <c:v>-2.5</c:v>
                </c:pt>
                <c:pt idx="104">
                  <c:v>-14.7</c:v>
                </c:pt>
                <c:pt idx="105">
                  <c:v>-56.8</c:v>
                </c:pt>
                <c:pt idx="106">
                  <c:v>-32.1</c:v>
                </c:pt>
                <c:pt idx="107">
                  <c:v>-18.5</c:v>
                </c:pt>
                <c:pt idx="108">
                  <c:v>-15.3</c:v>
                </c:pt>
                <c:pt idx="109">
                  <c:v>-1</c:v>
                </c:pt>
                <c:pt idx="110">
                  <c:v>-7</c:v>
                </c:pt>
                <c:pt idx="111">
                  <c:v>-16</c:v>
                </c:pt>
                <c:pt idx="112">
                  <c:v>-5.9</c:v>
                </c:pt>
                <c:pt idx="113">
                  <c:v>2.8</c:v>
                </c:pt>
                <c:pt idx="114">
                  <c:v>-19</c:v>
                </c:pt>
                <c:pt idx="115">
                  <c:v>-11.65</c:v>
                </c:pt>
                <c:pt idx="116">
                  <c:v>-16.649999999999999</c:v>
                </c:pt>
                <c:pt idx="117">
                  <c:v>-7.77</c:v>
                </c:pt>
                <c:pt idx="118">
                  <c:v>-25.43</c:v>
                </c:pt>
                <c:pt idx="119">
                  <c:v>-30.4</c:v>
                </c:pt>
                <c:pt idx="120">
                  <c:v>-35.299999999999997</c:v>
                </c:pt>
                <c:pt idx="121">
                  <c:v>-25.12</c:v>
                </c:pt>
                <c:pt idx="122">
                  <c:v>-26.35</c:v>
                </c:pt>
                <c:pt idx="123">
                  <c:v>-25.58</c:v>
                </c:pt>
                <c:pt idx="124">
                  <c:v>-29.55</c:v>
                </c:pt>
                <c:pt idx="125">
                  <c:v>-8.1999999999999993</c:v>
                </c:pt>
                <c:pt idx="126">
                  <c:v>3.63</c:v>
                </c:pt>
                <c:pt idx="127">
                  <c:v>-9.33</c:v>
                </c:pt>
                <c:pt idx="128">
                  <c:v>-8.74</c:v>
                </c:pt>
                <c:pt idx="129">
                  <c:v>-5.21</c:v>
                </c:pt>
                <c:pt idx="130">
                  <c:v>-9.6999999999999993</c:v>
                </c:pt>
                <c:pt idx="131">
                  <c:v>9.06</c:v>
                </c:pt>
                <c:pt idx="132">
                  <c:v>17.100000000000001</c:v>
                </c:pt>
                <c:pt idx="133">
                  <c:v>10.9</c:v>
                </c:pt>
                <c:pt idx="134">
                  <c:v>7.53</c:v>
                </c:pt>
                <c:pt idx="135">
                  <c:v>23.37</c:v>
                </c:pt>
                <c:pt idx="136">
                  <c:v>17.68</c:v>
                </c:pt>
                <c:pt idx="137">
                  <c:v>11.73</c:v>
                </c:pt>
                <c:pt idx="138">
                  <c:v>9.1999999999999993</c:v>
                </c:pt>
                <c:pt idx="139">
                  <c:v>1.7</c:v>
                </c:pt>
                <c:pt idx="140">
                  <c:v>7.5</c:v>
                </c:pt>
                <c:pt idx="141">
                  <c:v>9.5</c:v>
                </c:pt>
                <c:pt idx="142">
                  <c:v>-4.4800000000000004</c:v>
                </c:pt>
                <c:pt idx="143">
                  <c:v>4.0999999999999996</c:v>
                </c:pt>
                <c:pt idx="144">
                  <c:v>1.52</c:v>
                </c:pt>
                <c:pt idx="145">
                  <c:v>7.45</c:v>
                </c:pt>
                <c:pt idx="146">
                  <c:v>8.6999999999999993</c:v>
                </c:pt>
                <c:pt idx="147">
                  <c:v>5.45</c:v>
                </c:pt>
                <c:pt idx="148">
                  <c:v>2.5</c:v>
                </c:pt>
                <c:pt idx="149">
                  <c:v>4.7</c:v>
                </c:pt>
                <c:pt idx="150">
                  <c:v>9.1999999999999993</c:v>
                </c:pt>
                <c:pt idx="151">
                  <c:v>8</c:v>
                </c:pt>
                <c:pt idx="152">
                  <c:v>12.2</c:v>
                </c:pt>
                <c:pt idx="153">
                  <c:v>12.05</c:v>
                </c:pt>
                <c:pt idx="154">
                  <c:v>21.07</c:v>
                </c:pt>
                <c:pt idx="155">
                  <c:v>19.399999999999999</c:v>
                </c:pt>
                <c:pt idx="156">
                  <c:v>15.14</c:v>
                </c:pt>
                <c:pt idx="157">
                  <c:v>11.77</c:v>
                </c:pt>
                <c:pt idx="158">
                  <c:v>14.8</c:v>
                </c:pt>
                <c:pt idx="159">
                  <c:v>16.350000000000001</c:v>
                </c:pt>
                <c:pt idx="160">
                  <c:v>-6.25</c:v>
                </c:pt>
                <c:pt idx="161">
                  <c:v>2.0499999999999998</c:v>
                </c:pt>
                <c:pt idx="162">
                  <c:v>-3.95</c:v>
                </c:pt>
                <c:pt idx="163">
                  <c:v>-7.05</c:v>
                </c:pt>
                <c:pt idx="164">
                  <c:v>-6.8</c:v>
                </c:pt>
                <c:pt idx="165">
                  <c:v>-5.75</c:v>
                </c:pt>
                <c:pt idx="166">
                  <c:v>-4.1500000000000004</c:v>
                </c:pt>
                <c:pt idx="167">
                  <c:v>-0.45</c:v>
                </c:pt>
                <c:pt idx="168">
                  <c:v>1.5</c:v>
                </c:pt>
                <c:pt idx="169">
                  <c:v>3.43</c:v>
                </c:pt>
                <c:pt idx="170">
                  <c:v>14.25</c:v>
                </c:pt>
                <c:pt idx="171">
                  <c:v>5.45</c:v>
                </c:pt>
                <c:pt idx="172">
                  <c:v>5</c:v>
                </c:pt>
                <c:pt idx="173">
                  <c:v>4.4000000000000004</c:v>
                </c:pt>
                <c:pt idx="174">
                  <c:v>8.3000000000000007</c:v>
                </c:pt>
                <c:pt idx="175">
                  <c:v>3.75</c:v>
                </c:pt>
                <c:pt idx="176">
                  <c:v>8.4</c:v>
                </c:pt>
                <c:pt idx="177">
                  <c:v>9.6999999999999993</c:v>
                </c:pt>
                <c:pt idx="178">
                  <c:v>4.2</c:v>
                </c:pt>
                <c:pt idx="179">
                  <c:v>6.1</c:v>
                </c:pt>
                <c:pt idx="180">
                  <c:v>6.9</c:v>
                </c:pt>
                <c:pt idx="181">
                  <c:v>7.4</c:v>
                </c:pt>
                <c:pt idx="182">
                  <c:v>-10</c:v>
                </c:pt>
                <c:pt idx="183">
                  <c:v>-3.6</c:v>
                </c:pt>
                <c:pt idx="184">
                  <c:v>-5.7</c:v>
                </c:pt>
                <c:pt idx="185">
                  <c:v>-2.7</c:v>
                </c:pt>
                <c:pt idx="186">
                  <c:v>1.7</c:v>
                </c:pt>
                <c:pt idx="187">
                  <c:v>5.47</c:v>
                </c:pt>
                <c:pt idx="188">
                  <c:v>1.75</c:v>
                </c:pt>
                <c:pt idx="189">
                  <c:v>5.85</c:v>
                </c:pt>
                <c:pt idx="190">
                  <c:v>1.35</c:v>
                </c:pt>
                <c:pt idx="191">
                  <c:v>1.9</c:v>
                </c:pt>
                <c:pt idx="192">
                  <c:v>0.96</c:v>
                </c:pt>
                <c:pt idx="193">
                  <c:v>-1.71</c:v>
                </c:pt>
                <c:pt idx="194">
                  <c:v>3.6</c:v>
                </c:pt>
                <c:pt idx="195">
                  <c:v>2.2000000000000002</c:v>
                </c:pt>
                <c:pt idx="196">
                  <c:v>4.7</c:v>
                </c:pt>
                <c:pt idx="197">
                  <c:v>4.9000000000000004</c:v>
                </c:pt>
                <c:pt idx="198">
                  <c:v>4.0999999999999996</c:v>
                </c:pt>
                <c:pt idx="199">
                  <c:v>4.9000000000000004</c:v>
                </c:pt>
                <c:pt idx="200">
                  <c:v>10.4</c:v>
                </c:pt>
                <c:pt idx="201">
                  <c:v>5.75</c:v>
                </c:pt>
                <c:pt idx="202">
                  <c:v>4.46</c:v>
                </c:pt>
                <c:pt idx="203">
                  <c:v>5.31</c:v>
                </c:pt>
                <c:pt idx="204">
                  <c:v>5.8</c:v>
                </c:pt>
                <c:pt idx="205">
                  <c:v>5.0599999999999996</c:v>
                </c:pt>
                <c:pt idx="206">
                  <c:v>2.4500000000000002</c:v>
                </c:pt>
                <c:pt idx="207">
                  <c:v>4.7</c:v>
                </c:pt>
                <c:pt idx="208">
                  <c:v>4.45</c:v>
                </c:pt>
                <c:pt idx="209">
                  <c:v>6.5</c:v>
                </c:pt>
                <c:pt idx="210">
                  <c:v>3.58</c:v>
                </c:pt>
                <c:pt idx="211">
                  <c:v>4.5599999999999996</c:v>
                </c:pt>
                <c:pt idx="212">
                  <c:v>5</c:v>
                </c:pt>
                <c:pt idx="213">
                  <c:v>13.2</c:v>
                </c:pt>
                <c:pt idx="214">
                  <c:v>10.09</c:v>
                </c:pt>
                <c:pt idx="215">
                  <c:v>5.85</c:v>
                </c:pt>
                <c:pt idx="216">
                  <c:v>-5.56</c:v>
                </c:pt>
                <c:pt idx="217">
                  <c:v>-5.41</c:v>
                </c:pt>
                <c:pt idx="218">
                  <c:v>-2.27</c:v>
                </c:pt>
                <c:pt idx="219">
                  <c:v>-2.4500000000000002</c:v>
                </c:pt>
                <c:pt idx="220">
                  <c:v>-0.45</c:v>
                </c:pt>
                <c:pt idx="221">
                  <c:v>1.4</c:v>
                </c:pt>
                <c:pt idx="222">
                  <c:v>5.41</c:v>
                </c:pt>
                <c:pt idx="223">
                  <c:v>2.78</c:v>
                </c:pt>
                <c:pt idx="224">
                  <c:v>5.15</c:v>
                </c:pt>
                <c:pt idx="225">
                  <c:v>4.95</c:v>
                </c:pt>
                <c:pt idx="226">
                  <c:v>7.46</c:v>
                </c:pt>
                <c:pt idx="227">
                  <c:v>9.1</c:v>
                </c:pt>
                <c:pt idx="228">
                  <c:v>7.8</c:v>
                </c:pt>
                <c:pt idx="229">
                  <c:v>9.39</c:v>
                </c:pt>
                <c:pt idx="230">
                  <c:v>8.8000000000000007</c:v>
                </c:pt>
                <c:pt idx="231">
                  <c:v>14.68</c:v>
                </c:pt>
                <c:pt idx="232">
                  <c:v>10.65</c:v>
                </c:pt>
                <c:pt idx="233">
                  <c:v>11.3</c:v>
                </c:pt>
                <c:pt idx="234">
                  <c:v>1.3</c:v>
                </c:pt>
                <c:pt idx="235">
                  <c:v>3.4</c:v>
                </c:pt>
                <c:pt idx="236">
                  <c:v>5.5</c:v>
                </c:pt>
                <c:pt idx="237">
                  <c:v>6.07</c:v>
                </c:pt>
                <c:pt idx="238">
                  <c:v>9.7100000000000009</c:v>
                </c:pt>
                <c:pt idx="239">
                  <c:v>11.9</c:v>
                </c:pt>
                <c:pt idx="240">
                  <c:v>14.69</c:v>
                </c:pt>
                <c:pt idx="241">
                  <c:v>16.7</c:v>
                </c:pt>
                <c:pt idx="242">
                  <c:v>11.45</c:v>
                </c:pt>
                <c:pt idx="243">
                  <c:v>13.75</c:v>
                </c:pt>
                <c:pt idx="244">
                  <c:v>16.809999999999999</c:v>
                </c:pt>
                <c:pt idx="245">
                  <c:v>10.8</c:v>
                </c:pt>
                <c:pt idx="246">
                  <c:v>9.6</c:v>
                </c:pt>
                <c:pt idx="247">
                  <c:v>12.25</c:v>
                </c:pt>
                <c:pt idx="248">
                  <c:v>11.05</c:v>
                </c:pt>
                <c:pt idx="249">
                  <c:v>11.7</c:v>
                </c:pt>
                <c:pt idx="250">
                  <c:v>6.1</c:v>
                </c:pt>
                <c:pt idx="251">
                  <c:v>10.050000000000001</c:v>
                </c:pt>
                <c:pt idx="252">
                  <c:v>14.6</c:v>
                </c:pt>
                <c:pt idx="253">
                  <c:v>13.3</c:v>
                </c:pt>
                <c:pt idx="254">
                  <c:v>12.8</c:v>
                </c:pt>
                <c:pt idx="255">
                  <c:v>13.1</c:v>
                </c:pt>
                <c:pt idx="256">
                  <c:v>13.29</c:v>
                </c:pt>
                <c:pt idx="257">
                  <c:v>15.7</c:v>
                </c:pt>
                <c:pt idx="258">
                  <c:v>15</c:v>
                </c:pt>
                <c:pt idx="259">
                  <c:v>16.5</c:v>
                </c:pt>
                <c:pt idx="260">
                  <c:v>18.8</c:v>
                </c:pt>
                <c:pt idx="261">
                  <c:v>20.399999999999999</c:v>
                </c:pt>
                <c:pt idx="262">
                  <c:v>19.75</c:v>
                </c:pt>
                <c:pt idx="263">
                  <c:v>23.39</c:v>
                </c:pt>
                <c:pt idx="264">
                  <c:v>20.56</c:v>
                </c:pt>
                <c:pt idx="265">
                  <c:v>25.7</c:v>
                </c:pt>
                <c:pt idx="266">
                  <c:v>24.4</c:v>
                </c:pt>
                <c:pt idx="267">
                  <c:v>25.4</c:v>
                </c:pt>
                <c:pt idx="268">
                  <c:v>26.38</c:v>
                </c:pt>
                <c:pt idx="269">
                  <c:v>21.3</c:v>
                </c:pt>
                <c:pt idx="270">
                  <c:v>24.14</c:v>
                </c:pt>
                <c:pt idx="271">
                  <c:v>23.15</c:v>
                </c:pt>
                <c:pt idx="272">
                  <c:v>21.4</c:v>
                </c:pt>
                <c:pt idx="273">
                  <c:v>20.23</c:v>
                </c:pt>
                <c:pt idx="274">
                  <c:v>19.7</c:v>
                </c:pt>
                <c:pt idx="275">
                  <c:v>21.65</c:v>
                </c:pt>
                <c:pt idx="276">
                  <c:v>18.86</c:v>
                </c:pt>
                <c:pt idx="277">
                  <c:v>19.5</c:v>
                </c:pt>
                <c:pt idx="278">
                  <c:v>16.190000000000001</c:v>
                </c:pt>
                <c:pt idx="279">
                  <c:v>17.3</c:v>
                </c:pt>
                <c:pt idx="280">
                  <c:v>17.14</c:v>
                </c:pt>
                <c:pt idx="281">
                  <c:v>18.47</c:v>
                </c:pt>
                <c:pt idx="282">
                  <c:v>20.3</c:v>
                </c:pt>
                <c:pt idx="283">
                  <c:v>18.22</c:v>
                </c:pt>
                <c:pt idx="284">
                  <c:v>18.8</c:v>
                </c:pt>
                <c:pt idx="285">
                  <c:v>16.89</c:v>
                </c:pt>
                <c:pt idx="286">
                  <c:v>19.440000000000001</c:v>
                </c:pt>
                <c:pt idx="287">
                  <c:v>16.62</c:v>
                </c:pt>
                <c:pt idx="288">
                  <c:v>18.649999999999999</c:v>
                </c:pt>
                <c:pt idx="289">
                  <c:v>18.829999999999998</c:v>
                </c:pt>
                <c:pt idx="290">
                  <c:v>22.2</c:v>
                </c:pt>
                <c:pt idx="291">
                  <c:v>22.85</c:v>
                </c:pt>
                <c:pt idx="292">
                  <c:v>23.72</c:v>
                </c:pt>
                <c:pt idx="293">
                  <c:v>23.8</c:v>
                </c:pt>
                <c:pt idx="294">
                  <c:v>19.78</c:v>
                </c:pt>
                <c:pt idx="295">
                  <c:v>17.34</c:v>
                </c:pt>
                <c:pt idx="296">
                  <c:v>20.28</c:v>
                </c:pt>
                <c:pt idx="297">
                  <c:v>20.5</c:v>
                </c:pt>
                <c:pt idx="298">
                  <c:v>22.87</c:v>
                </c:pt>
                <c:pt idx="299">
                  <c:v>13.9</c:v>
                </c:pt>
                <c:pt idx="300">
                  <c:v>16.559999999999999</c:v>
                </c:pt>
                <c:pt idx="301">
                  <c:v>15.1</c:v>
                </c:pt>
                <c:pt idx="302">
                  <c:v>16.71</c:v>
                </c:pt>
                <c:pt idx="303">
                  <c:v>19.399999999999999</c:v>
                </c:pt>
                <c:pt idx="304">
                  <c:v>18.09</c:v>
                </c:pt>
                <c:pt idx="305">
                  <c:v>14.96</c:v>
                </c:pt>
                <c:pt idx="306">
                  <c:v>17.72</c:v>
                </c:pt>
                <c:pt idx="307">
                  <c:v>16.39</c:v>
                </c:pt>
                <c:pt idx="308">
                  <c:v>18.3</c:v>
                </c:pt>
                <c:pt idx="309">
                  <c:v>16.63</c:v>
                </c:pt>
                <c:pt idx="310">
                  <c:v>19.64</c:v>
                </c:pt>
                <c:pt idx="311">
                  <c:v>21.5</c:v>
                </c:pt>
                <c:pt idx="312">
                  <c:v>23.5</c:v>
                </c:pt>
                <c:pt idx="313">
                  <c:v>25.18</c:v>
                </c:pt>
                <c:pt idx="314">
                  <c:v>21.12</c:v>
                </c:pt>
                <c:pt idx="315">
                  <c:v>18.670000000000002</c:v>
                </c:pt>
                <c:pt idx="316">
                  <c:v>18.5</c:v>
                </c:pt>
                <c:pt idx="317">
                  <c:v>22.25</c:v>
                </c:pt>
                <c:pt idx="318">
                  <c:v>19.079999999999998</c:v>
                </c:pt>
                <c:pt idx="319">
                  <c:v>18.850000000000001</c:v>
                </c:pt>
                <c:pt idx="320">
                  <c:v>21</c:v>
                </c:pt>
                <c:pt idx="321">
                  <c:v>21.15</c:v>
                </c:pt>
                <c:pt idx="322">
                  <c:v>18</c:v>
                </c:pt>
                <c:pt idx="323">
                  <c:v>22.32</c:v>
                </c:pt>
                <c:pt idx="324">
                  <c:v>20.62</c:v>
                </c:pt>
                <c:pt idx="325">
                  <c:v>22.15</c:v>
                </c:pt>
                <c:pt idx="326">
                  <c:v>23.3</c:v>
                </c:pt>
                <c:pt idx="327">
                  <c:v>24.4</c:v>
                </c:pt>
                <c:pt idx="328">
                  <c:v>24.7</c:v>
                </c:pt>
                <c:pt idx="329">
                  <c:v>24.03</c:v>
                </c:pt>
                <c:pt idx="330">
                  <c:v>17</c:v>
                </c:pt>
                <c:pt idx="331">
                  <c:v>19.100000000000001</c:v>
                </c:pt>
                <c:pt idx="332">
                  <c:v>17.8</c:v>
                </c:pt>
                <c:pt idx="333">
                  <c:v>18.48</c:v>
                </c:pt>
                <c:pt idx="334">
                  <c:v>19.8</c:v>
                </c:pt>
                <c:pt idx="335">
                  <c:v>17.82</c:v>
                </c:pt>
                <c:pt idx="336">
                  <c:v>17.5</c:v>
                </c:pt>
                <c:pt idx="337">
                  <c:v>13.59</c:v>
                </c:pt>
                <c:pt idx="338">
                  <c:v>20</c:v>
                </c:pt>
                <c:pt idx="339">
                  <c:v>25.5</c:v>
                </c:pt>
                <c:pt idx="340">
                  <c:v>24.4</c:v>
                </c:pt>
                <c:pt idx="341">
                  <c:v>22.84</c:v>
                </c:pt>
                <c:pt idx="342">
                  <c:v>22.65</c:v>
                </c:pt>
                <c:pt idx="343">
                  <c:v>25.1</c:v>
                </c:pt>
                <c:pt idx="344">
                  <c:v>26.97</c:v>
                </c:pt>
                <c:pt idx="345">
                  <c:v>28.5</c:v>
                </c:pt>
                <c:pt idx="346">
                  <c:v>27.16</c:v>
                </c:pt>
                <c:pt idx="347">
                  <c:v>27.89</c:v>
                </c:pt>
                <c:pt idx="348">
                  <c:v>26.05</c:v>
                </c:pt>
                <c:pt idx="349">
                  <c:v>24.77</c:v>
                </c:pt>
                <c:pt idx="350">
                  <c:v>26.5</c:v>
                </c:pt>
                <c:pt idx="351">
                  <c:v>27.1</c:v>
                </c:pt>
                <c:pt idx="352">
                  <c:v>30.3</c:v>
                </c:pt>
                <c:pt idx="353">
                  <c:v>28.2</c:v>
                </c:pt>
                <c:pt idx="354">
                  <c:v>30.7</c:v>
                </c:pt>
                <c:pt idx="355">
                  <c:v>31.87</c:v>
                </c:pt>
                <c:pt idx="356">
                  <c:v>28.9</c:v>
                </c:pt>
                <c:pt idx="357">
                  <c:v>31.93</c:v>
                </c:pt>
                <c:pt idx="358">
                  <c:v>26.9</c:v>
                </c:pt>
                <c:pt idx="359">
                  <c:v>28.6</c:v>
                </c:pt>
                <c:pt idx="360">
                  <c:v>11.2</c:v>
                </c:pt>
                <c:pt idx="361">
                  <c:v>16.899999999999999</c:v>
                </c:pt>
                <c:pt idx="362">
                  <c:v>19.7</c:v>
                </c:pt>
                <c:pt idx="363">
                  <c:v>20.3</c:v>
                </c:pt>
                <c:pt idx="364">
                  <c:v>22.2</c:v>
                </c:pt>
                <c:pt idx="365">
                  <c:v>20.6</c:v>
                </c:pt>
                <c:pt idx="366">
                  <c:v>14.3</c:v>
                </c:pt>
                <c:pt idx="367">
                  <c:v>11.5</c:v>
                </c:pt>
                <c:pt idx="368">
                  <c:v>14.8</c:v>
                </c:pt>
                <c:pt idx="369">
                  <c:v>7.6</c:v>
                </c:pt>
                <c:pt idx="370">
                  <c:v>8</c:v>
                </c:pt>
                <c:pt idx="371">
                  <c:v>2.2000000000000002</c:v>
                </c:pt>
                <c:pt idx="372">
                  <c:v>4.2</c:v>
                </c:pt>
                <c:pt idx="373">
                  <c:v>8.1999999999999993</c:v>
                </c:pt>
                <c:pt idx="374">
                  <c:v>13.5</c:v>
                </c:pt>
                <c:pt idx="375">
                  <c:v>9.9</c:v>
                </c:pt>
                <c:pt idx="376">
                  <c:v>1</c:v>
                </c:pt>
                <c:pt idx="377">
                  <c:v>15.1</c:v>
                </c:pt>
                <c:pt idx="378">
                  <c:v>6.85</c:v>
                </c:pt>
                <c:pt idx="379">
                  <c:v>15.4</c:v>
                </c:pt>
                <c:pt idx="380">
                  <c:v>4.9000000000000004</c:v>
                </c:pt>
                <c:pt idx="381">
                  <c:v>7.6</c:v>
                </c:pt>
                <c:pt idx="382">
                  <c:v>29.9</c:v>
                </c:pt>
                <c:pt idx="383">
                  <c:v>30.15</c:v>
                </c:pt>
                <c:pt idx="384">
                  <c:v>28.2</c:v>
                </c:pt>
                <c:pt idx="385">
                  <c:v>31.8</c:v>
                </c:pt>
                <c:pt idx="386">
                  <c:v>34.85</c:v>
                </c:pt>
                <c:pt idx="387">
                  <c:v>37</c:v>
                </c:pt>
                <c:pt idx="388">
                  <c:v>39.5</c:v>
                </c:pt>
                <c:pt idx="389">
                  <c:v>35.68</c:v>
                </c:pt>
                <c:pt idx="390">
                  <c:v>34.81</c:v>
                </c:pt>
                <c:pt idx="391">
                  <c:v>32.049999999999997</c:v>
                </c:pt>
                <c:pt idx="392">
                  <c:v>30.55</c:v>
                </c:pt>
                <c:pt idx="393">
                  <c:v>31.05</c:v>
                </c:pt>
                <c:pt idx="394">
                  <c:v>32.51</c:v>
                </c:pt>
                <c:pt idx="395">
                  <c:v>35.700000000000003</c:v>
                </c:pt>
                <c:pt idx="396">
                  <c:v>35.15</c:v>
                </c:pt>
                <c:pt idx="397">
                  <c:v>35.25</c:v>
                </c:pt>
                <c:pt idx="398">
                  <c:v>34.97</c:v>
                </c:pt>
                <c:pt idx="399">
                  <c:v>35.5</c:v>
                </c:pt>
                <c:pt idx="400">
                  <c:v>37.5</c:v>
                </c:pt>
                <c:pt idx="401">
                  <c:v>40.1</c:v>
                </c:pt>
                <c:pt idx="402">
                  <c:v>38.799999999999997</c:v>
                </c:pt>
                <c:pt idx="403">
                  <c:v>40</c:v>
                </c:pt>
                <c:pt idx="404">
                  <c:v>26.12</c:v>
                </c:pt>
                <c:pt idx="405">
                  <c:v>25.11</c:v>
                </c:pt>
                <c:pt idx="406">
                  <c:v>26.7</c:v>
                </c:pt>
                <c:pt idx="407">
                  <c:v>26.51</c:v>
                </c:pt>
                <c:pt idx="408">
                  <c:v>31.07</c:v>
                </c:pt>
                <c:pt idx="409">
                  <c:v>30.4</c:v>
                </c:pt>
                <c:pt idx="410">
                  <c:v>30.38</c:v>
                </c:pt>
                <c:pt idx="411">
                  <c:v>33.200000000000003</c:v>
                </c:pt>
                <c:pt idx="412">
                  <c:v>30.95</c:v>
                </c:pt>
                <c:pt idx="413">
                  <c:v>35.049999999999997</c:v>
                </c:pt>
                <c:pt idx="414">
                  <c:v>36.049999999999997</c:v>
                </c:pt>
                <c:pt idx="415">
                  <c:v>33.47</c:v>
                </c:pt>
                <c:pt idx="416">
                  <c:v>33.450000000000003</c:v>
                </c:pt>
                <c:pt idx="417">
                  <c:v>32.6</c:v>
                </c:pt>
                <c:pt idx="418">
                  <c:v>30.2</c:v>
                </c:pt>
                <c:pt idx="419">
                  <c:v>28.95</c:v>
                </c:pt>
                <c:pt idx="420">
                  <c:v>30</c:v>
                </c:pt>
                <c:pt idx="421">
                  <c:v>27.45</c:v>
                </c:pt>
                <c:pt idx="422">
                  <c:v>26.42</c:v>
                </c:pt>
                <c:pt idx="423">
                  <c:v>27.75</c:v>
                </c:pt>
                <c:pt idx="424">
                  <c:v>29.7</c:v>
                </c:pt>
                <c:pt idx="425">
                  <c:v>29.78</c:v>
                </c:pt>
                <c:pt idx="426">
                  <c:v>30.45</c:v>
                </c:pt>
                <c:pt idx="427">
                  <c:v>30.15</c:v>
                </c:pt>
                <c:pt idx="428">
                  <c:v>32.950000000000003</c:v>
                </c:pt>
                <c:pt idx="429">
                  <c:v>35.61</c:v>
                </c:pt>
                <c:pt idx="430">
                  <c:v>35.82</c:v>
                </c:pt>
                <c:pt idx="431">
                  <c:v>35.1</c:v>
                </c:pt>
                <c:pt idx="432">
                  <c:v>33.65</c:v>
                </c:pt>
                <c:pt idx="433">
                  <c:v>34.15</c:v>
                </c:pt>
                <c:pt idx="434">
                  <c:v>34.950000000000003</c:v>
                </c:pt>
                <c:pt idx="435">
                  <c:v>34.049999999999997</c:v>
                </c:pt>
                <c:pt idx="436">
                  <c:v>35.549999999999997</c:v>
                </c:pt>
                <c:pt idx="437">
                  <c:v>35.67</c:v>
                </c:pt>
                <c:pt idx="438">
                  <c:v>38.6</c:v>
                </c:pt>
                <c:pt idx="439">
                  <c:v>38.4</c:v>
                </c:pt>
                <c:pt idx="440">
                  <c:v>38.65</c:v>
                </c:pt>
                <c:pt idx="441">
                  <c:v>39.67</c:v>
                </c:pt>
                <c:pt idx="442">
                  <c:v>42.13</c:v>
                </c:pt>
                <c:pt idx="443">
                  <c:v>24.88</c:v>
                </c:pt>
                <c:pt idx="444">
                  <c:v>26.3</c:v>
                </c:pt>
                <c:pt idx="445">
                  <c:v>25.7</c:v>
                </c:pt>
                <c:pt idx="446">
                  <c:v>24.81</c:v>
                </c:pt>
                <c:pt idx="447">
                  <c:v>24.65</c:v>
                </c:pt>
                <c:pt idx="448">
                  <c:v>23.5</c:v>
                </c:pt>
                <c:pt idx="449">
                  <c:v>26.4</c:v>
                </c:pt>
                <c:pt idx="450">
                  <c:v>25.75</c:v>
                </c:pt>
                <c:pt idx="451">
                  <c:v>25.47</c:v>
                </c:pt>
                <c:pt idx="452">
                  <c:v>24.35</c:v>
                </c:pt>
                <c:pt idx="453">
                  <c:v>23.5</c:v>
                </c:pt>
                <c:pt idx="454">
                  <c:v>20.9</c:v>
                </c:pt>
                <c:pt idx="455">
                  <c:v>21.82</c:v>
                </c:pt>
                <c:pt idx="456">
                  <c:v>22.6</c:v>
                </c:pt>
                <c:pt idx="457">
                  <c:v>22.02</c:v>
                </c:pt>
                <c:pt idx="458">
                  <c:v>21.9</c:v>
                </c:pt>
                <c:pt idx="459">
                  <c:v>21.68</c:v>
                </c:pt>
                <c:pt idx="460">
                  <c:v>24.45</c:v>
                </c:pt>
                <c:pt idx="461">
                  <c:v>25.1</c:v>
                </c:pt>
                <c:pt idx="462">
                  <c:v>23.5</c:v>
                </c:pt>
                <c:pt idx="463">
                  <c:v>24.13</c:v>
                </c:pt>
                <c:pt idx="464">
                  <c:v>24.39</c:v>
                </c:pt>
                <c:pt idx="465">
                  <c:v>25.55</c:v>
                </c:pt>
                <c:pt idx="466">
                  <c:v>24.95</c:v>
                </c:pt>
                <c:pt idx="467">
                  <c:v>24.6</c:v>
                </c:pt>
                <c:pt idx="468">
                  <c:v>19.7</c:v>
                </c:pt>
                <c:pt idx="469">
                  <c:v>16.7</c:v>
                </c:pt>
                <c:pt idx="470">
                  <c:v>17.71</c:v>
                </c:pt>
                <c:pt idx="471">
                  <c:v>20.91</c:v>
                </c:pt>
                <c:pt idx="472">
                  <c:v>22.5</c:v>
                </c:pt>
                <c:pt idx="473">
                  <c:v>23.85</c:v>
                </c:pt>
                <c:pt idx="474">
                  <c:v>23</c:v>
                </c:pt>
                <c:pt idx="475">
                  <c:v>19.7</c:v>
                </c:pt>
                <c:pt idx="476">
                  <c:v>21.9</c:v>
                </c:pt>
                <c:pt idx="477">
                  <c:v>20.77</c:v>
                </c:pt>
                <c:pt idx="478">
                  <c:v>21.32</c:v>
                </c:pt>
                <c:pt idx="479">
                  <c:v>24</c:v>
                </c:pt>
                <c:pt idx="480">
                  <c:v>25.72</c:v>
                </c:pt>
                <c:pt idx="481">
                  <c:v>27</c:v>
                </c:pt>
                <c:pt idx="482">
                  <c:v>28.06</c:v>
                </c:pt>
                <c:pt idx="483">
                  <c:v>27</c:v>
                </c:pt>
                <c:pt idx="484">
                  <c:v>26.42</c:v>
                </c:pt>
                <c:pt idx="485">
                  <c:v>27</c:v>
                </c:pt>
                <c:pt idx="486">
                  <c:v>28.7</c:v>
                </c:pt>
                <c:pt idx="487">
                  <c:v>28.9</c:v>
                </c:pt>
                <c:pt idx="488">
                  <c:v>27.32</c:v>
                </c:pt>
                <c:pt idx="489">
                  <c:v>27.05</c:v>
                </c:pt>
                <c:pt idx="490">
                  <c:v>27.2</c:v>
                </c:pt>
                <c:pt idx="491">
                  <c:v>29.5</c:v>
                </c:pt>
                <c:pt idx="492">
                  <c:v>29.8</c:v>
                </c:pt>
                <c:pt idx="493">
                  <c:v>26.48</c:v>
                </c:pt>
                <c:pt idx="494">
                  <c:v>28.3</c:v>
                </c:pt>
                <c:pt idx="495">
                  <c:v>28.95</c:v>
                </c:pt>
                <c:pt idx="496">
                  <c:v>28.75</c:v>
                </c:pt>
                <c:pt idx="497">
                  <c:v>27.1</c:v>
                </c:pt>
                <c:pt idx="498">
                  <c:v>27.6</c:v>
                </c:pt>
                <c:pt idx="499">
                  <c:v>27.07</c:v>
                </c:pt>
                <c:pt idx="500">
                  <c:v>25.88</c:v>
                </c:pt>
                <c:pt idx="501">
                  <c:v>24.5</c:v>
                </c:pt>
                <c:pt idx="502">
                  <c:v>22.97</c:v>
                </c:pt>
                <c:pt idx="503">
                  <c:v>26.57</c:v>
                </c:pt>
                <c:pt idx="504">
                  <c:v>24.4</c:v>
                </c:pt>
                <c:pt idx="505">
                  <c:v>24.02</c:v>
                </c:pt>
                <c:pt idx="506">
                  <c:v>24.57</c:v>
                </c:pt>
                <c:pt idx="507">
                  <c:v>21.05</c:v>
                </c:pt>
                <c:pt idx="508">
                  <c:v>23.05</c:v>
                </c:pt>
                <c:pt idx="509">
                  <c:v>22.1</c:v>
                </c:pt>
                <c:pt idx="510">
                  <c:v>24.2</c:v>
                </c:pt>
                <c:pt idx="511">
                  <c:v>15.4</c:v>
                </c:pt>
                <c:pt idx="512">
                  <c:v>16.2</c:v>
                </c:pt>
                <c:pt idx="513">
                  <c:v>16.8</c:v>
                </c:pt>
                <c:pt idx="514">
                  <c:v>17.05</c:v>
                </c:pt>
                <c:pt idx="515">
                  <c:v>15.9</c:v>
                </c:pt>
                <c:pt idx="516">
                  <c:v>16.22</c:v>
                </c:pt>
                <c:pt idx="517">
                  <c:v>16.91</c:v>
                </c:pt>
                <c:pt idx="518">
                  <c:v>16.82</c:v>
                </c:pt>
                <c:pt idx="519">
                  <c:v>17.38</c:v>
                </c:pt>
                <c:pt idx="520">
                  <c:v>19.62</c:v>
                </c:pt>
                <c:pt idx="521">
                  <c:v>20.95</c:v>
                </c:pt>
                <c:pt idx="522">
                  <c:v>19.899999999999999</c:v>
                </c:pt>
                <c:pt idx="523">
                  <c:v>19.25</c:v>
                </c:pt>
                <c:pt idx="524">
                  <c:v>17.600000000000001</c:v>
                </c:pt>
                <c:pt idx="525">
                  <c:v>18.899999999999999</c:v>
                </c:pt>
                <c:pt idx="526">
                  <c:v>20.8</c:v>
                </c:pt>
                <c:pt idx="527">
                  <c:v>20.7</c:v>
                </c:pt>
                <c:pt idx="528">
                  <c:v>18.5</c:v>
                </c:pt>
                <c:pt idx="529">
                  <c:v>18.98</c:v>
                </c:pt>
                <c:pt idx="530">
                  <c:v>19.649999999999999</c:v>
                </c:pt>
                <c:pt idx="531">
                  <c:v>19.7</c:v>
                </c:pt>
                <c:pt idx="532">
                  <c:v>2.4700000000000002</c:v>
                </c:pt>
                <c:pt idx="533">
                  <c:v>5.82</c:v>
                </c:pt>
                <c:pt idx="534">
                  <c:v>17.100000000000001</c:v>
                </c:pt>
                <c:pt idx="535">
                  <c:v>4.91</c:v>
                </c:pt>
                <c:pt idx="536">
                  <c:v>6.53</c:v>
                </c:pt>
                <c:pt idx="537">
                  <c:v>5.49</c:v>
                </c:pt>
                <c:pt idx="538">
                  <c:v>10.29</c:v>
                </c:pt>
                <c:pt idx="539">
                  <c:v>14.6</c:v>
                </c:pt>
                <c:pt idx="540">
                  <c:v>14.25</c:v>
                </c:pt>
                <c:pt idx="541">
                  <c:v>9.2799999999999994</c:v>
                </c:pt>
                <c:pt idx="542">
                  <c:v>11.8</c:v>
                </c:pt>
                <c:pt idx="543">
                  <c:v>15.9</c:v>
                </c:pt>
                <c:pt idx="544">
                  <c:v>16.2</c:v>
                </c:pt>
                <c:pt idx="545">
                  <c:v>17.100000000000001</c:v>
                </c:pt>
                <c:pt idx="546">
                  <c:v>16.2</c:v>
                </c:pt>
                <c:pt idx="547">
                  <c:v>17.45</c:v>
                </c:pt>
                <c:pt idx="548">
                  <c:v>16.190000000000001</c:v>
                </c:pt>
                <c:pt idx="549">
                  <c:v>15.55</c:v>
                </c:pt>
                <c:pt idx="550">
                  <c:v>16.79</c:v>
                </c:pt>
                <c:pt idx="551">
                  <c:v>15.65</c:v>
                </c:pt>
                <c:pt idx="552">
                  <c:v>17.5</c:v>
                </c:pt>
                <c:pt idx="553">
                  <c:v>18.100000000000001</c:v>
                </c:pt>
                <c:pt idx="554">
                  <c:v>16</c:v>
                </c:pt>
                <c:pt idx="555">
                  <c:v>16.5</c:v>
                </c:pt>
                <c:pt idx="556">
                  <c:v>16.2</c:v>
                </c:pt>
                <c:pt idx="557">
                  <c:v>16.829999999999998</c:v>
                </c:pt>
                <c:pt idx="558">
                  <c:v>14.5</c:v>
                </c:pt>
                <c:pt idx="559">
                  <c:v>17.52</c:v>
                </c:pt>
                <c:pt idx="560">
                  <c:v>18.07</c:v>
                </c:pt>
                <c:pt idx="561">
                  <c:v>18.8</c:v>
                </c:pt>
                <c:pt idx="562">
                  <c:v>18.2</c:v>
                </c:pt>
                <c:pt idx="563">
                  <c:v>20.37</c:v>
                </c:pt>
                <c:pt idx="564">
                  <c:v>20</c:v>
                </c:pt>
                <c:pt idx="565">
                  <c:v>20.399999999999999</c:v>
                </c:pt>
                <c:pt idx="566">
                  <c:v>21.3</c:v>
                </c:pt>
                <c:pt idx="567">
                  <c:v>19.75</c:v>
                </c:pt>
                <c:pt idx="568">
                  <c:v>20.6</c:v>
                </c:pt>
                <c:pt idx="569">
                  <c:v>20.95</c:v>
                </c:pt>
                <c:pt idx="570">
                  <c:v>20.64</c:v>
                </c:pt>
                <c:pt idx="571">
                  <c:v>21</c:v>
                </c:pt>
                <c:pt idx="572">
                  <c:v>20.8</c:v>
                </c:pt>
                <c:pt idx="573">
                  <c:v>20.8</c:v>
                </c:pt>
                <c:pt idx="574">
                  <c:v>21.7</c:v>
                </c:pt>
                <c:pt idx="575">
                  <c:v>19.8</c:v>
                </c:pt>
                <c:pt idx="576">
                  <c:v>19.649999999999999</c:v>
                </c:pt>
                <c:pt idx="577">
                  <c:v>19.2</c:v>
                </c:pt>
                <c:pt idx="578">
                  <c:v>20.83</c:v>
                </c:pt>
                <c:pt idx="579">
                  <c:v>21.2</c:v>
                </c:pt>
                <c:pt idx="580">
                  <c:v>20.2</c:v>
                </c:pt>
                <c:pt idx="581">
                  <c:v>19.55</c:v>
                </c:pt>
                <c:pt idx="582">
                  <c:v>21.62</c:v>
                </c:pt>
                <c:pt idx="583">
                  <c:v>22.1</c:v>
                </c:pt>
                <c:pt idx="584">
                  <c:v>24.1</c:v>
                </c:pt>
                <c:pt idx="585">
                  <c:v>25.94</c:v>
                </c:pt>
                <c:pt idx="586">
                  <c:v>25.92</c:v>
                </c:pt>
                <c:pt idx="587">
                  <c:v>25.7</c:v>
                </c:pt>
                <c:pt idx="588">
                  <c:v>24.26</c:v>
                </c:pt>
                <c:pt idx="589">
                  <c:v>25.13</c:v>
                </c:pt>
                <c:pt idx="590">
                  <c:v>26.08</c:v>
                </c:pt>
                <c:pt idx="591">
                  <c:v>25.5</c:v>
                </c:pt>
                <c:pt idx="592">
                  <c:v>24.11</c:v>
                </c:pt>
                <c:pt idx="593">
                  <c:v>22.54</c:v>
                </c:pt>
                <c:pt idx="594">
                  <c:v>24.18</c:v>
                </c:pt>
                <c:pt idx="595">
                  <c:v>25.32</c:v>
                </c:pt>
                <c:pt idx="596">
                  <c:v>25.77</c:v>
                </c:pt>
                <c:pt idx="597">
                  <c:v>24.83</c:v>
                </c:pt>
                <c:pt idx="598">
                  <c:v>24.3</c:v>
                </c:pt>
                <c:pt idx="599">
                  <c:v>25.14</c:v>
                </c:pt>
                <c:pt idx="600">
                  <c:v>26.94</c:v>
                </c:pt>
                <c:pt idx="601">
                  <c:v>25.4</c:v>
                </c:pt>
                <c:pt idx="602">
                  <c:v>28.4</c:v>
                </c:pt>
                <c:pt idx="603">
                  <c:v>30.59</c:v>
                </c:pt>
                <c:pt idx="604">
                  <c:v>16.48</c:v>
                </c:pt>
                <c:pt idx="605">
                  <c:v>16.2</c:v>
                </c:pt>
                <c:pt idx="606">
                  <c:v>14.2</c:v>
                </c:pt>
                <c:pt idx="607">
                  <c:v>15.4</c:v>
                </c:pt>
                <c:pt idx="608">
                  <c:v>13.19</c:v>
                </c:pt>
                <c:pt idx="609">
                  <c:v>13.65</c:v>
                </c:pt>
                <c:pt idx="610">
                  <c:v>14</c:v>
                </c:pt>
                <c:pt idx="611">
                  <c:v>15.8</c:v>
                </c:pt>
                <c:pt idx="612">
                  <c:v>16.05</c:v>
                </c:pt>
                <c:pt idx="613">
                  <c:v>15.32</c:v>
                </c:pt>
                <c:pt idx="614">
                  <c:v>18.55</c:v>
                </c:pt>
                <c:pt idx="615">
                  <c:v>18.55</c:v>
                </c:pt>
                <c:pt idx="616">
                  <c:v>20.149999999999999</c:v>
                </c:pt>
                <c:pt idx="617">
                  <c:v>20.95</c:v>
                </c:pt>
                <c:pt idx="618">
                  <c:v>23.23</c:v>
                </c:pt>
                <c:pt idx="619">
                  <c:v>28.58</c:v>
                </c:pt>
                <c:pt idx="620">
                  <c:v>29.48</c:v>
                </c:pt>
                <c:pt idx="621">
                  <c:v>27.4</c:v>
                </c:pt>
                <c:pt idx="622">
                  <c:v>27.84</c:v>
                </c:pt>
                <c:pt idx="623">
                  <c:v>26.38</c:v>
                </c:pt>
                <c:pt idx="624">
                  <c:v>28.55</c:v>
                </c:pt>
                <c:pt idx="625">
                  <c:v>29.1</c:v>
                </c:pt>
                <c:pt idx="626">
                  <c:v>27.9</c:v>
                </c:pt>
                <c:pt idx="627">
                  <c:v>26.38</c:v>
                </c:pt>
                <c:pt idx="628">
                  <c:v>26.4</c:v>
                </c:pt>
                <c:pt idx="629">
                  <c:v>27.15</c:v>
                </c:pt>
                <c:pt idx="630">
                  <c:v>29.7</c:v>
                </c:pt>
                <c:pt idx="631">
                  <c:v>26.1</c:v>
                </c:pt>
                <c:pt idx="632">
                  <c:v>34.700000000000003</c:v>
                </c:pt>
                <c:pt idx="633">
                  <c:v>38.6</c:v>
                </c:pt>
                <c:pt idx="634">
                  <c:v>40.700000000000003</c:v>
                </c:pt>
                <c:pt idx="635">
                  <c:v>52.7</c:v>
                </c:pt>
                <c:pt idx="636">
                  <c:v>47.7</c:v>
                </c:pt>
                <c:pt idx="637">
                  <c:v>44</c:v>
                </c:pt>
                <c:pt idx="638">
                  <c:v>42.5</c:v>
                </c:pt>
                <c:pt idx="639">
                  <c:v>40.700000000000003</c:v>
                </c:pt>
                <c:pt idx="640">
                  <c:v>39.5</c:v>
                </c:pt>
                <c:pt idx="641">
                  <c:v>48.1</c:v>
                </c:pt>
                <c:pt idx="642">
                  <c:v>48.18</c:v>
                </c:pt>
                <c:pt idx="643">
                  <c:v>53.9</c:v>
                </c:pt>
                <c:pt idx="644">
                  <c:v>54.2</c:v>
                </c:pt>
                <c:pt idx="645">
                  <c:v>49.1</c:v>
                </c:pt>
                <c:pt idx="646">
                  <c:v>45.5</c:v>
                </c:pt>
                <c:pt idx="647">
                  <c:v>48.4</c:v>
                </c:pt>
                <c:pt idx="648">
                  <c:v>46.1</c:v>
                </c:pt>
                <c:pt idx="649">
                  <c:v>37.72</c:v>
                </c:pt>
                <c:pt idx="650">
                  <c:v>46.2</c:v>
                </c:pt>
                <c:pt idx="651">
                  <c:v>32.85</c:v>
                </c:pt>
                <c:pt idx="652">
                  <c:v>32.6</c:v>
                </c:pt>
                <c:pt idx="653">
                  <c:v>32</c:v>
                </c:pt>
                <c:pt idx="654">
                  <c:v>36.1</c:v>
                </c:pt>
                <c:pt idx="655">
                  <c:v>39.6</c:v>
                </c:pt>
                <c:pt idx="656">
                  <c:v>44.9</c:v>
                </c:pt>
                <c:pt idx="657">
                  <c:v>50.1</c:v>
                </c:pt>
                <c:pt idx="658">
                  <c:v>47.8</c:v>
                </c:pt>
                <c:pt idx="659">
                  <c:v>47.1</c:v>
                </c:pt>
                <c:pt idx="660">
                  <c:v>53.9</c:v>
                </c:pt>
                <c:pt idx="661">
                  <c:v>50</c:v>
                </c:pt>
                <c:pt idx="662">
                  <c:v>47.4</c:v>
                </c:pt>
                <c:pt idx="663">
                  <c:v>47.8</c:v>
                </c:pt>
                <c:pt idx="664">
                  <c:v>57.4</c:v>
                </c:pt>
                <c:pt idx="665">
                  <c:v>61.8</c:v>
                </c:pt>
                <c:pt idx="666">
                  <c:v>69</c:v>
                </c:pt>
                <c:pt idx="667">
                  <c:v>62.97</c:v>
                </c:pt>
                <c:pt idx="668">
                  <c:v>54.02</c:v>
                </c:pt>
                <c:pt idx="669">
                  <c:v>58.9</c:v>
                </c:pt>
                <c:pt idx="670">
                  <c:v>56.5</c:v>
                </c:pt>
                <c:pt idx="671">
                  <c:v>42.1</c:v>
                </c:pt>
                <c:pt idx="672">
                  <c:v>49.6</c:v>
                </c:pt>
                <c:pt idx="673">
                  <c:v>41.5</c:v>
                </c:pt>
                <c:pt idx="674">
                  <c:v>47.9</c:v>
                </c:pt>
                <c:pt idx="675">
                  <c:v>43.65</c:v>
                </c:pt>
                <c:pt idx="676">
                  <c:v>39.18</c:v>
                </c:pt>
                <c:pt idx="677">
                  <c:v>41.3</c:v>
                </c:pt>
                <c:pt idx="678">
                  <c:v>36.6</c:v>
                </c:pt>
                <c:pt idx="679">
                  <c:v>36.200000000000003</c:v>
                </c:pt>
                <c:pt idx="680">
                  <c:v>28.25</c:v>
                </c:pt>
                <c:pt idx="681">
                  <c:v>33.229999999999997</c:v>
                </c:pt>
                <c:pt idx="682">
                  <c:v>34.380000000000003</c:v>
                </c:pt>
                <c:pt idx="683">
                  <c:v>34.200000000000003</c:v>
                </c:pt>
                <c:pt idx="684">
                  <c:v>29.6</c:v>
                </c:pt>
                <c:pt idx="685">
                  <c:v>32.1</c:v>
                </c:pt>
                <c:pt idx="686">
                  <c:v>33.700000000000003</c:v>
                </c:pt>
                <c:pt idx="687">
                  <c:v>29.22</c:v>
                </c:pt>
                <c:pt idx="688">
                  <c:v>29.1</c:v>
                </c:pt>
                <c:pt idx="689">
                  <c:v>45.27</c:v>
                </c:pt>
                <c:pt idx="690">
                  <c:v>43.65</c:v>
                </c:pt>
                <c:pt idx="691">
                  <c:v>40</c:v>
                </c:pt>
                <c:pt idx="692">
                  <c:v>39</c:v>
                </c:pt>
                <c:pt idx="693">
                  <c:v>31.05</c:v>
                </c:pt>
                <c:pt idx="694">
                  <c:v>36</c:v>
                </c:pt>
                <c:pt idx="695">
                  <c:v>41.05</c:v>
                </c:pt>
                <c:pt idx="696">
                  <c:v>37.5</c:v>
                </c:pt>
                <c:pt idx="697">
                  <c:v>38.15</c:v>
                </c:pt>
                <c:pt idx="698">
                  <c:v>37.450000000000003</c:v>
                </c:pt>
                <c:pt idx="699">
                  <c:v>35.450000000000003</c:v>
                </c:pt>
                <c:pt idx="700">
                  <c:v>38.43</c:v>
                </c:pt>
                <c:pt idx="701">
                  <c:v>32.9</c:v>
                </c:pt>
                <c:pt idx="702">
                  <c:v>34</c:v>
                </c:pt>
                <c:pt idx="703">
                  <c:v>35.79</c:v>
                </c:pt>
                <c:pt idx="704">
                  <c:v>34.93</c:v>
                </c:pt>
                <c:pt idx="705">
                  <c:v>33.729999999999997</c:v>
                </c:pt>
                <c:pt idx="706">
                  <c:v>32.94</c:v>
                </c:pt>
                <c:pt idx="707">
                  <c:v>34.049999999999997</c:v>
                </c:pt>
                <c:pt idx="708">
                  <c:v>31.8</c:v>
                </c:pt>
                <c:pt idx="709">
                  <c:v>33.65</c:v>
                </c:pt>
                <c:pt idx="710">
                  <c:v>33.979999999999997</c:v>
                </c:pt>
                <c:pt idx="711">
                  <c:v>33</c:v>
                </c:pt>
                <c:pt idx="712">
                  <c:v>32.5</c:v>
                </c:pt>
                <c:pt idx="713">
                  <c:v>30.23</c:v>
                </c:pt>
                <c:pt idx="714">
                  <c:v>28.2</c:v>
                </c:pt>
                <c:pt idx="715">
                  <c:v>23.98</c:v>
                </c:pt>
                <c:pt idx="716">
                  <c:v>24.18</c:v>
                </c:pt>
                <c:pt idx="717">
                  <c:v>25.22</c:v>
                </c:pt>
                <c:pt idx="718">
                  <c:v>23.8</c:v>
                </c:pt>
                <c:pt idx="719">
                  <c:v>22.3</c:v>
                </c:pt>
                <c:pt idx="720">
                  <c:v>21.95</c:v>
                </c:pt>
                <c:pt idx="721">
                  <c:v>17.399999999999999</c:v>
                </c:pt>
                <c:pt idx="722">
                  <c:v>15.5</c:v>
                </c:pt>
                <c:pt idx="723">
                  <c:v>12.8</c:v>
                </c:pt>
                <c:pt idx="724">
                  <c:v>16.100000000000001</c:v>
                </c:pt>
                <c:pt idx="725">
                  <c:v>16.850000000000001</c:v>
                </c:pt>
                <c:pt idx="726">
                  <c:v>16</c:v>
                </c:pt>
                <c:pt idx="727">
                  <c:v>14.09</c:v>
                </c:pt>
                <c:pt idx="728">
                  <c:v>16.899999999999999</c:v>
                </c:pt>
                <c:pt idx="729">
                  <c:v>20.07</c:v>
                </c:pt>
                <c:pt idx="730">
                  <c:v>17.600000000000001</c:v>
                </c:pt>
                <c:pt idx="731">
                  <c:v>12.6</c:v>
                </c:pt>
                <c:pt idx="732">
                  <c:v>11.9</c:v>
                </c:pt>
                <c:pt idx="733">
                  <c:v>10.199999999999999</c:v>
                </c:pt>
                <c:pt idx="734">
                  <c:v>10.33</c:v>
                </c:pt>
                <c:pt idx="735">
                  <c:v>10.7</c:v>
                </c:pt>
                <c:pt idx="736">
                  <c:v>8.1199999999999992</c:v>
                </c:pt>
                <c:pt idx="737">
                  <c:v>8.33</c:v>
                </c:pt>
                <c:pt idx="738">
                  <c:v>7.2</c:v>
                </c:pt>
                <c:pt idx="739">
                  <c:v>4.28</c:v>
                </c:pt>
                <c:pt idx="740">
                  <c:v>5.0999999999999996</c:v>
                </c:pt>
                <c:pt idx="741">
                  <c:v>6.17</c:v>
                </c:pt>
                <c:pt idx="742">
                  <c:v>5.94</c:v>
                </c:pt>
                <c:pt idx="743">
                  <c:v>2</c:v>
                </c:pt>
                <c:pt idx="744">
                  <c:v>2.85</c:v>
                </c:pt>
                <c:pt idx="745">
                  <c:v>5.98</c:v>
                </c:pt>
                <c:pt idx="746">
                  <c:v>5.08</c:v>
                </c:pt>
                <c:pt idx="747">
                  <c:v>4</c:v>
                </c:pt>
                <c:pt idx="748">
                  <c:v>4.38</c:v>
                </c:pt>
                <c:pt idx="749">
                  <c:v>3</c:v>
                </c:pt>
                <c:pt idx="750">
                  <c:v>2.15</c:v>
                </c:pt>
                <c:pt idx="751">
                  <c:v>0.69</c:v>
                </c:pt>
                <c:pt idx="752">
                  <c:v>0.3</c:v>
                </c:pt>
                <c:pt idx="753">
                  <c:v>-2.59</c:v>
                </c:pt>
                <c:pt idx="754">
                  <c:v>-14.48</c:v>
                </c:pt>
                <c:pt idx="755">
                  <c:v>-14.75</c:v>
                </c:pt>
                <c:pt idx="756">
                  <c:v>-15.5</c:v>
                </c:pt>
                <c:pt idx="757">
                  <c:v>-10.98</c:v>
                </c:pt>
                <c:pt idx="758">
                  <c:v>-12.1</c:v>
                </c:pt>
                <c:pt idx="759">
                  <c:v>-11.7</c:v>
                </c:pt>
                <c:pt idx="760">
                  <c:v>-12.9</c:v>
                </c:pt>
                <c:pt idx="761">
                  <c:v>-14.65</c:v>
                </c:pt>
                <c:pt idx="762">
                  <c:v>-14.8</c:v>
                </c:pt>
                <c:pt idx="763">
                  <c:v>-16.79</c:v>
                </c:pt>
                <c:pt idx="764">
                  <c:v>-15</c:v>
                </c:pt>
                <c:pt idx="765">
                  <c:v>-16.600000000000001</c:v>
                </c:pt>
                <c:pt idx="766">
                  <c:v>-12.25</c:v>
                </c:pt>
                <c:pt idx="767">
                  <c:v>-15</c:v>
                </c:pt>
                <c:pt idx="768">
                  <c:v>-22</c:v>
                </c:pt>
                <c:pt idx="769">
                  <c:v>-23.23</c:v>
                </c:pt>
                <c:pt idx="770">
                  <c:v>-21.4</c:v>
                </c:pt>
                <c:pt idx="771">
                  <c:v>-23.25</c:v>
                </c:pt>
                <c:pt idx="772">
                  <c:v>-21.89</c:v>
                </c:pt>
                <c:pt idx="773">
                  <c:v>-27.9</c:v>
                </c:pt>
                <c:pt idx="774">
                  <c:v>-35.18</c:v>
                </c:pt>
                <c:pt idx="775">
                  <c:v>-38.96</c:v>
                </c:pt>
                <c:pt idx="776">
                  <c:v>-41</c:v>
                </c:pt>
                <c:pt idx="777">
                  <c:v>-36.9</c:v>
                </c:pt>
                <c:pt idx="778">
                  <c:v>-44.65</c:v>
                </c:pt>
                <c:pt idx="779">
                  <c:v>-44.79</c:v>
                </c:pt>
                <c:pt idx="780">
                  <c:v>-43.2</c:v>
                </c:pt>
                <c:pt idx="781">
                  <c:v>-43.4</c:v>
                </c:pt>
                <c:pt idx="782">
                  <c:v>-46.59</c:v>
                </c:pt>
                <c:pt idx="783">
                  <c:v>-53.35</c:v>
                </c:pt>
                <c:pt idx="784">
                  <c:v>-52</c:v>
                </c:pt>
                <c:pt idx="785">
                  <c:v>-47.9</c:v>
                </c:pt>
                <c:pt idx="786">
                  <c:v>-42.45</c:v>
                </c:pt>
                <c:pt idx="787">
                  <c:v>-42.5</c:v>
                </c:pt>
                <c:pt idx="788">
                  <c:v>-42.8</c:v>
                </c:pt>
                <c:pt idx="789">
                  <c:v>-35.799999999999997</c:v>
                </c:pt>
                <c:pt idx="790">
                  <c:v>-39.85</c:v>
                </c:pt>
                <c:pt idx="791">
                  <c:v>-38.299999999999997</c:v>
                </c:pt>
                <c:pt idx="792">
                  <c:v>-38.200000000000003</c:v>
                </c:pt>
                <c:pt idx="793">
                  <c:v>-36.200000000000003</c:v>
                </c:pt>
                <c:pt idx="794">
                  <c:v>-35.47</c:v>
                </c:pt>
                <c:pt idx="795">
                  <c:v>-32.68</c:v>
                </c:pt>
                <c:pt idx="796">
                  <c:v>-32.21</c:v>
                </c:pt>
                <c:pt idx="797">
                  <c:v>-30.4</c:v>
                </c:pt>
                <c:pt idx="798">
                  <c:v>-30.8</c:v>
                </c:pt>
                <c:pt idx="799">
                  <c:v>-28.77</c:v>
                </c:pt>
                <c:pt idx="800">
                  <c:v>-27.6</c:v>
                </c:pt>
                <c:pt idx="801">
                  <c:v>-28.2</c:v>
                </c:pt>
                <c:pt idx="802">
                  <c:v>-27.76</c:v>
                </c:pt>
                <c:pt idx="803">
                  <c:v>-25.4</c:v>
                </c:pt>
                <c:pt idx="804">
                  <c:v>-41.1</c:v>
                </c:pt>
                <c:pt idx="805">
                  <c:v>-41.65</c:v>
                </c:pt>
                <c:pt idx="806">
                  <c:v>-44.87</c:v>
                </c:pt>
                <c:pt idx="807">
                  <c:v>-45.55</c:v>
                </c:pt>
                <c:pt idx="808">
                  <c:v>-42.5</c:v>
                </c:pt>
                <c:pt idx="809">
                  <c:v>-44.4</c:v>
                </c:pt>
                <c:pt idx="810">
                  <c:v>-46.27</c:v>
                </c:pt>
                <c:pt idx="811">
                  <c:v>-46</c:v>
                </c:pt>
                <c:pt idx="812">
                  <c:v>-43.1</c:v>
                </c:pt>
                <c:pt idx="813">
                  <c:v>-42.07</c:v>
                </c:pt>
                <c:pt idx="814">
                  <c:v>-40.9</c:v>
                </c:pt>
                <c:pt idx="815">
                  <c:v>-44.23</c:v>
                </c:pt>
                <c:pt idx="816">
                  <c:v>-44.74</c:v>
                </c:pt>
                <c:pt idx="817">
                  <c:v>-50.96</c:v>
                </c:pt>
                <c:pt idx="818">
                  <c:v>-48.12</c:v>
                </c:pt>
                <c:pt idx="819">
                  <c:v>-45.21</c:v>
                </c:pt>
                <c:pt idx="820">
                  <c:v>-45.83</c:v>
                </c:pt>
                <c:pt idx="821">
                  <c:v>-43.8</c:v>
                </c:pt>
                <c:pt idx="822">
                  <c:v>-42.67</c:v>
                </c:pt>
                <c:pt idx="823">
                  <c:v>-44</c:v>
                </c:pt>
                <c:pt idx="824">
                  <c:v>-38.549999999999997</c:v>
                </c:pt>
                <c:pt idx="825">
                  <c:v>-41.45</c:v>
                </c:pt>
                <c:pt idx="826">
                  <c:v>-38.5</c:v>
                </c:pt>
                <c:pt idx="827">
                  <c:v>-38.299999999999997</c:v>
                </c:pt>
                <c:pt idx="828">
                  <c:v>-33.880000000000003</c:v>
                </c:pt>
                <c:pt idx="829">
                  <c:v>-36</c:v>
                </c:pt>
                <c:pt idx="830">
                  <c:v>-32.4</c:v>
                </c:pt>
                <c:pt idx="831">
                  <c:v>-32.39</c:v>
                </c:pt>
                <c:pt idx="832">
                  <c:v>-30.66</c:v>
                </c:pt>
                <c:pt idx="833">
                  <c:v>-29.13</c:v>
                </c:pt>
                <c:pt idx="834">
                  <c:v>-26.4</c:v>
                </c:pt>
                <c:pt idx="835">
                  <c:v>-29.2</c:v>
                </c:pt>
                <c:pt idx="836">
                  <c:v>-26.57</c:v>
                </c:pt>
                <c:pt idx="837">
                  <c:v>-27.9</c:v>
                </c:pt>
                <c:pt idx="838">
                  <c:v>-19.899999999999999</c:v>
                </c:pt>
                <c:pt idx="839">
                  <c:v>-20.6</c:v>
                </c:pt>
                <c:pt idx="840">
                  <c:v>-22.31</c:v>
                </c:pt>
                <c:pt idx="841">
                  <c:v>-20.7</c:v>
                </c:pt>
                <c:pt idx="842">
                  <c:v>-19.57</c:v>
                </c:pt>
                <c:pt idx="843">
                  <c:v>-18.71</c:v>
                </c:pt>
                <c:pt idx="844">
                  <c:v>-25.19</c:v>
                </c:pt>
                <c:pt idx="845">
                  <c:v>-26.06</c:v>
                </c:pt>
                <c:pt idx="846">
                  <c:v>-27.1</c:v>
                </c:pt>
                <c:pt idx="847">
                  <c:v>-24.98</c:v>
                </c:pt>
                <c:pt idx="848">
                  <c:v>-23.1</c:v>
                </c:pt>
                <c:pt idx="849">
                  <c:v>-23.2</c:v>
                </c:pt>
                <c:pt idx="850">
                  <c:v>-21</c:v>
                </c:pt>
                <c:pt idx="851">
                  <c:v>-21.5</c:v>
                </c:pt>
                <c:pt idx="852">
                  <c:v>-21.6</c:v>
                </c:pt>
                <c:pt idx="853">
                  <c:v>-20</c:v>
                </c:pt>
                <c:pt idx="854">
                  <c:v>-21.06</c:v>
                </c:pt>
                <c:pt idx="855">
                  <c:v>-18.43</c:v>
                </c:pt>
                <c:pt idx="856">
                  <c:v>-19.149999999999999</c:v>
                </c:pt>
                <c:pt idx="857">
                  <c:v>-21.66</c:v>
                </c:pt>
                <c:pt idx="858">
                  <c:v>-33.409999999999997</c:v>
                </c:pt>
                <c:pt idx="859">
                  <c:v>-32.5</c:v>
                </c:pt>
                <c:pt idx="860">
                  <c:v>-33.71</c:v>
                </c:pt>
                <c:pt idx="861">
                  <c:v>-34</c:v>
                </c:pt>
                <c:pt idx="862">
                  <c:v>-32.799999999999997</c:v>
                </c:pt>
                <c:pt idx="863">
                  <c:v>-33.24</c:v>
                </c:pt>
                <c:pt idx="864">
                  <c:v>-33.729999999999997</c:v>
                </c:pt>
                <c:pt idx="865">
                  <c:v>-33.479999999999997</c:v>
                </c:pt>
                <c:pt idx="866">
                  <c:v>-32.54</c:v>
                </c:pt>
                <c:pt idx="867">
                  <c:v>-38.17</c:v>
                </c:pt>
                <c:pt idx="868">
                  <c:v>-40</c:v>
                </c:pt>
                <c:pt idx="869">
                  <c:v>-36.33</c:v>
                </c:pt>
                <c:pt idx="870">
                  <c:v>-36.82</c:v>
                </c:pt>
                <c:pt idx="871">
                  <c:v>-42.72</c:v>
                </c:pt>
                <c:pt idx="872">
                  <c:v>-48.74</c:v>
                </c:pt>
                <c:pt idx="873">
                  <c:v>-48.84</c:v>
                </c:pt>
                <c:pt idx="874">
                  <c:v>-83.1</c:v>
                </c:pt>
              </c:numCache>
            </c:numRef>
          </c:yVal>
          <c:smooth val="0"/>
          <c:extLst>
            <c:ext xmlns:c16="http://schemas.microsoft.com/office/drawing/2014/chart" uri="{C3380CC4-5D6E-409C-BE32-E72D297353CC}">
              <c16:uniqueId val="{00000000-2DE2-4EEA-A6F8-372030D099C3}"/>
            </c:ext>
          </c:extLst>
        </c:ser>
        <c:ser>
          <c:idx val="1"/>
          <c:order val="1"/>
          <c:tx>
            <c:strRef>
              <c:f>Sheet1!$B$878</c:f>
              <c:strCache>
                <c:ptCount val="1"/>
                <c:pt idx="0">
                  <c:v>versus €STR OIS (the financing rate)</c:v>
                </c:pt>
              </c:strCache>
            </c:strRef>
          </c:tx>
          <c:spPr>
            <a:ln w="22225">
              <a:solidFill>
                <a:srgbClr val="3C8DBC"/>
              </a:solidFill>
            </a:ln>
          </c:spPr>
          <c:marker>
            <c:symbol val="none"/>
          </c:marker>
          <c:xVal>
            <c:numRef>
              <c:f>Sheet1!$A$879:$A$1753</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Sheet1!$B$879:$B$1753</c:f>
              <c:numCache>
                <c:formatCode>General</c:formatCode>
                <c:ptCount val="875"/>
                <c:pt idx="0">
                  <c:v>-25</c:v>
                </c:pt>
                <c:pt idx="1">
                  <c:v>-26.7</c:v>
                </c:pt>
                <c:pt idx="2">
                  <c:v>-23.5</c:v>
                </c:pt>
                <c:pt idx="3">
                  <c:v>-39.4</c:v>
                </c:pt>
                <c:pt idx="4">
                  <c:v>-39.299999999999997</c:v>
                </c:pt>
                <c:pt idx="5">
                  <c:v>-42.2</c:v>
                </c:pt>
                <c:pt idx="6">
                  <c:v>-41.7</c:v>
                </c:pt>
                <c:pt idx="7">
                  <c:v>-41.1</c:v>
                </c:pt>
                <c:pt idx="8">
                  <c:v>-41.5</c:v>
                </c:pt>
                <c:pt idx="9">
                  <c:v>-42.3</c:v>
                </c:pt>
                <c:pt idx="10">
                  <c:v>-43</c:v>
                </c:pt>
                <c:pt idx="11">
                  <c:v>-39.200000000000003</c:v>
                </c:pt>
                <c:pt idx="12">
                  <c:v>-40.1</c:v>
                </c:pt>
                <c:pt idx="13">
                  <c:v>-42.6</c:v>
                </c:pt>
                <c:pt idx="14">
                  <c:v>-39.5</c:v>
                </c:pt>
                <c:pt idx="15">
                  <c:v>-38.5</c:v>
                </c:pt>
                <c:pt idx="16">
                  <c:v>-39.5</c:v>
                </c:pt>
                <c:pt idx="17">
                  <c:v>-36.4</c:v>
                </c:pt>
                <c:pt idx="18">
                  <c:v>-24.6</c:v>
                </c:pt>
                <c:pt idx="19">
                  <c:v>-23.6</c:v>
                </c:pt>
                <c:pt idx="20">
                  <c:v>-20.7</c:v>
                </c:pt>
                <c:pt idx="21">
                  <c:v>-25.2</c:v>
                </c:pt>
                <c:pt idx="22">
                  <c:v>-29.3</c:v>
                </c:pt>
                <c:pt idx="23">
                  <c:v>-36.5</c:v>
                </c:pt>
                <c:pt idx="24">
                  <c:v>-57.7</c:v>
                </c:pt>
                <c:pt idx="25">
                  <c:v>-54.7</c:v>
                </c:pt>
                <c:pt idx="26">
                  <c:v>-45.6</c:v>
                </c:pt>
                <c:pt idx="27">
                  <c:v>-38.4</c:v>
                </c:pt>
                <c:pt idx="28">
                  <c:v>-39</c:v>
                </c:pt>
                <c:pt idx="29">
                  <c:v>-37.5</c:v>
                </c:pt>
                <c:pt idx="30">
                  <c:v>-32.799999999999997</c:v>
                </c:pt>
                <c:pt idx="31">
                  <c:v>-28.4</c:v>
                </c:pt>
                <c:pt idx="32">
                  <c:v>-34.5</c:v>
                </c:pt>
                <c:pt idx="33">
                  <c:v>-35.700000000000003</c:v>
                </c:pt>
                <c:pt idx="34">
                  <c:v>-38.5</c:v>
                </c:pt>
                <c:pt idx="35">
                  <c:v>-25.9</c:v>
                </c:pt>
                <c:pt idx="36">
                  <c:v>-34.9</c:v>
                </c:pt>
                <c:pt idx="37">
                  <c:v>-35</c:v>
                </c:pt>
                <c:pt idx="38">
                  <c:v>-28</c:v>
                </c:pt>
                <c:pt idx="39">
                  <c:v>-28.8</c:v>
                </c:pt>
                <c:pt idx="40">
                  <c:v>-25.4</c:v>
                </c:pt>
                <c:pt idx="41">
                  <c:v>-21.3</c:v>
                </c:pt>
                <c:pt idx="42">
                  <c:v>-24.7</c:v>
                </c:pt>
                <c:pt idx="43">
                  <c:v>-22.6</c:v>
                </c:pt>
                <c:pt idx="44">
                  <c:v>-21.7</c:v>
                </c:pt>
                <c:pt idx="45">
                  <c:v>-22.1</c:v>
                </c:pt>
                <c:pt idx="46">
                  <c:v>-22.5</c:v>
                </c:pt>
                <c:pt idx="47">
                  <c:v>-25.6</c:v>
                </c:pt>
                <c:pt idx="48">
                  <c:v>-26.2</c:v>
                </c:pt>
                <c:pt idx="49">
                  <c:v>-22.3</c:v>
                </c:pt>
                <c:pt idx="50">
                  <c:v>-22.6</c:v>
                </c:pt>
                <c:pt idx="51">
                  <c:v>-23.5</c:v>
                </c:pt>
                <c:pt idx="52">
                  <c:v>-24.5</c:v>
                </c:pt>
                <c:pt idx="53">
                  <c:v>-27.8</c:v>
                </c:pt>
                <c:pt idx="54">
                  <c:v>-21.1</c:v>
                </c:pt>
                <c:pt idx="55">
                  <c:v>-37.9</c:v>
                </c:pt>
                <c:pt idx="56">
                  <c:v>-41.1</c:v>
                </c:pt>
                <c:pt idx="57">
                  <c:v>-35.700000000000003</c:v>
                </c:pt>
                <c:pt idx="58">
                  <c:v>-37.700000000000003</c:v>
                </c:pt>
                <c:pt idx="59">
                  <c:v>-37.200000000000003</c:v>
                </c:pt>
                <c:pt idx="60">
                  <c:v>-36.549999999999997</c:v>
                </c:pt>
                <c:pt idx="61">
                  <c:v>-38.4</c:v>
                </c:pt>
                <c:pt idx="62">
                  <c:v>-34.6</c:v>
                </c:pt>
                <c:pt idx="63">
                  <c:v>-33</c:v>
                </c:pt>
                <c:pt idx="64">
                  <c:v>-33.4</c:v>
                </c:pt>
                <c:pt idx="65">
                  <c:v>-34.299999999999997</c:v>
                </c:pt>
                <c:pt idx="66">
                  <c:v>-30.5</c:v>
                </c:pt>
                <c:pt idx="67">
                  <c:v>-32.6</c:v>
                </c:pt>
                <c:pt idx="68">
                  <c:v>-34.200000000000003</c:v>
                </c:pt>
                <c:pt idx="69">
                  <c:v>-32.299999999999997</c:v>
                </c:pt>
                <c:pt idx="70">
                  <c:v>-34.950000000000003</c:v>
                </c:pt>
                <c:pt idx="71">
                  <c:v>-31.2</c:v>
                </c:pt>
                <c:pt idx="72">
                  <c:v>-34.299999999999997</c:v>
                </c:pt>
                <c:pt idx="73">
                  <c:v>-31.7</c:v>
                </c:pt>
                <c:pt idx="74">
                  <c:v>-30.9</c:v>
                </c:pt>
                <c:pt idx="75">
                  <c:v>-31.8</c:v>
                </c:pt>
                <c:pt idx="76">
                  <c:v>-42.1</c:v>
                </c:pt>
                <c:pt idx="77">
                  <c:v>-45.4</c:v>
                </c:pt>
                <c:pt idx="78">
                  <c:v>-41.7</c:v>
                </c:pt>
                <c:pt idx="79">
                  <c:v>-38.6</c:v>
                </c:pt>
                <c:pt idx="80">
                  <c:v>-48.7</c:v>
                </c:pt>
                <c:pt idx="81">
                  <c:v>-43.5</c:v>
                </c:pt>
                <c:pt idx="82">
                  <c:v>-37</c:v>
                </c:pt>
                <c:pt idx="83">
                  <c:v>-33</c:v>
                </c:pt>
                <c:pt idx="84">
                  <c:v>-36</c:v>
                </c:pt>
                <c:pt idx="85">
                  <c:v>-29.5</c:v>
                </c:pt>
                <c:pt idx="86">
                  <c:v>-29.4</c:v>
                </c:pt>
                <c:pt idx="87">
                  <c:v>-37.450000000000003</c:v>
                </c:pt>
                <c:pt idx="88">
                  <c:v>-35.5</c:v>
                </c:pt>
                <c:pt idx="89">
                  <c:v>-44.2</c:v>
                </c:pt>
                <c:pt idx="90">
                  <c:v>-51.8</c:v>
                </c:pt>
                <c:pt idx="91">
                  <c:v>-44</c:v>
                </c:pt>
                <c:pt idx="92">
                  <c:v>-52</c:v>
                </c:pt>
                <c:pt idx="93">
                  <c:v>-70.2</c:v>
                </c:pt>
                <c:pt idx="94">
                  <c:v>-89.1</c:v>
                </c:pt>
                <c:pt idx="95">
                  <c:v>-70.400000000000006</c:v>
                </c:pt>
                <c:pt idx="96">
                  <c:v>-79.099999999999994</c:v>
                </c:pt>
                <c:pt idx="97">
                  <c:v>-116.8</c:v>
                </c:pt>
                <c:pt idx="98">
                  <c:v>-131.5</c:v>
                </c:pt>
                <c:pt idx="99">
                  <c:v>-152.1</c:v>
                </c:pt>
                <c:pt idx="100">
                  <c:v>-92.1</c:v>
                </c:pt>
                <c:pt idx="101">
                  <c:v>-96.4</c:v>
                </c:pt>
                <c:pt idx="102">
                  <c:v>-88.5</c:v>
                </c:pt>
                <c:pt idx="103">
                  <c:v>-75.7</c:v>
                </c:pt>
                <c:pt idx="104">
                  <c:v>-83.3</c:v>
                </c:pt>
                <c:pt idx="105">
                  <c:v>-129.30000000000001</c:v>
                </c:pt>
                <c:pt idx="106">
                  <c:v>-105</c:v>
                </c:pt>
                <c:pt idx="107">
                  <c:v>-87.1</c:v>
                </c:pt>
                <c:pt idx="108">
                  <c:v>-83.5</c:v>
                </c:pt>
                <c:pt idx="109">
                  <c:v>-68.7</c:v>
                </c:pt>
                <c:pt idx="110">
                  <c:v>-71.2</c:v>
                </c:pt>
                <c:pt idx="111">
                  <c:v>-83.7</c:v>
                </c:pt>
                <c:pt idx="112">
                  <c:v>-73.599999999999994</c:v>
                </c:pt>
                <c:pt idx="113">
                  <c:v>-60.3</c:v>
                </c:pt>
                <c:pt idx="114">
                  <c:v>-83.3</c:v>
                </c:pt>
                <c:pt idx="115">
                  <c:v>-74.5</c:v>
                </c:pt>
                <c:pt idx="116">
                  <c:v>-77.7</c:v>
                </c:pt>
                <c:pt idx="117">
                  <c:v>-72.599999999999994</c:v>
                </c:pt>
                <c:pt idx="118">
                  <c:v>-87.3</c:v>
                </c:pt>
                <c:pt idx="119">
                  <c:v>-93.4</c:v>
                </c:pt>
                <c:pt idx="120">
                  <c:v>-100.75</c:v>
                </c:pt>
                <c:pt idx="121">
                  <c:v>-91.7</c:v>
                </c:pt>
                <c:pt idx="122">
                  <c:v>-87.3</c:v>
                </c:pt>
                <c:pt idx="123">
                  <c:v>-89.7</c:v>
                </c:pt>
                <c:pt idx="124">
                  <c:v>-96.9</c:v>
                </c:pt>
                <c:pt idx="125">
                  <c:v>-72.7</c:v>
                </c:pt>
                <c:pt idx="126">
                  <c:v>-61.3</c:v>
                </c:pt>
                <c:pt idx="127">
                  <c:v>-72.8</c:v>
                </c:pt>
                <c:pt idx="128">
                  <c:v>-73.900000000000006</c:v>
                </c:pt>
                <c:pt idx="129">
                  <c:v>-66.400000000000006</c:v>
                </c:pt>
                <c:pt idx="130">
                  <c:v>-69.7</c:v>
                </c:pt>
                <c:pt idx="131">
                  <c:v>-49.9</c:v>
                </c:pt>
                <c:pt idx="132">
                  <c:v>-37.799999999999997</c:v>
                </c:pt>
                <c:pt idx="133">
                  <c:v>-46.5</c:v>
                </c:pt>
                <c:pt idx="134">
                  <c:v>-48</c:v>
                </c:pt>
                <c:pt idx="135">
                  <c:v>-33</c:v>
                </c:pt>
                <c:pt idx="136">
                  <c:v>-37.299999999999997</c:v>
                </c:pt>
                <c:pt idx="137">
                  <c:v>-41.1</c:v>
                </c:pt>
                <c:pt idx="138">
                  <c:v>-39.700000000000003</c:v>
                </c:pt>
                <c:pt idx="139">
                  <c:v>-45</c:v>
                </c:pt>
                <c:pt idx="140">
                  <c:v>-40.700000000000003</c:v>
                </c:pt>
                <c:pt idx="141">
                  <c:v>-33.6</c:v>
                </c:pt>
                <c:pt idx="142">
                  <c:v>-42.6</c:v>
                </c:pt>
                <c:pt idx="143">
                  <c:v>-36.200000000000003</c:v>
                </c:pt>
                <c:pt idx="144">
                  <c:v>-38.5</c:v>
                </c:pt>
                <c:pt idx="145">
                  <c:v>-34.450000000000003</c:v>
                </c:pt>
                <c:pt idx="146">
                  <c:v>-30.7</c:v>
                </c:pt>
                <c:pt idx="147">
                  <c:v>-35.4</c:v>
                </c:pt>
                <c:pt idx="148">
                  <c:v>-37.85</c:v>
                </c:pt>
                <c:pt idx="149">
                  <c:v>-34.4</c:v>
                </c:pt>
                <c:pt idx="150">
                  <c:v>-32.1</c:v>
                </c:pt>
                <c:pt idx="151">
                  <c:v>-34.6</c:v>
                </c:pt>
                <c:pt idx="152">
                  <c:v>-27.7</c:v>
                </c:pt>
                <c:pt idx="153">
                  <c:v>-28.55</c:v>
                </c:pt>
                <c:pt idx="154">
                  <c:v>-18.600000000000001</c:v>
                </c:pt>
                <c:pt idx="155">
                  <c:v>-18.850000000000001</c:v>
                </c:pt>
                <c:pt idx="156">
                  <c:v>-23.3</c:v>
                </c:pt>
                <c:pt idx="157">
                  <c:v>-26.95</c:v>
                </c:pt>
                <c:pt idx="158">
                  <c:v>-23.15</c:v>
                </c:pt>
                <c:pt idx="159">
                  <c:v>-24.1</c:v>
                </c:pt>
                <c:pt idx="160">
                  <c:v>-46.5</c:v>
                </c:pt>
                <c:pt idx="161">
                  <c:v>-41.6</c:v>
                </c:pt>
                <c:pt idx="162">
                  <c:v>-43.38</c:v>
                </c:pt>
                <c:pt idx="163">
                  <c:v>-45.5</c:v>
                </c:pt>
                <c:pt idx="164">
                  <c:v>-46.9</c:v>
                </c:pt>
                <c:pt idx="165">
                  <c:v>-45.1</c:v>
                </c:pt>
                <c:pt idx="166">
                  <c:v>-41.57</c:v>
                </c:pt>
                <c:pt idx="167">
                  <c:v>-38.299999999999997</c:v>
                </c:pt>
                <c:pt idx="168">
                  <c:v>-40.4</c:v>
                </c:pt>
                <c:pt idx="169">
                  <c:v>-43</c:v>
                </c:pt>
                <c:pt idx="170">
                  <c:v>-27.95</c:v>
                </c:pt>
                <c:pt idx="171">
                  <c:v>-36.5</c:v>
                </c:pt>
                <c:pt idx="172">
                  <c:v>-34</c:v>
                </c:pt>
                <c:pt idx="173">
                  <c:v>-33.9</c:v>
                </c:pt>
                <c:pt idx="174">
                  <c:v>-30.8</c:v>
                </c:pt>
                <c:pt idx="175">
                  <c:v>-34.4</c:v>
                </c:pt>
                <c:pt idx="176">
                  <c:v>-31.5</c:v>
                </c:pt>
                <c:pt idx="177">
                  <c:v>-30.5</c:v>
                </c:pt>
                <c:pt idx="178">
                  <c:v>-34.9</c:v>
                </c:pt>
                <c:pt idx="179">
                  <c:v>-35.1</c:v>
                </c:pt>
                <c:pt idx="180">
                  <c:v>-34.299999999999997</c:v>
                </c:pt>
                <c:pt idx="181">
                  <c:v>-35.5</c:v>
                </c:pt>
                <c:pt idx="182">
                  <c:v>-51</c:v>
                </c:pt>
                <c:pt idx="183">
                  <c:v>-45.8</c:v>
                </c:pt>
                <c:pt idx="184">
                  <c:v>-47.23</c:v>
                </c:pt>
                <c:pt idx="185">
                  <c:v>-45.7</c:v>
                </c:pt>
                <c:pt idx="186">
                  <c:v>-39.799999999999997</c:v>
                </c:pt>
                <c:pt idx="187">
                  <c:v>-36.6</c:v>
                </c:pt>
                <c:pt idx="188">
                  <c:v>-40.200000000000003</c:v>
                </c:pt>
                <c:pt idx="189">
                  <c:v>-35.65</c:v>
                </c:pt>
                <c:pt idx="190">
                  <c:v>-41.5</c:v>
                </c:pt>
                <c:pt idx="191">
                  <c:v>-41.6</c:v>
                </c:pt>
                <c:pt idx="192">
                  <c:v>-44.05</c:v>
                </c:pt>
                <c:pt idx="193">
                  <c:v>-46.7</c:v>
                </c:pt>
                <c:pt idx="194">
                  <c:v>-40.450000000000003</c:v>
                </c:pt>
                <c:pt idx="195">
                  <c:v>-43.75</c:v>
                </c:pt>
                <c:pt idx="196">
                  <c:v>-41.3</c:v>
                </c:pt>
                <c:pt idx="197">
                  <c:v>-40.1</c:v>
                </c:pt>
                <c:pt idx="198">
                  <c:v>-39.6</c:v>
                </c:pt>
                <c:pt idx="199">
                  <c:v>-38.200000000000003</c:v>
                </c:pt>
                <c:pt idx="200">
                  <c:v>-33.200000000000003</c:v>
                </c:pt>
                <c:pt idx="201">
                  <c:v>-36.549999999999997</c:v>
                </c:pt>
                <c:pt idx="202">
                  <c:v>-37.950000000000003</c:v>
                </c:pt>
                <c:pt idx="203">
                  <c:v>-37.6</c:v>
                </c:pt>
                <c:pt idx="204">
                  <c:v>-37.25</c:v>
                </c:pt>
                <c:pt idx="205">
                  <c:v>-39.1</c:v>
                </c:pt>
                <c:pt idx="206">
                  <c:v>-43.05</c:v>
                </c:pt>
                <c:pt idx="207">
                  <c:v>-40.799999999999997</c:v>
                </c:pt>
                <c:pt idx="208">
                  <c:v>-42.3</c:v>
                </c:pt>
                <c:pt idx="209">
                  <c:v>-38.700000000000003</c:v>
                </c:pt>
                <c:pt idx="210">
                  <c:v>-40.299999999999997</c:v>
                </c:pt>
                <c:pt idx="211">
                  <c:v>-39.25</c:v>
                </c:pt>
                <c:pt idx="212">
                  <c:v>-39.799999999999997</c:v>
                </c:pt>
                <c:pt idx="213">
                  <c:v>-32.450000000000003</c:v>
                </c:pt>
                <c:pt idx="214">
                  <c:v>-35.950000000000003</c:v>
                </c:pt>
                <c:pt idx="215">
                  <c:v>-39.65</c:v>
                </c:pt>
                <c:pt idx="216">
                  <c:v>-50.6</c:v>
                </c:pt>
                <c:pt idx="217">
                  <c:v>-49</c:v>
                </c:pt>
                <c:pt idx="218">
                  <c:v>-46.35</c:v>
                </c:pt>
                <c:pt idx="219">
                  <c:v>-47.1</c:v>
                </c:pt>
                <c:pt idx="220">
                  <c:v>-44.25</c:v>
                </c:pt>
                <c:pt idx="221">
                  <c:v>-42.7</c:v>
                </c:pt>
                <c:pt idx="222">
                  <c:v>-36.799999999999997</c:v>
                </c:pt>
                <c:pt idx="223">
                  <c:v>-39.799999999999997</c:v>
                </c:pt>
                <c:pt idx="224">
                  <c:v>-38.9</c:v>
                </c:pt>
                <c:pt idx="225">
                  <c:v>-37.1</c:v>
                </c:pt>
                <c:pt idx="226">
                  <c:v>-34.6</c:v>
                </c:pt>
                <c:pt idx="227">
                  <c:v>-32.5</c:v>
                </c:pt>
                <c:pt idx="228">
                  <c:v>-33.14</c:v>
                </c:pt>
                <c:pt idx="229">
                  <c:v>-32.1</c:v>
                </c:pt>
                <c:pt idx="230">
                  <c:v>-32.479999999999997</c:v>
                </c:pt>
                <c:pt idx="231">
                  <c:v>-25</c:v>
                </c:pt>
                <c:pt idx="232">
                  <c:v>-27.65</c:v>
                </c:pt>
                <c:pt idx="233">
                  <c:v>-26.78</c:v>
                </c:pt>
                <c:pt idx="234">
                  <c:v>-36.6</c:v>
                </c:pt>
                <c:pt idx="235">
                  <c:v>-34.299999999999997</c:v>
                </c:pt>
                <c:pt idx="236">
                  <c:v>-33</c:v>
                </c:pt>
                <c:pt idx="237">
                  <c:v>-32.1</c:v>
                </c:pt>
                <c:pt idx="238">
                  <c:v>-29.15</c:v>
                </c:pt>
                <c:pt idx="239">
                  <c:v>-27.9</c:v>
                </c:pt>
                <c:pt idx="240">
                  <c:v>-28.14</c:v>
                </c:pt>
                <c:pt idx="241">
                  <c:v>-26</c:v>
                </c:pt>
                <c:pt idx="242">
                  <c:v>-28.52</c:v>
                </c:pt>
                <c:pt idx="243">
                  <c:v>-26.71</c:v>
                </c:pt>
                <c:pt idx="244">
                  <c:v>-22.87</c:v>
                </c:pt>
                <c:pt idx="245">
                  <c:v>-28.78</c:v>
                </c:pt>
                <c:pt idx="246">
                  <c:v>-29.07</c:v>
                </c:pt>
                <c:pt idx="247">
                  <c:v>-26.88</c:v>
                </c:pt>
                <c:pt idx="248">
                  <c:v>-27.6</c:v>
                </c:pt>
                <c:pt idx="249">
                  <c:v>-26.72</c:v>
                </c:pt>
                <c:pt idx="250">
                  <c:v>-32.799999999999997</c:v>
                </c:pt>
                <c:pt idx="251">
                  <c:v>-29.58</c:v>
                </c:pt>
                <c:pt idx="252">
                  <c:v>-24.1</c:v>
                </c:pt>
                <c:pt idx="253">
                  <c:v>-26.2</c:v>
                </c:pt>
                <c:pt idx="254">
                  <c:v>-26.6</c:v>
                </c:pt>
                <c:pt idx="255">
                  <c:v>-27.1</c:v>
                </c:pt>
                <c:pt idx="256">
                  <c:v>-26.2</c:v>
                </c:pt>
                <c:pt idx="257">
                  <c:v>-22.3</c:v>
                </c:pt>
                <c:pt idx="258">
                  <c:v>-24.05</c:v>
                </c:pt>
                <c:pt idx="259">
                  <c:v>-22.9</c:v>
                </c:pt>
                <c:pt idx="260">
                  <c:v>-20.8</c:v>
                </c:pt>
                <c:pt idx="261">
                  <c:v>-20.05</c:v>
                </c:pt>
                <c:pt idx="262">
                  <c:v>-20.7</c:v>
                </c:pt>
                <c:pt idx="263">
                  <c:v>-13.85</c:v>
                </c:pt>
                <c:pt idx="264">
                  <c:v>-12.2</c:v>
                </c:pt>
                <c:pt idx="265">
                  <c:v>-11</c:v>
                </c:pt>
                <c:pt idx="266">
                  <c:v>-10.02</c:v>
                </c:pt>
                <c:pt idx="267">
                  <c:v>-11.15</c:v>
                </c:pt>
                <c:pt idx="268">
                  <c:v>-11.12</c:v>
                </c:pt>
                <c:pt idx="269">
                  <c:v>-12.4</c:v>
                </c:pt>
                <c:pt idx="270">
                  <c:v>-9.4</c:v>
                </c:pt>
                <c:pt idx="271">
                  <c:v>-11.2</c:v>
                </c:pt>
                <c:pt idx="272">
                  <c:v>-13.1</c:v>
                </c:pt>
                <c:pt idx="273">
                  <c:v>-14.52</c:v>
                </c:pt>
                <c:pt idx="274">
                  <c:v>-14.6</c:v>
                </c:pt>
                <c:pt idx="275">
                  <c:v>-12.12</c:v>
                </c:pt>
                <c:pt idx="276">
                  <c:v>-14.2</c:v>
                </c:pt>
                <c:pt idx="277">
                  <c:v>-13.08</c:v>
                </c:pt>
                <c:pt idx="278">
                  <c:v>-14.32</c:v>
                </c:pt>
                <c:pt idx="279">
                  <c:v>-13.7</c:v>
                </c:pt>
                <c:pt idx="280">
                  <c:v>-15.3</c:v>
                </c:pt>
                <c:pt idx="281">
                  <c:v>-13.9</c:v>
                </c:pt>
                <c:pt idx="282">
                  <c:v>-13.1</c:v>
                </c:pt>
                <c:pt idx="283">
                  <c:v>-13.55</c:v>
                </c:pt>
                <c:pt idx="284">
                  <c:v>-17.649999999999999</c:v>
                </c:pt>
                <c:pt idx="285">
                  <c:v>-18.03</c:v>
                </c:pt>
                <c:pt idx="286">
                  <c:v>-14.55</c:v>
                </c:pt>
                <c:pt idx="287">
                  <c:v>-17.62</c:v>
                </c:pt>
                <c:pt idx="288">
                  <c:v>-16.3</c:v>
                </c:pt>
                <c:pt idx="289">
                  <c:v>-14</c:v>
                </c:pt>
                <c:pt idx="290">
                  <c:v>-12</c:v>
                </c:pt>
                <c:pt idx="291">
                  <c:v>-10.95</c:v>
                </c:pt>
                <c:pt idx="292">
                  <c:v>-10</c:v>
                </c:pt>
                <c:pt idx="293">
                  <c:v>-10.199999999999999</c:v>
                </c:pt>
                <c:pt idx="294">
                  <c:v>-15</c:v>
                </c:pt>
                <c:pt idx="295">
                  <c:v>-16.5</c:v>
                </c:pt>
                <c:pt idx="296">
                  <c:v>-13.1</c:v>
                </c:pt>
                <c:pt idx="297">
                  <c:v>-14.9</c:v>
                </c:pt>
                <c:pt idx="298">
                  <c:v>-11.57</c:v>
                </c:pt>
                <c:pt idx="299">
                  <c:v>-20.8</c:v>
                </c:pt>
                <c:pt idx="300">
                  <c:v>-19.05</c:v>
                </c:pt>
                <c:pt idx="301">
                  <c:v>-19.7</c:v>
                </c:pt>
                <c:pt idx="302">
                  <c:v>-18.09</c:v>
                </c:pt>
                <c:pt idx="303">
                  <c:v>-14.3</c:v>
                </c:pt>
                <c:pt idx="304">
                  <c:v>-15.4</c:v>
                </c:pt>
                <c:pt idx="305">
                  <c:v>-18.100000000000001</c:v>
                </c:pt>
                <c:pt idx="306">
                  <c:v>-13.9</c:v>
                </c:pt>
                <c:pt idx="307">
                  <c:v>-16.09</c:v>
                </c:pt>
                <c:pt idx="308">
                  <c:v>-14.45</c:v>
                </c:pt>
                <c:pt idx="309">
                  <c:v>-15</c:v>
                </c:pt>
                <c:pt idx="310">
                  <c:v>-12.3</c:v>
                </c:pt>
                <c:pt idx="311">
                  <c:v>-12</c:v>
                </c:pt>
                <c:pt idx="312">
                  <c:v>-9.9</c:v>
                </c:pt>
                <c:pt idx="313">
                  <c:v>-8.3000000000000007</c:v>
                </c:pt>
                <c:pt idx="314">
                  <c:v>-12</c:v>
                </c:pt>
                <c:pt idx="315">
                  <c:v>-15.4</c:v>
                </c:pt>
                <c:pt idx="316">
                  <c:v>-15.18</c:v>
                </c:pt>
                <c:pt idx="317">
                  <c:v>-12.7</c:v>
                </c:pt>
                <c:pt idx="318">
                  <c:v>-15.9</c:v>
                </c:pt>
                <c:pt idx="319">
                  <c:v>-19.5</c:v>
                </c:pt>
                <c:pt idx="320">
                  <c:v>-17.27</c:v>
                </c:pt>
                <c:pt idx="321">
                  <c:v>-17.7</c:v>
                </c:pt>
                <c:pt idx="322">
                  <c:v>-18.3</c:v>
                </c:pt>
                <c:pt idx="323">
                  <c:v>-12.69</c:v>
                </c:pt>
                <c:pt idx="324">
                  <c:v>-14.7</c:v>
                </c:pt>
                <c:pt idx="325">
                  <c:v>-12.9</c:v>
                </c:pt>
                <c:pt idx="326">
                  <c:v>-12.15</c:v>
                </c:pt>
                <c:pt idx="327">
                  <c:v>-13.3</c:v>
                </c:pt>
                <c:pt idx="328">
                  <c:v>-13.21</c:v>
                </c:pt>
                <c:pt idx="329">
                  <c:v>-12.6</c:v>
                </c:pt>
                <c:pt idx="330">
                  <c:v>-19.399999999999999</c:v>
                </c:pt>
                <c:pt idx="331">
                  <c:v>-18.93</c:v>
                </c:pt>
                <c:pt idx="332">
                  <c:v>-18.8</c:v>
                </c:pt>
                <c:pt idx="333">
                  <c:v>-17.100000000000001</c:v>
                </c:pt>
                <c:pt idx="334">
                  <c:v>-16.34</c:v>
                </c:pt>
                <c:pt idx="335">
                  <c:v>-18.2</c:v>
                </c:pt>
                <c:pt idx="336">
                  <c:v>-20.25</c:v>
                </c:pt>
                <c:pt idx="337">
                  <c:v>-25.6</c:v>
                </c:pt>
                <c:pt idx="338">
                  <c:v>-21.1</c:v>
                </c:pt>
                <c:pt idx="339">
                  <c:v>-13.1</c:v>
                </c:pt>
                <c:pt idx="340">
                  <c:v>-13.15</c:v>
                </c:pt>
                <c:pt idx="341">
                  <c:v>-12.85</c:v>
                </c:pt>
                <c:pt idx="342">
                  <c:v>-13.65</c:v>
                </c:pt>
                <c:pt idx="343">
                  <c:v>-10.3</c:v>
                </c:pt>
                <c:pt idx="344">
                  <c:v>-8.85</c:v>
                </c:pt>
                <c:pt idx="345">
                  <c:v>-7.17</c:v>
                </c:pt>
                <c:pt idx="346">
                  <c:v>-8.8000000000000007</c:v>
                </c:pt>
                <c:pt idx="347">
                  <c:v>-7.77</c:v>
                </c:pt>
                <c:pt idx="348">
                  <c:v>-9.8000000000000007</c:v>
                </c:pt>
                <c:pt idx="349">
                  <c:v>-8.1999999999999993</c:v>
                </c:pt>
                <c:pt idx="350">
                  <c:v>-6.05</c:v>
                </c:pt>
                <c:pt idx="351">
                  <c:v>-5.7</c:v>
                </c:pt>
                <c:pt idx="352">
                  <c:v>-3.2</c:v>
                </c:pt>
                <c:pt idx="353">
                  <c:v>-4.79</c:v>
                </c:pt>
                <c:pt idx="354">
                  <c:v>-2.8</c:v>
                </c:pt>
                <c:pt idx="355">
                  <c:v>-0.9</c:v>
                </c:pt>
                <c:pt idx="356">
                  <c:v>-2.6</c:v>
                </c:pt>
                <c:pt idx="357">
                  <c:v>-0.7</c:v>
                </c:pt>
                <c:pt idx="358">
                  <c:v>-5.8</c:v>
                </c:pt>
                <c:pt idx="359">
                  <c:v>-4.5999999999999996</c:v>
                </c:pt>
                <c:pt idx="360">
                  <c:v>-20.8</c:v>
                </c:pt>
                <c:pt idx="361">
                  <c:v>-16.600000000000001</c:v>
                </c:pt>
                <c:pt idx="362">
                  <c:v>-11.6</c:v>
                </c:pt>
                <c:pt idx="363">
                  <c:v>-10.9</c:v>
                </c:pt>
                <c:pt idx="364">
                  <c:v>-10.3</c:v>
                </c:pt>
                <c:pt idx="365">
                  <c:v>-11.9</c:v>
                </c:pt>
                <c:pt idx="366">
                  <c:v>-16.600000000000001</c:v>
                </c:pt>
                <c:pt idx="367">
                  <c:v>-18.399999999999999</c:v>
                </c:pt>
                <c:pt idx="368">
                  <c:v>-14.2</c:v>
                </c:pt>
                <c:pt idx="369">
                  <c:v>-22.4</c:v>
                </c:pt>
                <c:pt idx="370">
                  <c:v>-22.6</c:v>
                </c:pt>
                <c:pt idx="371">
                  <c:v>-29.35</c:v>
                </c:pt>
                <c:pt idx="372">
                  <c:v>-27.9</c:v>
                </c:pt>
                <c:pt idx="373">
                  <c:v>-25</c:v>
                </c:pt>
                <c:pt idx="374">
                  <c:v>-18</c:v>
                </c:pt>
                <c:pt idx="375">
                  <c:v>-21</c:v>
                </c:pt>
                <c:pt idx="376">
                  <c:v>-29.85</c:v>
                </c:pt>
                <c:pt idx="377">
                  <c:v>-14.9</c:v>
                </c:pt>
                <c:pt idx="378">
                  <c:v>-23.4</c:v>
                </c:pt>
                <c:pt idx="379">
                  <c:v>-16.2</c:v>
                </c:pt>
                <c:pt idx="380">
                  <c:v>-26.9</c:v>
                </c:pt>
                <c:pt idx="381">
                  <c:v>-24.1</c:v>
                </c:pt>
                <c:pt idx="382">
                  <c:v>0.6</c:v>
                </c:pt>
                <c:pt idx="383">
                  <c:v>1.5</c:v>
                </c:pt>
                <c:pt idx="384">
                  <c:v>0.1</c:v>
                </c:pt>
                <c:pt idx="385">
                  <c:v>4.2</c:v>
                </c:pt>
                <c:pt idx="386">
                  <c:v>7.2</c:v>
                </c:pt>
                <c:pt idx="387">
                  <c:v>8.83</c:v>
                </c:pt>
                <c:pt idx="388">
                  <c:v>11</c:v>
                </c:pt>
                <c:pt idx="389">
                  <c:v>8.1300000000000008</c:v>
                </c:pt>
                <c:pt idx="390">
                  <c:v>7.75</c:v>
                </c:pt>
                <c:pt idx="391">
                  <c:v>3.9</c:v>
                </c:pt>
                <c:pt idx="392">
                  <c:v>2</c:v>
                </c:pt>
                <c:pt idx="393">
                  <c:v>3.11</c:v>
                </c:pt>
                <c:pt idx="394">
                  <c:v>4.32</c:v>
                </c:pt>
                <c:pt idx="395">
                  <c:v>7.21</c:v>
                </c:pt>
                <c:pt idx="396">
                  <c:v>6.6</c:v>
                </c:pt>
                <c:pt idx="397">
                  <c:v>6.1</c:v>
                </c:pt>
                <c:pt idx="398">
                  <c:v>6.6</c:v>
                </c:pt>
                <c:pt idx="399">
                  <c:v>7.6</c:v>
                </c:pt>
                <c:pt idx="400">
                  <c:v>8.9</c:v>
                </c:pt>
                <c:pt idx="401">
                  <c:v>11.5</c:v>
                </c:pt>
                <c:pt idx="402">
                  <c:v>11.07</c:v>
                </c:pt>
                <c:pt idx="403">
                  <c:v>12.1</c:v>
                </c:pt>
                <c:pt idx="404">
                  <c:v>-1.7</c:v>
                </c:pt>
                <c:pt idx="405">
                  <c:v>-2.71</c:v>
                </c:pt>
                <c:pt idx="406">
                  <c:v>-1.4</c:v>
                </c:pt>
                <c:pt idx="407">
                  <c:v>-1.08</c:v>
                </c:pt>
                <c:pt idx="408">
                  <c:v>3.4</c:v>
                </c:pt>
                <c:pt idx="409">
                  <c:v>3.4</c:v>
                </c:pt>
                <c:pt idx="410">
                  <c:v>3.5</c:v>
                </c:pt>
                <c:pt idx="411">
                  <c:v>6.15</c:v>
                </c:pt>
                <c:pt idx="412">
                  <c:v>4.2300000000000004</c:v>
                </c:pt>
                <c:pt idx="413">
                  <c:v>9.6</c:v>
                </c:pt>
                <c:pt idx="414">
                  <c:v>10.5</c:v>
                </c:pt>
                <c:pt idx="415">
                  <c:v>8.3000000000000007</c:v>
                </c:pt>
                <c:pt idx="416">
                  <c:v>9.0500000000000007</c:v>
                </c:pt>
                <c:pt idx="417">
                  <c:v>7.81</c:v>
                </c:pt>
                <c:pt idx="418">
                  <c:v>5.5</c:v>
                </c:pt>
                <c:pt idx="419">
                  <c:v>4.2</c:v>
                </c:pt>
                <c:pt idx="420">
                  <c:v>5.7</c:v>
                </c:pt>
                <c:pt idx="421">
                  <c:v>3.2</c:v>
                </c:pt>
                <c:pt idx="422">
                  <c:v>2.2000000000000002</c:v>
                </c:pt>
                <c:pt idx="423">
                  <c:v>3.9</c:v>
                </c:pt>
                <c:pt idx="424">
                  <c:v>4.5</c:v>
                </c:pt>
                <c:pt idx="425">
                  <c:v>3.1</c:v>
                </c:pt>
                <c:pt idx="426">
                  <c:v>4.0999999999999996</c:v>
                </c:pt>
                <c:pt idx="427">
                  <c:v>4.7</c:v>
                </c:pt>
                <c:pt idx="428">
                  <c:v>6.7</c:v>
                </c:pt>
                <c:pt idx="429">
                  <c:v>9.1300000000000008</c:v>
                </c:pt>
                <c:pt idx="430">
                  <c:v>9.7200000000000006</c:v>
                </c:pt>
                <c:pt idx="431">
                  <c:v>8.4</c:v>
                </c:pt>
                <c:pt idx="432">
                  <c:v>6.8</c:v>
                </c:pt>
                <c:pt idx="433">
                  <c:v>8.3000000000000007</c:v>
                </c:pt>
                <c:pt idx="434">
                  <c:v>9</c:v>
                </c:pt>
                <c:pt idx="435">
                  <c:v>8.8000000000000007</c:v>
                </c:pt>
                <c:pt idx="436">
                  <c:v>9.35</c:v>
                </c:pt>
                <c:pt idx="437">
                  <c:v>9.35</c:v>
                </c:pt>
                <c:pt idx="438">
                  <c:v>10.5</c:v>
                </c:pt>
                <c:pt idx="439">
                  <c:v>10.8</c:v>
                </c:pt>
                <c:pt idx="440">
                  <c:v>11</c:v>
                </c:pt>
                <c:pt idx="441">
                  <c:v>13.6</c:v>
                </c:pt>
                <c:pt idx="442">
                  <c:v>15.68</c:v>
                </c:pt>
                <c:pt idx="443">
                  <c:v>-1.2</c:v>
                </c:pt>
                <c:pt idx="444">
                  <c:v>-0.28000000000000003</c:v>
                </c:pt>
                <c:pt idx="445">
                  <c:v>-1.22</c:v>
                </c:pt>
                <c:pt idx="446">
                  <c:v>-2.2000000000000002</c:v>
                </c:pt>
                <c:pt idx="447">
                  <c:v>-2.1</c:v>
                </c:pt>
                <c:pt idx="448">
                  <c:v>-2.9</c:v>
                </c:pt>
                <c:pt idx="449">
                  <c:v>-0.27</c:v>
                </c:pt>
                <c:pt idx="450">
                  <c:v>-0.88</c:v>
                </c:pt>
                <c:pt idx="451">
                  <c:v>-1</c:v>
                </c:pt>
                <c:pt idx="452">
                  <c:v>-1.95</c:v>
                </c:pt>
                <c:pt idx="453">
                  <c:v>-1.8</c:v>
                </c:pt>
                <c:pt idx="454">
                  <c:v>-2.5</c:v>
                </c:pt>
                <c:pt idx="455">
                  <c:v>-1.5</c:v>
                </c:pt>
                <c:pt idx="456">
                  <c:v>-0.85</c:v>
                </c:pt>
                <c:pt idx="457">
                  <c:v>-2.33</c:v>
                </c:pt>
                <c:pt idx="458">
                  <c:v>-2.1</c:v>
                </c:pt>
                <c:pt idx="459">
                  <c:v>-2.5</c:v>
                </c:pt>
                <c:pt idx="460">
                  <c:v>0.8</c:v>
                </c:pt>
                <c:pt idx="461">
                  <c:v>1.6</c:v>
                </c:pt>
                <c:pt idx="462">
                  <c:v>-0.05</c:v>
                </c:pt>
                <c:pt idx="463">
                  <c:v>0.4</c:v>
                </c:pt>
                <c:pt idx="464">
                  <c:v>1.2</c:v>
                </c:pt>
                <c:pt idx="465">
                  <c:v>2.4500000000000002</c:v>
                </c:pt>
                <c:pt idx="466">
                  <c:v>1.4</c:v>
                </c:pt>
                <c:pt idx="467">
                  <c:v>1.3</c:v>
                </c:pt>
                <c:pt idx="468">
                  <c:v>-3.7</c:v>
                </c:pt>
                <c:pt idx="469">
                  <c:v>-6.5</c:v>
                </c:pt>
                <c:pt idx="470">
                  <c:v>-5.9</c:v>
                </c:pt>
                <c:pt idx="471">
                  <c:v>-2.96</c:v>
                </c:pt>
                <c:pt idx="472">
                  <c:v>-2</c:v>
                </c:pt>
                <c:pt idx="473">
                  <c:v>-0.3</c:v>
                </c:pt>
                <c:pt idx="474">
                  <c:v>-0.9</c:v>
                </c:pt>
                <c:pt idx="475">
                  <c:v>-5.2</c:v>
                </c:pt>
                <c:pt idx="476">
                  <c:v>-2.8</c:v>
                </c:pt>
                <c:pt idx="477">
                  <c:v>-3.7</c:v>
                </c:pt>
                <c:pt idx="478">
                  <c:v>-3.4</c:v>
                </c:pt>
                <c:pt idx="479">
                  <c:v>-0.4</c:v>
                </c:pt>
                <c:pt idx="480">
                  <c:v>1.1000000000000001</c:v>
                </c:pt>
                <c:pt idx="481">
                  <c:v>2.5</c:v>
                </c:pt>
                <c:pt idx="482">
                  <c:v>2.2999999999999998</c:v>
                </c:pt>
                <c:pt idx="483">
                  <c:v>1.4</c:v>
                </c:pt>
                <c:pt idx="484">
                  <c:v>0.6</c:v>
                </c:pt>
                <c:pt idx="485">
                  <c:v>1.5</c:v>
                </c:pt>
                <c:pt idx="486">
                  <c:v>2.5</c:v>
                </c:pt>
                <c:pt idx="487">
                  <c:v>2.6</c:v>
                </c:pt>
                <c:pt idx="488">
                  <c:v>1.2</c:v>
                </c:pt>
                <c:pt idx="489">
                  <c:v>1.8</c:v>
                </c:pt>
                <c:pt idx="490">
                  <c:v>2.3199999999999998</c:v>
                </c:pt>
                <c:pt idx="491">
                  <c:v>4.9000000000000004</c:v>
                </c:pt>
                <c:pt idx="492">
                  <c:v>5.7</c:v>
                </c:pt>
                <c:pt idx="493">
                  <c:v>2.2999999999999998</c:v>
                </c:pt>
                <c:pt idx="494">
                  <c:v>3.9</c:v>
                </c:pt>
                <c:pt idx="495">
                  <c:v>4.3</c:v>
                </c:pt>
                <c:pt idx="496">
                  <c:v>4.5999999999999996</c:v>
                </c:pt>
                <c:pt idx="497">
                  <c:v>3.2</c:v>
                </c:pt>
                <c:pt idx="498">
                  <c:v>2.6</c:v>
                </c:pt>
                <c:pt idx="499">
                  <c:v>2.2200000000000002</c:v>
                </c:pt>
                <c:pt idx="500">
                  <c:v>1.8</c:v>
                </c:pt>
                <c:pt idx="501">
                  <c:v>0</c:v>
                </c:pt>
                <c:pt idx="502">
                  <c:v>-2.7</c:v>
                </c:pt>
                <c:pt idx="503">
                  <c:v>0.55000000000000004</c:v>
                </c:pt>
                <c:pt idx="504">
                  <c:v>-1.8</c:v>
                </c:pt>
                <c:pt idx="505">
                  <c:v>-1.33</c:v>
                </c:pt>
                <c:pt idx="506">
                  <c:v>-0.2</c:v>
                </c:pt>
                <c:pt idx="507">
                  <c:v>-3.9</c:v>
                </c:pt>
                <c:pt idx="508">
                  <c:v>-2.2000000000000002</c:v>
                </c:pt>
                <c:pt idx="509">
                  <c:v>-3.07</c:v>
                </c:pt>
                <c:pt idx="510">
                  <c:v>0</c:v>
                </c:pt>
                <c:pt idx="511">
                  <c:v>-9.1</c:v>
                </c:pt>
                <c:pt idx="512">
                  <c:v>-8.5</c:v>
                </c:pt>
                <c:pt idx="513">
                  <c:v>-9</c:v>
                </c:pt>
                <c:pt idx="514">
                  <c:v>-9</c:v>
                </c:pt>
                <c:pt idx="515">
                  <c:v>-10.5</c:v>
                </c:pt>
                <c:pt idx="516">
                  <c:v>-9.6</c:v>
                </c:pt>
                <c:pt idx="517">
                  <c:v>-8.74</c:v>
                </c:pt>
                <c:pt idx="518">
                  <c:v>-8.9</c:v>
                </c:pt>
                <c:pt idx="519">
                  <c:v>-7.85</c:v>
                </c:pt>
                <c:pt idx="520">
                  <c:v>-5.8</c:v>
                </c:pt>
                <c:pt idx="521">
                  <c:v>-4.5</c:v>
                </c:pt>
                <c:pt idx="522">
                  <c:v>-5.3</c:v>
                </c:pt>
                <c:pt idx="523">
                  <c:v>-5.8</c:v>
                </c:pt>
                <c:pt idx="524">
                  <c:v>-6.8</c:v>
                </c:pt>
                <c:pt idx="525">
                  <c:v>-5.9</c:v>
                </c:pt>
                <c:pt idx="526">
                  <c:v>-3.5</c:v>
                </c:pt>
                <c:pt idx="527">
                  <c:v>-3.4</c:v>
                </c:pt>
                <c:pt idx="528">
                  <c:v>-4.74</c:v>
                </c:pt>
                <c:pt idx="529">
                  <c:v>-4.6500000000000004</c:v>
                </c:pt>
                <c:pt idx="530">
                  <c:v>-6</c:v>
                </c:pt>
                <c:pt idx="531">
                  <c:v>-7.6</c:v>
                </c:pt>
                <c:pt idx="532">
                  <c:v>-24.24</c:v>
                </c:pt>
                <c:pt idx="533">
                  <c:v>-25.71</c:v>
                </c:pt>
                <c:pt idx="534">
                  <c:v>-11.1</c:v>
                </c:pt>
                <c:pt idx="535">
                  <c:v>-23.4</c:v>
                </c:pt>
                <c:pt idx="536">
                  <c:v>-23.78</c:v>
                </c:pt>
                <c:pt idx="537">
                  <c:v>-25.2</c:v>
                </c:pt>
                <c:pt idx="538">
                  <c:v>-21.7</c:v>
                </c:pt>
                <c:pt idx="539">
                  <c:v>-14.2</c:v>
                </c:pt>
                <c:pt idx="540">
                  <c:v>-14.3</c:v>
                </c:pt>
                <c:pt idx="541">
                  <c:v>-20.6</c:v>
                </c:pt>
                <c:pt idx="542">
                  <c:v>-16.899999999999999</c:v>
                </c:pt>
                <c:pt idx="543">
                  <c:v>-11.35</c:v>
                </c:pt>
                <c:pt idx="544">
                  <c:v>-7.9</c:v>
                </c:pt>
                <c:pt idx="545">
                  <c:v>-8.6999999999999993</c:v>
                </c:pt>
                <c:pt idx="546">
                  <c:v>-8.5</c:v>
                </c:pt>
                <c:pt idx="547">
                  <c:v>-6.3</c:v>
                </c:pt>
                <c:pt idx="548">
                  <c:v>-6.69</c:v>
                </c:pt>
                <c:pt idx="549">
                  <c:v>-6.7</c:v>
                </c:pt>
                <c:pt idx="550">
                  <c:v>-5.2</c:v>
                </c:pt>
                <c:pt idx="551">
                  <c:v>-5.0999999999999996</c:v>
                </c:pt>
                <c:pt idx="552">
                  <c:v>-2.75</c:v>
                </c:pt>
                <c:pt idx="553">
                  <c:v>-2.4</c:v>
                </c:pt>
                <c:pt idx="554">
                  <c:v>-3.45</c:v>
                </c:pt>
                <c:pt idx="555">
                  <c:v>-2.2999999999999998</c:v>
                </c:pt>
                <c:pt idx="556">
                  <c:v>-2.7</c:v>
                </c:pt>
                <c:pt idx="557">
                  <c:v>-1.8</c:v>
                </c:pt>
                <c:pt idx="558">
                  <c:v>-3.8</c:v>
                </c:pt>
                <c:pt idx="559">
                  <c:v>-0.5</c:v>
                </c:pt>
                <c:pt idx="560">
                  <c:v>0.2</c:v>
                </c:pt>
                <c:pt idx="561">
                  <c:v>1.5</c:v>
                </c:pt>
                <c:pt idx="562">
                  <c:v>3</c:v>
                </c:pt>
                <c:pt idx="563">
                  <c:v>4.5999999999999996</c:v>
                </c:pt>
                <c:pt idx="564">
                  <c:v>5.4</c:v>
                </c:pt>
                <c:pt idx="565">
                  <c:v>7.25</c:v>
                </c:pt>
                <c:pt idx="566">
                  <c:v>8.3800000000000008</c:v>
                </c:pt>
                <c:pt idx="567">
                  <c:v>7.4</c:v>
                </c:pt>
                <c:pt idx="568">
                  <c:v>8.93</c:v>
                </c:pt>
                <c:pt idx="569">
                  <c:v>9.1999999999999993</c:v>
                </c:pt>
                <c:pt idx="570">
                  <c:v>8.9</c:v>
                </c:pt>
                <c:pt idx="571">
                  <c:v>9.9</c:v>
                </c:pt>
                <c:pt idx="572">
                  <c:v>9.4499999999999993</c:v>
                </c:pt>
                <c:pt idx="573">
                  <c:v>8.69</c:v>
                </c:pt>
                <c:pt idx="574">
                  <c:v>10.199999999999999</c:v>
                </c:pt>
                <c:pt idx="575">
                  <c:v>9.25</c:v>
                </c:pt>
                <c:pt idx="576">
                  <c:v>9.3000000000000007</c:v>
                </c:pt>
                <c:pt idx="577">
                  <c:v>9.0299999999999994</c:v>
                </c:pt>
                <c:pt idx="578">
                  <c:v>10.78</c:v>
                </c:pt>
                <c:pt idx="579">
                  <c:v>10.9</c:v>
                </c:pt>
                <c:pt idx="580">
                  <c:v>9.6999999999999993</c:v>
                </c:pt>
                <c:pt idx="581">
                  <c:v>7.6</c:v>
                </c:pt>
                <c:pt idx="582">
                  <c:v>7.63</c:v>
                </c:pt>
                <c:pt idx="583">
                  <c:v>9.18</c:v>
                </c:pt>
                <c:pt idx="584">
                  <c:v>11</c:v>
                </c:pt>
                <c:pt idx="585">
                  <c:v>13</c:v>
                </c:pt>
                <c:pt idx="586">
                  <c:v>12.9</c:v>
                </c:pt>
                <c:pt idx="587">
                  <c:v>12.6</c:v>
                </c:pt>
                <c:pt idx="588">
                  <c:v>11.1</c:v>
                </c:pt>
                <c:pt idx="589">
                  <c:v>11.93</c:v>
                </c:pt>
                <c:pt idx="590">
                  <c:v>12.4</c:v>
                </c:pt>
                <c:pt idx="591">
                  <c:v>11.6</c:v>
                </c:pt>
                <c:pt idx="592">
                  <c:v>9.4</c:v>
                </c:pt>
                <c:pt idx="593">
                  <c:v>8.4</c:v>
                </c:pt>
                <c:pt idx="594">
                  <c:v>9.92</c:v>
                </c:pt>
                <c:pt idx="595">
                  <c:v>11.58</c:v>
                </c:pt>
                <c:pt idx="596">
                  <c:v>12.4</c:v>
                </c:pt>
                <c:pt idx="597">
                  <c:v>11.7</c:v>
                </c:pt>
                <c:pt idx="598">
                  <c:v>11.5</c:v>
                </c:pt>
                <c:pt idx="599">
                  <c:v>12.3</c:v>
                </c:pt>
                <c:pt idx="600">
                  <c:v>14.1</c:v>
                </c:pt>
                <c:pt idx="601">
                  <c:v>12.1</c:v>
                </c:pt>
                <c:pt idx="602">
                  <c:v>14.3</c:v>
                </c:pt>
                <c:pt idx="603">
                  <c:v>16.98</c:v>
                </c:pt>
                <c:pt idx="604">
                  <c:v>3.1</c:v>
                </c:pt>
                <c:pt idx="605">
                  <c:v>2.42</c:v>
                </c:pt>
                <c:pt idx="606">
                  <c:v>0.9</c:v>
                </c:pt>
                <c:pt idx="607">
                  <c:v>1.7</c:v>
                </c:pt>
                <c:pt idx="608">
                  <c:v>7.0000000000000007E-2</c:v>
                </c:pt>
                <c:pt idx="609">
                  <c:v>-0.4</c:v>
                </c:pt>
                <c:pt idx="610">
                  <c:v>0.1</c:v>
                </c:pt>
                <c:pt idx="611">
                  <c:v>1.5</c:v>
                </c:pt>
                <c:pt idx="612">
                  <c:v>-0.08</c:v>
                </c:pt>
                <c:pt idx="613">
                  <c:v>-0.18</c:v>
                </c:pt>
                <c:pt idx="614">
                  <c:v>2.5</c:v>
                </c:pt>
                <c:pt idx="615">
                  <c:v>2.7</c:v>
                </c:pt>
                <c:pt idx="616">
                  <c:v>2.5</c:v>
                </c:pt>
                <c:pt idx="617">
                  <c:v>1.1000000000000001</c:v>
                </c:pt>
                <c:pt idx="618">
                  <c:v>8.2200000000000006</c:v>
                </c:pt>
                <c:pt idx="619">
                  <c:v>10.92</c:v>
                </c:pt>
                <c:pt idx="620">
                  <c:v>12.2</c:v>
                </c:pt>
                <c:pt idx="621">
                  <c:v>8.6</c:v>
                </c:pt>
                <c:pt idx="622">
                  <c:v>10.7</c:v>
                </c:pt>
                <c:pt idx="623">
                  <c:v>9.1</c:v>
                </c:pt>
                <c:pt idx="624">
                  <c:v>10.6</c:v>
                </c:pt>
                <c:pt idx="625">
                  <c:v>10.5</c:v>
                </c:pt>
                <c:pt idx="626">
                  <c:v>9</c:v>
                </c:pt>
                <c:pt idx="627">
                  <c:v>7.7</c:v>
                </c:pt>
                <c:pt idx="628">
                  <c:v>9.5</c:v>
                </c:pt>
                <c:pt idx="629">
                  <c:v>9.68</c:v>
                </c:pt>
                <c:pt idx="630">
                  <c:v>11.9</c:v>
                </c:pt>
                <c:pt idx="631">
                  <c:v>5.9</c:v>
                </c:pt>
                <c:pt idx="632">
                  <c:v>14.2</c:v>
                </c:pt>
                <c:pt idx="633">
                  <c:v>14.32</c:v>
                </c:pt>
                <c:pt idx="634">
                  <c:v>15.7</c:v>
                </c:pt>
                <c:pt idx="635">
                  <c:v>27.2</c:v>
                </c:pt>
                <c:pt idx="636">
                  <c:v>19.45</c:v>
                </c:pt>
                <c:pt idx="637">
                  <c:v>16.48</c:v>
                </c:pt>
                <c:pt idx="638">
                  <c:v>16.45</c:v>
                </c:pt>
                <c:pt idx="639">
                  <c:v>14.3</c:v>
                </c:pt>
                <c:pt idx="640">
                  <c:v>12.47</c:v>
                </c:pt>
                <c:pt idx="641">
                  <c:v>20.399999999999999</c:v>
                </c:pt>
                <c:pt idx="642">
                  <c:v>18.53</c:v>
                </c:pt>
                <c:pt idx="643">
                  <c:v>21.4</c:v>
                </c:pt>
                <c:pt idx="644">
                  <c:v>17.7</c:v>
                </c:pt>
                <c:pt idx="645">
                  <c:v>18.55</c:v>
                </c:pt>
                <c:pt idx="646">
                  <c:v>18.09</c:v>
                </c:pt>
                <c:pt idx="647">
                  <c:v>20.2</c:v>
                </c:pt>
                <c:pt idx="648">
                  <c:v>21.07</c:v>
                </c:pt>
                <c:pt idx="649">
                  <c:v>12</c:v>
                </c:pt>
                <c:pt idx="650">
                  <c:v>16.649999999999999</c:v>
                </c:pt>
                <c:pt idx="651">
                  <c:v>6.63</c:v>
                </c:pt>
                <c:pt idx="652">
                  <c:v>6.2</c:v>
                </c:pt>
                <c:pt idx="653">
                  <c:v>5.6</c:v>
                </c:pt>
                <c:pt idx="654">
                  <c:v>6.8</c:v>
                </c:pt>
                <c:pt idx="655">
                  <c:v>10</c:v>
                </c:pt>
                <c:pt idx="656">
                  <c:v>14.4</c:v>
                </c:pt>
                <c:pt idx="657">
                  <c:v>20.399999999999999</c:v>
                </c:pt>
                <c:pt idx="658">
                  <c:v>18.54</c:v>
                </c:pt>
                <c:pt idx="659">
                  <c:v>18.899999999999999</c:v>
                </c:pt>
                <c:pt idx="660">
                  <c:v>24.8</c:v>
                </c:pt>
                <c:pt idx="661">
                  <c:v>22</c:v>
                </c:pt>
                <c:pt idx="662">
                  <c:v>18.11</c:v>
                </c:pt>
                <c:pt idx="663">
                  <c:v>18.600000000000001</c:v>
                </c:pt>
                <c:pt idx="664">
                  <c:v>27.45</c:v>
                </c:pt>
                <c:pt idx="665">
                  <c:v>31.3</c:v>
                </c:pt>
                <c:pt idx="666">
                  <c:v>40.299999999999997</c:v>
                </c:pt>
                <c:pt idx="667">
                  <c:v>33.85</c:v>
                </c:pt>
                <c:pt idx="668">
                  <c:v>24.6</c:v>
                </c:pt>
                <c:pt idx="669">
                  <c:v>29.77</c:v>
                </c:pt>
                <c:pt idx="670">
                  <c:v>26.6</c:v>
                </c:pt>
                <c:pt idx="671">
                  <c:v>12.8</c:v>
                </c:pt>
                <c:pt idx="672">
                  <c:v>23.3</c:v>
                </c:pt>
                <c:pt idx="673">
                  <c:v>16.2</c:v>
                </c:pt>
                <c:pt idx="674">
                  <c:v>21.4</c:v>
                </c:pt>
                <c:pt idx="675">
                  <c:v>16.399999999999999</c:v>
                </c:pt>
                <c:pt idx="676">
                  <c:v>10.8</c:v>
                </c:pt>
                <c:pt idx="677">
                  <c:v>12.95</c:v>
                </c:pt>
                <c:pt idx="678">
                  <c:v>7.8</c:v>
                </c:pt>
                <c:pt idx="679">
                  <c:v>8.8000000000000007</c:v>
                </c:pt>
                <c:pt idx="680">
                  <c:v>2.5</c:v>
                </c:pt>
                <c:pt idx="681">
                  <c:v>8.4</c:v>
                </c:pt>
                <c:pt idx="682">
                  <c:v>4.8</c:v>
                </c:pt>
                <c:pt idx="683">
                  <c:v>9.1999999999999993</c:v>
                </c:pt>
                <c:pt idx="684">
                  <c:v>5.7</c:v>
                </c:pt>
                <c:pt idx="685">
                  <c:v>7</c:v>
                </c:pt>
                <c:pt idx="686">
                  <c:v>9.6</c:v>
                </c:pt>
                <c:pt idx="687">
                  <c:v>3.2</c:v>
                </c:pt>
                <c:pt idx="688">
                  <c:v>1.6</c:v>
                </c:pt>
                <c:pt idx="689">
                  <c:v>15.45</c:v>
                </c:pt>
                <c:pt idx="690">
                  <c:v>17.399999999999999</c:v>
                </c:pt>
                <c:pt idx="691">
                  <c:v>15.2</c:v>
                </c:pt>
                <c:pt idx="692">
                  <c:v>15.5</c:v>
                </c:pt>
                <c:pt idx="693">
                  <c:v>9.6999999999999993</c:v>
                </c:pt>
                <c:pt idx="694">
                  <c:v>13.29</c:v>
                </c:pt>
                <c:pt idx="695">
                  <c:v>15.7</c:v>
                </c:pt>
                <c:pt idx="696">
                  <c:v>11.87</c:v>
                </c:pt>
                <c:pt idx="697">
                  <c:v>12.1</c:v>
                </c:pt>
                <c:pt idx="698">
                  <c:v>11.8</c:v>
                </c:pt>
                <c:pt idx="699">
                  <c:v>9.1999999999999993</c:v>
                </c:pt>
                <c:pt idx="700">
                  <c:v>11.03</c:v>
                </c:pt>
                <c:pt idx="701">
                  <c:v>7.05</c:v>
                </c:pt>
                <c:pt idx="702">
                  <c:v>8.6</c:v>
                </c:pt>
                <c:pt idx="703">
                  <c:v>10.6</c:v>
                </c:pt>
                <c:pt idx="704">
                  <c:v>9.6</c:v>
                </c:pt>
                <c:pt idx="705">
                  <c:v>9.1999999999999993</c:v>
                </c:pt>
                <c:pt idx="706">
                  <c:v>8.3000000000000007</c:v>
                </c:pt>
                <c:pt idx="707">
                  <c:v>9.6999999999999993</c:v>
                </c:pt>
                <c:pt idx="708">
                  <c:v>7.65</c:v>
                </c:pt>
                <c:pt idx="709">
                  <c:v>8.3000000000000007</c:v>
                </c:pt>
                <c:pt idx="710">
                  <c:v>9.5299999999999994</c:v>
                </c:pt>
                <c:pt idx="711">
                  <c:v>8.8800000000000008</c:v>
                </c:pt>
                <c:pt idx="712">
                  <c:v>7.84</c:v>
                </c:pt>
                <c:pt idx="713">
                  <c:v>6.3</c:v>
                </c:pt>
                <c:pt idx="714">
                  <c:v>5.2</c:v>
                </c:pt>
                <c:pt idx="715">
                  <c:v>1.67</c:v>
                </c:pt>
                <c:pt idx="716">
                  <c:v>1.2</c:v>
                </c:pt>
                <c:pt idx="717">
                  <c:v>1.2</c:v>
                </c:pt>
                <c:pt idx="718">
                  <c:v>-0.19</c:v>
                </c:pt>
                <c:pt idx="719">
                  <c:v>-2.9</c:v>
                </c:pt>
                <c:pt idx="720">
                  <c:v>-3.5</c:v>
                </c:pt>
                <c:pt idx="721">
                  <c:v>-8.1300000000000008</c:v>
                </c:pt>
                <c:pt idx="722">
                  <c:v>-10.18</c:v>
                </c:pt>
                <c:pt idx="723">
                  <c:v>-12.27</c:v>
                </c:pt>
                <c:pt idx="724">
                  <c:v>-9.1999999999999993</c:v>
                </c:pt>
                <c:pt idx="725">
                  <c:v>-8.4700000000000006</c:v>
                </c:pt>
                <c:pt idx="726">
                  <c:v>-10.24</c:v>
                </c:pt>
                <c:pt idx="727">
                  <c:v>-11.98</c:v>
                </c:pt>
                <c:pt idx="728">
                  <c:v>-7.08</c:v>
                </c:pt>
                <c:pt idx="729">
                  <c:v>-3.4</c:v>
                </c:pt>
                <c:pt idx="730">
                  <c:v>-6.94</c:v>
                </c:pt>
                <c:pt idx="731">
                  <c:v>-9.9</c:v>
                </c:pt>
                <c:pt idx="732">
                  <c:v>-11</c:v>
                </c:pt>
                <c:pt idx="733">
                  <c:v>-12.4</c:v>
                </c:pt>
                <c:pt idx="734">
                  <c:v>-12.67</c:v>
                </c:pt>
                <c:pt idx="735">
                  <c:v>-12.9</c:v>
                </c:pt>
                <c:pt idx="736">
                  <c:v>-16.3</c:v>
                </c:pt>
                <c:pt idx="737">
                  <c:v>-15.42</c:v>
                </c:pt>
                <c:pt idx="738">
                  <c:v>-16.34</c:v>
                </c:pt>
                <c:pt idx="739">
                  <c:v>-16.399999999999999</c:v>
                </c:pt>
                <c:pt idx="740">
                  <c:v>-13.62</c:v>
                </c:pt>
                <c:pt idx="741">
                  <c:v>-14.4</c:v>
                </c:pt>
                <c:pt idx="742">
                  <c:v>-14.77</c:v>
                </c:pt>
                <c:pt idx="743">
                  <c:v>-18.46</c:v>
                </c:pt>
                <c:pt idx="744">
                  <c:v>-18</c:v>
                </c:pt>
                <c:pt idx="745">
                  <c:v>-15.67</c:v>
                </c:pt>
                <c:pt idx="746">
                  <c:v>-16.43</c:v>
                </c:pt>
                <c:pt idx="747">
                  <c:v>-16.8</c:v>
                </c:pt>
                <c:pt idx="748">
                  <c:v>-15.55</c:v>
                </c:pt>
                <c:pt idx="749">
                  <c:v>-17.100000000000001</c:v>
                </c:pt>
                <c:pt idx="750">
                  <c:v>-18.25</c:v>
                </c:pt>
                <c:pt idx="751">
                  <c:v>-18.8</c:v>
                </c:pt>
                <c:pt idx="752">
                  <c:v>-18.97</c:v>
                </c:pt>
                <c:pt idx="753">
                  <c:v>-21.92</c:v>
                </c:pt>
                <c:pt idx="754">
                  <c:v>-34.700000000000003</c:v>
                </c:pt>
                <c:pt idx="755">
                  <c:v>-34.76</c:v>
                </c:pt>
                <c:pt idx="756">
                  <c:v>-34.28</c:v>
                </c:pt>
                <c:pt idx="757">
                  <c:v>-29.34</c:v>
                </c:pt>
                <c:pt idx="758">
                  <c:v>-30.75</c:v>
                </c:pt>
                <c:pt idx="759">
                  <c:v>-30.99</c:v>
                </c:pt>
                <c:pt idx="760">
                  <c:v>-32.770000000000003</c:v>
                </c:pt>
                <c:pt idx="761">
                  <c:v>-35.14</c:v>
                </c:pt>
                <c:pt idx="762">
                  <c:v>-33.9</c:v>
                </c:pt>
                <c:pt idx="763">
                  <c:v>-35.159999999999997</c:v>
                </c:pt>
                <c:pt idx="764">
                  <c:v>-33.299999999999997</c:v>
                </c:pt>
                <c:pt idx="765">
                  <c:v>-34.06</c:v>
                </c:pt>
                <c:pt idx="766">
                  <c:v>-30.3</c:v>
                </c:pt>
                <c:pt idx="767">
                  <c:v>-33.35</c:v>
                </c:pt>
                <c:pt idx="768">
                  <c:v>-38.840000000000003</c:v>
                </c:pt>
                <c:pt idx="769">
                  <c:v>-41.16</c:v>
                </c:pt>
                <c:pt idx="770">
                  <c:v>-39.4</c:v>
                </c:pt>
                <c:pt idx="771">
                  <c:v>-41.34</c:v>
                </c:pt>
                <c:pt idx="772">
                  <c:v>-41.51</c:v>
                </c:pt>
                <c:pt idx="773">
                  <c:v>-46.79</c:v>
                </c:pt>
                <c:pt idx="774">
                  <c:v>-53.89</c:v>
                </c:pt>
                <c:pt idx="775">
                  <c:v>-56.95</c:v>
                </c:pt>
                <c:pt idx="776">
                  <c:v>-59.05</c:v>
                </c:pt>
                <c:pt idx="777">
                  <c:v>-56.67</c:v>
                </c:pt>
                <c:pt idx="778">
                  <c:v>-65.3</c:v>
                </c:pt>
                <c:pt idx="779">
                  <c:v>-62.86</c:v>
                </c:pt>
                <c:pt idx="780">
                  <c:v>-61.9</c:v>
                </c:pt>
                <c:pt idx="781">
                  <c:v>-62.6</c:v>
                </c:pt>
                <c:pt idx="782">
                  <c:v>-65.260000000000005</c:v>
                </c:pt>
                <c:pt idx="783">
                  <c:v>-71.599999999999994</c:v>
                </c:pt>
                <c:pt idx="784">
                  <c:v>-70.67</c:v>
                </c:pt>
                <c:pt idx="785">
                  <c:v>-67.3</c:v>
                </c:pt>
                <c:pt idx="786">
                  <c:v>-61.5</c:v>
                </c:pt>
                <c:pt idx="787">
                  <c:v>-62</c:v>
                </c:pt>
                <c:pt idx="788">
                  <c:v>-61.21</c:v>
                </c:pt>
                <c:pt idx="789">
                  <c:v>-55.15</c:v>
                </c:pt>
                <c:pt idx="790">
                  <c:v>-57.51</c:v>
                </c:pt>
                <c:pt idx="791">
                  <c:v>-56.5</c:v>
                </c:pt>
                <c:pt idx="792">
                  <c:v>-57.96</c:v>
                </c:pt>
                <c:pt idx="793">
                  <c:v>-55.5</c:v>
                </c:pt>
                <c:pt idx="794">
                  <c:v>-55.44</c:v>
                </c:pt>
                <c:pt idx="795">
                  <c:v>-53.58</c:v>
                </c:pt>
                <c:pt idx="796">
                  <c:v>-53.35</c:v>
                </c:pt>
                <c:pt idx="797">
                  <c:v>-51.43</c:v>
                </c:pt>
                <c:pt idx="798">
                  <c:v>-50.6</c:v>
                </c:pt>
                <c:pt idx="799">
                  <c:v>-48.42</c:v>
                </c:pt>
                <c:pt idx="800">
                  <c:v>-47.7</c:v>
                </c:pt>
                <c:pt idx="801">
                  <c:v>-48.82</c:v>
                </c:pt>
                <c:pt idx="802">
                  <c:v>-48.14</c:v>
                </c:pt>
                <c:pt idx="803">
                  <c:v>-45.95</c:v>
                </c:pt>
                <c:pt idx="804">
                  <c:v>-61.66</c:v>
                </c:pt>
                <c:pt idx="805">
                  <c:v>-62</c:v>
                </c:pt>
                <c:pt idx="806">
                  <c:v>-65.400000000000006</c:v>
                </c:pt>
                <c:pt idx="807">
                  <c:v>-65.489999999999995</c:v>
                </c:pt>
                <c:pt idx="808">
                  <c:v>-62.8</c:v>
                </c:pt>
                <c:pt idx="809">
                  <c:v>-64.55</c:v>
                </c:pt>
                <c:pt idx="810">
                  <c:v>-66.83</c:v>
                </c:pt>
                <c:pt idx="811">
                  <c:v>-68.09</c:v>
                </c:pt>
                <c:pt idx="812">
                  <c:v>-64.349999999999994</c:v>
                </c:pt>
                <c:pt idx="813">
                  <c:v>-63.56</c:v>
                </c:pt>
                <c:pt idx="814">
                  <c:v>-63.03</c:v>
                </c:pt>
                <c:pt idx="815">
                  <c:v>-66.34</c:v>
                </c:pt>
                <c:pt idx="816">
                  <c:v>-66.319999999999993</c:v>
                </c:pt>
                <c:pt idx="817">
                  <c:v>-72.55</c:v>
                </c:pt>
                <c:pt idx="818">
                  <c:v>-69.83</c:v>
                </c:pt>
                <c:pt idx="819">
                  <c:v>-67.47</c:v>
                </c:pt>
                <c:pt idx="820">
                  <c:v>-67.64</c:v>
                </c:pt>
                <c:pt idx="821">
                  <c:v>-65.97</c:v>
                </c:pt>
                <c:pt idx="822">
                  <c:v>-64.59</c:v>
                </c:pt>
                <c:pt idx="823">
                  <c:v>-66.349999999999994</c:v>
                </c:pt>
                <c:pt idx="824">
                  <c:v>-61.52</c:v>
                </c:pt>
                <c:pt idx="825">
                  <c:v>-64.11</c:v>
                </c:pt>
                <c:pt idx="826">
                  <c:v>-61.28</c:v>
                </c:pt>
                <c:pt idx="827">
                  <c:v>-61.56</c:v>
                </c:pt>
                <c:pt idx="828">
                  <c:v>-57.8</c:v>
                </c:pt>
                <c:pt idx="829">
                  <c:v>-60</c:v>
                </c:pt>
                <c:pt idx="830">
                  <c:v>-56.4</c:v>
                </c:pt>
                <c:pt idx="831">
                  <c:v>-56.2</c:v>
                </c:pt>
                <c:pt idx="832">
                  <c:v>-55.5</c:v>
                </c:pt>
                <c:pt idx="833">
                  <c:v>-53.93</c:v>
                </c:pt>
                <c:pt idx="834">
                  <c:v>-51.6</c:v>
                </c:pt>
                <c:pt idx="835">
                  <c:v>-54.1</c:v>
                </c:pt>
                <c:pt idx="836">
                  <c:v>-51.2</c:v>
                </c:pt>
                <c:pt idx="837">
                  <c:v>-53</c:v>
                </c:pt>
                <c:pt idx="838">
                  <c:v>-45.77</c:v>
                </c:pt>
                <c:pt idx="839">
                  <c:v>-46.03</c:v>
                </c:pt>
                <c:pt idx="840">
                  <c:v>-47.84</c:v>
                </c:pt>
                <c:pt idx="841">
                  <c:v>-45.52</c:v>
                </c:pt>
                <c:pt idx="842">
                  <c:v>-44.6</c:v>
                </c:pt>
                <c:pt idx="843">
                  <c:v>-43.6</c:v>
                </c:pt>
                <c:pt idx="844">
                  <c:v>-46.99</c:v>
                </c:pt>
                <c:pt idx="845">
                  <c:v>-51</c:v>
                </c:pt>
                <c:pt idx="846">
                  <c:v>-52.44</c:v>
                </c:pt>
                <c:pt idx="847">
                  <c:v>-51.67</c:v>
                </c:pt>
                <c:pt idx="848">
                  <c:v>-49.93</c:v>
                </c:pt>
                <c:pt idx="849">
                  <c:v>-48.49</c:v>
                </c:pt>
                <c:pt idx="850">
                  <c:v>-46.86</c:v>
                </c:pt>
                <c:pt idx="851">
                  <c:v>-47.2</c:v>
                </c:pt>
                <c:pt idx="852">
                  <c:v>-48.03</c:v>
                </c:pt>
                <c:pt idx="853">
                  <c:v>-45.6</c:v>
                </c:pt>
                <c:pt idx="854">
                  <c:v>-47.24</c:v>
                </c:pt>
                <c:pt idx="855">
                  <c:v>-45.38</c:v>
                </c:pt>
                <c:pt idx="856">
                  <c:v>-45.4</c:v>
                </c:pt>
                <c:pt idx="857">
                  <c:v>-48.02</c:v>
                </c:pt>
                <c:pt idx="858">
                  <c:v>-60.1</c:v>
                </c:pt>
                <c:pt idx="859">
                  <c:v>-59</c:v>
                </c:pt>
                <c:pt idx="860">
                  <c:v>-60.61</c:v>
                </c:pt>
                <c:pt idx="861">
                  <c:v>-61.3</c:v>
                </c:pt>
                <c:pt idx="862">
                  <c:v>-60.17</c:v>
                </c:pt>
                <c:pt idx="863">
                  <c:v>-61.02</c:v>
                </c:pt>
                <c:pt idx="864">
                  <c:v>-62.3</c:v>
                </c:pt>
                <c:pt idx="865">
                  <c:v>-62.07</c:v>
                </c:pt>
                <c:pt idx="866">
                  <c:v>-62</c:v>
                </c:pt>
                <c:pt idx="867">
                  <c:v>-66.75</c:v>
                </c:pt>
                <c:pt idx="868">
                  <c:v>-68.900000000000006</c:v>
                </c:pt>
                <c:pt idx="869">
                  <c:v>-65.8</c:v>
                </c:pt>
                <c:pt idx="870">
                  <c:v>-66.5</c:v>
                </c:pt>
                <c:pt idx="871">
                  <c:v>-72.02</c:v>
                </c:pt>
                <c:pt idx="872">
                  <c:v>-79.290000000000006</c:v>
                </c:pt>
                <c:pt idx="873">
                  <c:v>-80.930000000000007</c:v>
                </c:pt>
                <c:pt idx="874">
                  <c:v>-115.46</c:v>
                </c:pt>
              </c:numCache>
            </c:numRef>
          </c:yVal>
          <c:smooth val="0"/>
          <c:extLst>
            <c:ext xmlns:c16="http://schemas.microsoft.com/office/drawing/2014/chart" uri="{C3380CC4-5D6E-409C-BE32-E72D297353CC}">
              <c16:uniqueId val="{00000001-2DE2-4EEA-A6F8-372030D099C3}"/>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CE3EF"/>
            </a:solidFill>
          </a:ln>
        </c:spPr>
        <c:txPr>
          <a:bodyPr/>
          <a:lstStyle/>
          <a:p>
            <a:pPr>
              <a:defRPr sz="850">
                <a:solidFill>
                  <a:srgbClr val="5A6172"/>
                </a:solidFill>
              </a:defRPr>
            </a:pPr>
            <a:endParaRPr lang="en-US"/>
          </a:p>
        </c:txPr>
        <c:crossAx val="-2129643912"/>
        <c:crosses val="autoZero"/>
        <c:crossBetween val="midCat"/>
        <c:majorUnit val="730"/>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850">
                <a:solidFill>
                  <a:srgbClr val="5A6172"/>
                </a:solidFill>
              </a:defRPr>
            </a:pPr>
            <a:endParaRPr lang="en-US"/>
          </a:p>
        </c:txPr>
        <c:crossAx val="-2128940872"/>
        <c:crosses val="autoZero"/>
        <c:crossBetween val="midCat"/>
      </c:valAx>
    </c:plotArea>
    <c:legend>
      <c:legendPos val="t"/>
      <c:overlay val="0"/>
      <c:txPr>
        <a:bodyPr/>
        <a:lstStyle/>
        <a:p>
          <a:pPr>
            <a:defRPr sz="1050">
              <a:solidFill>
                <a:srgbClr val="5A6172"/>
              </a:solidFill>
            </a:defRPr>
          </a:pPr>
          <a:endParaRPr lang="en-US"/>
        </a:p>
      </c:txPr>
    </c:legend>
    <c:plotVisOnly val="1"/>
    <c:dispBlanksAs val="gap"/>
    <c:showDLblsOverMax val="0"/>
  </c:chart>
  <c:txPr>
    <a:bodyPr/>
    <a:lstStyle/>
    <a:p>
      <a:pPr>
        <a:defRPr sz="850">
          <a:latin typeface="Garamo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8788" y="720725"/>
            <a:ext cx="6399212"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1" y="4560571"/>
            <a:ext cx="5852160" cy="4320540"/>
          </a:xfrm>
          <a:prstGeom prst="rect">
            <a:avLst/>
          </a:prstGeom>
          <a:noFill/>
          <a:ln>
            <a:noFill/>
          </a:ln>
        </p:spPr>
        <p:txBody>
          <a:bodyPr spcFirstLastPara="1" wrap="square" lIns="96634" tIns="96634" rIns="96634" bIns="9663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65A1-226B-46BD-B757-1F028250CDA7}"/>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B77E36-96D9-48CE-B53A-AB803608821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EA167D0-D05E-40C5-8EEE-085359DA3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60A34-4875-46B8-8389-6D19DF2DA9B9}"/>
              </a:ext>
            </a:extLst>
          </p:cNvPr>
          <p:cNvSpPr>
            <a:spLocks noGrp="1"/>
          </p:cNvSpPr>
          <p:nvPr>
            <p:ph type="sldNum" sz="quarter" idx="12"/>
          </p:nvPr>
        </p:nvSpPr>
        <p:spPr>
          <a:xfrm>
            <a:off x="9120336" y="6356353"/>
            <a:ext cx="2743200" cy="366183"/>
          </a:xfrm>
          <a:prstGeom prst="rect">
            <a:avLst/>
          </a:prstGeom>
        </p:spPr>
        <p:txBody>
          <a:bodyPr/>
          <a:lstStyle>
            <a:lvl1pPr algn="r">
              <a:defRPr sz="1200" b="0">
                <a:solidFill>
                  <a:schemeClr val="bg1">
                    <a:lumMod val="50000"/>
                  </a:schemeClr>
                </a:solidFill>
                <a:latin typeface="Garamond" panose="02020404030301010803" pitchFamily="18" charset="0"/>
              </a:defRPr>
            </a:lvl1pPr>
          </a:lstStyle>
          <a:p>
            <a:fld id="{F6B70E3D-0A47-44A9-8B13-A3D1BC88A914}" type="slidenum">
              <a:rPr lang="en-US" smtClean="0"/>
              <a:pPr/>
              <a:t>‹#›</a:t>
            </a:fld>
            <a:endParaRPr lang="en-US"/>
          </a:p>
        </p:txBody>
      </p:sp>
      <p:sp>
        <p:nvSpPr>
          <p:cNvPr id="7" name="Google Shape;230;p49">
            <a:extLst>
              <a:ext uri="{FF2B5EF4-FFF2-40B4-BE49-F238E27FC236}">
                <a16:creationId xmlns:a16="http://schemas.microsoft.com/office/drawing/2014/main" id="{B0469A88-F3B7-4305-947D-A588CE30906F}"/>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8" name="Google Shape;247;p51">
            <a:extLst>
              <a:ext uri="{FF2B5EF4-FFF2-40B4-BE49-F238E27FC236}">
                <a16:creationId xmlns:a16="http://schemas.microsoft.com/office/drawing/2014/main" id="{E07326A5-7DFC-4BBA-9135-BBB829B30C75}"/>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77F2B64F-7FF0-4CB6-8A6E-04531188379A}"/>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2929906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39A65-672A-4BCB-B034-639C59E8126B}"/>
              </a:ext>
            </a:extLst>
          </p:cNvPr>
          <p:cNvSpPr>
            <a:spLocks noGrp="1"/>
          </p:cNvSpPr>
          <p:nvPr>
            <p:ph sz="half" idx="1"/>
          </p:nvPr>
        </p:nvSpPr>
        <p:spPr>
          <a:xfrm>
            <a:off x="838200" y="1826684"/>
            <a:ext cx="5156200" cy="4349749"/>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47450-FEA2-4344-BB67-8DC866896B8E}"/>
              </a:ext>
            </a:extLst>
          </p:cNvPr>
          <p:cNvSpPr>
            <a:spLocks noGrp="1"/>
          </p:cNvSpPr>
          <p:nvPr>
            <p:ph sz="half" idx="2"/>
          </p:nvPr>
        </p:nvSpPr>
        <p:spPr>
          <a:xfrm>
            <a:off x="6197600" y="1826684"/>
            <a:ext cx="5156200" cy="4349749"/>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4C35F6-4031-4A59-BC20-3CECB76B50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8639087-FBF8-4DD9-A22E-0B8BE15AA851}"/>
              </a:ext>
            </a:extLst>
          </p:cNvPr>
          <p:cNvSpPr>
            <a:spLocks noGrp="1"/>
          </p:cNvSpPr>
          <p:nvPr>
            <p:ph type="ftr" sz="quarter" idx="11"/>
          </p:nvPr>
        </p:nvSpPr>
        <p:spPr/>
        <p:txBody>
          <a:bodyPr/>
          <a:lstStyle/>
          <a:p>
            <a:endParaRPr lang="en-US"/>
          </a:p>
        </p:txBody>
      </p:sp>
      <p:sp>
        <p:nvSpPr>
          <p:cNvPr id="8" name="Google Shape;230;p49">
            <a:extLst>
              <a:ext uri="{FF2B5EF4-FFF2-40B4-BE49-F238E27FC236}">
                <a16:creationId xmlns:a16="http://schemas.microsoft.com/office/drawing/2014/main" id="{B9E27048-10D8-4AF8-83D6-161EC8B2B203}"/>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9" name="Google Shape;247;p51">
            <a:extLst>
              <a:ext uri="{FF2B5EF4-FFF2-40B4-BE49-F238E27FC236}">
                <a16:creationId xmlns:a16="http://schemas.microsoft.com/office/drawing/2014/main" id="{112A745B-B640-4AA1-98B2-1E7278E8BA9A}"/>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D85251CE-303C-4F16-90CA-7AAD7AE42683}"/>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99477F76-27F3-4527-B3B8-6B079B6F303E}"/>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pPr/>
              <a:t>‹#›</a:t>
            </a:fld>
            <a:endParaRPr lang="en-US" sz="1200" dirty="0"/>
          </a:p>
        </p:txBody>
      </p:sp>
    </p:spTree>
    <p:extLst>
      <p:ext uri="{BB962C8B-B14F-4D97-AF65-F5344CB8AC3E}">
        <p14:creationId xmlns:p14="http://schemas.microsoft.com/office/powerpoint/2010/main" val="1976872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ADD287-46A8-4594-9600-EB4900177FC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FA11978-2065-4A58-9226-0DEC22DB1662}"/>
              </a:ext>
            </a:extLst>
          </p:cNvPr>
          <p:cNvSpPr>
            <a:spLocks noGrp="1"/>
          </p:cNvSpPr>
          <p:nvPr>
            <p:ph type="ftr" sz="quarter" idx="11"/>
          </p:nvPr>
        </p:nvSpPr>
        <p:spPr/>
        <p:txBody>
          <a:bodyPr/>
          <a:lstStyle/>
          <a:p>
            <a:endParaRPr lang="en-US"/>
          </a:p>
        </p:txBody>
      </p:sp>
      <p:sp>
        <p:nvSpPr>
          <p:cNvPr id="6" name="Google Shape;230;p49">
            <a:extLst>
              <a:ext uri="{FF2B5EF4-FFF2-40B4-BE49-F238E27FC236}">
                <a16:creationId xmlns:a16="http://schemas.microsoft.com/office/drawing/2014/main" id="{4161E6F3-BE0C-43BE-9BD0-937FF3E2E23C}"/>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7" name="Google Shape;247;p51">
            <a:extLst>
              <a:ext uri="{FF2B5EF4-FFF2-40B4-BE49-F238E27FC236}">
                <a16:creationId xmlns:a16="http://schemas.microsoft.com/office/drawing/2014/main" id="{ED6D7DB5-7D00-4004-AC78-D58F0A9E0100}"/>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C455EA06-2999-4182-AA4F-8A1D6954C072}"/>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8" name="Slide Number Placeholder 5">
            <a:extLst>
              <a:ext uri="{FF2B5EF4-FFF2-40B4-BE49-F238E27FC236}">
                <a16:creationId xmlns:a16="http://schemas.microsoft.com/office/drawing/2014/main" id="{3E4F8D54-AD2B-44ED-ABC6-CC705ED874E0}"/>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pPr/>
              <a:t>‹#›</a:t>
            </a:fld>
            <a:endParaRPr lang="en-US" sz="1200"/>
          </a:p>
        </p:txBody>
      </p:sp>
    </p:spTree>
    <p:extLst>
      <p:ext uri="{BB962C8B-B14F-4D97-AF65-F5344CB8AC3E}">
        <p14:creationId xmlns:p14="http://schemas.microsoft.com/office/powerpoint/2010/main" val="1727956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Google Shape;230;p49">
            <a:extLst>
              <a:ext uri="{FF2B5EF4-FFF2-40B4-BE49-F238E27FC236}">
                <a16:creationId xmlns:a16="http://schemas.microsoft.com/office/drawing/2014/main" id="{72B56A6A-6462-4E40-8C6F-EB86CE4AC215}"/>
              </a:ext>
            </a:extLst>
          </p:cNvPr>
          <p:cNvSpPr txBox="1"/>
          <p:nvPr userDrawn="1"/>
        </p:nvSpPr>
        <p:spPr>
          <a:xfrm>
            <a:off x="0" y="0"/>
            <a:ext cx="12192000" cy="68580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7" name="Google Shape;240;p50">
            <a:extLst>
              <a:ext uri="{FF2B5EF4-FFF2-40B4-BE49-F238E27FC236}">
                <a16:creationId xmlns:a16="http://schemas.microsoft.com/office/drawing/2014/main" id="{3AC6954D-A2DC-4D75-B8CA-81940558E621}"/>
              </a:ext>
            </a:extLst>
          </p:cNvPr>
          <p:cNvPicPr preferRelativeResize="0">
            <a:picLocks noChangeAspect="1"/>
          </p:cNvPicPr>
          <p:nvPr userDrawn="1"/>
        </p:nvPicPr>
        <p:blipFill rotWithShape="1">
          <a:blip r:embed="rId2">
            <a:alphaModFix/>
          </a:blip>
          <a:srcRect b="29873"/>
          <a:stretch/>
        </p:blipFill>
        <p:spPr>
          <a:xfrm>
            <a:off x="322433" y="6071817"/>
            <a:ext cx="1881336" cy="609600"/>
          </a:xfrm>
          <a:prstGeom prst="rect">
            <a:avLst/>
          </a:prstGeom>
          <a:noFill/>
          <a:ln>
            <a:noFill/>
          </a:ln>
        </p:spPr>
      </p:pic>
      <p:sp>
        <p:nvSpPr>
          <p:cNvPr id="9" name="Slide Number Placeholder 5">
            <a:extLst>
              <a:ext uri="{FF2B5EF4-FFF2-40B4-BE49-F238E27FC236}">
                <a16:creationId xmlns:a16="http://schemas.microsoft.com/office/drawing/2014/main" id="{15BA8FDB-4A35-493F-B3BC-6AE97C71BB5D}"/>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solidFill>
                  <a:schemeClr val="bg1"/>
                </a:solidFill>
              </a:rPr>
              <a:pPr/>
              <a:t>‹#›</a:t>
            </a:fld>
            <a:endParaRPr lang="en-US" sz="1200" dirty="0">
              <a:solidFill>
                <a:schemeClr val="bg1"/>
              </a:solidFill>
            </a:endParaRPr>
          </a:p>
        </p:txBody>
      </p:sp>
      <p:sp>
        <p:nvSpPr>
          <p:cNvPr id="12" name="Title 1">
            <a:extLst>
              <a:ext uri="{FF2B5EF4-FFF2-40B4-BE49-F238E27FC236}">
                <a16:creationId xmlns:a16="http://schemas.microsoft.com/office/drawing/2014/main" id="{038F3ACB-D9F8-4037-BF81-F3EF23C42FDC}"/>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11652931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62AD0-07E9-40C7-8FA6-7D5A7BE3A7E6}"/>
              </a:ext>
            </a:extLst>
          </p:cNvPr>
          <p:cNvSpPr>
            <a:spLocks noGrp="1"/>
          </p:cNvSpPr>
          <p:nvPr>
            <p:ph type="title"/>
          </p:nvPr>
        </p:nvSpPr>
        <p:spPr>
          <a:xfrm>
            <a:off x="838200" y="366186"/>
            <a:ext cx="10515600" cy="132503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D5C24-4D38-4FA4-A0A3-DAC5E41EEF72}"/>
              </a:ext>
            </a:extLst>
          </p:cNvPr>
          <p:cNvSpPr>
            <a:spLocks noGrp="1"/>
          </p:cNvSpPr>
          <p:nvPr>
            <p:ph type="body" idx="1"/>
          </p:nvPr>
        </p:nvSpPr>
        <p:spPr>
          <a:xfrm>
            <a:off x="838200" y="1826684"/>
            <a:ext cx="10515600" cy="43497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82CD9-BE2A-48C6-BC9C-C83F0CF4FB64}"/>
              </a:ext>
            </a:extLst>
          </p:cNvPr>
          <p:cNvSpPr>
            <a:spLocks noGrp="1"/>
          </p:cNvSpPr>
          <p:nvPr>
            <p:ph type="dt" sz="half" idx="2"/>
          </p:nvPr>
        </p:nvSpPr>
        <p:spPr>
          <a:xfrm>
            <a:off x="838200" y="6356353"/>
            <a:ext cx="2743200" cy="366183"/>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07650A4A-D046-4587-A96A-1A2FB40FCA0B}"/>
              </a:ext>
            </a:extLst>
          </p:cNvPr>
          <p:cNvSpPr>
            <a:spLocks noGrp="1"/>
          </p:cNvSpPr>
          <p:nvPr>
            <p:ph type="ftr" sz="quarter" idx="3"/>
          </p:nvPr>
        </p:nvSpPr>
        <p:spPr>
          <a:xfrm>
            <a:off x="4038600" y="6356353"/>
            <a:ext cx="4114800" cy="3661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808464103"/>
      </p:ext>
    </p:extLst>
  </p:cSld>
  <p:clrMap bg1="lt1" tx1="dk1" bg2="lt2" tx2="dk2" accent1="accent1" accent2="accent2" accent3="accent3" accent4="accent4" accent5="accent5" accent6="accent6" hlink="hlink" folHlink="folHlink"/>
  <p:sldLayoutIdLst>
    <p:sldLayoutId id="2147483697" r:id="rId1"/>
    <p:sldLayoutId id="2147483699" r:id="rId2"/>
    <p:sldLayoutId id="2147483701" r:id="rId3"/>
    <p:sldLayoutId id="214748370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dark.png"/>
          <p:cNvPicPr>
            <a:picLocks noChangeAspect="1"/>
          </p:cNvPicPr>
          <p:nvPr/>
        </p:nvPicPr>
        <p:blipFill>
          <a:blip r:embed="rId2"/>
          <a:stretch>
            <a:fillRect/>
          </a:stretch>
        </p:blipFill>
        <p:spPr>
          <a:xfrm>
            <a:off x="3855567" y="1691640"/>
            <a:ext cx="4480560" cy="1269794"/>
          </a:xfrm>
          <a:prstGeom prst="rect">
            <a:avLst/>
          </a:prstGeom>
        </p:spPr>
      </p:pic>
      <p:sp>
        <p:nvSpPr>
          <p:cNvPr id="4" name="Rectangle 3"/>
          <p:cNvSpPr/>
          <p:nvPr/>
        </p:nvSpPr>
        <p:spPr>
          <a:xfrm>
            <a:off x="0" y="4572000"/>
            <a:ext cx="12191695" cy="2286000"/>
          </a:xfrm>
          <a:prstGeom prst="rect">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4773168"/>
            <a:ext cx="11057839" cy="566928"/>
          </a:xfrm>
          <a:prstGeom prst="rect">
            <a:avLst/>
          </a:prstGeom>
          <a:noFill/>
        </p:spPr>
        <p:txBody>
          <a:bodyPr wrap="square" lIns="0" tIns="0" rIns="0" bIns="0" anchor="t">
            <a:spAutoFit/>
          </a:bodyPr>
          <a:lstStyle/>
          <a:p>
            <a:pPr algn="ctr">
              <a:lnSpc>
                <a:spcPct val="95000"/>
              </a:lnSpc>
              <a:spcAft>
                <a:spcPts val="0"/>
              </a:spcAft>
            </a:pPr>
            <a:r>
              <a:rPr sz="3600" b="0" i="0" u="sng">
                <a:solidFill>
                  <a:srgbClr val="FFFFFF"/>
                </a:solidFill>
                <a:latin typeface="Garamond"/>
              </a:rPr>
              <a:t>French swap spreads</a:t>
            </a:r>
          </a:p>
        </p:txBody>
      </p:sp>
      <p:sp>
        <p:nvSpPr>
          <p:cNvPr id="6" name="TextBox 5"/>
          <p:cNvSpPr txBox="1"/>
          <p:nvPr/>
        </p:nvSpPr>
        <p:spPr>
          <a:xfrm>
            <a:off x="566928" y="5358384"/>
            <a:ext cx="11057839" cy="365760"/>
          </a:xfrm>
          <a:prstGeom prst="rect">
            <a:avLst/>
          </a:prstGeom>
          <a:noFill/>
        </p:spPr>
        <p:txBody>
          <a:bodyPr wrap="square" lIns="0" tIns="0" rIns="0" bIns="0" anchor="t">
            <a:spAutoFit/>
          </a:bodyPr>
          <a:lstStyle/>
          <a:p>
            <a:pPr algn="ctr">
              <a:lnSpc>
                <a:spcPct val="95000"/>
              </a:lnSpc>
              <a:spcAft>
                <a:spcPts val="0"/>
              </a:spcAft>
            </a:pPr>
            <a:r>
              <a:rPr sz="1800" b="0" i="0" u="none">
                <a:solidFill>
                  <a:srgbClr val="FFFFFF"/>
                </a:solidFill>
                <a:latin typeface="Garamond"/>
              </a:rPr>
              <a:t>5-year OAT swap spread with non-recourse financing</a:t>
            </a:r>
          </a:p>
        </p:txBody>
      </p:sp>
      <p:sp>
        <p:nvSpPr>
          <p:cNvPr id="7" name="TextBox 6"/>
          <p:cNvSpPr txBox="1"/>
          <p:nvPr/>
        </p:nvSpPr>
        <p:spPr>
          <a:xfrm>
            <a:off x="566928" y="5760720"/>
            <a:ext cx="11057839" cy="365760"/>
          </a:xfrm>
          <a:prstGeom prst="rect">
            <a:avLst/>
          </a:prstGeom>
          <a:noFill/>
        </p:spPr>
        <p:txBody>
          <a:bodyPr wrap="square" lIns="0" tIns="0" rIns="0" bIns="0" anchor="t">
            <a:spAutoFit/>
          </a:bodyPr>
          <a:lstStyle/>
          <a:p>
            <a:pPr algn="ctr">
              <a:lnSpc>
                <a:spcPct val="95000"/>
              </a:lnSpc>
              <a:spcAft>
                <a:spcPts val="0"/>
              </a:spcAft>
            </a:pPr>
            <a:r>
              <a:rPr sz="2000" b="0" i="0" u="sng">
                <a:solidFill>
                  <a:srgbClr val="FFFFFF"/>
                </a:solidFill>
                <a:latin typeface="Garamond"/>
              </a:rPr>
              <a:t>October 2026</a:t>
            </a:r>
          </a:p>
        </p:txBody>
      </p:sp>
      <p:sp>
        <p:nvSpPr>
          <p:cNvPr id="8" name="TextBox 7"/>
          <p:cNvSpPr txBox="1"/>
          <p:nvPr/>
        </p:nvSpPr>
        <p:spPr>
          <a:xfrm>
            <a:off x="566928" y="6199632"/>
            <a:ext cx="11057839" cy="566928"/>
          </a:xfrm>
          <a:prstGeom prst="rect">
            <a:avLst/>
          </a:prstGeom>
          <a:noFill/>
        </p:spPr>
        <p:txBody>
          <a:bodyPr wrap="square" lIns="0" tIns="0" rIns="0" bIns="0" anchor="t">
            <a:spAutoFit/>
          </a:bodyPr>
          <a:lstStyle/>
          <a:p>
            <a:pPr algn="ctr">
              <a:lnSpc>
                <a:spcPct val="100000"/>
              </a:lnSpc>
              <a:spcAft>
                <a:spcPts val="0"/>
              </a:spcAft>
            </a:pPr>
            <a:r>
              <a:rPr sz="1100" b="0" i="0" u="none">
                <a:solidFill>
                  <a:srgbClr val="FFFFFF"/>
                </a:solidFill>
                <a:latin typeface="Garamond"/>
              </a:rPr>
              <a:t>CONFIDENTIAL AND PROPRIETARY — FOR DISCUSSION ONLY</a:t>
            </a:r>
          </a:p>
          <a:p>
            <a:pPr algn="ctr">
              <a:lnSpc>
                <a:spcPct val="100000"/>
              </a:lnSpc>
              <a:spcAft>
                <a:spcPts val="0"/>
              </a:spcAft>
            </a:pPr>
            <a:r>
              <a:rPr sz="1100" b="0" i="0" u="none">
                <a:solidFill>
                  <a:srgbClr val="FFFFFF"/>
                </a:solidFill>
                <a:latin typeface="Garamond"/>
              </a:rPr>
              <a:t>This presentation contains confidential information and is intended solely for the use of the named recipient(s). Returns shown are scenario illustrations, gross of fees. Please read the important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Disclaimer</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2</a:t>
            </a:r>
          </a:p>
        </p:txBody>
      </p:sp>
      <p:sp>
        <p:nvSpPr>
          <p:cNvPr id="5" name="TextBox 4"/>
          <p:cNvSpPr txBox="1"/>
          <p:nvPr/>
        </p:nvSpPr>
        <p:spPr>
          <a:xfrm>
            <a:off x="566928" y="1664207"/>
            <a:ext cx="11057839" cy="4206240"/>
          </a:xfrm>
          <a:prstGeom prst="rect">
            <a:avLst/>
          </a:prstGeom>
          <a:noFill/>
        </p:spPr>
        <p:txBody>
          <a:bodyPr wrap="square" lIns="0" tIns="0" rIns="0" bIns="0" anchor="t">
            <a:spAutoFit/>
          </a:bodyPr>
          <a:lstStyle/>
          <a:p>
            <a:pPr algn="l">
              <a:lnSpc>
                <a:spcPct val="100000"/>
              </a:lnSpc>
              <a:spcAft>
                <a:spcPts val="300"/>
              </a:spcAft>
            </a:pPr>
            <a:r>
              <a:rPr sz="1350" b="1" i="0" u="none">
                <a:solidFill>
                  <a:srgbClr val="011C40"/>
                </a:solidFill>
                <a:latin typeface="Garamond"/>
              </a:rPr>
              <a:t>No offer or solicitation</a:t>
            </a:r>
          </a:p>
          <a:p>
            <a:pPr algn="l">
              <a:lnSpc>
                <a:spcPct val="120000"/>
              </a:lnSpc>
              <a:spcAft>
                <a:spcPts val="1100"/>
              </a:spcAft>
            </a:pPr>
            <a:r>
              <a:rPr sz="1200" b="0" i="0" u="none">
                <a:solidFill>
                  <a:srgbClr val="5A6172"/>
                </a:solidFill>
                <a:latin typeface="Garamond"/>
              </a:rPr>
              <a:t>Nothing herein constitutes or should be construed as an offering of securities or a recommendation to purchase or sell securities or commodity interests. If an offer of securities were to be made in the future, it must be made only through a confidential private placement memorandum (“PPM”) and related subscription documents.</a:t>
            </a:r>
          </a:p>
          <a:p>
            <a:pPr algn="l">
              <a:lnSpc>
                <a:spcPct val="100000"/>
              </a:lnSpc>
              <a:spcAft>
                <a:spcPts val="300"/>
              </a:spcAft>
            </a:pPr>
            <a:r>
              <a:rPr sz="1350" b="1" i="0" u="none">
                <a:solidFill>
                  <a:srgbClr val="011C40"/>
                </a:solidFill>
                <a:latin typeface="Garamond"/>
              </a:rPr>
              <a:t>Eligibility requirements</a:t>
            </a:r>
          </a:p>
          <a:p>
            <a:pPr algn="l">
              <a:lnSpc>
                <a:spcPct val="120000"/>
              </a:lnSpc>
              <a:spcAft>
                <a:spcPts val="1100"/>
              </a:spcAft>
            </a:pPr>
            <a:r>
              <a:rPr sz="1200" b="0" i="0" u="none">
                <a:solidFill>
                  <a:srgbClr val="5A6172"/>
                </a:solidFill>
                <a:latin typeface="Garamond"/>
              </a:rPr>
              <a:t>Potential investors must meet the eligibility requirements set forth in the PPM. The information contained herein is for informational and discussion purposes only, reflects the opinions of the author and no other person, and to the extent factual is accurate only as the date hereof. Liminality Capital does not undertake to update any information that subsequently becomes inaccurate. Past performance is no guarantee of future results.</a:t>
            </a:r>
          </a:p>
          <a:p>
            <a:pPr algn="l">
              <a:lnSpc>
                <a:spcPct val="100000"/>
              </a:lnSpc>
              <a:spcAft>
                <a:spcPts val="300"/>
              </a:spcAft>
            </a:pPr>
            <a:r>
              <a:rPr sz="1350" b="1" i="0" u="none">
                <a:solidFill>
                  <a:srgbClr val="011C40"/>
                </a:solidFill>
                <a:latin typeface="Garamond"/>
              </a:rPr>
              <a:t>Not advice</a:t>
            </a:r>
          </a:p>
          <a:p>
            <a:pPr algn="l">
              <a:lnSpc>
                <a:spcPct val="120000"/>
              </a:lnSpc>
              <a:spcAft>
                <a:spcPts val="1100"/>
              </a:spcAft>
            </a:pPr>
            <a:r>
              <a:rPr sz="1200" b="0" i="0" u="none">
                <a:solidFill>
                  <a:srgbClr val="5A6172"/>
                </a:solidFill>
                <a:latin typeface="Garamond"/>
              </a:rPr>
              <a:t>This material is intended for informational purposes only and should not be construed as legal or tax advice, nor is it intended to replace the advice of a qualified attorney or tax advisor. The recipient should conduct his or her own analysis and consult with professional advisors prior to making any investment decisions.</a:t>
            </a:r>
          </a:p>
          <a:p>
            <a:pPr algn="l">
              <a:lnSpc>
                <a:spcPct val="100000"/>
              </a:lnSpc>
              <a:spcAft>
                <a:spcPts val="300"/>
              </a:spcAft>
            </a:pPr>
            <a:r>
              <a:rPr sz="1350" b="1" i="0" u="none">
                <a:solidFill>
                  <a:srgbClr val="011C40"/>
                </a:solidFill>
                <a:latin typeface="Garamond"/>
              </a:rPr>
              <a:t>Hypothetical Performance Results</a:t>
            </a:r>
          </a:p>
          <a:p>
            <a:pPr algn="l">
              <a:lnSpc>
                <a:spcPct val="120000"/>
              </a:lnSpc>
              <a:spcAft>
                <a:spcPts val="1100"/>
              </a:spcAft>
            </a:pPr>
            <a:r>
              <a:rPr sz="1200" b="0" i="0" u="none">
                <a:solidFill>
                  <a:srgbClr val="5A6172"/>
                </a:solidFill>
                <a:latin typeface="Garamond"/>
              </a:rPr>
              <a:t>Hypothetical performance results in this presentation have certain inherent limitations. Unlike the results shown in an actual performance record, these results do not represent the weighting of the portfolio as actually traded. No representation is being made that any future investment will or is likely to achieve outcomes or profits or losses similar to these being shown. The hypothetical performance results are gross and do not factor in any expenses (fund or otherwise), investment management fees or performance allocations – net performance results will be lower.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Liminality Capital</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3</a:t>
            </a:r>
          </a:p>
        </p:txBody>
      </p:sp>
      <p:sp>
        <p:nvSpPr>
          <p:cNvPr id="5" name="TextBox 4"/>
          <p:cNvSpPr txBox="1"/>
          <p:nvPr/>
        </p:nvSpPr>
        <p:spPr>
          <a:xfrm>
            <a:off x="566928" y="1755648"/>
            <a:ext cx="6675120" cy="1186220"/>
          </a:xfrm>
          <a:prstGeom prst="rect">
            <a:avLst/>
          </a:prstGeom>
          <a:noFill/>
        </p:spPr>
        <p:txBody>
          <a:bodyPr wrap="square" lIns="0" tIns="0" rIns="0" bIns="0" anchor="t">
            <a:spAutoFit/>
          </a:bodyPr>
          <a:lstStyle/>
          <a:p>
            <a:pPr algn="l">
              <a:lnSpc>
                <a:spcPct val="132000"/>
              </a:lnSpc>
              <a:spcAft>
                <a:spcPts val="0"/>
              </a:spcAft>
            </a:pPr>
            <a:r>
              <a:rPr sz="1450" b="0" i="0" u="none">
                <a:solidFill>
                  <a:srgbClr val="5A6172"/>
                </a:solidFill>
                <a:latin typeface="Garamond"/>
              </a:rPr>
              <a:t>Established in 2018, Liminality Capital LP is a private investment firm based in Boston, MA. The firm is registered as a Commodity Pool Operator and Commodity Trading Advisor with the Commodity Futures Trading Commission and is a National Futures Association member.</a:t>
            </a:r>
          </a:p>
        </p:txBody>
      </p:sp>
      <p:sp>
        <p:nvSpPr>
          <p:cNvPr id="6" name="TextBox 5"/>
          <p:cNvSpPr txBox="1"/>
          <p:nvPr/>
        </p:nvSpPr>
        <p:spPr>
          <a:xfrm>
            <a:off x="566928" y="3179612"/>
            <a:ext cx="6675120" cy="1186220"/>
          </a:xfrm>
          <a:prstGeom prst="rect">
            <a:avLst/>
          </a:prstGeom>
          <a:noFill/>
        </p:spPr>
        <p:txBody>
          <a:bodyPr wrap="square" lIns="0" tIns="0" rIns="0" bIns="0" anchor="t">
            <a:spAutoFit/>
          </a:bodyPr>
          <a:lstStyle/>
          <a:p>
            <a:pPr algn="l">
              <a:lnSpc>
                <a:spcPct val="132000"/>
              </a:lnSpc>
              <a:spcAft>
                <a:spcPts val="0"/>
              </a:spcAft>
            </a:pPr>
            <a:r>
              <a:rPr sz="1450" b="0" i="0" u="none">
                <a:solidFill>
                  <a:srgbClr val="5A6172"/>
                </a:solidFill>
                <a:latin typeface="Garamond"/>
              </a:rPr>
              <a:t>The firm’s primary investment vehicle, Liminality Partners LP, launched on June 1, 2019. Potential opportunities are drawn from a wide variety of asset classes, geographies, financial instruments and securities types, but with a particular focus on identifying price dislocations within derivatives markets to deliver asymmetric returns.</a:t>
            </a:r>
          </a:p>
        </p:txBody>
      </p:sp>
      <p:sp>
        <p:nvSpPr>
          <p:cNvPr id="7" name="Rounded Rectangle 6"/>
          <p:cNvSpPr/>
          <p:nvPr/>
        </p:nvSpPr>
        <p:spPr>
          <a:xfrm>
            <a:off x="7498079" y="1755648"/>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19" y="1940540"/>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2018</a:t>
            </a:r>
          </a:p>
        </p:txBody>
      </p:sp>
      <p:sp>
        <p:nvSpPr>
          <p:cNvPr id="9" name="TextBox 8"/>
          <p:cNvSpPr txBox="1"/>
          <p:nvPr/>
        </p:nvSpPr>
        <p:spPr>
          <a:xfrm>
            <a:off x="7589519" y="2414682"/>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Firm established</a:t>
            </a:r>
          </a:p>
        </p:txBody>
      </p:sp>
      <p:sp>
        <p:nvSpPr>
          <p:cNvPr id="10" name="Rounded Rectangle 9"/>
          <p:cNvSpPr/>
          <p:nvPr/>
        </p:nvSpPr>
        <p:spPr>
          <a:xfrm>
            <a:off x="7498079" y="2889503"/>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19" y="3074396"/>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Boston, MA</a:t>
            </a:r>
          </a:p>
        </p:txBody>
      </p:sp>
      <p:sp>
        <p:nvSpPr>
          <p:cNvPr id="12" name="TextBox 11"/>
          <p:cNvSpPr txBox="1"/>
          <p:nvPr/>
        </p:nvSpPr>
        <p:spPr>
          <a:xfrm>
            <a:off x="7589519" y="3548538"/>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Headquarters</a:t>
            </a:r>
          </a:p>
        </p:txBody>
      </p:sp>
      <p:sp>
        <p:nvSpPr>
          <p:cNvPr id="13" name="Rounded Rectangle 12"/>
          <p:cNvSpPr/>
          <p:nvPr/>
        </p:nvSpPr>
        <p:spPr>
          <a:xfrm>
            <a:off x="7498079" y="4023360"/>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19" y="4208252"/>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CPO / CTA</a:t>
            </a:r>
          </a:p>
        </p:txBody>
      </p:sp>
      <p:sp>
        <p:nvSpPr>
          <p:cNvPr id="15" name="TextBox 14"/>
          <p:cNvSpPr txBox="1"/>
          <p:nvPr/>
        </p:nvSpPr>
        <p:spPr>
          <a:xfrm>
            <a:off x="7589519" y="4682394"/>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Registered with the CFTC; NFA member</a:t>
            </a:r>
          </a:p>
        </p:txBody>
      </p:sp>
      <p:sp>
        <p:nvSpPr>
          <p:cNvPr id="16" name="Rounded Rectangle 15"/>
          <p:cNvSpPr/>
          <p:nvPr/>
        </p:nvSpPr>
        <p:spPr>
          <a:xfrm>
            <a:off x="7498079" y="5157216"/>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19" y="5342108"/>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June 2019</a:t>
            </a:r>
          </a:p>
        </p:txBody>
      </p:sp>
      <p:sp>
        <p:nvSpPr>
          <p:cNvPr id="18" name="TextBox 17"/>
          <p:cNvSpPr txBox="1"/>
          <p:nvPr/>
        </p:nvSpPr>
        <p:spPr>
          <a:xfrm>
            <a:off x="7589519" y="5816250"/>
            <a:ext cx="3941063" cy="161912"/>
          </a:xfrm>
          <a:prstGeom prst="rect">
            <a:avLst/>
          </a:prstGeom>
          <a:noFill/>
        </p:spPr>
        <p:txBody>
          <a:bodyPr wrap="square" lIns="0" tIns="0" rIns="0" bIns="0" anchor="t">
            <a:spAutoFit/>
          </a:bodyPr>
          <a:lstStyle/>
          <a:p>
            <a:pPr algn="ctr">
              <a:lnSpc>
                <a:spcPct val="95000"/>
              </a:lnSpc>
              <a:spcAft>
                <a:spcPts val="0"/>
              </a:spcAft>
            </a:pPr>
            <a:r>
              <a:rPr sz="1100" b="0" i="0" u="none">
                <a:solidFill>
                  <a:srgbClr val="5A6172"/>
                </a:solidFill>
                <a:latin typeface="Garamond"/>
              </a:rPr>
              <a:t>First fund launched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Executive summary: the French swap spread opportunity</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4</a:t>
            </a:r>
          </a:p>
        </p:txBody>
      </p:sp>
      <p:sp>
        <p:nvSpPr>
          <p:cNvPr id="5" name="TextBox 4"/>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Buy the French bond–swap spread, financed for 4.4 years with non-recourse leverage</a:t>
            </a:r>
          </a:p>
        </p:txBody>
      </p:sp>
      <p:sp>
        <p:nvSpPr>
          <p:cNvPr id="6" name="TextBox 5"/>
          <p:cNvSpPr txBox="1"/>
          <p:nvPr/>
        </p:nvSpPr>
        <p:spPr>
          <a:xfrm>
            <a:off x="566928" y="1847088"/>
            <a:ext cx="274320" cy="918484"/>
          </a:xfrm>
          <a:prstGeom prst="rect">
            <a:avLst/>
          </a:prstGeom>
          <a:noFill/>
        </p:spPr>
        <p:txBody>
          <a:bodyPr wrap="square" lIns="0" tIns="0" rIns="0" bIns="0" anchor="t">
            <a:spAutoFit/>
          </a:bodyPr>
          <a:lstStyle/>
          <a:p>
            <a:pPr algn="l">
              <a:lnSpc>
                <a:spcPct val="114000"/>
              </a:lnSpc>
              <a:spcAft>
                <a:spcPts val="0"/>
              </a:spcAft>
            </a:pPr>
            <a:r>
              <a:rPr sz="1500" b="1" i="0" u="none">
                <a:solidFill>
                  <a:srgbClr val="011C40"/>
                </a:solidFill>
                <a:latin typeface="Garamond"/>
              </a:rPr>
              <a:t>1.</a:t>
            </a:r>
          </a:p>
        </p:txBody>
      </p:sp>
      <p:sp>
        <p:nvSpPr>
          <p:cNvPr id="7" name="TextBox 6"/>
          <p:cNvSpPr txBox="1"/>
          <p:nvPr/>
        </p:nvSpPr>
        <p:spPr>
          <a:xfrm>
            <a:off x="914400" y="1847088"/>
            <a:ext cx="6419088" cy="674031"/>
          </a:xfrm>
          <a:prstGeom prst="rect">
            <a:avLst/>
          </a:prstGeom>
          <a:noFill/>
        </p:spPr>
        <p:txBody>
          <a:bodyPr wrap="square" lIns="0" tIns="0" rIns="0" bIns="0" anchor="t">
            <a:spAutoFit/>
          </a:bodyPr>
          <a:lstStyle/>
          <a:p>
            <a:pPr algn="l">
              <a:lnSpc>
                <a:spcPct val="114000"/>
              </a:lnSpc>
              <a:spcAft>
                <a:spcPts val="0"/>
              </a:spcAft>
            </a:pPr>
            <a:r>
              <a:rPr sz="1500" b="1" i="0" u="none">
                <a:solidFill>
                  <a:srgbClr val="011C40"/>
                </a:solidFill>
                <a:latin typeface="Garamond"/>
              </a:rPr>
              <a:t>Dislocation</a:t>
            </a:r>
          </a:p>
          <a:p>
            <a:pPr marL="171450" indent="-171450" algn="l">
              <a:lnSpc>
                <a:spcPct val="114000"/>
              </a:lnSpc>
              <a:spcAft>
                <a:spcPts val="0"/>
              </a:spcAft>
              <a:buFont typeface="Arial"/>
              <a:buChar char="•"/>
            </a:pPr>
            <a:r>
              <a:rPr sz="1500" b="0">
                <a:solidFill>
                  <a:srgbClr val="011C40"/>
                </a:solidFill>
                <a:latin typeface="Garamond"/>
              </a:rPr>
              <a:t>OATs have cheapened sharply against swaps in recent weeks.</a:t>
            </a:r>
          </a:p>
          <a:p>
            <a:pPr marL="171450" indent="-171450" algn="l">
              <a:lnSpc>
                <a:spcPct val="114000"/>
              </a:lnSpc>
              <a:spcAft>
                <a:spcPts val="0"/>
              </a:spcAft>
              <a:buFont typeface="Arial"/>
              <a:buChar char="•"/>
            </a:pPr>
            <a:r>
              <a:rPr sz="1500" b="0">
                <a:solidFill>
                  <a:srgbClr val="011C40"/>
                </a:solidFill>
                <a:latin typeface="Garamond"/>
              </a:rPr>
              <a:t>Drivers: budget fights and the April 2027 election.</a:t>
            </a:r>
          </a:p>
        </p:txBody>
      </p:sp>
      <p:sp>
        <p:nvSpPr>
          <p:cNvPr id="8" name="TextBox 7"/>
          <p:cNvSpPr txBox="1"/>
          <p:nvPr/>
        </p:nvSpPr>
        <p:spPr>
          <a:xfrm>
            <a:off x="566928" y="2917972"/>
            <a:ext cx="274320" cy="918484"/>
          </a:xfrm>
          <a:prstGeom prst="rect">
            <a:avLst/>
          </a:prstGeom>
          <a:noFill/>
        </p:spPr>
        <p:txBody>
          <a:bodyPr wrap="square" lIns="0" tIns="0" rIns="0" bIns="0" anchor="t">
            <a:spAutoFit/>
          </a:bodyPr>
          <a:lstStyle/>
          <a:p>
            <a:pPr algn="l">
              <a:lnSpc>
                <a:spcPct val="114000"/>
              </a:lnSpc>
              <a:spcAft>
                <a:spcPts val="0"/>
              </a:spcAft>
            </a:pPr>
            <a:r>
              <a:rPr sz="1500" b="1" i="0" u="none">
                <a:solidFill>
                  <a:srgbClr val="011C40"/>
                </a:solidFill>
                <a:latin typeface="Garamond"/>
              </a:rPr>
              <a:t>2.</a:t>
            </a:r>
          </a:p>
        </p:txBody>
      </p:sp>
      <p:sp>
        <p:nvSpPr>
          <p:cNvPr id="9" name="TextBox 8"/>
          <p:cNvSpPr txBox="1"/>
          <p:nvPr/>
        </p:nvSpPr>
        <p:spPr>
          <a:xfrm>
            <a:off x="914400" y="2917972"/>
            <a:ext cx="6419088" cy="674031"/>
          </a:xfrm>
          <a:prstGeom prst="rect">
            <a:avLst/>
          </a:prstGeom>
          <a:noFill/>
        </p:spPr>
        <p:txBody>
          <a:bodyPr wrap="square" lIns="0" tIns="0" rIns="0" bIns="0" anchor="t">
            <a:spAutoFit/>
          </a:bodyPr>
          <a:lstStyle/>
          <a:p>
            <a:pPr algn="l">
              <a:lnSpc>
                <a:spcPct val="114000"/>
              </a:lnSpc>
              <a:spcAft>
                <a:spcPts val="0"/>
              </a:spcAft>
            </a:pPr>
            <a:r>
              <a:rPr sz="1500" b="1" i="0" u="none">
                <a:solidFill>
                  <a:srgbClr val="011C40"/>
                </a:solidFill>
                <a:latin typeface="Garamond"/>
              </a:rPr>
              <a:t>Non-recourse financing</a:t>
            </a:r>
          </a:p>
          <a:p>
            <a:pPr marL="171450" indent="-171450" algn="l">
              <a:lnSpc>
                <a:spcPct val="114000"/>
              </a:lnSpc>
              <a:spcAft>
                <a:spcPts val="0"/>
              </a:spcAft>
              <a:buFont typeface="Arial"/>
              <a:buChar char="•"/>
            </a:pPr>
            <a:r>
              <a:rPr sz="1500" b="0">
                <a:solidFill>
                  <a:srgbClr val="011C40"/>
                </a:solidFill>
                <a:latin typeface="Garamond"/>
              </a:rPr>
              <a:t>Financed 4.4 years at €STR + 17bp, non-recourse.</a:t>
            </a:r>
          </a:p>
          <a:p>
            <a:pPr marL="171450" indent="-171450" algn="l">
              <a:lnSpc>
                <a:spcPct val="114000"/>
              </a:lnSpc>
              <a:spcAft>
                <a:spcPts val="0"/>
              </a:spcAft>
              <a:buFont typeface="Arial"/>
              <a:buChar char="•"/>
            </a:pPr>
            <a:r>
              <a:rPr sz="1500" b="0">
                <a:solidFill>
                  <a:srgbClr val="011C40"/>
                </a:solidFill>
                <a:latin typeface="Garamond"/>
              </a:rPr>
              <a:t>Floor sits only 30bp out of the money.</a:t>
            </a:r>
          </a:p>
        </p:txBody>
      </p:sp>
      <p:sp>
        <p:nvSpPr>
          <p:cNvPr id="10" name="TextBox 9"/>
          <p:cNvSpPr txBox="1"/>
          <p:nvPr/>
        </p:nvSpPr>
        <p:spPr>
          <a:xfrm>
            <a:off x="566928" y="3988856"/>
            <a:ext cx="274320" cy="1377726"/>
          </a:xfrm>
          <a:prstGeom prst="rect">
            <a:avLst/>
          </a:prstGeom>
          <a:noFill/>
        </p:spPr>
        <p:txBody>
          <a:bodyPr wrap="square" lIns="0" tIns="0" rIns="0" bIns="0" anchor="t">
            <a:spAutoFit/>
          </a:bodyPr>
          <a:lstStyle/>
          <a:p>
            <a:pPr algn="l">
              <a:lnSpc>
                <a:spcPct val="114000"/>
              </a:lnSpc>
              <a:spcAft>
                <a:spcPts val="0"/>
              </a:spcAft>
            </a:pPr>
            <a:r>
              <a:rPr sz="1500" b="1" i="0" u="none">
                <a:solidFill>
                  <a:srgbClr val="011C40"/>
                </a:solidFill>
                <a:latin typeface="Garamond"/>
              </a:rPr>
              <a:t>3.</a:t>
            </a:r>
          </a:p>
        </p:txBody>
      </p:sp>
      <p:sp>
        <p:nvSpPr>
          <p:cNvPr id="11" name="TextBox 10"/>
          <p:cNvSpPr txBox="1"/>
          <p:nvPr/>
        </p:nvSpPr>
        <p:spPr>
          <a:xfrm>
            <a:off x="914400" y="3988856"/>
            <a:ext cx="6419088" cy="1130181"/>
          </a:xfrm>
          <a:prstGeom prst="rect">
            <a:avLst/>
          </a:prstGeom>
          <a:noFill/>
        </p:spPr>
        <p:txBody>
          <a:bodyPr wrap="square" lIns="0" tIns="0" rIns="0" bIns="0" anchor="t">
            <a:spAutoFit/>
          </a:bodyPr>
          <a:lstStyle/>
          <a:p>
            <a:pPr algn="l">
              <a:lnSpc>
                <a:spcPct val="114000"/>
              </a:lnSpc>
              <a:spcAft>
                <a:spcPts val="0"/>
              </a:spcAft>
            </a:pPr>
            <a:r>
              <a:rPr sz="1500" b="1" i="0" u="none">
                <a:solidFill>
                  <a:srgbClr val="011C40"/>
                </a:solidFill>
                <a:latin typeface="Garamond"/>
              </a:rPr>
              <a:t>Asymmetry and pull to par</a:t>
            </a:r>
          </a:p>
          <a:p>
            <a:pPr marL="171450" indent="-171450" algn="l">
              <a:lnSpc>
                <a:spcPct val="114000"/>
              </a:lnSpc>
              <a:spcAft>
                <a:spcPts val="0"/>
              </a:spcAft>
              <a:buFont typeface="Arial"/>
              <a:buChar char="•"/>
            </a:pPr>
            <a:r>
              <a:rPr sz="1500" b="0">
                <a:solidFill>
                  <a:srgbClr val="011C40"/>
                </a:solidFill>
                <a:latin typeface="Garamond"/>
              </a:rPr>
              <a:t>The bond rolls to the 1-year point, where spreads stay anchored.</a:t>
            </a:r>
          </a:p>
          <a:p>
            <a:pPr marL="171450" indent="-171450" algn="l">
              <a:lnSpc>
                <a:spcPct val="114000"/>
              </a:lnSpc>
              <a:spcAft>
                <a:spcPts val="0"/>
              </a:spcAft>
              <a:buFont typeface="Arial"/>
              <a:buChar char="•"/>
            </a:pPr>
            <a:r>
              <a:rPr sz="1500" b="0">
                <a:solidFill>
                  <a:srgbClr val="011C40"/>
                </a:solidFill>
                <a:latin typeface="Garamond"/>
              </a:rPr>
              <a:t>If nothing changes, the roll returns 42% a year (4.8x).</a:t>
            </a:r>
          </a:p>
          <a:p>
            <a:pPr marL="171450" indent="-171450" algn="l">
              <a:lnSpc>
                <a:spcPct val="114000"/>
              </a:lnSpc>
              <a:spcAft>
                <a:spcPts val="0"/>
              </a:spcAft>
              <a:buFont typeface="Arial"/>
              <a:buChar char="•"/>
            </a:pPr>
            <a:r>
              <a:rPr sz="1500" b="0">
                <a:solidFill>
                  <a:srgbClr val="011C40"/>
                </a:solidFill>
                <a:latin typeface="Garamond"/>
              </a:rPr>
              <a:t>Break-even: 1-year spread at −445bp or higher at expiry.</a:t>
            </a:r>
          </a:p>
          <a:p>
            <a:pPr marL="171450" indent="-171450" algn="l">
              <a:lnSpc>
                <a:spcPct val="114000"/>
              </a:lnSpc>
              <a:spcAft>
                <a:spcPts val="0"/>
              </a:spcAft>
              <a:buFont typeface="Arial"/>
              <a:buChar char="•"/>
            </a:pPr>
            <a:r>
              <a:rPr sz="1500" b="0">
                <a:solidFill>
                  <a:srgbClr val="011C40"/>
                </a:solidFill>
                <a:latin typeface="Garamond"/>
              </a:rPr>
              <a:t>Spain never breached that; Italy only briefly, in Nov 2011.</a:t>
            </a:r>
          </a:p>
        </p:txBody>
      </p:sp>
      <p:sp>
        <p:nvSpPr>
          <p:cNvPr id="12" name="Rounded Rectangle 11"/>
          <p:cNvSpPr/>
          <p:nvPr/>
        </p:nvSpPr>
        <p:spPr>
          <a:xfrm>
            <a:off x="7680960" y="1847088"/>
            <a:ext cx="3941063" cy="35204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82128" y="2011680"/>
            <a:ext cx="3538727" cy="2946961"/>
          </a:xfrm>
          <a:prstGeom prst="rect">
            <a:avLst/>
          </a:prstGeom>
          <a:noFill/>
        </p:spPr>
        <p:txBody>
          <a:bodyPr wrap="square" lIns="0" tIns="0" rIns="0" bIns="0" anchor="t">
            <a:spAutoFit/>
          </a:bodyPr>
          <a:lstStyle/>
          <a:p>
            <a:pPr algn="l">
              <a:lnSpc>
                <a:spcPct val="100000"/>
              </a:lnSpc>
              <a:spcAft>
                <a:spcPts val="400"/>
              </a:spcAft>
            </a:pPr>
            <a:r>
              <a:rPr lang="en-US" sz="1600" b="1" i="0" u="none" dirty="0">
                <a:solidFill>
                  <a:srgbClr val="011C40"/>
                </a:solidFill>
                <a:latin typeface="Garamond"/>
              </a:rPr>
              <a:t>The trade</a:t>
            </a:r>
          </a:p>
          <a:p>
            <a:pPr algn="l">
              <a:lnSpc>
                <a:spcPct val="100000"/>
              </a:lnSpc>
              <a:spcAft>
                <a:spcPts val="1200"/>
              </a:spcAft>
            </a:pPr>
            <a:r>
              <a:rPr lang="en-US" sz="1350" b="0" i="1" u="none" dirty="0">
                <a:solidFill>
                  <a:srgbClr val="011C40"/>
                </a:solidFill>
                <a:latin typeface="Garamond"/>
              </a:rPr>
              <a:t>Long 5.4y France vs. Euribor, non-recourse</a:t>
            </a:r>
          </a:p>
          <a:p>
            <a:pPr marL="868680" indent="-868680" algn="l">
              <a:lnSpc>
                <a:spcPct val="100000"/>
              </a:lnSpc>
              <a:spcAft>
                <a:spcPts val="900"/>
              </a:spcAft>
              <a:tabLst>
                <a:tab pos="868680" algn="l"/>
              </a:tabLst>
            </a:pPr>
            <a:r>
              <a:rPr lang="en-US" sz="1350" b="1" i="0" u="none" dirty="0">
                <a:solidFill>
                  <a:srgbClr val="011C40"/>
                </a:solidFill>
                <a:latin typeface="Garamond"/>
              </a:rPr>
              <a:t>Bond</a:t>
            </a:r>
            <a:r>
              <a:rPr lang="en-US" sz="1350" b="0" i="0" u="none" dirty="0">
                <a:solidFill>
                  <a:srgbClr val="011C40"/>
                </a:solidFill>
                <a:latin typeface="Garamond"/>
              </a:rPr>
              <a:t>	FRTR 3¼ 2/32 at 94.91</a:t>
            </a:r>
          </a:p>
          <a:p>
            <a:pPr marL="868680" indent="-868680" algn="l">
              <a:lnSpc>
                <a:spcPct val="100000"/>
              </a:lnSpc>
              <a:spcAft>
                <a:spcPts val="900"/>
              </a:spcAft>
              <a:tabLst>
                <a:tab pos="868680" algn="l"/>
              </a:tabLst>
            </a:pPr>
            <a:r>
              <a:rPr lang="en-US" sz="1350" b="1" i="0" u="none" dirty="0">
                <a:solidFill>
                  <a:srgbClr val="011C40"/>
                </a:solidFill>
                <a:latin typeface="Garamond"/>
              </a:rPr>
              <a:t>Swap</a:t>
            </a:r>
            <a:r>
              <a:rPr lang="en-US" sz="1350" b="0" i="0" u="none" dirty="0">
                <a:solidFill>
                  <a:srgbClr val="011C40"/>
                </a:solidFill>
                <a:latin typeface="Garamond"/>
              </a:rPr>
              <a:t>	Pay fixed vs. 6m Euribor, DV01-neutral</a:t>
            </a:r>
          </a:p>
          <a:p>
            <a:pPr marL="868680" indent="-868680" algn="l">
              <a:lnSpc>
                <a:spcPct val="100000"/>
              </a:lnSpc>
              <a:spcAft>
                <a:spcPts val="900"/>
              </a:spcAft>
              <a:tabLst>
                <a:tab pos="868680" algn="l"/>
              </a:tabLst>
            </a:pPr>
            <a:r>
              <a:rPr lang="en-US" sz="1350" b="1" i="0" u="none" dirty="0">
                <a:solidFill>
                  <a:srgbClr val="011C40"/>
                </a:solidFill>
                <a:latin typeface="Garamond"/>
              </a:rPr>
              <a:t>Spread</a:t>
            </a:r>
            <a:r>
              <a:rPr lang="en-US" sz="1350" b="0" i="0" u="none" dirty="0">
                <a:solidFill>
                  <a:srgbClr val="011C40"/>
                </a:solidFill>
                <a:latin typeface="Garamond"/>
              </a:rPr>
              <a:t>	−83bp, cheapest since 2010</a:t>
            </a:r>
          </a:p>
          <a:p>
            <a:pPr marL="868680" indent="-868680" algn="l">
              <a:lnSpc>
                <a:spcPct val="100000"/>
              </a:lnSpc>
              <a:spcAft>
                <a:spcPts val="1200"/>
              </a:spcAft>
              <a:tabLst>
                <a:tab pos="868680" algn="l"/>
              </a:tabLst>
            </a:pPr>
            <a:r>
              <a:rPr lang="en-US" sz="1350" b="1" i="0" u="none" dirty="0">
                <a:solidFill>
                  <a:srgbClr val="011C40"/>
                </a:solidFill>
                <a:latin typeface="Garamond"/>
              </a:rPr>
              <a:t>Floor</a:t>
            </a:r>
            <a:r>
              <a:rPr lang="en-US" sz="1350" b="0" i="0" u="none" dirty="0">
                <a:solidFill>
                  <a:srgbClr val="011C40"/>
                </a:solidFill>
                <a:latin typeface="Garamond"/>
              </a:rPr>
              <a:t>	ATMF – 30bp, costs 0.84%</a:t>
            </a:r>
          </a:p>
          <a:p>
            <a:pPr marL="868680" indent="-868680" algn="l">
              <a:lnSpc>
                <a:spcPct val="100000"/>
              </a:lnSpc>
              <a:spcAft>
                <a:spcPts val="900"/>
              </a:spcAft>
              <a:tabLst>
                <a:tab pos="868680" algn="l"/>
              </a:tabLst>
            </a:pPr>
            <a:r>
              <a:rPr lang="en-US" sz="1350" b="1" i="0" u="none" dirty="0">
                <a:solidFill>
                  <a:srgbClr val="011C40"/>
                </a:solidFill>
                <a:latin typeface="Garamond"/>
              </a:rPr>
              <a:t>Max loss</a:t>
            </a:r>
            <a:r>
              <a:rPr lang="en-US" sz="1350" b="0" i="0" u="none" dirty="0">
                <a:solidFill>
                  <a:srgbClr val="011C40"/>
                </a:solidFill>
                <a:latin typeface="Garamond"/>
              </a:rPr>
              <a:t>	0.247% (PV)</a:t>
            </a:r>
          </a:p>
          <a:p>
            <a:pPr marL="868680" indent="-868680" algn="l">
              <a:lnSpc>
                <a:spcPct val="100000"/>
              </a:lnSpc>
              <a:spcAft>
                <a:spcPts val="1400"/>
              </a:spcAft>
              <a:tabLst>
                <a:tab pos="868680" algn="l"/>
              </a:tabLst>
            </a:pPr>
            <a:r>
              <a:rPr lang="en-US" sz="1350" b="1" i="0" u="none" dirty="0">
                <a:solidFill>
                  <a:srgbClr val="011C40"/>
                </a:solidFill>
                <a:latin typeface="Garamond"/>
              </a:rPr>
              <a:t>Capital</a:t>
            </a:r>
            <a:r>
              <a:rPr lang="en-US" sz="1350" b="0" i="0" u="none" dirty="0">
                <a:solidFill>
                  <a:srgbClr val="011C40"/>
                </a:solidFill>
                <a:latin typeface="Garamond"/>
              </a:rPr>
              <a:t>	1.09% at risk</a:t>
            </a:r>
          </a:p>
          <a:p>
            <a:pPr algn="l">
              <a:lnSpc>
                <a:spcPct val="100000"/>
              </a:lnSpc>
            </a:pPr>
            <a:r>
              <a:rPr lang="en-US" sz="1600" b="1" i="0" u="none" dirty="0">
                <a:solidFill>
                  <a:srgbClr val="011C40"/>
                </a:solidFill>
                <a:latin typeface="Garamond"/>
              </a:rPr>
              <a:t>1.1m buys 100m of exposure</a:t>
            </a:r>
          </a:p>
        </p:txBody>
      </p:sp>
      <p:sp>
        <p:nvSpPr>
          <p:cNvPr id="14" name="TextBox 13"/>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Italy's 1-year spread was below −445bp on 5 trading days, 11/8/2011 to 11/29/2011. Spreads are the swap rate less the bond yield versus the 6m Euribor swap. Source: Bloomberg, Liminality calculations.</a:t>
            </a:r>
          </a:p>
        </p:txBody>
      </p:sp>
    </p:spTree>
    <p:extLst>
      <p:ext uri="{BB962C8B-B14F-4D97-AF65-F5344CB8AC3E}">
        <p14:creationId xmlns:p14="http://schemas.microsoft.com/office/powerpoint/2010/main" val="259750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dirty="0">
                <a:solidFill>
                  <a:srgbClr val="FFFFFF"/>
                </a:solidFill>
                <a:latin typeface="Garamond"/>
              </a:rPr>
              <a:t>What is a swap spread?</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5</a:t>
            </a:r>
          </a:p>
        </p:txBody>
      </p:sp>
      <p:sp>
        <p:nvSpPr>
          <p:cNvPr id="5" name="TextBox 4"/>
          <p:cNvSpPr txBox="1"/>
          <p:nvPr/>
        </p:nvSpPr>
        <p:spPr>
          <a:xfrm>
            <a:off x="566928" y="1664207"/>
            <a:ext cx="5346039" cy="931602"/>
          </a:xfrm>
          <a:prstGeom prst="rect">
            <a:avLst/>
          </a:prstGeom>
          <a:noFill/>
        </p:spPr>
        <p:txBody>
          <a:bodyPr wrap="square" lIns="0" tIns="0" rIns="0" bIns="0" anchor="t">
            <a:spAutoFit/>
          </a:bodyPr>
          <a:lstStyle/>
          <a:p>
            <a:pPr marL="171450" indent="-171450" algn="l">
              <a:lnSpc>
                <a:spcPct val="114000"/>
              </a:lnSpc>
              <a:spcAft>
                <a:spcPts val="600"/>
              </a:spcAft>
              <a:buFont typeface="Arial"/>
              <a:buChar char="•"/>
            </a:pPr>
            <a:r>
              <a:rPr lang="en-US" sz="1500" b="0" i="0" u="none" dirty="0">
                <a:solidFill>
                  <a:srgbClr val="011C40"/>
                </a:solidFill>
                <a:latin typeface="Garamond"/>
              </a:rPr>
              <a:t>B</a:t>
            </a:r>
            <a:r>
              <a:rPr sz="1500" b="0" i="0" u="none" dirty="0">
                <a:solidFill>
                  <a:srgbClr val="011C40"/>
                </a:solidFill>
                <a:latin typeface="Garamond"/>
              </a:rPr>
              <a:t>ond yield vs. same-maturity swap rate.</a:t>
            </a:r>
          </a:p>
          <a:p>
            <a:pPr marL="171450" indent="-171450" algn="l">
              <a:lnSpc>
                <a:spcPct val="114000"/>
              </a:lnSpc>
              <a:spcAft>
                <a:spcPts val="600"/>
              </a:spcAft>
              <a:buFont typeface="Arial"/>
              <a:buChar char="•"/>
            </a:pPr>
            <a:r>
              <a:rPr lang="en-US" sz="1500" b="0" i="0" u="none" dirty="0">
                <a:solidFill>
                  <a:srgbClr val="011C40"/>
                </a:solidFill>
                <a:latin typeface="Garamond"/>
              </a:rPr>
              <a:t>B</a:t>
            </a:r>
            <a:r>
              <a:rPr sz="1500" b="0" i="0" u="none" dirty="0">
                <a:solidFill>
                  <a:srgbClr val="011C40"/>
                </a:solidFill>
                <a:latin typeface="Garamond"/>
              </a:rPr>
              <a:t>uy the OAT, pay fixed on the swap.</a:t>
            </a:r>
          </a:p>
          <a:p>
            <a:pPr marL="171450" indent="-171450" algn="l">
              <a:lnSpc>
                <a:spcPct val="114000"/>
              </a:lnSpc>
              <a:spcAft>
                <a:spcPts val="600"/>
              </a:spcAft>
              <a:buFont typeface="Arial"/>
              <a:buChar char="•"/>
            </a:pPr>
            <a:r>
              <a:rPr lang="en-US" sz="1500" b="0" i="0" u="none" dirty="0">
                <a:solidFill>
                  <a:srgbClr val="011C40"/>
                </a:solidFill>
                <a:latin typeface="Garamond"/>
              </a:rPr>
              <a:t>Can think of it as transforming the fixed rate bond into floating</a:t>
            </a:r>
            <a:r>
              <a:rPr sz="1500" b="0" i="0" u="none" dirty="0">
                <a:solidFill>
                  <a:srgbClr val="011C40"/>
                </a:solidFill>
                <a:latin typeface="Garamond"/>
              </a:rPr>
              <a:t>.</a:t>
            </a:r>
          </a:p>
        </p:txBody>
      </p:sp>
      <p:sp>
        <p:nvSpPr>
          <p:cNvPr id="6" name="TextBox 5"/>
          <p:cNvSpPr txBox="1"/>
          <p:nvPr/>
        </p:nvSpPr>
        <p:spPr>
          <a:xfrm>
            <a:off x="6278727" y="1664207"/>
            <a:ext cx="5346039" cy="591509"/>
          </a:xfrm>
          <a:prstGeom prst="rect">
            <a:avLst/>
          </a:prstGeom>
          <a:noFill/>
        </p:spPr>
        <p:txBody>
          <a:bodyPr wrap="square" lIns="0" tIns="0" rIns="0" bIns="0" anchor="t">
            <a:spAutoFit/>
          </a:bodyPr>
          <a:lstStyle/>
          <a:p>
            <a:pPr marL="171450" indent="-171450" algn="l">
              <a:lnSpc>
                <a:spcPct val="114000"/>
              </a:lnSpc>
              <a:spcAft>
                <a:spcPts val="600"/>
              </a:spcAft>
              <a:buFont typeface="Arial"/>
              <a:buChar char="•"/>
            </a:pPr>
            <a:r>
              <a:rPr sz="1500" b="0" i="0" u="none">
                <a:solidFill>
                  <a:srgbClr val="011C40"/>
                </a:solidFill>
                <a:latin typeface="Garamond"/>
              </a:rPr>
              <a:t>Here, spread = swap rate minus bond yield.</a:t>
            </a:r>
          </a:p>
          <a:p>
            <a:pPr marL="171450" indent="-171450" algn="l">
              <a:lnSpc>
                <a:spcPct val="114000"/>
              </a:lnSpc>
              <a:spcAft>
                <a:spcPts val="600"/>
              </a:spcAft>
              <a:buFont typeface="Arial"/>
              <a:buChar char="•"/>
            </a:pPr>
            <a:r>
              <a:rPr sz="1500" b="0" i="0" u="none">
                <a:solidFill>
                  <a:srgbClr val="011C40"/>
                </a:solidFill>
                <a:latin typeface="Garamond"/>
              </a:rPr>
              <a:t>A bond cheap to swaps shows a negative spread.</a:t>
            </a:r>
          </a:p>
        </p:txBody>
      </p:sp>
      <p:sp>
        <p:nvSpPr>
          <p:cNvPr id="7" name="TextBox 6"/>
          <p:cNvSpPr txBox="1"/>
          <p:nvPr/>
        </p:nvSpPr>
        <p:spPr>
          <a:xfrm>
            <a:off x="566928" y="2761488"/>
            <a:ext cx="5346039" cy="256032"/>
          </a:xfrm>
          <a:prstGeom prst="rect">
            <a:avLst/>
          </a:prstGeom>
          <a:noFill/>
        </p:spPr>
        <p:txBody>
          <a:bodyPr wrap="square" lIns="0" tIns="0" rIns="0" bIns="0" anchor="t">
            <a:spAutoFit/>
          </a:bodyPr>
          <a:lstStyle/>
          <a:p>
            <a:pPr algn="l">
              <a:lnSpc>
                <a:spcPct val="95000"/>
              </a:lnSpc>
              <a:spcAft>
                <a:spcPts val="600"/>
              </a:spcAft>
            </a:pPr>
            <a:r>
              <a:rPr sz="1100" b="1" i="0" u="none">
                <a:solidFill>
                  <a:srgbClr val="011C40"/>
                </a:solidFill>
                <a:latin typeface="Garamond"/>
              </a:rPr>
              <a:t>French yield curves, 10/2/2026</a:t>
            </a:r>
          </a:p>
        </p:txBody>
      </p:sp>
      <p:graphicFrame>
        <p:nvGraphicFramePr>
          <p:cNvPr id="8" name="Chart 7"/>
          <p:cNvGraphicFramePr>
            <a:graphicFrameLocks noGrp="1"/>
          </p:cNvGraphicFramePr>
          <p:nvPr/>
        </p:nvGraphicFramePr>
        <p:xfrm>
          <a:off x="566928" y="3035808"/>
          <a:ext cx="5346039"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6278727" y="2761488"/>
            <a:ext cx="5346039" cy="256032"/>
          </a:xfrm>
          <a:prstGeom prst="rect">
            <a:avLst/>
          </a:prstGeom>
          <a:noFill/>
        </p:spPr>
        <p:txBody>
          <a:bodyPr wrap="square" lIns="0" tIns="0" rIns="0" bIns="0" anchor="t">
            <a:spAutoFit/>
          </a:bodyPr>
          <a:lstStyle/>
          <a:p>
            <a:pPr algn="l">
              <a:lnSpc>
                <a:spcPct val="95000"/>
              </a:lnSpc>
              <a:spcAft>
                <a:spcPts val="600"/>
              </a:spcAft>
            </a:pPr>
            <a:r>
              <a:rPr sz="1100" b="1" i="0" u="none" dirty="0">
                <a:solidFill>
                  <a:srgbClr val="011C40"/>
                </a:solidFill>
                <a:latin typeface="Garamond"/>
              </a:rPr>
              <a:t>Swap spread at each point of the curve (swap less OAT)</a:t>
            </a:r>
          </a:p>
        </p:txBody>
      </p:sp>
      <p:graphicFrame>
        <p:nvGraphicFramePr>
          <p:cNvPr id="10" name="Chart 9"/>
          <p:cNvGraphicFramePr>
            <a:graphicFrameLocks noGrp="1"/>
          </p:cNvGraphicFramePr>
          <p:nvPr/>
        </p:nvGraphicFramePr>
        <p:xfrm>
          <a:off x="6278727" y="3035808"/>
          <a:ext cx="5346039"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As of 10/2/2026. Source: Bloomberg, Liminality calculations.</a:t>
            </a:r>
          </a:p>
        </p:txBody>
      </p:sp>
    </p:spTree>
    <p:extLst>
      <p:ext uri="{BB962C8B-B14F-4D97-AF65-F5344CB8AC3E}">
        <p14:creationId xmlns:p14="http://schemas.microsoft.com/office/powerpoint/2010/main" val="396989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The current dislocation</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6</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France swap spreads versus the 6m Euribor swap, weekly, since 2010</a:t>
            </a:r>
          </a:p>
        </p:txBody>
      </p:sp>
      <p:graphicFrame>
        <p:nvGraphicFramePr>
          <p:cNvPr id="6" name="Chart 5"/>
          <p:cNvGraphicFramePr>
            <a:graphicFrameLocks noGrp="1"/>
          </p:cNvGraphicFramePr>
          <p:nvPr/>
        </p:nvGraphicFramePr>
        <p:xfrm>
          <a:off x="566928" y="1783080"/>
          <a:ext cx="11057839" cy="420624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Spreads are the swap rate less the bond yield, so more negative is cheaper. As of 10/2/2026. Source: Bloomberg, Liminality calculations.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Why is there a dislocation?</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7</a:t>
            </a:r>
          </a:p>
        </p:txBody>
      </p:sp>
      <p:sp>
        <p:nvSpPr>
          <p:cNvPr id="5" name="Rounded Rectangle 4"/>
          <p:cNvSpPr/>
          <p:nvPr/>
        </p:nvSpPr>
        <p:spPr>
          <a:xfrm>
            <a:off x="566928" y="1783080"/>
            <a:ext cx="5346039" cy="434340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78727" y="1783080"/>
            <a:ext cx="5346039" cy="434340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956816"/>
            <a:ext cx="4833975" cy="365760"/>
          </a:xfrm>
          <a:prstGeom prst="rect">
            <a:avLst/>
          </a:prstGeom>
          <a:noFill/>
        </p:spPr>
        <p:txBody>
          <a:bodyPr wrap="square" lIns="0" tIns="0" rIns="0" bIns="0" anchor="t">
            <a:spAutoFit/>
          </a:bodyPr>
          <a:lstStyle/>
          <a:p>
            <a:pPr algn="l">
              <a:lnSpc>
                <a:spcPct val="95000"/>
              </a:lnSpc>
              <a:spcAft>
                <a:spcPts val="600"/>
              </a:spcAft>
            </a:pPr>
            <a:r>
              <a:rPr sz="1700" b="1" i="0" u="none">
                <a:solidFill>
                  <a:srgbClr val="011C40"/>
                </a:solidFill>
                <a:latin typeface="Garamond"/>
              </a:rPr>
              <a:t>Long-term factors</a:t>
            </a:r>
          </a:p>
        </p:txBody>
      </p:sp>
      <p:sp>
        <p:nvSpPr>
          <p:cNvPr id="8" name="TextBox 7"/>
          <p:cNvSpPr txBox="1"/>
          <p:nvPr/>
        </p:nvSpPr>
        <p:spPr>
          <a:xfrm>
            <a:off x="6534759" y="1956816"/>
            <a:ext cx="4833975" cy="365760"/>
          </a:xfrm>
          <a:prstGeom prst="rect">
            <a:avLst/>
          </a:prstGeom>
          <a:noFill/>
        </p:spPr>
        <p:txBody>
          <a:bodyPr wrap="square" lIns="0" tIns="0" rIns="0" bIns="0" anchor="t">
            <a:spAutoFit/>
          </a:bodyPr>
          <a:lstStyle/>
          <a:p>
            <a:pPr algn="l">
              <a:lnSpc>
                <a:spcPct val="95000"/>
              </a:lnSpc>
              <a:spcAft>
                <a:spcPts val="600"/>
              </a:spcAft>
            </a:pPr>
            <a:r>
              <a:rPr sz="1700" b="1" i="0" u="none">
                <a:solidFill>
                  <a:srgbClr val="011C40"/>
                </a:solidFill>
                <a:latin typeface="Garamond"/>
              </a:rPr>
              <a:t>Short-term factors</a:t>
            </a:r>
          </a:p>
        </p:txBody>
      </p:sp>
      <p:sp>
        <p:nvSpPr>
          <p:cNvPr id="9" name="Oval 8"/>
          <p:cNvSpPr/>
          <p:nvPr/>
        </p:nvSpPr>
        <p:spPr>
          <a:xfrm>
            <a:off x="822960" y="2578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489200"/>
            <a:ext cx="4651095" cy="231410"/>
          </a:xfrm>
          <a:prstGeom prst="rect">
            <a:avLst/>
          </a:prstGeom>
          <a:noFill/>
        </p:spPr>
        <p:txBody>
          <a:bodyPr wrap="square" lIns="0" tIns="0" rIns="0" bIns="0" anchor="t">
            <a:spAutoFit/>
          </a:bodyPr>
          <a:lstStyle/>
          <a:p>
            <a:pPr algn="l">
              <a:lnSpc>
                <a:spcPct val="112000"/>
              </a:lnSpc>
              <a:spcAft>
                <a:spcPts val="0"/>
              </a:spcAft>
            </a:pPr>
            <a:r>
              <a:rPr sz="1400" b="1" i="0" u="none" dirty="0">
                <a:solidFill>
                  <a:srgbClr val="011C40"/>
                </a:solidFill>
                <a:latin typeface="Garamond"/>
              </a:rPr>
              <a:t>Fiscal: </a:t>
            </a:r>
            <a:r>
              <a:rPr sz="1400" b="0" i="0" u="none" dirty="0">
                <a:solidFill>
                  <a:srgbClr val="011C40"/>
                </a:solidFill>
                <a:latin typeface="Garamond"/>
              </a:rPr>
              <a:t>deficit 5.</a:t>
            </a:r>
            <a:r>
              <a:rPr lang="en-US" sz="1400" b="0" i="0" u="none" dirty="0">
                <a:solidFill>
                  <a:srgbClr val="011C40"/>
                </a:solidFill>
                <a:latin typeface="Garamond"/>
              </a:rPr>
              <a:t>4</a:t>
            </a:r>
            <a:r>
              <a:rPr sz="1400" b="0" i="0" u="none" dirty="0">
                <a:solidFill>
                  <a:srgbClr val="011C40"/>
                </a:solidFill>
                <a:latin typeface="Garamond"/>
              </a:rPr>
              <a:t>% and debt 11</a:t>
            </a:r>
            <a:r>
              <a:rPr lang="en-US" sz="1400" b="0" i="0" u="none" dirty="0">
                <a:solidFill>
                  <a:srgbClr val="011C40"/>
                </a:solidFill>
                <a:latin typeface="Garamond"/>
              </a:rPr>
              <a:t>9</a:t>
            </a:r>
            <a:r>
              <a:rPr sz="1400" b="0" i="0" u="none" dirty="0">
                <a:solidFill>
                  <a:srgbClr val="011C40"/>
                </a:solidFill>
                <a:latin typeface="Garamond"/>
              </a:rPr>
              <a:t>% of GDP</a:t>
            </a:r>
          </a:p>
        </p:txBody>
      </p:sp>
      <p:sp>
        <p:nvSpPr>
          <p:cNvPr id="11" name="Oval 10"/>
          <p:cNvSpPr/>
          <p:nvPr/>
        </p:nvSpPr>
        <p:spPr>
          <a:xfrm>
            <a:off x="822960" y="296191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873010"/>
            <a:ext cx="4651095" cy="231410"/>
          </a:xfrm>
          <a:prstGeom prst="rect">
            <a:avLst/>
          </a:prstGeom>
          <a:noFill/>
        </p:spPr>
        <p:txBody>
          <a:bodyPr wrap="square" lIns="0" tIns="0" rIns="0" bIns="0" anchor="t">
            <a:spAutoFit/>
          </a:bodyPr>
          <a:lstStyle/>
          <a:p>
            <a:pPr algn="l">
              <a:lnSpc>
                <a:spcPct val="112000"/>
              </a:lnSpc>
              <a:spcAft>
                <a:spcPts val="0"/>
              </a:spcAft>
            </a:pPr>
            <a:r>
              <a:rPr sz="1400" b="1" i="0" u="none">
                <a:solidFill>
                  <a:srgbClr val="011C40"/>
                </a:solidFill>
                <a:latin typeface="Garamond"/>
              </a:rPr>
              <a:t>Politics: </a:t>
            </a:r>
            <a:r>
              <a:rPr sz="1400" b="0" i="0" u="none">
                <a:solidFill>
                  <a:srgbClr val="011C40"/>
                </a:solidFill>
                <a:latin typeface="Garamond"/>
              </a:rPr>
              <a:t>no majority since 2024 and no fix before 2027.</a:t>
            </a:r>
          </a:p>
        </p:txBody>
      </p:sp>
      <p:sp>
        <p:nvSpPr>
          <p:cNvPr id="13" name="Oval 12"/>
          <p:cNvSpPr/>
          <p:nvPr/>
        </p:nvSpPr>
        <p:spPr>
          <a:xfrm>
            <a:off x="822960" y="334572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256820"/>
            <a:ext cx="4651095" cy="231410"/>
          </a:xfrm>
          <a:prstGeom prst="rect">
            <a:avLst/>
          </a:prstGeom>
          <a:noFill/>
        </p:spPr>
        <p:txBody>
          <a:bodyPr wrap="square" lIns="0" tIns="0" rIns="0" bIns="0" anchor="t">
            <a:spAutoFit/>
          </a:bodyPr>
          <a:lstStyle/>
          <a:p>
            <a:pPr algn="l">
              <a:lnSpc>
                <a:spcPct val="112000"/>
              </a:lnSpc>
              <a:spcAft>
                <a:spcPts val="0"/>
              </a:spcAft>
            </a:pPr>
            <a:r>
              <a:rPr sz="1400" b="1" i="0" u="none">
                <a:solidFill>
                  <a:srgbClr val="011C40"/>
                </a:solidFill>
                <a:latin typeface="Garamond"/>
              </a:rPr>
              <a:t>Feedback loop: </a:t>
            </a:r>
            <a:r>
              <a:rPr sz="1400" b="0" i="0" u="none">
                <a:solidFill>
                  <a:srgbClr val="011C40"/>
                </a:solidFill>
                <a:latin typeface="Garamond"/>
              </a:rPr>
              <a:t>higher yields widen the deficit further.</a:t>
            </a:r>
          </a:p>
        </p:txBody>
      </p:sp>
      <p:sp>
        <p:nvSpPr>
          <p:cNvPr id="15" name="Oval 14"/>
          <p:cNvSpPr/>
          <p:nvPr/>
        </p:nvSpPr>
        <p:spPr>
          <a:xfrm>
            <a:off x="6534759" y="2578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17639" y="2489200"/>
            <a:ext cx="4651095" cy="472694"/>
          </a:xfrm>
          <a:prstGeom prst="rect">
            <a:avLst/>
          </a:prstGeom>
          <a:noFill/>
        </p:spPr>
        <p:txBody>
          <a:bodyPr wrap="square" lIns="0" tIns="0" rIns="0" bIns="0" anchor="t">
            <a:spAutoFit/>
          </a:bodyPr>
          <a:lstStyle/>
          <a:p>
            <a:pPr algn="l">
              <a:lnSpc>
                <a:spcPct val="112000"/>
              </a:lnSpc>
              <a:spcAft>
                <a:spcPts val="0"/>
              </a:spcAft>
            </a:pPr>
            <a:r>
              <a:rPr sz="1400" b="1" i="0" u="none">
                <a:solidFill>
                  <a:srgbClr val="011C40"/>
                </a:solidFill>
                <a:latin typeface="Garamond"/>
              </a:rPr>
              <a:t>Levered unwinds: </a:t>
            </a:r>
            <a:r>
              <a:rPr sz="1400" b="0" i="0" u="none">
                <a:solidFill>
                  <a:srgbClr val="011C40"/>
                </a:solidFill>
                <a:latin typeface="Garamond"/>
              </a:rPr>
              <a:t>5y spread −34bp in 10 days on a deficit miss and downgrade.</a:t>
            </a:r>
          </a:p>
        </p:txBody>
      </p:sp>
      <p:sp>
        <p:nvSpPr>
          <p:cNvPr id="17" name="Oval 16"/>
          <p:cNvSpPr/>
          <p:nvPr/>
        </p:nvSpPr>
        <p:spPr>
          <a:xfrm>
            <a:off x="6534759" y="320319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17639" y="3114294"/>
            <a:ext cx="4651095" cy="231410"/>
          </a:xfrm>
          <a:prstGeom prst="rect">
            <a:avLst/>
          </a:prstGeom>
          <a:noFill/>
        </p:spPr>
        <p:txBody>
          <a:bodyPr wrap="square" lIns="0" tIns="0" rIns="0" bIns="0" anchor="t">
            <a:spAutoFit/>
          </a:bodyPr>
          <a:lstStyle/>
          <a:p>
            <a:pPr algn="l">
              <a:lnSpc>
                <a:spcPct val="112000"/>
              </a:lnSpc>
              <a:spcAft>
                <a:spcPts val="0"/>
              </a:spcAft>
            </a:pPr>
            <a:r>
              <a:rPr sz="1400" b="1" i="0" u="none">
                <a:solidFill>
                  <a:srgbClr val="011C40"/>
                </a:solidFill>
                <a:latin typeface="Garamond"/>
              </a:rPr>
              <a:t>Rates: </a:t>
            </a:r>
            <a:r>
              <a:rPr sz="1400" b="0" i="0" u="none">
                <a:solidFill>
                  <a:srgbClr val="011C40"/>
                </a:solidFill>
                <a:latin typeface="Garamond"/>
              </a:rPr>
              <a:t>5y euro swap at 3.50%, up from 2.36% a year ago.</a:t>
            </a:r>
          </a:p>
        </p:txBody>
      </p:sp>
      <p:sp>
        <p:nvSpPr>
          <p:cNvPr id="19" name="Oval 18"/>
          <p:cNvSpPr/>
          <p:nvPr/>
        </p:nvSpPr>
        <p:spPr>
          <a:xfrm>
            <a:off x="6534759" y="358700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7639" y="3498104"/>
            <a:ext cx="4651095" cy="231410"/>
          </a:xfrm>
          <a:prstGeom prst="rect">
            <a:avLst/>
          </a:prstGeom>
          <a:noFill/>
        </p:spPr>
        <p:txBody>
          <a:bodyPr wrap="square" lIns="0" tIns="0" rIns="0" bIns="0" anchor="t">
            <a:spAutoFit/>
          </a:bodyPr>
          <a:lstStyle/>
          <a:p>
            <a:pPr algn="l">
              <a:lnSpc>
                <a:spcPct val="112000"/>
              </a:lnSpc>
              <a:spcAft>
                <a:spcPts val="0"/>
              </a:spcAft>
            </a:pPr>
            <a:r>
              <a:rPr sz="1400" b="1" i="0" u="none">
                <a:solidFill>
                  <a:srgbClr val="011C40"/>
                </a:solidFill>
                <a:latin typeface="Garamond"/>
              </a:rPr>
              <a:t>Elections: </a:t>
            </a:r>
            <a:r>
              <a:rPr sz="1400" b="0" i="0" u="none">
                <a:solidFill>
                  <a:srgbClr val="011C40"/>
                </a:solidFill>
                <a:latin typeface="Garamond"/>
              </a:rPr>
              <a:t>far right and far left lead 2027 polls.</a:t>
            </a:r>
          </a:p>
        </p:txBody>
      </p:sp>
      <p:sp>
        <p:nvSpPr>
          <p:cNvPr id="21" name="Oval 20"/>
          <p:cNvSpPr/>
          <p:nvPr/>
        </p:nvSpPr>
        <p:spPr>
          <a:xfrm>
            <a:off x="6534759" y="397081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7639" y="3881914"/>
            <a:ext cx="4651095" cy="231410"/>
          </a:xfrm>
          <a:prstGeom prst="rect">
            <a:avLst/>
          </a:prstGeom>
          <a:noFill/>
        </p:spPr>
        <p:txBody>
          <a:bodyPr wrap="square" lIns="0" tIns="0" rIns="0" bIns="0" anchor="t">
            <a:spAutoFit/>
          </a:bodyPr>
          <a:lstStyle/>
          <a:p>
            <a:pPr algn="l">
              <a:lnSpc>
                <a:spcPct val="112000"/>
              </a:lnSpc>
              <a:spcAft>
                <a:spcPts val="0"/>
              </a:spcAft>
            </a:pPr>
            <a:r>
              <a:rPr sz="1400" b="1" i="0" u="none">
                <a:solidFill>
                  <a:srgbClr val="011C40"/>
                </a:solidFill>
                <a:latin typeface="Garamond"/>
              </a:rPr>
              <a:t>Mélenchon: </a:t>
            </a:r>
            <a:r>
              <a:rPr sz="1400" b="0" i="0" u="none">
                <a:solidFill>
                  <a:srgbClr val="011C40"/>
                </a:solidFill>
                <a:latin typeface="Garamond"/>
              </a:rPr>
              <a:t>proposed cancelling debt held by the central bank.</a:t>
            </a:r>
          </a:p>
        </p:txBody>
      </p:sp>
      <p:sp>
        <p:nvSpPr>
          <p:cNvPr id="23" name="Rounded Rectangle 22"/>
          <p:cNvSpPr/>
          <p:nvPr/>
        </p:nvSpPr>
        <p:spPr>
          <a:xfrm>
            <a:off x="6534759" y="5349240"/>
            <a:ext cx="4833975" cy="744423"/>
          </a:xfrm>
          <a:prstGeom prst="roundRect">
            <a:avLst>
              <a:gd name="adj" fmla="val 4000"/>
            </a:avLst>
          </a:prstGeom>
          <a:solidFill>
            <a:srgbClr val="FFF4C2"/>
          </a:solidFill>
          <a:ln w="9525">
            <a:solidFill>
              <a:srgbClr val="7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17639" y="5532120"/>
            <a:ext cx="4468215" cy="378663"/>
          </a:xfrm>
          <a:prstGeom prst="rect">
            <a:avLst/>
          </a:prstGeom>
          <a:noFill/>
        </p:spPr>
        <p:txBody>
          <a:bodyPr wrap="square" lIns="0" tIns="0" rIns="0" bIns="0" anchor="t">
            <a:spAutoFit/>
          </a:bodyPr>
          <a:lstStyle/>
          <a:p>
            <a:pPr algn="l">
              <a:lnSpc>
                <a:spcPct val="114000"/>
              </a:lnSpc>
              <a:spcAft>
                <a:spcPts val="200"/>
              </a:spcAft>
            </a:pPr>
            <a:r>
              <a:rPr sz="1000" b="1" i="0" u="none">
                <a:solidFill>
                  <a:srgbClr val="011C40"/>
                </a:solidFill>
                <a:latin typeface="Garamond"/>
              </a:rPr>
              <a:t>INTERNAL NOTE - delete before circulation</a:t>
            </a:r>
          </a:p>
          <a:p>
            <a:pPr algn="l">
              <a:lnSpc>
                <a:spcPct val="114000"/>
              </a:lnSpc>
              <a:spcAft>
                <a:spcPts val="0"/>
              </a:spcAft>
            </a:pPr>
            <a:r>
              <a:rPr sz="1000" b="0" i="0" u="none">
                <a:solidFill>
                  <a:srgbClr val="5A6172"/>
                </a:solidFill>
                <a:latin typeface="Garamond"/>
              </a:rPr>
              <a:t>Short-term factors still need to be tweaked (Charlie, 10/7/2026).</a:t>
            </a:r>
          </a:p>
        </p:txBody>
      </p:sp>
      <p:sp>
        <p:nvSpPr>
          <p:cNvPr id="25" name="TextBox 24"/>
          <p:cNvSpPr txBox="1"/>
          <p:nvPr/>
        </p:nvSpPr>
        <p:spPr>
          <a:xfrm>
            <a:off x="2487168" y="6168450"/>
            <a:ext cx="7818120" cy="451805"/>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Fiscal figures: Eurostat and OECD via Bloomberg, latest full year 2025. Spread and swap moves: Bloomberg, to 10/2/2026. Triggers: Political Alpha Research, 10/5/2026; Scope's downgrade of 9/18/2026 per Bloomberg. The attribution of the recent move to levered unwinds is Liminality's judgement. Source: Eurostat, OECD, Bloomberg, Political Alpha, Liminality calculations.</a:t>
            </a:r>
          </a:p>
        </p:txBody>
      </p:sp>
    </p:spTree>
    <p:extLst>
      <p:ext uri="{BB962C8B-B14F-4D97-AF65-F5344CB8AC3E}">
        <p14:creationId xmlns:p14="http://schemas.microsoft.com/office/powerpoint/2010/main" val="2847053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Where the return comes from</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8</a:t>
            </a:r>
          </a:p>
        </p:txBody>
      </p:sp>
      <p:sp>
        <p:nvSpPr>
          <p:cNvPr id="5" name="TextBox 4"/>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Three return sources, per 100m of bond notional</a:t>
            </a:r>
          </a:p>
        </p:txBody>
      </p:sp>
      <p:sp>
        <p:nvSpPr>
          <p:cNvPr id="6" name="Rounded Rectangle 5"/>
          <p:cNvSpPr/>
          <p:nvPr/>
        </p:nvSpPr>
        <p:spPr>
          <a:xfrm>
            <a:off x="566928" y="1847088"/>
            <a:ext cx="3503066" cy="26974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029968"/>
            <a:ext cx="3100730" cy="310896"/>
          </a:xfrm>
          <a:prstGeom prst="rect">
            <a:avLst/>
          </a:prstGeom>
          <a:noFill/>
        </p:spPr>
        <p:txBody>
          <a:bodyPr wrap="square" lIns="0" tIns="0" rIns="0" bIns="0" anchor="t">
            <a:spAutoFit/>
          </a:bodyPr>
          <a:lstStyle/>
          <a:p>
            <a:pPr algn="l">
              <a:lnSpc>
                <a:spcPct val="95000"/>
              </a:lnSpc>
              <a:spcAft>
                <a:spcPts val="600"/>
              </a:spcAft>
            </a:pPr>
            <a:r>
              <a:rPr sz="1400" b="1" i="0" u="none">
                <a:solidFill>
                  <a:srgbClr val="011C40"/>
                </a:solidFill>
                <a:latin typeface="Garamond"/>
              </a:rPr>
              <a:t>1  Carry on the spread</a:t>
            </a:r>
          </a:p>
        </p:txBody>
      </p:sp>
      <p:sp>
        <p:nvSpPr>
          <p:cNvPr id="8" name="TextBox 7"/>
          <p:cNvSpPr txBox="1"/>
          <p:nvPr/>
        </p:nvSpPr>
        <p:spPr>
          <a:xfrm>
            <a:off x="768096" y="2414016"/>
            <a:ext cx="3100730" cy="457200"/>
          </a:xfrm>
          <a:prstGeom prst="rect">
            <a:avLst/>
          </a:prstGeom>
          <a:noFill/>
        </p:spPr>
        <p:txBody>
          <a:bodyPr wrap="square" lIns="0" tIns="0" rIns="0" bIns="0" anchor="t">
            <a:spAutoFit/>
          </a:bodyPr>
          <a:lstStyle/>
          <a:p>
            <a:pPr algn="l">
              <a:lnSpc>
                <a:spcPct val="95000"/>
              </a:lnSpc>
              <a:spcAft>
                <a:spcPts val="600"/>
              </a:spcAft>
            </a:pPr>
            <a:r>
              <a:rPr sz="2400" b="1" i="0" u="none">
                <a:solidFill>
                  <a:srgbClr val="2C7A5A"/>
                </a:solidFill>
                <a:latin typeface="Garamond"/>
              </a:rPr>
              <a:t>82.9bp a year</a:t>
            </a:r>
          </a:p>
        </p:txBody>
      </p:sp>
      <p:sp>
        <p:nvSpPr>
          <p:cNvPr id="9" name="TextBox 8"/>
          <p:cNvSpPr txBox="1"/>
          <p:nvPr/>
        </p:nvSpPr>
        <p:spPr>
          <a:xfrm>
            <a:off x="768096" y="2962656"/>
            <a:ext cx="3100730" cy="765531"/>
          </a:xfrm>
          <a:prstGeom prst="rect">
            <a:avLst/>
          </a:prstGeom>
          <a:noFill/>
        </p:spPr>
        <p:txBody>
          <a:bodyPr wrap="square" lIns="0" tIns="0" rIns="0" bIns="0" anchor="t">
            <a:spAutoFit/>
          </a:bodyPr>
          <a:lstStyle/>
          <a:p>
            <a:pPr marL="171450" indent="-171450" algn="l">
              <a:lnSpc>
                <a:spcPct val="112000"/>
              </a:lnSpc>
              <a:spcAft>
                <a:spcPts val="400"/>
              </a:spcAft>
              <a:buFont typeface="Arial"/>
              <a:buChar char="•"/>
            </a:pPr>
            <a:r>
              <a:rPr sz="1300" b="0" i="0" u="none">
                <a:solidFill>
                  <a:srgbClr val="5A6172"/>
                </a:solidFill>
                <a:latin typeface="Garamond"/>
              </a:rPr>
              <a:t>Receive the bond yield: 4.33%.</a:t>
            </a:r>
          </a:p>
          <a:p>
            <a:pPr marL="171450" indent="-171450" algn="l">
              <a:lnSpc>
                <a:spcPct val="112000"/>
              </a:lnSpc>
              <a:spcAft>
                <a:spcPts val="400"/>
              </a:spcAft>
              <a:buFont typeface="Arial"/>
              <a:buChar char="•"/>
            </a:pPr>
            <a:r>
              <a:rPr sz="1300" b="0" i="0" u="none">
                <a:solidFill>
                  <a:srgbClr val="5A6172"/>
                </a:solidFill>
                <a:latin typeface="Garamond"/>
              </a:rPr>
              <a:t>Pay the matched swap: 3.50%.</a:t>
            </a:r>
          </a:p>
          <a:p>
            <a:pPr marL="171450" indent="-171450" algn="l">
              <a:lnSpc>
                <a:spcPct val="112000"/>
              </a:lnSpc>
              <a:spcAft>
                <a:spcPts val="400"/>
              </a:spcAft>
              <a:buFont typeface="Arial"/>
              <a:buChar char="•"/>
            </a:pPr>
            <a:r>
              <a:rPr sz="1300" b="0" i="0" u="none">
                <a:solidFill>
                  <a:srgbClr val="5A6172"/>
                </a:solidFill>
                <a:latin typeface="Garamond"/>
              </a:rPr>
              <a:t>Earn the 83bp gap while held.</a:t>
            </a:r>
          </a:p>
        </p:txBody>
      </p:sp>
      <p:sp>
        <p:nvSpPr>
          <p:cNvPr id="10" name="Rounded Rectangle 9"/>
          <p:cNvSpPr/>
          <p:nvPr/>
        </p:nvSpPr>
        <p:spPr>
          <a:xfrm>
            <a:off x="4344314" y="1847088"/>
            <a:ext cx="3503066" cy="269748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5482" y="2029968"/>
            <a:ext cx="3100730" cy="310896"/>
          </a:xfrm>
          <a:prstGeom prst="rect">
            <a:avLst/>
          </a:prstGeom>
          <a:noFill/>
        </p:spPr>
        <p:txBody>
          <a:bodyPr wrap="square" lIns="0" tIns="0" rIns="0" bIns="0" anchor="t">
            <a:spAutoFit/>
          </a:bodyPr>
          <a:lstStyle/>
          <a:p>
            <a:pPr algn="l">
              <a:lnSpc>
                <a:spcPct val="95000"/>
              </a:lnSpc>
              <a:spcAft>
                <a:spcPts val="600"/>
              </a:spcAft>
            </a:pPr>
            <a:r>
              <a:rPr sz="1400" b="1" i="0" u="none">
                <a:solidFill>
                  <a:srgbClr val="011C40"/>
                </a:solidFill>
                <a:latin typeface="Garamond"/>
              </a:rPr>
              <a:t>2  The floating legs</a:t>
            </a:r>
          </a:p>
        </p:txBody>
      </p:sp>
      <p:sp>
        <p:nvSpPr>
          <p:cNvPr id="12" name="TextBox 11"/>
          <p:cNvSpPr txBox="1"/>
          <p:nvPr/>
        </p:nvSpPr>
        <p:spPr>
          <a:xfrm>
            <a:off x="4545482" y="2414016"/>
            <a:ext cx="3100730" cy="350865"/>
          </a:xfrm>
          <a:prstGeom prst="rect">
            <a:avLst/>
          </a:prstGeom>
          <a:noFill/>
        </p:spPr>
        <p:txBody>
          <a:bodyPr wrap="square" lIns="0" tIns="0" rIns="0" bIns="0" anchor="t">
            <a:spAutoFit/>
          </a:bodyPr>
          <a:lstStyle/>
          <a:p>
            <a:pPr algn="l">
              <a:lnSpc>
                <a:spcPct val="95000"/>
              </a:lnSpc>
              <a:spcAft>
                <a:spcPts val="600"/>
              </a:spcAft>
            </a:pPr>
            <a:r>
              <a:rPr lang="en-US" sz="2400" b="1" i="0" u="none" dirty="0">
                <a:solidFill>
                  <a:srgbClr val="C9922E"/>
                </a:solidFill>
                <a:latin typeface="Garamond"/>
              </a:rPr>
              <a:t>33</a:t>
            </a:r>
            <a:r>
              <a:rPr sz="2400" b="1" i="0" u="none" dirty="0">
                <a:solidFill>
                  <a:srgbClr val="C9922E"/>
                </a:solidFill>
                <a:latin typeface="Garamond"/>
              </a:rPr>
              <a:t> less 17bp</a:t>
            </a:r>
          </a:p>
        </p:txBody>
      </p:sp>
      <p:sp>
        <p:nvSpPr>
          <p:cNvPr id="13" name="TextBox 12"/>
          <p:cNvSpPr txBox="1"/>
          <p:nvPr/>
        </p:nvSpPr>
        <p:spPr>
          <a:xfrm>
            <a:off x="4545482" y="2962656"/>
            <a:ext cx="3100730" cy="765531"/>
          </a:xfrm>
          <a:prstGeom prst="rect">
            <a:avLst/>
          </a:prstGeom>
          <a:noFill/>
        </p:spPr>
        <p:txBody>
          <a:bodyPr wrap="square" lIns="0" tIns="0" rIns="0" bIns="0" anchor="t">
            <a:spAutoFit/>
          </a:bodyPr>
          <a:lstStyle/>
          <a:p>
            <a:pPr marL="171450" indent="-171450" algn="l">
              <a:lnSpc>
                <a:spcPct val="112000"/>
              </a:lnSpc>
              <a:spcAft>
                <a:spcPts val="400"/>
              </a:spcAft>
              <a:buFont typeface="Arial"/>
              <a:buChar char="•"/>
            </a:pPr>
            <a:r>
              <a:rPr sz="1300" b="0" i="0" u="none" dirty="0">
                <a:solidFill>
                  <a:srgbClr val="5A6172"/>
                </a:solidFill>
                <a:latin typeface="Garamond"/>
              </a:rPr>
              <a:t>Receive Euribor; pay €STR + 17bp.</a:t>
            </a:r>
          </a:p>
          <a:p>
            <a:pPr marL="171450" indent="-171450">
              <a:lnSpc>
                <a:spcPct val="112000"/>
              </a:lnSpc>
              <a:spcAft>
                <a:spcPts val="400"/>
              </a:spcAft>
              <a:buFont typeface="Arial"/>
              <a:buChar char="•"/>
            </a:pPr>
            <a:r>
              <a:rPr lang="en-US" sz="1300" b="0" i="0" u="none" dirty="0">
                <a:solidFill>
                  <a:srgbClr val="5A6172"/>
                </a:solidFill>
                <a:latin typeface="Garamond"/>
              </a:rPr>
              <a:t>4.4y </a:t>
            </a:r>
            <a:r>
              <a:rPr sz="1300" b="0" i="0" u="none" dirty="0">
                <a:solidFill>
                  <a:srgbClr val="5A6172"/>
                </a:solidFill>
                <a:latin typeface="Garamond"/>
              </a:rPr>
              <a:t>Euribor/€STR basis</a:t>
            </a:r>
            <a:r>
              <a:rPr lang="en-US" sz="1300" dirty="0">
                <a:solidFill>
                  <a:srgbClr val="5A6172"/>
                </a:solidFill>
                <a:latin typeface="Garamond"/>
              </a:rPr>
              <a:t> is 33bp</a:t>
            </a:r>
            <a:endParaRPr sz="1300" b="0" i="0" u="none" dirty="0">
              <a:solidFill>
                <a:srgbClr val="5A6172"/>
              </a:solidFill>
              <a:latin typeface="Garamond"/>
            </a:endParaRPr>
          </a:p>
          <a:p>
            <a:pPr marL="171450" indent="-171450" algn="l">
              <a:lnSpc>
                <a:spcPct val="112000"/>
              </a:lnSpc>
              <a:spcAft>
                <a:spcPts val="400"/>
              </a:spcAft>
              <a:buFont typeface="Arial"/>
              <a:buChar char="•"/>
            </a:pPr>
            <a:r>
              <a:rPr sz="1300" b="0" i="0" u="none" dirty="0">
                <a:solidFill>
                  <a:srgbClr val="5A6172"/>
                </a:solidFill>
                <a:latin typeface="Garamond"/>
              </a:rPr>
              <a:t>Basis widens in funding stress.</a:t>
            </a:r>
          </a:p>
        </p:txBody>
      </p:sp>
      <p:sp>
        <p:nvSpPr>
          <p:cNvPr id="14" name="Rounded Rectangle 13"/>
          <p:cNvSpPr/>
          <p:nvPr/>
        </p:nvSpPr>
        <p:spPr>
          <a:xfrm>
            <a:off x="8121700" y="1847088"/>
            <a:ext cx="3503066" cy="26974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2868" y="2029968"/>
            <a:ext cx="3100730" cy="310896"/>
          </a:xfrm>
          <a:prstGeom prst="rect">
            <a:avLst/>
          </a:prstGeom>
          <a:noFill/>
        </p:spPr>
        <p:txBody>
          <a:bodyPr wrap="square" lIns="0" tIns="0" rIns="0" bIns="0" anchor="t">
            <a:spAutoFit/>
          </a:bodyPr>
          <a:lstStyle/>
          <a:p>
            <a:pPr algn="l">
              <a:lnSpc>
                <a:spcPct val="95000"/>
              </a:lnSpc>
              <a:spcAft>
                <a:spcPts val="600"/>
              </a:spcAft>
            </a:pPr>
            <a:r>
              <a:rPr sz="1400" b="1" i="0" u="none">
                <a:solidFill>
                  <a:srgbClr val="011C40"/>
                </a:solidFill>
                <a:latin typeface="Garamond"/>
              </a:rPr>
              <a:t>3  Roll-down</a:t>
            </a:r>
          </a:p>
        </p:txBody>
      </p:sp>
      <p:sp>
        <p:nvSpPr>
          <p:cNvPr id="16" name="TextBox 15"/>
          <p:cNvSpPr txBox="1"/>
          <p:nvPr/>
        </p:nvSpPr>
        <p:spPr>
          <a:xfrm>
            <a:off x="8322868" y="2414016"/>
            <a:ext cx="3100730" cy="457200"/>
          </a:xfrm>
          <a:prstGeom prst="rect">
            <a:avLst/>
          </a:prstGeom>
          <a:noFill/>
        </p:spPr>
        <p:txBody>
          <a:bodyPr wrap="square" lIns="0" tIns="0" rIns="0" bIns="0" anchor="t">
            <a:spAutoFit/>
          </a:bodyPr>
          <a:lstStyle/>
          <a:p>
            <a:pPr algn="l">
              <a:lnSpc>
                <a:spcPct val="95000"/>
              </a:lnSpc>
              <a:spcAft>
                <a:spcPts val="600"/>
              </a:spcAft>
            </a:pPr>
            <a:r>
              <a:rPr sz="2400" b="1" i="0" u="none">
                <a:solidFill>
                  <a:srgbClr val="011C40"/>
                </a:solidFill>
                <a:latin typeface="Garamond"/>
              </a:rPr>
              <a:t>+82bp over the life</a:t>
            </a:r>
          </a:p>
        </p:txBody>
      </p:sp>
      <p:sp>
        <p:nvSpPr>
          <p:cNvPr id="17" name="TextBox 16"/>
          <p:cNvSpPr txBox="1"/>
          <p:nvPr/>
        </p:nvSpPr>
        <p:spPr>
          <a:xfrm>
            <a:off x="8322868" y="2962656"/>
            <a:ext cx="3100730" cy="765531"/>
          </a:xfrm>
          <a:prstGeom prst="rect">
            <a:avLst/>
          </a:prstGeom>
          <a:noFill/>
        </p:spPr>
        <p:txBody>
          <a:bodyPr wrap="square" lIns="0" tIns="0" rIns="0" bIns="0" anchor="t">
            <a:spAutoFit/>
          </a:bodyPr>
          <a:lstStyle/>
          <a:p>
            <a:pPr marL="171450" indent="-171450" algn="l">
              <a:lnSpc>
                <a:spcPct val="112000"/>
              </a:lnSpc>
              <a:spcAft>
                <a:spcPts val="400"/>
              </a:spcAft>
              <a:buFont typeface="Arial"/>
              <a:buChar char="•"/>
            </a:pPr>
            <a:r>
              <a:rPr sz="1300" b="0" i="0" u="none">
                <a:solidFill>
                  <a:srgbClr val="5A6172"/>
                </a:solidFill>
                <a:latin typeface="Garamond"/>
              </a:rPr>
              <a:t>Bond rolls from 5.4y (−83bp) to 1y (−1.3bp).</a:t>
            </a:r>
          </a:p>
          <a:p>
            <a:pPr marL="171450" indent="-171450" algn="l">
              <a:lnSpc>
                <a:spcPct val="112000"/>
              </a:lnSpc>
              <a:spcAft>
                <a:spcPts val="400"/>
              </a:spcAft>
              <a:buFont typeface="Arial"/>
              <a:buChar char="•"/>
            </a:pPr>
            <a:r>
              <a:rPr sz="1300" b="0" i="0" u="none">
                <a:solidFill>
                  <a:srgbClr val="5A6172"/>
                </a:solidFill>
                <a:latin typeface="Garamond"/>
              </a:rPr>
              <a:t>Unchanged curve: ~82bp of tightening.</a:t>
            </a:r>
          </a:p>
          <a:p>
            <a:pPr marL="171450" indent="-171450" algn="l">
              <a:lnSpc>
                <a:spcPct val="112000"/>
              </a:lnSpc>
              <a:spcAft>
                <a:spcPts val="400"/>
              </a:spcAft>
              <a:buFont typeface="Arial"/>
              <a:buChar char="•"/>
            </a:pPr>
            <a:r>
              <a:rPr sz="1300" b="0" i="0" u="none">
                <a:solidFill>
                  <a:srgbClr val="5A6172"/>
                </a:solidFill>
                <a:latin typeface="Garamond"/>
              </a:rPr>
              <a:t>Gain is taken in the bond price.</a:t>
            </a:r>
          </a:p>
        </p:txBody>
      </p:sp>
      <p:sp>
        <p:nvSpPr>
          <p:cNvPr id="18" name="Rounded Rectangle 17"/>
          <p:cNvSpPr/>
          <p:nvPr/>
        </p:nvSpPr>
        <p:spPr>
          <a:xfrm>
            <a:off x="566928" y="4754880"/>
            <a:ext cx="11057839" cy="1203665"/>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937760"/>
            <a:ext cx="10692079" cy="926087"/>
          </a:xfrm>
          <a:prstGeom prst="rect">
            <a:avLst/>
          </a:prstGeom>
          <a:noFill/>
        </p:spPr>
        <p:txBody>
          <a:bodyPr wrap="square" lIns="0" tIns="0" rIns="0" bIns="0" anchor="t">
            <a:spAutoFit/>
          </a:bodyPr>
          <a:lstStyle/>
          <a:p>
            <a:pPr algn="l">
              <a:lnSpc>
                <a:spcPct val="114000"/>
              </a:lnSpc>
              <a:spcAft>
                <a:spcPts val="200"/>
              </a:spcAft>
            </a:pPr>
            <a:r>
              <a:rPr sz="1150" b="1" i="0" u="none">
                <a:solidFill>
                  <a:srgbClr val="011C40"/>
                </a:solidFill>
                <a:latin typeface="Garamond"/>
              </a:rPr>
              <a:t>On the capital, approximately</a:t>
            </a:r>
          </a:p>
          <a:p>
            <a:pPr marL="171450" indent="-171450" algn="l">
              <a:lnSpc>
                <a:spcPct val="114000"/>
              </a:lnSpc>
              <a:spcAft>
                <a:spcPts val="400"/>
              </a:spcAft>
              <a:buFont typeface="Arial"/>
              <a:buChar char="•"/>
            </a:pPr>
            <a:r>
              <a:rPr sz="1150" b="0" i="0" u="none">
                <a:solidFill>
                  <a:srgbClr val="5A6172"/>
                </a:solidFill>
                <a:latin typeface="Garamond"/>
              </a:rPr>
              <a:t>100m of bond notional on 1.1m of capital.</a:t>
            </a:r>
          </a:p>
          <a:p>
            <a:pPr marL="171450" indent="-171450" algn="l">
              <a:lnSpc>
                <a:spcPct val="114000"/>
              </a:lnSpc>
              <a:spcAft>
                <a:spcPts val="400"/>
              </a:spcAft>
              <a:buFont typeface="Arial"/>
              <a:buChar char="•"/>
            </a:pPr>
            <a:r>
              <a:rPr sz="1150" b="0" i="0" u="none">
                <a:solidFill>
                  <a:srgbClr val="5A6172"/>
                </a:solidFill>
                <a:latin typeface="Garamond"/>
              </a:rPr>
              <a:t>Carry: ~75% of capital a year, ~332% over 4.4 years; roll-down adds ~74%.</a:t>
            </a:r>
          </a:p>
          <a:p>
            <a:pPr marL="171450" indent="-171450" algn="l">
              <a:lnSpc>
                <a:spcPct val="114000"/>
              </a:lnSpc>
              <a:spcAft>
                <a:spcPts val="400"/>
              </a:spcAft>
              <a:buFont typeface="Arial"/>
              <a:buChar char="•"/>
            </a:pPr>
            <a:r>
              <a:rPr sz="1150" b="0" i="0" u="none">
                <a:solidFill>
                  <a:srgbClr val="5A6172"/>
                </a:solidFill>
                <a:latin typeface="Garamond"/>
              </a:rPr>
              <a:t>Model's 4.75x nets the basis and floor cost (scenario page).</a:t>
            </a:r>
          </a:p>
        </p:txBody>
      </p:sp>
      <p:sp>
        <p:nvSpPr>
          <p:cNvPr id="20" name="TextBox 19"/>
          <p:cNvSpPr txBox="1"/>
          <p:nvPr/>
        </p:nvSpPr>
        <p:spPr>
          <a:xfrm>
            <a:off x="2487168" y="6102912"/>
            <a:ext cx="6766560" cy="144655"/>
          </a:xfrm>
          <a:prstGeom prst="rect">
            <a:avLst/>
          </a:prstGeom>
          <a:noFill/>
        </p:spPr>
        <p:txBody>
          <a:bodyPr wrap="square" lIns="0" tIns="0" rIns="0" bIns="0" anchor="t">
            <a:spAutoFit/>
          </a:bodyPr>
          <a:lstStyle/>
          <a:p>
            <a:pPr algn="l">
              <a:lnSpc>
                <a:spcPct val="108000"/>
              </a:lnSpc>
              <a:spcAft>
                <a:spcPts val="0"/>
              </a:spcAft>
            </a:pPr>
            <a:r>
              <a:rPr sz="900" b="0" i="0" u="none" dirty="0">
                <a:solidFill>
                  <a:srgbClr val="9AA1B2"/>
                </a:solidFill>
                <a:latin typeface="Garamond"/>
              </a:rPr>
              <a:t>Please see the disclosures page regarding the hypothetical performance results listed above. Source: Bloomberg, Liminality calculations.</a:t>
            </a:r>
          </a:p>
        </p:txBody>
      </p:sp>
    </p:spTree>
    <p:extLst>
      <p:ext uri="{BB962C8B-B14F-4D97-AF65-F5344CB8AC3E}">
        <p14:creationId xmlns:p14="http://schemas.microsoft.com/office/powerpoint/2010/main" val="2511181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4B0BD-A497-24AE-F5DD-268F8D22C0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F82C508-667C-BDE2-1EF8-9BEBE28B3187}"/>
              </a:ext>
            </a:extLst>
          </p:cNvPr>
          <p:cNvSpPr>
            <a:spLocks noGrp="1"/>
          </p:cNvSpPr>
          <p:nvPr>
            <p:ph type="title"/>
          </p:nvPr>
        </p:nvSpPr>
        <p:spPr>
          <a:xfrm>
            <a:off x="566928" y="274320"/>
            <a:ext cx="11057839" cy="713232"/>
          </a:xfrm>
        </p:spPr>
        <p:txBody>
          <a:bodyPr wrap="square" lIns="0" rIns="0" anchor="ctr"/>
          <a:lstStyle/>
          <a:p>
            <a:pPr algn="l"/>
            <a:r>
              <a:rPr lang="en-US" sz="2800" b="0" dirty="0">
                <a:solidFill>
                  <a:srgbClr val="FFFFFF"/>
                </a:solidFill>
                <a:latin typeface="Garamond"/>
              </a:rPr>
              <a:t>Where does the return come from – version 2</a:t>
            </a:r>
            <a:endParaRPr sz="2800" b="0" dirty="0">
              <a:solidFill>
                <a:srgbClr val="FFFFFF"/>
              </a:solidFill>
              <a:latin typeface="Garamond"/>
            </a:endParaRPr>
          </a:p>
        </p:txBody>
      </p:sp>
      <p:sp>
        <p:nvSpPr>
          <p:cNvPr id="4" name="TextBox 3">
            <a:extLst>
              <a:ext uri="{FF2B5EF4-FFF2-40B4-BE49-F238E27FC236}">
                <a16:creationId xmlns:a16="http://schemas.microsoft.com/office/drawing/2014/main" id="{B740470B-401F-B218-FA0B-04A3E279D586}"/>
              </a:ext>
            </a:extLst>
          </p:cNvPr>
          <p:cNvSpPr txBox="1"/>
          <p:nvPr/>
        </p:nvSpPr>
        <p:spPr>
          <a:xfrm>
            <a:off x="10710367" y="6419088"/>
            <a:ext cx="914400" cy="15350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9</a:t>
            </a:r>
          </a:p>
        </p:txBody>
      </p:sp>
      <p:sp>
        <p:nvSpPr>
          <p:cNvPr id="5" name="TextBox 4">
            <a:extLst>
              <a:ext uri="{FF2B5EF4-FFF2-40B4-BE49-F238E27FC236}">
                <a16:creationId xmlns:a16="http://schemas.microsoft.com/office/drawing/2014/main" id="{012984C9-DC0B-1A7B-5F7E-3C199DBBC5B8}"/>
              </a:ext>
            </a:extLst>
          </p:cNvPr>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lang="en-US" sz="1350" b="0" i="1" dirty="0">
                <a:solidFill>
                  <a:srgbClr val="CADCFC"/>
                </a:solidFill>
                <a:latin typeface="Garamond"/>
              </a:rPr>
              <a:t>The forward price assumes −540bp at expiry; the return is beating that; per 100m notional</a:t>
            </a:r>
          </a:p>
        </p:txBody>
      </p:sp>
      <p:sp>
        <p:nvSpPr>
          <p:cNvPr id="14" name="TextBox 13">
            <a:extLst>
              <a:ext uri="{FF2B5EF4-FFF2-40B4-BE49-F238E27FC236}">
                <a16:creationId xmlns:a16="http://schemas.microsoft.com/office/drawing/2014/main" id="{9B32DA07-73DC-22A0-B510-E007B44ECA85}"/>
              </a:ext>
            </a:extLst>
          </p:cNvPr>
          <p:cNvSpPr txBox="1"/>
          <p:nvPr/>
        </p:nvSpPr>
        <p:spPr>
          <a:xfrm>
            <a:off x="2487168" y="6019800"/>
            <a:ext cx="7818120" cy="443839"/>
          </a:xfrm>
          <a:prstGeom prst="rect">
            <a:avLst/>
          </a:prstGeom>
          <a:noFill/>
        </p:spPr>
        <p:txBody>
          <a:bodyPr wrap="square" lIns="0" tIns="0" rIns="0" bIns="0" anchor="t">
            <a:spAutoFit/>
          </a:bodyPr>
          <a:lstStyle/>
          <a:p>
            <a:pPr algn="l">
              <a:lnSpc>
                <a:spcPct val="108000"/>
              </a:lnSpc>
              <a:spcAft>
                <a:spcPts val="0"/>
              </a:spcAft>
            </a:pPr>
            <a:r>
              <a:rPr lang="en-US" sz="900" b="0" i="0" dirty="0">
                <a:solidFill>
                  <a:srgbClr val="9AA1B2"/>
                </a:solidFill>
                <a:latin typeface="Garamond"/>
              </a:rPr>
              <a:t>Please see the disclosures page regarding the hypothetical performance results listed above. Levels on 10/2/2026. Forward price at 3.33% repo to 2/20/2031. Expiry prices set the bond's yield at the 1-year spot swap, 3.33%, less each spread. Break-even is the model's 0% simple return, after the floating-leg basis, financing spread and bid-offer. Spreads are the swap rate less the bond yield versus the 6m Euribor swap. Source: Bloomberg, Liminality calculations.</a:t>
            </a:r>
          </a:p>
        </p:txBody>
      </p:sp>
      <p:graphicFrame>
        <p:nvGraphicFramePr>
          <p:cNvPr id="15" name="Chart"/>
          <p:cNvGraphicFramePr/>
          <p:nvPr/>
        </p:nvGraphicFramePr>
        <p:xfrm>
          <a:off x="6032500" y="2159000"/>
          <a:ext cx="5600700" cy="355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Spot vs forward table">
            <a:extLst>
              <a:ext uri="{FF2B5EF4-FFF2-40B4-BE49-F238E27FC236}">
                <a16:creationId xmlns:a16="http://schemas.microsoft.com/office/drawing/2014/main" id="{8AB17175-F92D-4D52-B281-970190345096}"/>
              </a:ext>
            </a:extLst>
          </p:cNvPr>
          <p:cNvGraphicFramePr>
            <a:graphicFrameLocks noGrp="1"/>
          </p:cNvGraphicFramePr>
          <p:nvPr/>
        </p:nvGraphicFramePr>
        <p:xfrm>
          <a:off x="571500" y="1841500"/>
          <a:ext cx="5080000" cy="2159000"/>
        </p:xfrm>
        <a:graphic>
          <a:graphicData uri="http://schemas.openxmlformats.org/drawingml/2006/table">
            <a:tbl>
              <a:tblPr firstRow="1"/>
              <a:tblGrid>
                <a:gridCol w="1651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58800">
                <a:tc>
                  <a:txBody>
                    <a:bodyPr/>
                    <a:lstStyle/>
                    <a:p>
                      <a:pPr algn="l"/>
                      <a:endParaRPr/>
                    </a:p>
                  </a:txBody>
                  <a:tcPr marL="101600" marR="101600" marT="50800" marB="50800" anchor="ctr">
                    <a:lnL w="0">
                      <a:noFill/>
                    </a:lnL>
                    <a:lnR w="0">
                      <a:noFill/>
                    </a:lnR>
                    <a:lnT w="0">
                      <a:noFill/>
                    </a:lnT>
                    <a:lnB w="9525">
                      <a:solidFill>
                        <a:srgbClr val="011C40"/>
                      </a:solidFill>
                    </a:lnB>
                    <a:noFill/>
                  </a:tcPr>
                </a:tc>
                <a:tc>
                  <a:txBody>
                    <a:bodyPr/>
                    <a:lstStyle/>
                    <a:p>
                      <a:pPr algn="r"/>
                      <a:r>
                        <a:rPr lang="en-US" sz="1300" b="1" i="0" dirty="0">
                          <a:solidFill>
                            <a:srgbClr val="011C40"/>
                          </a:solidFill>
                          <a:latin typeface="Garamond"/>
                        </a:rPr>
                        <a:t>Today</a:t>
                      </a:r>
                    </a:p>
                    <a:p>
                      <a:pPr algn="r"/>
                      <a:r>
                        <a:rPr lang="en-US" sz="1050" b="0" i="0" dirty="0">
                          <a:solidFill>
                            <a:srgbClr val="5A6172"/>
                          </a:solidFill>
                          <a:latin typeface="Garamond"/>
                        </a:rPr>
                        <a:t>10/2/2026</a:t>
                      </a:r>
                    </a:p>
                  </a:txBody>
                  <a:tcPr marL="101600" marR="101600" marT="50800" marB="50800" anchor="ctr">
                    <a:lnL w="0">
                      <a:noFill/>
                    </a:lnL>
                    <a:lnR w="0">
                      <a:noFill/>
                    </a:lnR>
                    <a:lnT w="0">
                      <a:noFill/>
                    </a:lnT>
                    <a:lnB w="9525">
                      <a:solidFill>
                        <a:srgbClr val="011C40"/>
                      </a:solidFill>
                    </a:lnB>
                    <a:noFill/>
                  </a:tcPr>
                </a:tc>
                <a:tc>
                  <a:txBody>
                    <a:bodyPr/>
                    <a:lstStyle/>
                    <a:p>
                      <a:pPr algn="r"/>
                      <a:r>
                        <a:rPr lang="en-US" sz="1300" b="1" i="0" dirty="0">
                          <a:solidFill>
                            <a:srgbClr val="011C40"/>
                          </a:solidFill>
                          <a:latin typeface="Garamond"/>
                        </a:rPr>
                        <a:t>Forward</a:t>
                      </a:r>
                    </a:p>
                    <a:p>
                      <a:pPr algn="r"/>
                      <a:r>
                        <a:rPr lang="en-US" sz="1050" b="0" i="0" dirty="0">
                          <a:solidFill>
                            <a:srgbClr val="5A6172"/>
                          </a:solidFill>
                          <a:latin typeface="Garamond"/>
                        </a:rPr>
                        <a:t>2/20/2031</a:t>
                      </a:r>
                    </a:p>
                  </a:txBody>
                  <a:tcPr marL="101600" marR="101600" marT="50800" marB="50800" anchor="ctr">
                    <a:lnL w="0">
                      <a:noFill/>
                    </a:lnL>
                    <a:lnR w="0">
                      <a:noFill/>
                    </a:lnR>
                    <a:lnT w="0">
                      <a:noFill/>
                    </a:lnT>
                    <a:lnB w="9525">
                      <a:solidFill>
                        <a:srgbClr val="011C40"/>
                      </a:solidFill>
                    </a:lnB>
                    <a:solidFill>
                      <a:srgbClr val="EEF4FD"/>
                    </a:solidFill>
                  </a:tcPr>
                </a:tc>
                <a:extLst>
                  <a:ext uri="{0D108BD9-81ED-4DB2-BD59-A6C34878D82A}">
                    <a16:rowId xmlns:a16="http://schemas.microsoft.com/office/drawing/2014/main" val="10000"/>
                  </a:ext>
                </a:extLst>
              </a:tr>
              <a:tr h="400050">
                <a:tc>
                  <a:txBody>
                    <a:bodyPr/>
                    <a:lstStyle/>
                    <a:p>
                      <a:pPr algn="l"/>
                      <a:r>
                        <a:rPr lang="en-US" sz="1300" b="1" i="0" dirty="0">
                          <a:solidFill>
                            <a:srgbClr val="011C40"/>
                          </a:solidFill>
                          <a:latin typeface="Garamond"/>
                        </a:rPr>
                        <a:t>OAT price</a:t>
                      </a:r>
                    </a:p>
                  </a:txBody>
                  <a:tcPr marL="101600" marR="101600" marT="50800" marB="508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94.91</a:t>
                      </a:r>
                    </a:p>
                  </a:txBody>
                  <a:tcPr marL="101600" marR="101600" marT="50800" marB="508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94.72</a:t>
                      </a:r>
                    </a:p>
                  </a:txBody>
                  <a:tcPr marL="101600" marR="101600" marT="50800" marB="508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1"/>
                  </a:ext>
                </a:extLst>
              </a:tr>
              <a:tr h="400050">
                <a:tc>
                  <a:txBody>
                    <a:bodyPr/>
                    <a:lstStyle/>
                    <a:p>
                      <a:pPr algn="l"/>
                      <a:r>
                        <a:rPr lang="en-US" sz="1300" b="1" i="0" dirty="0">
                          <a:solidFill>
                            <a:srgbClr val="011C40"/>
                          </a:solidFill>
                          <a:latin typeface="Garamond"/>
                        </a:rPr>
                        <a:t>OAT yield</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4.33%</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8.93%</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2"/>
                  </a:ext>
                </a:extLst>
              </a:tr>
              <a:tr h="400050">
                <a:tc>
                  <a:txBody>
                    <a:bodyPr/>
                    <a:lstStyle/>
                    <a:p>
                      <a:pPr algn="l"/>
                      <a:r>
                        <a:rPr lang="en-US" sz="1300" b="1" i="0" dirty="0">
                          <a:solidFill>
                            <a:srgbClr val="011C40"/>
                          </a:solidFill>
                          <a:latin typeface="Garamond"/>
                        </a:rPr>
                        <a:t>Swap rate</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050" b="0" i="0" dirty="0">
                          <a:solidFill>
                            <a:srgbClr val="5A6172"/>
                          </a:solidFill>
                          <a:latin typeface="Garamond"/>
                        </a:rPr>
                        <a:t>5.4y  </a:t>
                      </a:r>
                      <a:r>
                        <a:rPr lang="en-US" sz="1300" b="0" i="0" dirty="0">
                          <a:solidFill>
                            <a:srgbClr val="011C40"/>
                          </a:solidFill>
                          <a:latin typeface="Garamond"/>
                        </a:rPr>
                        <a:t>3.50%</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050" b="0" i="0" dirty="0">
                          <a:solidFill>
                            <a:srgbClr val="5A6172"/>
                          </a:solidFill>
                          <a:latin typeface="Garamond"/>
                        </a:rPr>
                        <a:t>4.4y1y  </a:t>
                      </a:r>
                      <a:r>
                        <a:rPr lang="en-US" sz="1300" b="0" i="0" dirty="0">
                          <a:solidFill>
                            <a:srgbClr val="011C40"/>
                          </a:solidFill>
                          <a:latin typeface="Garamond"/>
                        </a:rPr>
                        <a:t>3.52%</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3"/>
                  </a:ext>
                </a:extLst>
              </a:tr>
              <a:tr h="400050">
                <a:tc>
                  <a:txBody>
                    <a:bodyPr/>
                    <a:lstStyle/>
                    <a:p>
                      <a:pPr algn="l"/>
                      <a:r>
                        <a:rPr lang="en-US" sz="1300" b="1" i="0" dirty="0">
                          <a:solidFill>
                            <a:srgbClr val="011C40"/>
                          </a:solidFill>
                          <a:latin typeface="Garamond"/>
                        </a:rPr>
                        <a:t>Spread</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−83bp</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1" i="0" dirty="0">
                          <a:solidFill>
                            <a:srgbClr val="B3332E"/>
                          </a:solidFill>
                          <a:latin typeface="Garamond"/>
                        </a:rPr>
                        <a:t>−540bp</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4"/>
                  </a:ext>
                </a:extLst>
              </a:tr>
            </a:tbl>
          </a:graphicData>
        </a:graphic>
      </p:graphicFrame>
      <p:sp>
        <p:nvSpPr>
          <p:cNvPr id="7" name="Read card">
            <a:extLst>
              <a:ext uri="{FF2B5EF4-FFF2-40B4-BE49-F238E27FC236}">
                <a16:creationId xmlns:a16="http://schemas.microsoft.com/office/drawing/2014/main" id="{2FAD227A-F2F4-4C51-8CCF-414A2168D032}"/>
              </a:ext>
            </a:extLst>
          </p:cNvPr>
          <p:cNvSpPr/>
          <p:nvPr/>
        </p:nvSpPr>
        <p:spPr>
          <a:xfrm>
            <a:off x="571500" y="4191000"/>
            <a:ext cx="5080000" cy="1498600"/>
          </a:xfrm>
          <a:prstGeom prst="roundRect">
            <a:avLst/>
          </a:prstGeom>
          <a:solidFill>
            <a:srgbClr val="EEF4F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ad text">
            <a:extLst>
              <a:ext uri="{FF2B5EF4-FFF2-40B4-BE49-F238E27FC236}">
                <a16:creationId xmlns:a16="http://schemas.microsoft.com/office/drawing/2014/main" id="{9A91F163-8256-457E-A7B5-2C1179E5C5E0}"/>
              </a:ext>
            </a:extLst>
          </p:cNvPr>
          <p:cNvSpPr txBox="1"/>
          <p:nvPr/>
        </p:nvSpPr>
        <p:spPr>
          <a:xfrm>
            <a:off x="762000" y="4356100"/>
            <a:ext cx="4699000" cy="986552"/>
          </a:xfrm>
          <a:prstGeom prst="rect">
            <a:avLst/>
          </a:prstGeom>
          <a:noFill/>
        </p:spPr>
        <p:txBody>
          <a:bodyPr vertOverflow="overflow" vert="horz" wrap="square" lIns="0" tIns="0" rIns="0" bIns="0" rtlCol="0" anchor="t">
            <a:spAutoFit/>
          </a:bodyPr>
          <a:lstStyle/>
          <a:p>
            <a:pPr algn="l">
              <a:lnSpc>
                <a:spcPct val="114000"/>
              </a:lnSpc>
              <a:spcAft>
                <a:spcPts val="400"/>
              </a:spcAft>
            </a:pPr>
            <a:r>
              <a:rPr lang="en-US" sz="1200" b="1" i="0" dirty="0">
                <a:solidFill>
                  <a:srgbClr val="011C40"/>
                </a:solidFill>
                <a:latin typeface="Garamond"/>
              </a:rPr>
              <a:t>How the return builds</a:t>
            </a:r>
          </a:p>
          <a:p>
            <a:pPr marL="171450" indent="-171450" algn="l">
              <a:lnSpc>
                <a:spcPct val="114000"/>
              </a:lnSpc>
              <a:spcAft>
                <a:spcPts val="400"/>
              </a:spcAft>
              <a:buFont typeface="Arial"/>
              <a:buChar char="•"/>
            </a:pPr>
            <a:r>
              <a:rPr lang="en-US" sz="1200" b="0" i="0" dirty="0">
                <a:solidFill>
                  <a:srgbClr val="5A6172"/>
                </a:solidFill>
                <a:latin typeface="Garamond"/>
              </a:rPr>
              <a:t>The swap barely moves: 3.50% today, 3.52% forward.</a:t>
            </a:r>
          </a:p>
          <a:p>
            <a:pPr marL="171450" indent="-171450" algn="l">
              <a:lnSpc>
                <a:spcPct val="114000"/>
              </a:lnSpc>
              <a:spcAft>
                <a:spcPts val="400"/>
              </a:spcAft>
              <a:buFont typeface="Arial"/>
              <a:buChar char="•"/>
            </a:pPr>
            <a:r>
              <a:rPr lang="en-US" sz="1200" b="0" i="0" dirty="0">
                <a:solidFill>
                  <a:srgbClr val="5A6172"/>
                </a:solidFill>
                <a:latin typeface="Garamond"/>
              </a:rPr>
              <a:t>The bond does the work: forward 94.72 implies −540bp.</a:t>
            </a:r>
          </a:p>
          <a:p>
            <a:pPr marL="171450" indent="-171450" algn="l">
              <a:lnSpc>
                <a:spcPct val="114000"/>
              </a:lnSpc>
              <a:spcAft>
                <a:spcPts val="400"/>
              </a:spcAft>
              <a:buFont typeface="Arial"/>
              <a:buChar char="•"/>
            </a:pPr>
            <a:r>
              <a:rPr lang="en-US" sz="1200" b="0" i="0" dirty="0">
                <a:solidFill>
                  <a:srgbClr val="5A6172"/>
                </a:solidFill>
                <a:latin typeface="Garamond"/>
              </a:rPr>
              <a:t>At today's −3bp, it rolls to 99.89: +€5.2m.</a:t>
            </a:r>
          </a:p>
        </p:txBody>
      </p:sp>
      <p:sp>
        <p:nvSpPr>
          <p:cNvPr id="9" name="Chart label">
            <a:extLst>
              <a:ext uri="{FF2B5EF4-FFF2-40B4-BE49-F238E27FC236}">
                <a16:creationId xmlns:a16="http://schemas.microsoft.com/office/drawing/2014/main" id="{92DE8CA4-E488-42DC-B8F2-975339CE5348}"/>
              </a:ext>
            </a:extLst>
          </p:cNvPr>
          <p:cNvSpPr txBox="1"/>
          <p:nvPr/>
        </p:nvSpPr>
        <p:spPr>
          <a:xfrm>
            <a:off x="6032500" y="1778000"/>
            <a:ext cx="5600700" cy="184666"/>
          </a:xfrm>
          <a:prstGeom prst="rect">
            <a:avLst/>
          </a:prstGeom>
          <a:noFill/>
        </p:spPr>
        <p:txBody>
          <a:bodyPr vertOverflow="overflow" vert="horz" wrap="square" lIns="91440" tIns="0" bIns="0" rtlCol="0" anchor="t">
            <a:spAutoFit/>
          </a:bodyPr>
          <a:lstStyle/>
          <a:p>
            <a:pPr algn="l"/>
            <a:r>
              <a:rPr lang="en-US" sz="1200" b="1" i="0" dirty="0">
                <a:solidFill>
                  <a:srgbClr val="011C40"/>
                </a:solidFill>
                <a:latin typeface="Garamond"/>
              </a:rPr>
              <a:t>Gain on the bond over its forward price at expiry, by 1-year spread and expiry price</a:t>
            </a:r>
          </a:p>
        </p:txBody>
      </p:sp>
    </p:spTree>
    <p:extLst>
      <p:ext uri="{BB962C8B-B14F-4D97-AF65-F5344CB8AC3E}">
        <p14:creationId xmlns:p14="http://schemas.microsoft.com/office/powerpoint/2010/main" val="2683991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45E45-BE99-3D89-73F3-FD5DB7AB07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FF34D3-7628-1437-39A3-939A0861A4DF}"/>
              </a:ext>
            </a:extLst>
          </p:cNvPr>
          <p:cNvSpPr>
            <a:spLocks noGrp="1"/>
          </p:cNvSpPr>
          <p:nvPr>
            <p:ph type="title"/>
          </p:nvPr>
        </p:nvSpPr>
        <p:spPr>
          <a:xfrm>
            <a:off x="566928" y="274320"/>
            <a:ext cx="11057839" cy="713232"/>
          </a:xfrm>
        </p:spPr>
        <p:txBody>
          <a:bodyPr wrap="square" lIns="0" rIns="0" anchor="ctr"/>
          <a:lstStyle/>
          <a:p>
            <a:pPr algn="l"/>
            <a:r>
              <a:rPr lang="en-US" sz="2800" b="0" dirty="0">
                <a:solidFill>
                  <a:srgbClr val="FFFFFF"/>
                </a:solidFill>
                <a:latin typeface="Garamond"/>
              </a:rPr>
              <a:t>Where does the return come from – version 3</a:t>
            </a:r>
            <a:endParaRPr sz="2800" b="0" dirty="0">
              <a:solidFill>
                <a:srgbClr val="FFFFFF"/>
              </a:solidFill>
              <a:latin typeface="Garamond"/>
            </a:endParaRPr>
          </a:p>
        </p:txBody>
      </p:sp>
      <p:sp>
        <p:nvSpPr>
          <p:cNvPr id="4" name="TextBox 3">
            <a:extLst>
              <a:ext uri="{FF2B5EF4-FFF2-40B4-BE49-F238E27FC236}">
                <a16:creationId xmlns:a16="http://schemas.microsoft.com/office/drawing/2014/main" id="{4BFBDBBA-4C67-0DAD-A507-48E47A225C9D}"/>
              </a:ext>
            </a:extLst>
          </p:cNvPr>
          <p:cNvSpPr txBox="1"/>
          <p:nvPr/>
        </p:nvSpPr>
        <p:spPr>
          <a:xfrm>
            <a:off x="10710367" y="6419088"/>
            <a:ext cx="914400" cy="15350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9</a:t>
            </a:r>
          </a:p>
        </p:txBody>
      </p:sp>
      <p:sp>
        <p:nvSpPr>
          <p:cNvPr id="5" name="TextBox 4">
            <a:extLst>
              <a:ext uri="{FF2B5EF4-FFF2-40B4-BE49-F238E27FC236}">
                <a16:creationId xmlns:a16="http://schemas.microsoft.com/office/drawing/2014/main" id="{B9F9B4A3-CA64-62B6-B0EF-DA759AD7C065}"/>
              </a:ext>
            </a:extLst>
          </p:cNvPr>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lang="en-US" sz="1350" b="0" i="1" dirty="0">
                <a:solidFill>
                  <a:srgbClr val="CADCFC"/>
                </a:solidFill>
                <a:latin typeface="Garamond"/>
              </a:rPr>
              <a:t>The forward price assumes −540bp at expiry; the return is beating that; per 100m notional</a:t>
            </a:r>
          </a:p>
        </p:txBody>
      </p:sp>
      <p:sp>
        <p:nvSpPr>
          <p:cNvPr id="14" name="TextBox 13">
            <a:extLst>
              <a:ext uri="{FF2B5EF4-FFF2-40B4-BE49-F238E27FC236}">
                <a16:creationId xmlns:a16="http://schemas.microsoft.com/office/drawing/2014/main" id="{C384DE6A-3662-BC8D-6B26-D6D29083F990}"/>
              </a:ext>
            </a:extLst>
          </p:cNvPr>
          <p:cNvSpPr txBox="1"/>
          <p:nvPr/>
        </p:nvSpPr>
        <p:spPr>
          <a:xfrm>
            <a:off x="2487168" y="6019800"/>
            <a:ext cx="7818120" cy="443839"/>
          </a:xfrm>
          <a:prstGeom prst="rect">
            <a:avLst/>
          </a:prstGeom>
          <a:noFill/>
        </p:spPr>
        <p:txBody>
          <a:bodyPr wrap="square" lIns="0" tIns="0" rIns="0" bIns="0" anchor="t">
            <a:spAutoFit/>
          </a:bodyPr>
          <a:lstStyle/>
          <a:p>
            <a:pPr algn="l">
              <a:lnSpc>
                <a:spcPct val="108000"/>
              </a:lnSpc>
              <a:spcAft>
                <a:spcPts val="0"/>
              </a:spcAft>
            </a:pPr>
            <a:r>
              <a:rPr lang="en-US" sz="900" b="0" i="0" dirty="0">
                <a:solidFill>
                  <a:srgbClr val="9AA1B2"/>
                </a:solidFill>
                <a:latin typeface="Garamond"/>
              </a:rPr>
              <a:t>Please see the disclosures page regarding the hypothetical performance results listed above. Levels on 10/2/2026. Forward price at 3.33% repo to 2/20/2031. Expiry prices set the bond's yield at the 1-year spot swap, 3.33%, less each spread. Break-even is the model's 0% simple return, after the floating-leg basis, financing spread and bid-offer. Spreads are the swap rate less the bond yield versus the 6m Euribor swap. Source: Bloomberg, Liminality calculations.</a:t>
            </a:r>
          </a:p>
        </p:txBody>
      </p:sp>
      <p:graphicFrame>
        <p:nvGraphicFramePr>
          <p:cNvPr id="6" name="Spot vs forward table">
            <a:extLst>
              <a:ext uri="{FF2B5EF4-FFF2-40B4-BE49-F238E27FC236}">
                <a16:creationId xmlns:a16="http://schemas.microsoft.com/office/drawing/2014/main" id="{6BC9B087-CCAB-7D84-FF6E-82190EB8FD8E}"/>
              </a:ext>
            </a:extLst>
          </p:cNvPr>
          <p:cNvGraphicFramePr>
            <a:graphicFrameLocks noGrp="1"/>
          </p:cNvGraphicFramePr>
          <p:nvPr/>
        </p:nvGraphicFramePr>
        <p:xfrm>
          <a:off x="571500" y="1841500"/>
          <a:ext cx="5080000" cy="2159000"/>
        </p:xfrm>
        <a:graphic>
          <a:graphicData uri="http://schemas.openxmlformats.org/drawingml/2006/table">
            <a:tbl>
              <a:tblPr firstRow="1"/>
              <a:tblGrid>
                <a:gridCol w="1651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58800">
                <a:tc>
                  <a:txBody>
                    <a:bodyPr/>
                    <a:lstStyle/>
                    <a:p>
                      <a:pPr algn="l"/>
                      <a:endParaRPr/>
                    </a:p>
                  </a:txBody>
                  <a:tcPr marL="101600" marR="101600" marT="50800" marB="50800" anchor="ctr">
                    <a:lnL w="0">
                      <a:noFill/>
                    </a:lnL>
                    <a:lnR w="0">
                      <a:noFill/>
                    </a:lnR>
                    <a:lnT w="0">
                      <a:noFill/>
                    </a:lnT>
                    <a:lnB w="9525">
                      <a:solidFill>
                        <a:srgbClr val="011C40"/>
                      </a:solidFill>
                    </a:lnB>
                    <a:noFill/>
                  </a:tcPr>
                </a:tc>
                <a:tc>
                  <a:txBody>
                    <a:bodyPr/>
                    <a:lstStyle/>
                    <a:p>
                      <a:pPr algn="r"/>
                      <a:r>
                        <a:rPr lang="en-US" sz="1300" b="1" i="0" dirty="0">
                          <a:solidFill>
                            <a:srgbClr val="011C40"/>
                          </a:solidFill>
                          <a:latin typeface="Garamond"/>
                        </a:rPr>
                        <a:t>Today</a:t>
                      </a:r>
                    </a:p>
                    <a:p>
                      <a:pPr algn="r"/>
                      <a:r>
                        <a:rPr lang="en-US" sz="1050" b="0" i="0" dirty="0">
                          <a:solidFill>
                            <a:srgbClr val="5A6172"/>
                          </a:solidFill>
                          <a:latin typeface="Garamond"/>
                        </a:rPr>
                        <a:t>10/2/2026</a:t>
                      </a:r>
                    </a:p>
                  </a:txBody>
                  <a:tcPr marL="101600" marR="101600" marT="50800" marB="50800" anchor="ctr">
                    <a:lnL w="0">
                      <a:noFill/>
                    </a:lnL>
                    <a:lnR w="0">
                      <a:noFill/>
                    </a:lnR>
                    <a:lnT w="0">
                      <a:noFill/>
                    </a:lnT>
                    <a:lnB w="9525">
                      <a:solidFill>
                        <a:srgbClr val="011C40"/>
                      </a:solidFill>
                    </a:lnB>
                    <a:noFill/>
                  </a:tcPr>
                </a:tc>
                <a:tc>
                  <a:txBody>
                    <a:bodyPr/>
                    <a:lstStyle/>
                    <a:p>
                      <a:pPr algn="r"/>
                      <a:r>
                        <a:rPr lang="en-US" sz="1300" b="1" i="0" dirty="0">
                          <a:solidFill>
                            <a:srgbClr val="011C40"/>
                          </a:solidFill>
                          <a:latin typeface="Garamond"/>
                        </a:rPr>
                        <a:t>Forward</a:t>
                      </a:r>
                    </a:p>
                    <a:p>
                      <a:pPr algn="r"/>
                      <a:r>
                        <a:rPr lang="en-US" sz="1050" b="0" i="0" dirty="0">
                          <a:solidFill>
                            <a:srgbClr val="5A6172"/>
                          </a:solidFill>
                          <a:latin typeface="Garamond"/>
                        </a:rPr>
                        <a:t>2/20/2031</a:t>
                      </a:r>
                    </a:p>
                  </a:txBody>
                  <a:tcPr marL="101600" marR="101600" marT="50800" marB="50800" anchor="ctr">
                    <a:lnL w="0">
                      <a:noFill/>
                    </a:lnL>
                    <a:lnR w="0">
                      <a:noFill/>
                    </a:lnR>
                    <a:lnT w="0">
                      <a:noFill/>
                    </a:lnT>
                    <a:lnB w="9525">
                      <a:solidFill>
                        <a:srgbClr val="011C40"/>
                      </a:solidFill>
                    </a:lnB>
                    <a:solidFill>
                      <a:srgbClr val="EEF4FD"/>
                    </a:solidFill>
                  </a:tcPr>
                </a:tc>
                <a:extLst>
                  <a:ext uri="{0D108BD9-81ED-4DB2-BD59-A6C34878D82A}">
                    <a16:rowId xmlns:a16="http://schemas.microsoft.com/office/drawing/2014/main" val="10000"/>
                  </a:ext>
                </a:extLst>
              </a:tr>
              <a:tr h="400050">
                <a:tc>
                  <a:txBody>
                    <a:bodyPr/>
                    <a:lstStyle/>
                    <a:p>
                      <a:pPr algn="l"/>
                      <a:r>
                        <a:rPr lang="en-US" sz="1300" b="1" i="0" dirty="0">
                          <a:solidFill>
                            <a:srgbClr val="011C40"/>
                          </a:solidFill>
                          <a:latin typeface="Garamond"/>
                        </a:rPr>
                        <a:t>OAT price</a:t>
                      </a:r>
                    </a:p>
                  </a:txBody>
                  <a:tcPr marL="101600" marR="101600" marT="50800" marB="508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94.91</a:t>
                      </a:r>
                    </a:p>
                  </a:txBody>
                  <a:tcPr marL="101600" marR="101600" marT="50800" marB="508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94.72</a:t>
                      </a:r>
                    </a:p>
                  </a:txBody>
                  <a:tcPr marL="101600" marR="101600" marT="50800" marB="508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1"/>
                  </a:ext>
                </a:extLst>
              </a:tr>
              <a:tr h="400050">
                <a:tc>
                  <a:txBody>
                    <a:bodyPr/>
                    <a:lstStyle/>
                    <a:p>
                      <a:pPr algn="l"/>
                      <a:r>
                        <a:rPr lang="en-US" sz="1300" b="1" i="0" dirty="0">
                          <a:solidFill>
                            <a:srgbClr val="011C40"/>
                          </a:solidFill>
                          <a:latin typeface="Garamond"/>
                        </a:rPr>
                        <a:t>OAT yield</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4.33%</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8.93%</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2"/>
                  </a:ext>
                </a:extLst>
              </a:tr>
              <a:tr h="400050">
                <a:tc>
                  <a:txBody>
                    <a:bodyPr/>
                    <a:lstStyle/>
                    <a:p>
                      <a:pPr algn="l"/>
                      <a:r>
                        <a:rPr lang="en-US" sz="1300" b="1" i="0" dirty="0">
                          <a:solidFill>
                            <a:srgbClr val="011C40"/>
                          </a:solidFill>
                          <a:latin typeface="Garamond"/>
                        </a:rPr>
                        <a:t>Swap rate</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050" b="0" i="0" dirty="0">
                          <a:solidFill>
                            <a:srgbClr val="5A6172"/>
                          </a:solidFill>
                          <a:latin typeface="Garamond"/>
                        </a:rPr>
                        <a:t>5.4y  </a:t>
                      </a:r>
                      <a:r>
                        <a:rPr lang="en-US" sz="1300" b="0" i="0" dirty="0">
                          <a:solidFill>
                            <a:srgbClr val="011C40"/>
                          </a:solidFill>
                          <a:latin typeface="Garamond"/>
                        </a:rPr>
                        <a:t>3.50%</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050" b="0" i="0" dirty="0">
                          <a:solidFill>
                            <a:srgbClr val="5A6172"/>
                          </a:solidFill>
                          <a:latin typeface="Garamond"/>
                        </a:rPr>
                        <a:t>4.4y1y  </a:t>
                      </a:r>
                      <a:r>
                        <a:rPr lang="en-US" sz="1300" b="0" i="0" dirty="0">
                          <a:solidFill>
                            <a:srgbClr val="011C40"/>
                          </a:solidFill>
                          <a:latin typeface="Garamond"/>
                        </a:rPr>
                        <a:t>3.52%</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3"/>
                  </a:ext>
                </a:extLst>
              </a:tr>
              <a:tr h="400050">
                <a:tc>
                  <a:txBody>
                    <a:bodyPr/>
                    <a:lstStyle/>
                    <a:p>
                      <a:pPr algn="l"/>
                      <a:r>
                        <a:rPr lang="en-US" sz="1300" b="1" i="0" dirty="0">
                          <a:solidFill>
                            <a:srgbClr val="011C40"/>
                          </a:solidFill>
                          <a:latin typeface="Garamond"/>
                        </a:rPr>
                        <a:t>Spread</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0" i="0" dirty="0">
                          <a:solidFill>
                            <a:srgbClr val="011C40"/>
                          </a:solidFill>
                          <a:latin typeface="Garamond"/>
                        </a:rPr>
                        <a:t>−83bp</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300" b="1" i="0" dirty="0">
                          <a:solidFill>
                            <a:srgbClr val="B3332E"/>
                          </a:solidFill>
                          <a:latin typeface="Garamond"/>
                        </a:rPr>
                        <a:t>−540bp</a:t>
                      </a:r>
                    </a:p>
                  </a:txBody>
                  <a:tcPr marL="101600" marR="101600" marT="50800" marB="508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solidFill>
                      <a:srgbClr val="EEF4FD"/>
                    </a:solidFill>
                  </a:tcPr>
                </a:tc>
                <a:extLst>
                  <a:ext uri="{0D108BD9-81ED-4DB2-BD59-A6C34878D82A}">
                    <a16:rowId xmlns:a16="http://schemas.microsoft.com/office/drawing/2014/main" val="10004"/>
                  </a:ext>
                </a:extLst>
              </a:tr>
            </a:tbl>
          </a:graphicData>
        </a:graphic>
      </p:graphicFrame>
      <p:sp>
        <p:nvSpPr>
          <p:cNvPr id="7" name="Read card">
            <a:extLst>
              <a:ext uri="{FF2B5EF4-FFF2-40B4-BE49-F238E27FC236}">
                <a16:creationId xmlns:a16="http://schemas.microsoft.com/office/drawing/2014/main" id="{8930749E-C34C-79AB-DF5C-7F2B3DE8CAD1}"/>
              </a:ext>
            </a:extLst>
          </p:cNvPr>
          <p:cNvSpPr/>
          <p:nvPr/>
        </p:nvSpPr>
        <p:spPr>
          <a:xfrm>
            <a:off x="571500" y="4191000"/>
            <a:ext cx="5080000" cy="1498600"/>
          </a:xfrm>
          <a:prstGeom prst="roundRect">
            <a:avLst/>
          </a:prstGeom>
          <a:solidFill>
            <a:srgbClr val="EEF4F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ad text">
            <a:extLst>
              <a:ext uri="{FF2B5EF4-FFF2-40B4-BE49-F238E27FC236}">
                <a16:creationId xmlns:a16="http://schemas.microsoft.com/office/drawing/2014/main" id="{66890EFA-75B6-F872-2430-DAE33C59935F}"/>
              </a:ext>
            </a:extLst>
          </p:cNvPr>
          <p:cNvSpPr txBox="1"/>
          <p:nvPr/>
        </p:nvSpPr>
        <p:spPr>
          <a:xfrm>
            <a:off x="762000" y="4356100"/>
            <a:ext cx="4699000" cy="986552"/>
          </a:xfrm>
          <a:prstGeom prst="rect">
            <a:avLst/>
          </a:prstGeom>
          <a:noFill/>
        </p:spPr>
        <p:txBody>
          <a:bodyPr vertOverflow="overflow" vert="horz" wrap="square" lIns="0" tIns="0" rIns="0" bIns="0" rtlCol="0" anchor="t">
            <a:spAutoFit/>
          </a:bodyPr>
          <a:lstStyle/>
          <a:p>
            <a:pPr algn="l">
              <a:lnSpc>
                <a:spcPct val="114000"/>
              </a:lnSpc>
              <a:spcAft>
                <a:spcPts val="400"/>
              </a:spcAft>
            </a:pPr>
            <a:r>
              <a:rPr lang="en-US" sz="1200" b="1" i="0" dirty="0">
                <a:solidFill>
                  <a:srgbClr val="011C40"/>
                </a:solidFill>
                <a:latin typeface="Garamond"/>
              </a:rPr>
              <a:t>How the return builds</a:t>
            </a:r>
          </a:p>
          <a:p>
            <a:pPr marL="171450" indent="-171450" algn="l">
              <a:lnSpc>
                <a:spcPct val="114000"/>
              </a:lnSpc>
              <a:spcAft>
                <a:spcPts val="400"/>
              </a:spcAft>
              <a:buFont typeface="Arial"/>
              <a:buChar char="•"/>
            </a:pPr>
            <a:r>
              <a:rPr lang="en-US" sz="1200" b="0" i="0" dirty="0">
                <a:solidFill>
                  <a:srgbClr val="5A6172"/>
                </a:solidFill>
                <a:latin typeface="Garamond"/>
              </a:rPr>
              <a:t>The swap barely moves: 3.50% today, 3.52% forward.</a:t>
            </a:r>
          </a:p>
          <a:p>
            <a:pPr marL="171450" indent="-171450" algn="l">
              <a:lnSpc>
                <a:spcPct val="114000"/>
              </a:lnSpc>
              <a:spcAft>
                <a:spcPts val="400"/>
              </a:spcAft>
              <a:buFont typeface="Arial"/>
              <a:buChar char="•"/>
            </a:pPr>
            <a:r>
              <a:rPr lang="en-US" sz="1200" b="0" i="0" dirty="0">
                <a:solidFill>
                  <a:srgbClr val="5A6172"/>
                </a:solidFill>
                <a:latin typeface="Garamond"/>
              </a:rPr>
              <a:t>The bond does the work: forward 94.72 implies −540bp.</a:t>
            </a:r>
          </a:p>
          <a:p>
            <a:pPr marL="171450" indent="-171450" algn="l">
              <a:lnSpc>
                <a:spcPct val="114000"/>
              </a:lnSpc>
              <a:spcAft>
                <a:spcPts val="400"/>
              </a:spcAft>
              <a:buFont typeface="Arial"/>
              <a:buChar char="•"/>
            </a:pPr>
            <a:r>
              <a:rPr lang="en-US" sz="1200" b="0" i="0" dirty="0">
                <a:solidFill>
                  <a:srgbClr val="5A6172"/>
                </a:solidFill>
                <a:latin typeface="Garamond"/>
              </a:rPr>
              <a:t>At today's −3bp, it rolls to 99.89: +€5.2m.</a:t>
            </a:r>
          </a:p>
        </p:txBody>
      </p:sp>
      <p:pic>
        <p:nvPicPr>
          <p:cNvPr id="10" name="Picture 9">
            <a:extLst>
              <a:ext uri="{FF2B5EF4-FFF2-40B4-BE49-F238E27FC236}">
                <a16:creationId xmlns:a16="http://schemas.microsoft.com/office/drawing/2014/main" id="{2814023D-98C9-13EC-118C-B7AD2802A08B}"/>
              </a:ext>
            </a:extLst>
          </p:cNvPr>
          <p:cNvPicPr>
            <a:picLocks noChangeAspect="1"/>
          </p:cNvPicPr>
          <p:nvPr/>
        </p:nvPicPr>
        <p:blipFill>
          <a:blip r:embed="rId2"/>
          <a:stretch>
            <a:fillRect/>
          </a:stretch>
        </p:blipFill>
        <p:spPr>
          <a:xfrm>
            <a:off x="6309555" y="1841500"/>
            <a:ext cx="2678252" cy="2869177"/>
          </a:xfrm>
          <a:prstGeom prst="rect">
            <a:avLst/>
          </a:prstGeom>
        </p:spPr>
      </p:pic>
    </p:spTree>
    <p:extLst>
      <p:ext uri="{BB962C8B-B14F-4D97-AF65-F5344CB8AC3E}">
        <p14:creationId xmlns:p14="http://schemas.microsoft.com/office/powerpoint/2010/main" val="3837887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4F2D8-2F2A-E246-4F18-F6C92BB8AB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38ADB7-D8BC-F5BC-A84C-C0C709A62EFC}"/>
              </a:ext>
            </a:extLst>
          </p:cNvPr>
          <p:cNvSpPr>
            <a:spLocks noGrp="1"/>
          </p:cNvSpPr>
          <p:nvPr>
            <p:ph type="title"/>
          </p:nvPr>
        </p:nvSpPr>
        <p:spPr>
          <a:xfrm>
            <a:off x="566928" y="274320"/>
            <a:ext cx="11057839" cy="713232"/>
          </a:xfrm>
        </p:spPr>
        <p:txBody>
          <a:bodyPr wrap="square" lIns="0" rIns="0" anchor="ctr"/>
          <a:lstStyle/>
          <a:p>
            <a:pPr algn="l"/>
            <a:r>
              <a:rPr lang="en-US" sz="2800" b="0" dirty="0">
                <a:solidFill>
                  <a:srgbClr val="FFFFFF"/>
                </a:solidFill>
                <a:latin typeface="Garamond"/>
              </a:rPr>
              <a:t>Where does the return come from – version 4</a:t>
            </a:r>
            <a:endParaRPr sz="2800" b="0" dirty="0">
              <a:solidFill>
                <a:srgbClr val="FFFFFF"/>
              </a:solidFill>
              <a:latin typeface="Garamond"/>
            </a:endParaRPr>
          </a:p>
        </p:txBody>
      </p:sp>
      <p:sp>
        <p:nvSpPr>
          <p:cNvPr id="4" name="TextBox 3">
            <a:extLst>
              <a:ext uri="{FF2B5EF4-FFF2-40B4-BE49-F238E27FC236}">
                <a16:creationId xmlns:a16="http://schemas.microsoft.com/office/drawing/2014/main" id="{32D31BF1-7C13-6101-8214-418F3EEBF570}"/>
              </a:ext>
            </a:extLst>
          </p:cNvPr>
          <p:cNvSpPr txBox="1"/>
          <p:nvPr/>
        </p:nvSpPr>
        <p:spPr>
          <a:xfrm>
            <a:off x="10710367" y="6419088"/>
            <a:ext cx="914400" cy="15350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10</a:t>
            </a:r>
          </a:p>
        </p:txBody>
      </p:sp>
      <p:sp>
        <p:nvSpPr>
          <p:cNvPr id="5" name="TextBox 4">
            <a:extLst>
              <a:ext uri="{FF2B5EF4-FFF2-40B4-BE49-F238E27FC236}">
                <a16:creationId xmlns:a16="http://schemas.microsoft.com/office/drawing/2014/main" id="{1663199C-49FF-9984-52A6-66B54A04A074}"/>
              </a:ext>
            </a:extLst>
          </p:cNvPr>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lang="en-US" sz="1350" b="0" i="1" dirty="0">
                <a:solidFill>
                  <a:srgbClr val="CADCFC"/>
                </a:solidFill>
                <a:latin typeface="Garamond"/>
              </a:rPr>
              <a:t>We pay 94.72 at expiry; with a year left, the bond trades near par; per 100m notional</a:t>
            </a:r>
          </a:p>
        </p:txBody>
      </p:sp>
      <p:sp>
        <p:nvSpPr>
          <p:cNvPr id="14" name="TextBox 13">
            <a:extLst>
              <a:ext uri="{FF2B5EF4-FFF2-40B4-BE49-F238E27FC236}">
                <a16:creationId xmlns:a16="http://schemas.microsoft.com/office/drawing/2014/main" id="{9576A476-B307-F6F6-CFE4-C04C873853EE}"/>
              </a:ext>
            </a:extLst>
          </p:cNvPr>
          <p:cNvSpPr txBox="1"/>
          <p:nvPr/>
        </p:nvSpPr>
        <p:spPr>
          <a:xfrm>
            <a:off x="2487168" y="6019800"/>
            <a:ext cx="7818120" cy="443839"/>
          </a:xfrm>
          <a:prstGeom prst="rect">
            <a:avLst/>
          </a:prstGeom>
          <a:noFill/>
        </p:spPr>
        <p:txBody>
          <a:bodyPr wrap="square" lIns="0" tIns="0" rIns="0" bIns="0" anchor="t">
            <a:spAutoFit/>
          </a:bodyPr>
          <a:lstStyle/>
          <a:p>
            <a:pPr algn="l">
              <a:lnSpc>
                <a:spcPct val="108000"/>
              </a:lnSpc>
              <a:spcAft>
                <a:spcPts val="0"/>
              </a:spcAft>
            </a:pPr>
            <a:r>
              <a:rPr lang="en-US" sz="900" b="0" i="0" dirty="0">
                <a:solidFill>
                  <a:srgbClr val="9AA1B2"/>
                </a:solidFill>
                <a:latin typeface="Garamond"/>
              </a:rPr>
              <a:t>Please see the disclosures page regarding the hypothetical performance results listed above. Levels on 10/2/2026. Forward price at 3.33% repo to 2/20/2031. Expiry yields are the 1-year spot swap, 3.33%, less each spread; the forward row uses the 4.4y1y forward swap, 3.52%. At break-even (the model's 0% simple return) the 1.0-point price gain is offset by the floating-leg basis, financing spread and bid-offer. Source: Bloomberg, Liminality calculations.</a:t>
            </a:r>
          </a:p>
        </p:txBody>
      </p:sp>
      <p:sp>
        <p:nvSpPr>
          <p:cNvPr id="2" name="Chip 1">
            <a:extLst>
              <a:ext uri="{FF2B5EF4-FFF2-40B4-BE49-F238E27FC236}">
                <a16:creationId xmlns:a16="http://schemas.microsoft.com/office/drawing/2014/main" id="{F9046B16-BBC1-4272-88FA-68294E2CADE7}"/>
              </a:ext>
            </a:extLst>
          </p:cNvPr>
          <p:cNvSpPr/>
          <p:nvPr/>
        </p:nvSpPr>
        <p:spPr>
          <a:xfrm>
            <a:off x="571500" y="1676400"/>
            <a:ext cx="3365500" cy="939800"/>
          </a:xfrm>
          <a:prstGeom prst="roundRect">
            <a:avLst/>
          </a:prstGeom>
          <a:solidFill>
            <a:srgbClr val="EEF4F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Chip text 1">
            <a:extLst>
              <a:ext uri="{FF2B5EF4-FFF2-40B4-BE49-F238E27FC236}">
                <a16:creationId xmlns:a16="http://schemas.microsoft.com/office/drawing/2014/main" id="{1D95E8B6-6DB7-4422-852A-83C20595F848}"/>
              </a:ext>
            </a:extLst>
          </p:cNvPr>
          <p:cNvSpPr txBox="1"/>
          <p:nvPr/>
        </p:nvSpPr>
        <p:spPr>
          <a:xfrm>
            <a:off x="749300" y="1838523"/>
            <a:ext cx="3009900" cy="615553"/>
          </a:xfrm>
          <a:prstGeom prst="rect">
            <a:avLst/>
          </a:prstGeom>
          <a:noFill/>
        </p:spPr>
        <p:txBody>
          <a:bodyPr vertOverflow="overflow" vert="horz" wrap="square" lIns="0" tIns="0" rIns="0" bIns="0" rtlCol="0" anchor="ctr">
            <a:spAutoFit/>
          </a:bodyPr>
          <a:lstStyle/>
          <a:p>
            <a:pPr algn="l">
              <a:spcAft>
                <a:spcPts val="0"/>
              </a:spcAft>
            </a:pPr>
            <a:r>
              <a:rPr lang="en-US" sz="2800" b="1" i="0" dirty="0">
                <a:solidFill>
                  <a:srgbClr val="011C40"/>
                </a:solidFill>
                <a:latin typeface="Garamond"/>
              </a:rPr>
              <a:t>94.91</a:t>
            </a:r>
          </a:p>
          <a:p>
            <a:pPr algn="l">
              <a:lnSpc>
                <a:spcPct val="100000"/>
              </a:lnSpc>
            </a:pPr>
            <a:r>
              <a:rPr lang="en-US" sz="1200" b="0" i="0" dirty="0">
                <a:solidFill>
                  <a:srgbClr val="5A6172"/>
                </a:solidFill>
                <a:latin typeface="Garamond"/>
              </a:rPr>
              <a:t>OAT price today, 10/2/2026</a:t>
            </a:r>
          </a:p>
        </p:txBody>
      </p:sp>
      <p:sp>
        <p:nvSpPr>
          <p:cNvPr id="11" name="Arrow 1">
            <a:extLst>
              <a:ext uri="{FF2B5EF4-FFF2-40B4-BE49-F238E27FC236}">
                <a16:creationId xmlns:a16="http://schemas.microsoft.com/office/drawing/2014/main" id="{2B9D1C53-F6B9-4B77-902D-2DC07A03450B}"/>
              </a:ext>
            </a:extLst>
          </p:cNvPr>
          <p:cNvSpPr/>
          <p:nvPr/>
        </p:nvSpPr>
        <p:spPr>
          <a:xfrm>
            <a:off x="4089400" y="2032000"/>
            <a:ext cx="177800" cy="228600"/>
          </a:xfrm>
          <a:prstGeom prst="chevron">
            <a:avLst/>
          </a:prstGeom>
          <a:solidFill>
            <a:srgbClr val="9AA1B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12" name="Chip 2">
            <a:extLst>
              <a:ext uri="{FF2B5EF4-FFF2-40B4-BE49-F238E27FC236}">
                <a16:creationId xmlns:a16="http://schemas.microsoft.com/office/drawing/2014/main" id="{C9EF5717-9AB1-4FA0-B145-06E04804AA5C}"/>
              </a:ext>
            </a:extLst>
          </p:cNvPr>
          <p:cNvSpPr/>
          <p:nvPr/>
        </p:nvSpPr>
        <p:spPr>
          <a:xfrm>
            <a:off x="4419600" y="1676400"/>
            <a:ext cx="3365500" cy="939800"/>
          </a:xfrm>
          <a:prstGeom prst="roundRect">
            <a:avLst/>
          </a:prstGeom>
          <a:solidFill>
            <a:srgbClr val="EEF4F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Chip text 2">
            <a:extLst>
              <a:ext uri="{FF2B5EF4-FFF2-40B4-BE49-F238E27FC236}">
                <a16:creationId xmlns:a16="http://schemas.microsoft.com/office/drawing/2014/main" id="{77C0C845-12EE-4767-A728-D42BF491F3FE}"/>
              </a:ext>
            </a:extLst>
          </p:cNvPr>
          <p:cNvSpPr txBox="1"/>
          <p:nvPr/>
        </p:nvSpPr>
        <p:spPr>
          <a:xfrm>
            <a:off x="4597400" y="1838524"/>
            <a:ext cx="3009900" cy="615553"/>
          </a:xfrm>
          <a:prstGeom prst="rect">
            <a:avLst/>
          </a:prstGeom>
          <a:noFill/>
        </p:spPr>
        <p:txBody>
          <a:bodyPr vertOverflow="overflow" vert="horz" wrap="square" lIns="0" tIns="0" rIns="0" bIns="0" rtlCol="0" anchor="ctr">
            <a:spAutoFit/>
          </a:bodyPr>
          <a:lstStyle/>
          <a:p>
            <a:pPr algn="l">
              <a:spcAft>
                <a:spcPts val="0"/>
              </a:spcAft>
            </a:pPr>
            <a:r>
              <a:rPr lang="en-US" sz="2800" b="1" i="0" dirty="0">
                <a:solidFill>
                  <a:srgbClr val="011C40"/>
                </a:solidFill>
                <a:latin typeface="Garamond"/>
              </a:rPr>
              <a:t>94.72</a:t>
            </a:r>
          </a:p>
          <a:p>
            <a:pPr algn="l">
              <a:lnSpc>
                <a:spcPct val="100000"/>
              </a:lnSpc>
            </a:pPr>
            <a:r>
              <a:rPr lang="en-US" sz="1200" b="0" i="0" dirty="0">
                <a:solidFill>
                  <a:srgbClr val="5A6172"/>
                </a:solidFill>
                <a:latin typeface="Garamond"/>
              </a:rPr>
              <a:t>Forward price: all-in cost at expiry</a:t>
            </a:r>
          </a:p>
        </p:txBody>
      </p:sp>
      <p:sp>
        <p:nvSpPr>
          <p:cNvPr id="16" name="Arrow 2">
            <a:extLst>
              <a:ext uri="{FF2B5EF4-FFF2-40B4-BE49-F238E27FC236}">
                <a16:creationId xmlns:a16="http://schemas.microsoft.com/office/drawing/2014/main" id="{384E0DE2-BA5B-42B1-BA4D-1B6E94D68F2E}"/>
              </a:ext>
            </a:extLst>
          </p:cNvPr>
          <p:cNvSpPr/>
          <p:nvPr/>
        </p:nvSpPr>
        <p:spPr>
          <a:xfrm>
            <a:off x="7937500" y="2032000"/>
            <a:ext cx="177800" cy="228600"/>
          </a:xfrm>
          <a:prstGeom prst="chevron">
            <a:avLst/>
          </a:prstGeom>
          <a:solidFill>
            <a:srgbClr val="9AA1B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17" name="Chip 3">
            <a:extLst>
              <a:ext uri="{FF2B5EF4-FFF2-40B4-BE49-F238E27FC236}">
                <a16:creationId xmlns:a16="http://schemas.microsoft.com/office/drawing/2014/main" id="{529CAD81-019E-42B4-AF50-84C87A8652E1}"/>
              </a:ext>
            </a:extLst>
          </p:cNvPr>
          <p:cNvSpPr/>
          <p:nvPr/>
        </p:nvSpPr>
        <p:spPr>
          <a:xfrm>
            <a:off x="8267700" y="1676400"/>
            <a:ext cx="3365500" cy="939800"/>
          </a:xfrm>
          <a:prstGeom prst="roundRect">
            <a:avLst/>
          </a:prstGeom>
          <a:solidFill>
            <a:srgbClr val="E6F4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Chip text 3">
            <a:extLst>
              <a:ext uri="{FF2B5EF4-FFF2-40B4-BE49-F238E27FC236}">
                <a16:creationId xmlns:a16="http://schemas.microsoft.com/office/drawing/2014/main" id="{C3BF6B4D-AFC9-4191-A42F-D1D3CD41C4F1}"/>
              </a:ext>
            </a:extLst>
          </p:cNvPr>
          <p:cNvSpPr txBox="1"/>
          <p:nvPr/>
        </p:nvSpPr>
        <p:spPr>
          <a:xfrm>
            <a:off x="8445500" y="1838524"/>
            <a:ext cx="3009900" cy="615553"/>
          </a:xfrm>
          <a:prstGeom prst="rect">
            <a:avLst/>
          </a:prstGeom>
          <a:noFill/>
        </p:spPr>
        <p:txBody>
          <a:bodyPr vertOverflow="overflow" vert="horz" wrap="square" lIns="0" tIns="0" rIns="0" bIns="0" rtlCol="0" anchor="ctr">
            <a:spAutoFit/>
          </a:bodyPr>
          <a:lstStyle/>
          <a:p>
            <a:pPr algn="l">
              <a:spcAft>
                <a:spcPts val="0"/>
              </a:spcAft>
            </a:pPr>
            <a:r>
              <a:rPr lang="en-US" sz="2800" b="1" i="0" dirty="0">
                <a:solidFill>
                  <a:srgbClr val="2A9D8F"/>
                </a:solidFill>
                <a:latin typeface="Garamond"/>
              </a:rPr>
              <a:t>99.89</a:t>
            </a:r>
          </a:p>
          <a:p>
            <a:pPr algn="l">
              <a:lnSpc>
                <a:spcPct val="100000"/>
              </a:lnSpc>
            </a:pPr>
            <a:r>
              <a:rPr lang="en-US" sz="1200" b="0" i="0" dirty="0">
                <a:solidFill>
                  <a:srgbClr val="5A6172"/>
                </a:solidFill>
                <a:latin typeface="Garamond"/>
              </a:rPr>
              <a:t>Expiry price if the spread rolls to spot</a:t>
            </a:r>
          </a:p>
        </p:txBody>
      </p:sp>
      <p:graphicFrame>
        <p:nvGraphicFramePr>
          <p:cNvPr id="20" name="Bond arithmetic grid">
            <a:extLst>
              <a:ext uri="{FF2B5EF4-FFF2-40B4-BE49-F238E27FC236}">
                <a16:creationId xmlns:a16="http://schemas.microsoft.com/office/drawing/2014/main" id="{C7F737B1-1682-4307-8226-76CA2F3D14FD}"/>
              </a:ext>
            </a:extLst>
          </p:cNvPr>
          <p:cNvGraphicFramePr>
            <a:graphicFrameLocks noGrp="1"/>
          </p:cNvGraphicFramePr>
          <p:nvPr/>
        </p:nvGraphicFramePr>
        <p:xfrm>
          <a:off x="571500" y="2819400"/>
          <a:ext cx="11061700" cy="2661920"/>
        </p:xfrm>
        <a:graphic>
          <a:graphicData uri="http://schemas.openxmlformats.org/drawingml/2006/table">
            <a:tbl>
              <a:tblPr firstRow="1"/>
              <a:tblGrid>
                <a:gridCol w="31877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381000">
                <a:tc>
                  <a:txBody>
                    <a:bodyPr/>
                    <a:lstStyle/>
                    <a:p>
                      <a:pPr algn="l"/>
                      <a:r>
                        <a:rPr lang="en-US" sz="1150" b="1" i="0" dirty="0">
                          <a:solidFill>
                            <a:srgbClr val="011C40"/>
                          </a:solidFill>
                          <a:latin typeface="Garamond"/>
                        </a:rPr>
                        <a:t>Scenario at expiry</a:t>
                      </a:r>
                    </a:p>
                  </a:txBody>
                  <a:tcPr marL="101600" marR="101600" marT="38100" marB="38100" anchor="ctr">
                    <a:lnL w="0">
                      <a:noFill/>
                    </a:lnL>
                    <a:lnR w="0">
                      <a:noFill/>
                    </a:lnR>
                    <a:lnT w="0">
                      <a:noFill/>
                    </a:lnT>
                    <a:lnB w="9525">
                      <a:solidFill>
                        <a:srgbClr val="011C40"/>
                      </a:solidFill>
                    </a:lnB>
                    <a:noFill/>
                  </a:tcPr>
                </a:tc>
                <a:tc>
                  <a:txBody>
                    <a:bodyPr/>
                    <a:lstStyle/>
                    <a:p>
                      <a:pPr algn="r"/>
                      <a:r>
                        <a:rPr lang="en-US" sz="1150" b="1" i="0" dirty="0">
                          <a:solidFill>
                            <a:srgbClr val="011C40"/>
                          </a:solidFill>
                          <a:latin typeface="Garamond"/>
                        </a:rPr>
                        <a:t>1-year spread to swaps at expiry</a:t>
                      </a:r>
                    </a:p>
                  </a:txBody>
                  <a:tcPr marL="101600" marR="101600" marT="38100" marB="38100" anchor="ctr">
                    <a:lnL w="0">
                      <a:noFill/>
                    </a:lnL>
                    <a:lnR w="0">
                      <a:noFill/>
                    </a:lnR>
                    <a:lnT w="0">
                      <a:noFill/>
                    </a:lnT>
                    <a:lnB w="9525">
                      <a:solidFill>
                        <a:srgbClr val="011C40"/>
                      </a:solidFill>
                    </a:lnB>
                    <a:noFill/>
                  </a:tcPr>
                </a:tc>
                <a:tc>
                  <a:txBody>
                    <a:bodyPr/>
                    <a:lstStyle/>
                    <a:p>
                      <a:pPr algn="r"/>
                      <a:r>
                        <a:rPr lang="en-US" sz="1150" b="1" i="0" dirty="0">
                          <a:solidFill>
                            <a:srgbClr val="011C40"/>
                          </a:solidFill>
                          <a:latin typeface="Garamond"/>
                        </a:rPr>
                        <a:t>OAT yield at option expiry</a:t>
                      </a:r>
                    </a:p>
                  </a:txBody>
                  <a:tcPr marL="101600" marR="101600" marT="38100" marB="38100" anchor="ctr">
                    <a:lnL w="0">
                      <a:noFill/>
                    </a:lnL>
                    <a:lnR w="0">
                      <a:noFill/>
                    </a:lnR>
                    <a:lnT w="0">
                      <a:noFill/>
                    </a:lnT>
                    <a:lnB w="9525">
                      <a:solidFill>
                        <a:srgbClr val="011C40"/>
                      </a:solidFill>
                    </a:lnB>
                    <a:noFill/>
                  </a:tcPr>
                </a:tc>
                <a:tc>
                  <a:txBody>
                    <a:bodyPr/>
                    <a:lstStyle/>
                    <a:p>
                      <a:pPr algn="r"/>
                      <a:r>
                        <a:rPr lang="en-US" sz="1150" b="1" i="0" dirty="0">
                          <a:solidFill>
                            <a:srgbClr val="011C40"/>
                          </a:solidFill>
                          <a:latin typeface="Garamond"/>
                        </a:rPr>
                        <a:t>OAT price at option expiry</a:t>
                      </a:r>
                    </a:p>
                  </a:txBody>
                  <a:tcPr marL="101600" marR="101600" marT="38100" marB="38100" anchor="ctr">
                    <a:lnL w="0">
                      <a:noFill/>
                    </a:lnL>
                    <a:lnR w="0">
                      <a:noFill/>
                    </a:lnR>
                    <a:lnT w="0">
                      <a:noFill/>
                    </a:lnT>
                    <a:lnB w="9525">
                      <a:solidFill>
                        <a:srgbClr val="011C40"/>
                      </a:solidFill>
                    </a:lnB>
                    <a:noFill/>
                  </a:tcPr>
                </a:tc>
                <a:tc>
                  <a:txBody>
                    <a:bodyPr/>
                    <a:lstStyle/>
                    <a:p>
                      <a:pPr algn="r"/>
                      <a:r>
                        <a:rPr lang="en-US" sz="1150" b="1" i="0" dirty="0">
                          <a:solidFill>
                            <a:srgbClr val="011C40"/>
                          </a:solidFill>
                          <a:latin typeface="Garamond"/>
                        </a:rPr>
                        <a:t>Less forward price</a:t>
                      </a:r>
                    </a:p>
                  </a:txBody>
                  <a:tcPr marL="101600" marR="101600" marT="38100" marB="38100" anchor="ctr">
                    <a:lnL w="0">
                      <a:noFill/>
                    </a:lnL>
                    <a:lnR w="0">
                      <a:noFill/>
                    </a:lnR>
                    <a:lnT w="0">
                      <a:noFill/>
                    </a:lnT>
                    <a:lnB w="9525">
                      <a:solidFill>
                        <a:srgbClr val="011C40"/>
                      </a:solidFill>
                    </a:lnB>
                    <a:noFill/>
                  </a:tcPr>
                </a:tc>
                <a:tc>
                  <a:txBody>
                    <a:bodyPr/>
                    <a:lstStyle/>
                    <a:p>
                      <a:pPr algn="r"/>
                      <a:r>
                        <a:rPr lang="en-US" sz="1150" b="1" i="0" dirty="0">
                          <a:solidFill>
                            <a:srgbClr val="011C40"/>
                          </a:solidFill>
                          <a:latin typeface="Garamond"/>
                        </a:rPr>
                        <a:t>Price gain per 100m (just the bonds)</a:t>
                      </a:r>
                    </a:p>
                  </a:txBody>
                  <a:tcPr marL="101600" marR="101600" marT="38100" marB="38100" anchor="ctr">
                    <a:lnL w="0">
                      <a:noFill/>
                    </a:lnL>
                    <a:lnR w="0">
                      <a:noFill/>
                    </a:lnR>
                    <a:lnT w="0">
                      <a:noFill/>
                    </a:lnT>
                    <a:lnB w="9525">
                      <a:solidFill>
                        <a:srgbClr val="011C40"/>
                      </a:solidFill>
                    </a:lnB>
                    <a:noFill/>
                  </a:tcPr>
                </a:tc>
                <a:extLst>
                  <a:ext uri="{0D108BD9-81ED-4DB2-BD59-A6C34878D82A}">
                    <a16:rowId xmlns:a16="http://schemas.microsoft.com/office/drawing/2014/main" val="10000"/>
                  </a:ext>
                </a:extLst>
              </a:tr>
              <a:tr h="558800">
                <a:tc>
                  <a:txBody>
                    <a:bodyPr/>
                    <a:lstStyle/>
                    <a:p>
                      <a:pPr algn="l"/>
                      <a:r>
                        <a:rPr lang="en-US" sz="1400" b="1" i="0" dirty="0">
                          <a:solidFill>
                            <a:srgbClr val="011C40"/>
                          </a:solidFill>
                          <a:latin typeface="Garamond"/>
                        </a:rPr>
                        <a:t>Roll to spot: curve unchanged</a:t>
                      </a:r>
                    </a:p>
                  </a:txBody>
                  <a:tcPr marL="101600" marR="101600" marT="38100" marB="381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6F4F2"/>
                    </a:solidFill>
                  </a:tcPr>
                </a:tc>
                <a:tc>
                  <a:txBody>
                    <a:bodyPr/>
                    <a:lstStyle/>
                    <a:p>
                      <a:pPr algn="r"/>
                      <a:r>
                        <a:rPr lang="en-US" sz="1400" b="0" i="0" dirty="0">
                          <a:solidFill>
                            <a:srgbClr val="011C40"/>
                          </a:solidFill>
                          <a:latin typeface="Garamond"/>
                        </a:rPr>
                        <a:t>−3bp</a:t>
                      </a:r>
                    </a:p>
                  </a:txBody>
                  <a:tcPr marL="101600" marR="101600" marT="38100" marB="381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6F4F2"/>
                    </a:solidFill>
                  </a:tcPr>
                </a:tc>
                <a:tc>
                  <a:txBody>
                    <a:bodyPr/>
                    <a:lstStyle/>
                    <a:p>
                      <a:pPr algn="r"/>
                      <a:r>
                        <a:rPr lang="en-US" sz="1400" b="0" i="0" dirty="0">
                          <a:solidFill>
                            <a:srgbClr val="011C40"/>
                          </a:solidFill>
                          <a:latin typeface="Garamond"/>
                        </a:rPr>
                        <a:t>3.36%</a:t>
                      </a:r>
                    </a:p>
                  </a:txBody>
                  <a:tcPr marL="101600" marR="101600" marT="38100" marB="381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6F4F2"/>
                    </a:solidFill>
                  </a:tcPr>
                </a:tc>
                <a:tc>
                  <a:txBody>
                    <a:bodyPr/>
                    <a:lstStyle/>
                    <a:p>
                      <a:pPr algn="r"/>
                      <a:r>
                        <a:rPr lang="en-US" sz="1800" b="1" i="0" dirty="0">
                          <a:solidFill>
                            <a:srgbClr val="2A9D8F"/>
                          </a:solidFill>
                          <a:latin typeface="Garamond"/>
                        </a:rPr>
                        <a:t>99.89</a:t>
                      </a:r>
                    </a:p>
                  </a:txBody>
                  <a:tcPr marL="101600" marR="101600" marT="38100" marB="381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6F4F2"/>
                    </a:solidFill>
                  </a:tcPr>
                </a:tc>
                <a:tc>
                  <a:txBody>
                    <a:bodyPr/>
                    <a:lstStyle/>
                    <a:p>
                      <a:pPr algn="r"/>
                      <a:r>
                        <a:rPr lang="en-US" sz="1400" b="0" i="0" dirty="0">
                          <a:solidFill>
                            <a:srgbClr val="5A6172"/>
                          </a:solidFill>
                          <a:latin typeface="Garamond"/>
                        </a:rPr>
                        <a:t>−94.72</a:t>
                      </a:r>
                    </a:p>
                  </a:txBody>
                  <a:tcPr marL="101600" marR="101600" marT="38100" marB="381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6F4F2"/>
                    </a:solidFill>
                  </a:tcPr>
                </a:tc>
                <a:tc>
                  <a:txBody>
                    <a:bodyPr/>
                    <a:lstStyle/>
                    <a:p>
                      <a:pPr algn="r"/>
                      <a:r>
                        <a:rPr lang="en-US" sz="1400" b="1" i="0" dirty="0">
                          <a:solidFill>
                            <a:srgbClr val="2A9D8F"/>
                          </a:solidFill>
                          <a:latin typeface="Garamond"/>
                        </a:rPr>
                        <a:t>+€5.2m</a:t>
                      </a:r>
                    </a:p>
                  </a:txBody>
                  <a:tcPr marL="101600" marR="101600" marT="38100" marB="38100" anchor="ctr">
                    <a:lnL w="0">
                      <a:noFill/>
                    </a:lnL>
                    <a:lnR w="0">
                      <a:noFill/>
                    </a:lnR>
                    <a:lnT w="9525" cap="flat" cmpd="sng" algn="ctr">
                      <a:solidFill>
                        <a:srgbClr val="011C40"/>
                      </a:solidFill>
                      <a:prstDash val="solid"/>
                      <a:round/>
                      <a:headEnd type="none" w="med" len="med"/>
                      <a:tailEnd type="none" w="med" len="med"/>
                    </a:lnT>
                    <a:lnB w="9525">
                      <a:solidFill>
                        <a:srgbClr val="DCE3EF"/>
                      </a:solidFill>
                    </a:lnB>
                    <a:solidFill>
                      <a:srgbClr val="E6F4F2"/>
                    </a:solidFill>
                  </a:tcPr>
                </a:tc>
                <a:extLst>
                  <a:ext uri="{0D108BD9-81ED-4DB2-BD59-A6C34878D82A}">
                    <a16:rowId xmlns:a16="http://schemas.microsoft.com/office/drawing/2014/main" val="10002"/>
                  </a:ext>
                </a:extLst>
              </a:tr>
              <a:tr h="558800">
                <a:tc>
                  <a:txBody>
                    <a:bodyPr/>
                    <a:lstStyle/>
                    <a:p>
                      <a:pPr algn="l"/>
                      <a:r>
                        <a:rPr lang="en-US" sz="1400" b="1" i="0" dirty="0">
                          <a:solidFill>
                            <a:srgbClr val="011C40"/>
                          </a:solidFill>
                          <a:latin typeface="Garamond"/>
                        </a:rPr>
                        <a:t>No roll: spread unchanged</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−83bp</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4.16%</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800" b="1" i="0" dirty="0">
                          <a:solidFill>
                            <a:srgbClr val="011C40"/>
                          </a:solidFill>
                          <a:latin typeface="Garamond"/>
                        </a:rPr>
                        <a:t>99.12</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5A6172"/>
                          </a:solidFill>
                          <a:latin typeface="Garamond"/>
                        </a:rPr>
                        <a:t>−94.72</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+€4.4m</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extLst>
                  <a:ext uri="{0D108BD9-81ED-4DB2-BD59-A6C34878D82A}">
                    <a16:rowId xmlns:a16="http://schemas.microsoft.com/office/drawing/2014/main" val="10003"/>
                  </a:ext>
                </a:extLst>
              </a:tr>
              <a:tr h="558800">
                <a:tc>
                  <a:txBody>
                    <a:bodyPr/>
                    <a:lstStyle/>
                    <a:p>
                      <a:pPr algn="l"/>
                      <a:r>
                        <a:rPr lang="en-US" sz="1400" b="1" i="0" dirty="0">
                          <a:solidFill>
                            <a:srgbClr val="011C40"/>
                          </a:solidFill>
                          <a:latin typeface="Garamond"/>
                        </a:rPr>
                        <a:t>Break-even after costs</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−445bp</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7.79%</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800" b="1" i="0" dirty="0">
                          <a:solidFill>
                            <a:srgbClr val="011C40"/>
                          </a:solidFill>
                          <a:latin typeface="Garamond"/>
                        </a:rPr>
                        <a:t>95.73</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5A6172"/>
                          </a:solidFill>
                          <a:latin typeface="Garamond"/>
                        </a:rPr>
                        <a:t>−94.72</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+€1.0m</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extLst>
                  <a:ext uri="{0D108BD9-81ED-4DB2-BD59-A6C34878D82A}">
                    <a16:rowId xmlns:a16="http://schemas.microsoft.com/office/drawing/2014/main" val="10005"/>
                  </a:ext>
                </a:extLst>
              </a:tr>
              <a:tr h="558800">
                <a:tc>
                  <a:txBody>
                    <a:bodyPr/>
                    <a:lstStyle/>
                    <a:p>
                      <a:pPr algn="l"/>
                      <a:r>
                        <a:rPr lang="en-US" sz="1400" b="1" i="0" dirty="0">
                          <a:solidFill>
                            <a:srgbClr val="011C40"/>
                          </a:solidFill>
                          <a:latin typeface="Garamond"/>
                        </a:rPr>
                        <a:t>Forward: what today's prices assume</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1" i="0" dirty="0">
                          <a:solidFill>
                            <a:srgbClr val="B3332E"/>
                          </a:solidFill>
                          <a:latin typeface="Garamond"/>
                        </a:rPr>
                        <a:t>−540bp</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8.93%</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800" b="1" i="0" dirty="0">
                          <a:solidFill>
                            <a:srgbClr val="011C40"/>
                          </a:solidFill>
                          <a:latin typeface="Garamond"/>
                        </a:rPr>
                        <a:t>94.72</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5A6172"/>
                          </a:solidFill>
                          <a:latin typeface="Garamond"/>
                        </a:rPr>
                        <a:t>−94.72</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tc>
                  <a:txBody>
                    <a:bodyPr/>
                    <a:lstStyle/>
                    <a:p>
                      <a:pPr algn="r"/>
                      <a:r>
                        <a:rPr lang="en-US" sz="1400" b="0" i="0" dirty="0">
                          <a:solidFill>
                            <a:srgbClr val="011C40"/>
                          </a:solidFill>
                          <a:latin typeface="Garamond"/>
                        </a:rPr>
                        <a:t>0</a:t>
                      </a:r>
                    </a:p>
                  </a:txBody>
                  <a:tcPr marL="101600" marR="101600" marT="38100" marB="38100" anchor="ctr">
                    <a:lnL w="0">
                      <a:noFill/>
                    </a:lnL>
                    <a:lnR w="0">
                      <a:noFill/>
                    </a:lnR>
                    <a:lnT w="9525" cap="flat" cmpd="sng" algn="ctr">
                      <a:solidFill>
                        <a:srgbClr val="DCE3EF"/>
                      </a:solidFill>
                      <a:prstDash val="solid"/>
                      <a:round/>
                      <a:headEnd type="none" w="med" len="med"/>
                      <a:tailEnd type="none" w="med" len="med"/>
                    </a:lnT>
                    <a:lnB w="9525">
                      <a:solidFill>
                        <a:srgbClr val="DCE3EF"/>
                      </a:solidFill>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53300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Scenario analysis: 4.4-year IRR and multiple of capital at expiry</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9</a:t>
            </a:r>
          </a:p>
        </p:txBody>
      </p:sp>
      <p:sp>
        <p:nvSpPr>
          <p:cNvPr id="5" name="TextBox 4"/>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Returns depend on the 1-year spread at expiry; dashed lines mark each scenario's multiple</a:t>
            </a:r>
          </a:p>
        </p:txBody>
      </p:sp>
      <p:graphicFrame>
        <p:nvGraphicFramePr>
          <p:cNvPr id="6" name="Chart 5"/>
          <p:cNvGraphicFramePr>
            <a:graphicFrameLocks noGrp="1"/>
          </p:cNvGraphicFramePr>
          <p:nvPr/>
        </p:nvGraphicFramePr>
        <p:xfrm>
          <a:off x="566928" y="1847088"/>
          <a:ext cx="5074920" cy="4160520"/>
        </p:xfrm>
        <a:graphic>
          <a:graphicData uri="http://schemas.openxmlformats.org/drawingml/2006/chart">
            <c:chart xmlns:c="http://schemas.openxmlformats.org/drawingml/2006/chart" xmlns:r="http://schemas.openxmlformats.org/officeDocument/2006/relationships" r:id="rId2"/>
          </a:graphicData>
        </a:graphic>
      </p:graphicFrame>
      <p:cxnSp>
        <p:nvCxnSpPr>
          <p:cNvPr id="7" name="Connector 6"/>
          <p:cNvCxnSpPr/>
          <p:nvPr/>
        </p:nvCxnSpPr>
        <p:spPr>
          <a:xfrm>
            <a:off x="4728362" y="2523900"/>
            <a:ext cx="182880" cy="0"/>
          </a:xfrm>
          <a:prstGeom prst="line">
            <a:avLst/>
          </a:prstGeom>
          <a:ln w="9525">
            <a:solidFill>
              <a:srgbClr val="2C7A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947818" y="2446176"/>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2C7A5A"/>
                </a:solidFill>
                <a:latin typeface="Garamond"/>
              </a:rPr>
              <a:t>5.0x</a:t>
            </a:r>
          </a:p>
        </p:txBody>
      </p:sp>
      <p:cxnSp>
        <p:nvCxnSpPr>
          <p:cNvPr id="9" name="Connector 8"/>
          <p:cNvCxnSpPr/>
          <p:nvPr/>
        </p:nvCxnSpPr>
        <p:spPr>
          <a:xfrm>
            <a:off x="4728362" y="2656470"/>
            <a:ext cx="182880" cy="41166"/>
          </a:xfrm>
          <a:prstGeom prst="line">
            <a:avLst/>
          </a:prstGeom>
          <a:ln w="9525">
            <a:solidFill>
              <a:srgbClr val="3C8D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947818" y="2619912"/>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3C8DBC"/>
                </a:solidFill>
                <a:latin typeface="Garamond"/>
              </a:rPr>
              <a:t>4.8x</a:t>
            </a:r>
          </a:p>
        </p:txBody>
      </p:sp>
      <p:cxnSp>
        <p:nvCxnSpPr>
          <p:cNvPr id="11" name="Connector 10"/>
          <p:cNvCxnSpPr/>
          <p:nvPr/>
        </p:nvCxnSpPr>
        <p:spPr>
          <a:xfrm>
            <a:off x="4728362" y="3026127"/>
            <a:ext cx="182880" cy="0"/>
          </a:xfrm>
          <a:prstGeom prst="line">
            <a:avLst/>
          </a:prstGeom>
          <a:ln w="9525">
            <a:solidFill>
              <a:srgbClr val="011C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47818" y="2948403"/>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011C40"/>
                </a:solidFill>
                <a:latin typeface="Garamond"/>
              </a:rPr>
              <a:t>4.0x</a:t>
            </a:r>
          </a:p>
        </p:txBody>
      </p:sp>
      <p:cxnSp>
        <p:nvCxnSpPr>
          <p:cNvPr id="13" name="Connector 12"/>
          <p:cNvCxnSpPr/>
          <p:nvPr/>
        </p:nvCxnSpPr>
        <p:spPr>
          <a:xfrm>
            <a:off x="4728362" y="4234186"/>
            <a:ext cx="182880" cy="0"/>
          </a:xfrm>
          <a:prstGeom prst="line">
            <a:avLst/>
          </a:prstGeom>
          <a:ln w="9525">
            <a:solidFill>
              <a:srgbClr val="6A4C9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47818" y="4156462"/>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6A4C93"/>
                </a:solidFill>
                <a:latin typeface="Garamond"/>
              </a:rPr>
              <a:t>1.8x</a:t>
            </a:r>
          </a:p>
        </p:txBody>
      </p:sp>
      <p:cxnSp>
        <p:nvCxnSpPr>
          <p:cNvPr id="15" name="Connector 14"/>
          <p:cNvCxnSpPr/>
          <p:nvPr/>
        </p:nvCxnSpPr>
        <p:spPr>
          <a:xfrm>
            <a:off x="4728362" y="4664020"/>
            <a:ext cx="182880" cy="0"/>
          </a:xfrm>
          <a:prstGeom prst="line">
            <a:avLst/>
          </a:prstGeom>
          <a:ln w="9525">
            <a:solidFill>
              <a:srgbClr val="5A617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47818" y="4586296"/>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5A6172"/>
                </a:solidFill>
                <a:latin typeface="Garamond"/>
              </a:rPr>
              <a:t>1.0x</a:t>
            </a:r>
          </a:p>
        </p:txBody>
      </p:sp>
      <p:cxnSp>
        <p:nvCxnSpPr>
          <p:cNvPr id="17" name="Connector 16"/>
          <p:cNvCxnSpPr/>
          <p:nvPr/>
        </p:nvCxnSpPr>
        <p:spPr>
          <a:xfrm>
            <a:off x="4728362" y="5238639"/>
            <a:ext cx="182880" cy="0"/>
          </a:xfrm>
          <a:prstGeom prst="line">
            <a:avLst/>
          </a:prstGeom>
          <a:ln w="9525">
            <a:solidFill>
              <a:srgbClr val="B3332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947818" y="5160915"/>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B3332E"/>
                </a:solidFill>
                <a:latin typeface="Garamond"/>
              </a:rPr>
              <a:t>0x</a:t>
            </a:r>
          </a:p>
        </p:txBody>
      </p:sp>
      <p:cxnSp>
        <p:nvCxnSpPr>
          <p:cNvPr id="19" name="Connector 18"/>
          <p:cNvCxnSpPr/>
          <p:nvPr/>
        </p:nvCxnSpPr>
        <p:spPr>
          <a:xfrm>
            <a:off x="4728362" y="5433196"/>
            <a:ext cx="182880" cy="0"/>
          </a:xfrm>
          <a:prstGeom prst="line">
            <a:avLst/>
          </a:prstGeom>
          <a:ln w="9525">
            <a:solidFill>
              <a:srgbClr val="B3332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47818" y="5355472"/>
            <a:ext cx="548640" cy="155448"/>
          </a:xfrm>
          <a:prstGeom prst="rect">
            <a:avLst/>
          </a:prstGeom>
          <a:noFill/>
        </p:spPr>
        <p:txBody>
          <a:bodyPr wrap="square" lIns="0" tIns="0" rIns="0" bIns="0" anchor="t">
            <a:spAutoFit/>
          </a:bodyPr>
          <a:lstStyle/>
          <a:p>
            <a:pPr algn="l">
              <a:lnSpc>
                <a:spcPct val="100000"/>
              </a:lnSpc>
              <a:spcAft>
                <a:spcPts val="0"/>
              </a:spcAft>
            </a:pPr>
            <a:r>
              <a:rPr sz="900" b="1" i="0" u="none">
                <a:solidFill>
                  <a:srgbClr val="B3332E"/>
                </a:solidFill>
                <a:latin typeface="Garamond"/>
              </a:rPr>
              <a:t>0x</a:t>
            </a:r>
          </a:p>
        </p:txBody>
      </p:sp>
      <p:sp>
        <p:nvSpPr>
          <p:cNvPr id="21" name="TextBox 20"/>
          <p:cNvSpPr txBox="1"/>
          <p:nvPr/>
        </p:nvSpPr>
        <p:spPr>
          <a:xfrm>
            <a:off x="6419088" y="2084988"/>
            <a:ext cx="658368" cy="201168"/>
          </a:xfrm>
          <a:prstGeom prst="rect">
            <a:avLst/>
          </a:prstGeom>
          <a:noFill/>
        </p:spPr>
        <p:txBody>
          <a:bodyPr wrap="square" lIns="0" tIns="0" rIns="0" bIns="0" anchor="t">
            <a:spAutoFit/>
          </a:bodyPr>
          <a:lstStyle/>
          <a:p>
            <a:pPr algn="r">
              <a:lnSpc>
                <a:spcPct val="100000"/>
              </a:lnSpc>
              <a:spcAft>
                <a:spcPts val="0"/>
              </a:spcAft>
            </a:pPr>
            <a:r>
              <a:rPr sz="950" b="1" i="0" u="none">
                <a:solidFill>
                  <a:srgbClr val="011C40"/>
                </a:solidFill>
                <a:latin typeface="Garamond"/>
              </a:rPr>
              <a:t>Spread</a:t>
            </a:r>
          </a:p>
        </p:txBody>
      </p:sp>
      <p:sp>
        <p:nvSpPr>
          <p:cNvPr id="22" name="TextBox 21"/>
          <p:cNvSpPr txBox="1"/>
          <p:nvPr/>
        </p:nvSpPr>
        <p:spPr>
          <a:xfrm>
            <a:off x="7132320" y="2084988"/>
            <a:ext cx="621792" cy="201168"/>
          </a:xfrm>
          <a:prstGeom prst="rect">
            <a:avLst/>
          </a:prstGeom>
          <a:noFill/>
        </p:spPr>
        <p:txBody>
          <a:bodyPr wrap="square" lIns="0" tIns="0" rIns="0" bIns="0" anchor="t">
            <a:spAutoFit/>
          </a:bodyPr>
          <a:lstStyle/>
          <a:p>
            <a:pPr algn="r">
              <a:lnSpc>
                <a:spcPct val="100000"/>
              </a:lnSpc>
              <a:spcAft>
                <a:spcPts val="0"/>
              </a:spcAft>
            </a:pPr>
            <a:r>
              <a:rPr sz="950" b="1" i="0" u="none">
                <a:solidFill>
                  <a:srgbClr val="011C40"/>
                </a:solidFill>
                <a:latin typeface="Garamond"/>
              </a:rPr>
              <a:t>IRR</a:t>
            </a:r>
          </a:p>
        </p:txBody>
      </p:sp>
      <p:sp>
        <p:nvSpPr>
          <p:cNvPr id="23" name="TextBox 22"/>
          <p:cNvSpPr txBox="1"/>
          <p:nvPr/>
        </p:nvSpPr>
        <p:spPr>
          <a:xfrm>
            <a:off x="7808975" y="2084988"/>
            <a:ext cx="3813048" cy="201168"/>
          </a:xfrm>
          <a:prstGeom prst="rect">
            <a:avLst/>
          </a:prstGeom>
          <a:noFill/>
        </p:spPr>
        <p:txBody>
          <a:bodyPr wrap="square" lIns="0" tIns="0" rIns="0" bIns="0" anchor="t">
            <a:spAutoFit/>
          </a:bodyPr>
          <a:lstStyle/>
          <a:p>
            <a:pPr algn="l">
              <a:lnSpc>
                <a:spcPct val="100000"/>
              </a:lnSpc>
              <a:spcAft>
                <a:spcPts val="0"/>
              </a:spcAft>
            </a:pPr>
            <a:r>
              <a:rPr sz="950" b="1" i="0" u="none">
                <a:solidFill>
                  <a:srgbClr val="011C40"/>
                </a:solidFill>
                <a:latin typeface="Garamond"/>
              </a:rPr>
              <a:t>Scenario: 1-year spread at expiry</a:t>
            </a:r>
          </a:p>
        </p:txBody>
      </p:sp>
      <p:cxnSp>
        <p:nvCxnSpPr>
          <p:cNvPr id="24" name="Connector 23"/>
          <p:cNvCxnSpPr/>
          <p:nvPr/>
        </p:nvCxnSpPr>
        <p:spPr>
          <a:xfrm>
            <a:off x="6144768" y="2322732"/>
            <a:ext cx="5477256" cy="0"/>
          </a:xfrm>
          <a:prstGeom prst="line">
            <a:avLst/>
          </a:prstGeom>
          <a:ln w="12700">
            <a:solidFill>
              <a:srgbClr val="011C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217920" y="2450748"/>
            <a:ext cx="118872" cy="118872"/>
          </a:xfrm>
          <a:prstGeom prst="ellipse">
            <a:avLst/>
          </a:prstGeom>
          <a:solidFill>
            <a:srgbClr val="2C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9088" y="2414172"/>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28bp</a:t>
            </a:r>
          </a:p>
        </p:txBody>
      </p:sp>
      <p:sp>
        <p:nvSpPr>
          <p:cNvPr id="27" name="TextBox 26"/>
          <p:cNvSpPr txBox="1"/>
          <p:nvPr/>
        </p:nvSpPr>
        <p:spPr>
          <a:xfrm>
            <a:off x="7132320" y="2414172"/>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44.0%</a:t>
            </a:r>
          </a:p>
        </p:txBody>
      </p:sp>
      <p:sp>
        <p:nvSpPr>
          <p:cNvPr id="28" name="TextBox 27"/>
          <p:cNvSpPr txBox="1"/>
          <p:nvPr/>
        </p:nvSpPr>
        <p:spPr>
          <a:xfrm>
            <a:off x="7808975" y="2414172"/>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Median since 2010</a:t>
            </a:r>
          </a:p>
        </p:txBody>
      </p:sp>
      <p:sp>
        <p:nvSpPr>
          <p:cNvPr id="29" name="Oval 28"/>
          <p:cNvSpPr/>
          <p:nvPr/>
        </p:nvSpPr>
        <p:spPr>
          <a:xfrm>
            <a:off x="6217920" y="2697636"/>
            <a:ext cx="118872" cy="118872"/>
          </a:xfrm>
          <a:prstGeom prst="ellipse">
            <a:avLst/>
          </a:prstGeom>
          <a:solidFill>
            <a:srgbClr val="3C8D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2661060"/>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−1.3bp</a:t>
            </a:r>
          </a:p>
        </p:txBody>
      </p:sp>
      <p:sp>
        <p:nvSpPr>
          <p:cNvPr id="31" name="TextBox 30"/>
          <p:cNvSpPr txBox="1"/>
          <p:nvPr/>
        </p:nvSpPr>
        <p:spPr>
          <a:xfrm>
            <a:off x="7132320" y="2661060"/>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42.3%</a:t>
            </a:r>
          </a:p>
        </p:txBody>
      </p:sp>
      <p:sp>
        <p:nvSpPr>
          <p:cNvPr id="32" name="TextBox 31"/>
          <p:cNvSpPr txBox="1"/>
          <p:nvPr/>
        </p:nvSpPr>
        <p:spPr>
          <a:xfrm>
            <a:off x="7808975" y="2661060"/>
            <a:ext cx="3813048" cy="146194"/>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Roll to spot: curve unchanged</a:t>
            </a:r>
          </a:p>
        </p:txBody>
      </p:sp>
      <p:sp>
        <p:nvSpPr>
          <p:cNvPr id="33" name="Oval 32"/>
          <p:cNvSpPr/>
          <p:nvPr/>
        </p:nvSpPr>
        <p:spPr>
          <a:xfrm>
            <a:off x="6217920" y="2952975"/>
            <a:ext cx="118872" cy="118872"/>
          </a:xfrm>
          <a:prstGeom prst="ellipse">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19088" y="2916399"/>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−83bp</a:t>
            </a:r>
          </a:p>
        </p:txBody>
      </p:sp>
      <p:sp>
        <p:nvSpPr>
          <p:cNvPr id="35" name="TextBox 34"/>
          <p:cNvSpPr txBox="1"/>
          <p:nvPr/>
        </p:nvSpPr>
        <p:spPr>
          <a:xfrm>
            <a:off x="7132320" y="2916399"/>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37.2%</a:t>
            </a:r>
          </a:p>
        </p:txBody>
      </p:sp>
      <p:sp>
        <p:nvSpPr>
          <p:cNvPr id="36" name="TextBox 35"/>
          <p:cNvSpPr txBox="1"/>
          <p:nvPr/>
        </p:nvSpPr>
        <p:spPr>
          <a:xfrm>
            <a:off x="7808975" y="2916399"/>
            <a:ext cx="3813048" cy="146194"/>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No roll: spread unchanged</a:t>
            </a:r>
          </a:p>
        </p:txBody>
      </p:sp>
      <p:sp>
        <p:nvSpPr>
          <p:cNvPr id="37" name="Oval 36"/>
          <p:cNvSpPr/>
          <p:nvPr/>
        </p:nvSpPr>
        <p:spPr>
          <a:xfrm>
            <a:off x="6217920" y="4161034"/>
            <a:ext cx="118872" cy="118872"/>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19088" y="4124458"/>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−350bp</a:t>
            </a:r>
          </a:p>
        </p:txBody>
      </p:sp>
      <p:sp>
        <p:nvSpPr>
          <p:cNvPr id="39" name="TextBox 38"/>
          <p:cNvSpPr txBox="1"/>
          <p:nvPr/>
        </p:nvSpPr>
        <p:spPr>
          <a:xfrm>
            <a:off x="7132320" y="4124458"/>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14.5%</a:t>
            </a:r>
          </a:p>
        </p:txBody>
      </p:sp>
      <p:sp>
        <p:nvSpPr>
          <p:cNvPr id="40" name="TextBox 39"/>
          <p:cNvSpPr txBox="1"/>
          <p:nvPr/>
        </p:nvSpPr>
        <p:spPr>
          <a:xfrm>
            <a:off x="7808975" y="4124458"/>
            <a:ext cx="3813048" cy="146194"/>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Italy's 2011 crisis level</a:t>
            </a:r>
          </a:p>
        </p:txBody>
      </p:sp>
      <p:sp>
        <p:nvSpPr>
          <p:cNvPr id="41" name="Oval 40"/>
          <p:cNvSpPr/>
          <p:nvPr/>
        </p:nvSpPr>
        <p:spPr>
          <a:xfrm>
            <a:off x="6217920" y="4590868"/>
            <a:ext cx="118872" cy="118872"/>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19088" y="4554292"/>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−445bp</a:t>
            </a:r>
          </a:p>
        </p:txBody>
      </p:sp>
      <p:sp>
        <p:nvSpPr>
          <p:cNvPr id="43" name="TextBox 42"/>
          <p:cNvSpPr txBox="1"/>
          <p:nvPr/>
        </p:nvSpPr>
        <p:spPr>
          <a:xfrm>
            <a:off x="7132320" y="4554292"/>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0.0%</a:t>
            </a:r>
          </a:p>
        </p:txBody>
      </p:sp>
      <p:sp>
        <p:nvSpPr>
          <p:cNvPr id="44" name="TextBox 43"/>
          <p:cNvSpPr txBox="1"/>
          <p:nvPr/>
        </p:nvSpPr>
        <p:spPr>
          <a:xfrm>
            <a:off x="7808975" y="4554292"/>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Investment break-even</a:t>
            </a:r>
          </a:p>
        </p:txBody>
      </p:sp>
      <p:sp>
        <p:nvSpPr>
          <p:cNvPr id="45" name="Oval 44"/>
          <p:cNvSpPr/>
          <p:nvPr/>
        </p:nvSpPr>
        <p:spPr>
          <a:xfrm>
            <a:off x="6217920" y="5165487"/>
            <a:ext cx="118872" cy="118872"/>
          </a:xfrm>
          <a:prstGeom prst="ellipse">
            <a:avLst/>
          </a:prstGeom>
          <a:solidFill>
            <a:srgbClr val="B3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19088" y="5128911"/>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−572bp</a:t>
            </a:r>
          </a:p>
        </p:txBody>
      </p:sp>
      <p:sp>
        <p:nvSpPr>
          <p:cNvPr id="47" name="TextBox 46"/>
          <p:cNvSpPr txBox="1"/>
          <p:nvPr/>
        </p:nvSpPr>
        <p:spPr>
          <a:xfrm>
            <a:off x="7132320" y="5128911"/>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total loss</a:t>
            </a:r>
          </a:p>
        </p:txBody>
      </p:sp>
      <p:sp>
        <p:nvSpPr>
          <p:cNvPr id="48" name="TextBox 47"/>
          <p:cNvSpPr txBox="1"/>
          <p:nvPr/>
        </p:nvSpPr>
        <p:spPr>
          <a:xfrm>
            <a:off x="7808975" y="5128911"/>
            <a:ext cx="3813048" cy="182880"/>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Full impairment at expiry</a:t>
            </a:r>
          </a:p>
        </p:txBody>
      </p:sp>
      <p:sp>
        <p:nvSpPr>
          <p:cNvPr id="49" name="Oval 48"/>
          <p:cNvSpPr/>
          <p:nvPr/>
        </p:nvSpPr>
        <p:spPr>
          <a:xfrm>
            <a:off x="6217920" y="5412375"/>
            <a:ext cx="118872" cy="118872"/>
          </a:xfrm>
          <a:prstGeom prst="ellipse">
            <a:avLst/>
          </a:prstGeom>
          <a:solidFill>
            <a:srgbClr val="B3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19088" y="5375799"/>
            <a:ext cx="658368"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−615bp</a:t>
            </a:r>
          </a:p>
        </p:txBody>
      </p:sp>
      <p:sp>
        <p:nvSpPr>
          <p:cNvPr id="51" name="TextBox 50"/>
          <p:cNvSpPr txBox="1"/>
          <p:nvPr/>
        </p:nvSpPr>
        <p:spPr>
          <a:xfrm>
            <a:off x="7132320" y="5375799"/>
            <a:ext cx="621792" cy="182880"/>
          </a:xfrm>
          <a:prstGeom prst="rect">
            <a:avLst/>
          </a:prstGeom>
          <a:noFill/>
        </p:spPr>
        <p:txBody>
          <a:bodyPr wrap="square" lIns="0" tIns="0" rIns="0" bIns="0" anchor="t">
            <a:spAutoFit/>
          </a:bodyPr>
          <a:lstStyle/>
          <a:p>
            <a:pPr algn="r">
              <a:lnSpc>
                <a:spcPct val="100000"/>
              </a:lnSpc>
              <a:spcAft>
                <a:spcPts val="0"/>
              </a:spcAft>
            </a:pPr>
            <a:r>
              <a:rPr sz="950" b="0" i="0" u="none">
                <a:solidFill>
                  <a:srgbClr val="011C40"/>
                </a:solidFill>
                <a:latin typeface="Garamond"/>
              </a:rPr>
              <a:t>total loss</a:t>
            </a:r>
          </a:p>
        </p:txBody>
      </p:sp>
      <p:sp>
        <p:nvSpPr>
          <p:cNvPr id="52" name="TextBox 51"/>
          <p:cNvSpPr txBox="1"/>
          <p:nvPr/>
        </p:nvSpPr>
        <p:spPr>
          <a:xfrm>
            <a:off x="7808975" y="5375799"/>
            <a:ext cx="3813048" cy="146194"/>
          </a:xfrm>
          <a:prstGeom prst="rect">
            <a:avLst/>
          </a:prstGeom>
          <a:noFill/>
        </p:spPr>
        <p:txBody>
          <a:bodyPr wrap="square" lIns="0" tIns="0" rIns="0" bIns="0" anchor="t">
            <a:spAutoFit/>
          </a:bodyPr>
          <a:lstStyle/>
          <a:p>
            <a:pPr algn="l">
              <a:lnSpc>
                <a:spcPct val="100000"/>
              </a:lnSpc>
              <a:spcAft>
                <a:spcPts val="0"/>
              </a:spcAft>
            </a:pPr>
            <a:r>
              <a:rPr sz="950" b="0" i="0" u="none">
                <a:solidFill>
                  <a:srgbClr val="011C40"/>
                </a:solidFill>
                <a:latin typeface="Garamond"/>
              </a:rPr>
              <a:t>Italy's euro-crisis low, 11/9/2011</a:t>
            </a:r>
          </a:p>
        </p:txBody>
      </p:sp>
      <p:sp>
        <p:nvSpPr>
          <p:cNvPr id="53" name="TextBox 52"/>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Entry spread −82.9bp. Source: Bloomberg, Liminality calculations.</a:t>
            </a:r>
          </a:p>
        </p:txBody>
      </p:sp>
    </p:spTree>
    <p:extLst>
      <p:ext uri="{BB962C8B-B14F-4D97-AF65-F5344CB8AC3E}">
        <p14:creationId xmlns:p14="http://schemas.microsoft.com/office/powerpoint/2010/main" val="296450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Risk: Italy and Spain during the euro crisis</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10</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Our structure rolls into a 1-year swap spread at expiry</a:t>
            </a:r>
          </a:p>
        </p:txBody>
      </p:sp>
      <p:sp>
        <p:nvSpPr>
          <p:cNvPr id="6" name="TextBox 5"/>
          <p:cNvSpPr txBox="1"/>
          <p:nvPr/>
        </p:nvSpPr>
        <p:spPr>
          <a:xfrm>
            <a:off x="566928" y="1755648"/>
            <a:ext cx="11057839" cy="274320"/>
          </a:xfrm>
          <a:prstGeom prst="rect">
            <a:avLst/>
          </a:prstGeom>
          <a:noFill/>
        </p:spPr>
        <p:txBody>
          <a:bodyPr wrap="square" lIns="0" tIns="0" rIns="0" bIns="0" anchor="t">
            <a:spAutoFit/>
          </a:bodyPr>
          <a:lstStyle/>
          <a:p>
            <a:pPr algn="ctr">
              <a:lnSpc>
                <a:spcPct val="95000"/>
              </a:lnSpc>
              <a:spcAft>
                <a:spcPts val="600"/>
              </a:spcAft>
            </a:pPr>
            <a:r>
              <a:rPr sz="1200" b="1" i="0" u="none">
                <a:solidFill>
                  <a:srgbClr val="011C40"/>
                </a:solidFill>
                <a:latin typeface="Garamond"/>
              </a:rPr>
              <a:t>1-year swap spreads versus 6m Euribor, weekly, 2010 to 2013</a:t>
            </a:r>
          </a:p>
        </p:txBody>
      </p:sp>
      <p:graphicFrame>
        <p:nvGraphicFramePr>
          <p:cNvPr id="7" name="Chart 6"/>
          <p:cNvGraphicFramePr>
            <a:graphicFrameLocks noGrp="1"/>
          </p:cNvGraphicFramePr>
          <p:nvPr/>
        </p:nvGraphicFramePr>
        <p:xfrm>
          <a:off x="1389888" y="2048256"/>
          <a:ext cx="9411919" cy="402336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Italy's 1-year spread bottomed at −615bp on 11/9/2011. Source: Bloomberg, Liminality calculations.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Risks</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11</a:t>
            </a:r>
          </a:p>
        </p:txBody>
      </p:sp>
      <p:sp>
        <p:nvSpPr>
          <p:cNvPr id="5" name="Oval 4"/>
          <p:cNvSpPr/>
          <p:nvPr/>
        </p:nvSpPr>
        <p:spPr>
          <a:xfrm>
            <a:off x="566928" y="191292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47088"/>
            <a:ext cx="10874959" cy="238607"/>
          </a:xfrm>
          <a:prstGeom prst="rect">
            <a:avLst/>
          </a:prstGeom>
          <a:noFill/>
        </p:spPr>
        <p:txBody>
          <a:bodyPr wrap="square" lIns="0" tIns="0" rIns="0" bIns="0" anchor="t">
            <a:spAutoFit/>
          </a:bodyPr>
          <a:lstStyle/>
          <a:p>
            <a:pPr algn="l">
              <a:lnSpc>
                <a:spcPct val="110000"/>
              </a:lnSpc>
              <a:spcAft>
                <a:spcPts val="0"/>
              </a:spcAft>
            </a:pPr>
            <a:r>
              <a:rPr sz="1400" b="1" i="0" u="none">
                <a:solidFill>
                  <a:srgbClr val="011C40"/>
                </a:solidFill>
                <a:latin typeface="Garamond"/>
              </a:rPr>
              <a:t>Near-term mark to market</a:t>
            </a:r>
          </a:p>
        </p:txBody>
      </p:sp>
      <p:sp>
        <p:nvSpPr>
          <p:cNvPr id="7" name="Oval 6"/>
          <p:cNvSpPr/>
          <p:nvPr/>
        </p:nvSpPr>
        <p:spPr>
          <a:xfrm>
            <a:off x="566928" y="2329332"/>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263495"/>
            <a:ext cx="10874959" cy="238607"/>
          </a:xfrm>
          <a:prstGeom prst="rect">
            <a:avLst/>
          </a:prstGeom>
          <a:noFill/>
        </p:spPr>
        <p:txBody>
          <a:bodyPr wrap="square" lIns="0" tIns="0" rIns="0" bIns="0" anchor="t">
            <a:spAutoFit/>
          </a:bodyPr>
          <a:lstStyle/>
          <a:p>
            <a:pPr algn="l">
              <a:lnSpc>
                <a:spcPct val="110000"/>
              </a:lnSpc>
              <a:spcAft>
                <a:spcPts val="0"/>
              </a:spcAft>
            </a:pPr>
            <a:r>
              <a:rPr sz="1400" b="1" i="0" u="none">
                <a:solidFill>
                  <a:srgbClr val="011C40"/>
                </a:solidFill>
                <a:latin typeface="Garamond"/>
              </a:rPr>
              <a:t>At expiry: a dislocation to Italy's 2011 levels on 2/25/2031</a:t>
            </a:r>
          </a:p>
        </p:txBody>
      </p:sp>
      <p:sp>
        <p:nvSpPr>
          <p:cNvPr id="9" name="Oval 8"/>
          <p:cNvSpPr/>
          <p:nvPr/>
        </p:nvSpPr>
        <p:spPr>
          <a:xfrm>
            <a:off x="566928" y="274574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679903"/>
            <a:ext cx="10874959" cy="238607"/>
          </a:xfrm>
          <a:prstGeom prst="rect">
            <a:avLst/>
          </a:prstGeom>
          <a:noFill/>
        </p:spPr>
        <p:txBody>
          <a:bodyPr wrap="square" lIns="0" tIns="0" rIns="0" bIns="0" anchor="t">
            <a:spAutoFit/>
          </a:bodyPr>
          <a:lstStyle/>
          <a:p>
            <a:pPr algn="l">
              <a:lnSpc>
                <a:spcPct val="110000"/>
              </a:lnSpc>
              <a:spcAft>
                <a:spcPts val="0"/>
              </a:spcAft>
            </a:pPr>
            <a:r>
              <a:rPr sz="1400" b="1" i="0" u="none">
                <a:solidFill>
                  <a:srgbClr val="011C40"/>
                </a:solidFill>
                <a:latin typeface="Garamond"/>
              </a:rPr>
              <a:t>Before expiry: a crisis that leads to exit from the euro, or default</a:t>
            </a:r>
          </a:p>
        </p:txBody>
      </p:sp>
      <p:sp>
        <p:nvSpPr>
          <p:cNvPr id="11" name="Rounded Rectangle 10"/>
          <p:cNvSpPr/>
          <p:nvPr/>
        </p:nvSpPr>
        <p:spPr>
          <a:xfrm>
            <a:off x="566928" y="3370630"/>
            <a:ext cx="11057839" cy="762086"/>
          </a:xfrm>
          <a:prstGeom prst="roundRect">
            <a:avLst>
              <a:gd name="adj" fmla="val 4000"/>
            </a:avLst>
          </a:prstGeom>
          <a:solidFill>
            <a:srgbClr val="FFF4C2"/>
          </a:solidFill>
          <a:ln w="9525">
            <a:solidFill>
              <a:srgbClr val="7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3553510"/>
            <a:ext cx="10692079" cy="396326"/>
          </a:xfrm>
          <a:prstGeom prst="rect">
            <a:avLst/>
          </a:prstGeom>
          <a:noFill/>
        </p:spPr>
        <p:txBody>
          <a:bodyPr wrap="square" lIns="0" tIns="0" rIns="0" bIns="0" anchor="t">
            <a:spAutoFit/>
          </a:bodyPr>
          <a:lstStyle/>
          <a:p>
            <a:pPr algn="l">
              <a:lnSpc>
                <a:spcPct val="114000"/>
              </a:lnSpc>
              <a:spcAft>
                <a:spcPts val="200"/>
              </a:spcAft>
            </a:pPr>
            <a:r>
              <a:rPr sz="1050" b="1" i="0" u="none">
                <a:solidFill>
                  <a:srgbClr val="011C40"/>
                </a:solidFill>
                <a:latin typeface="Garamond"/>
              </a:rPr>
              <a:t>INTERNAL NOTE - delete before circulation</a:t>
            </a:r>
          </a:p>
          <a:p>
            <a:pPr algn="l">
              <a:lnSpc>
                <a:spcPct val="114000"/>
              </a:lnSpc>
              <a:spcAft>
                <a:spcPts val="0"/>
              </a:spcAft>
            </a:pPr>
            <a:r>
              <a:rPr sz="1050" b="0" i="0" u="none">
                <a:solidFill>
                  <a:srgbClr val="5A6172"/>
                </a:solidFill>
                <a:latin typeface="Garamond"/>
              </a:rPr>
              <a:t>Text to add (Charlie, 10/7/2026).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Why we don't think France will exit the EUR or default</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12</a:t>
            </a:r>
          </a:p>
        </p:txBody>
      </p:sp>
      <p:sp>
        <p:nvSpPr>
          <p:cNvPr id="5" name="Oval 4"/>
          <p:cNvSpPr/>
          <p:nvPr/>
        </p:nvSpPr>
        <p:spPr>
          <a:xfrm>
            <a:off x="566928" y="20066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905000"/>
            <a:ext cx="5074920" cy="220894"/>
          </a:xfrm>
          <a:prstGeom prst="rect">
            <a:avLst/>
          </a:prstGeom>
          <a:noFill/>
        </p:spPr>
        <p:txBody>
          <a:bodyPr wrap="square" lIns="0" tIns="0" rIns="0" bIns="0" anchor="t">
            <a:spAutoFit/>
          </a:bodyPr>
          <a:lstStyle/>
          <a:p>
            <a:pPr algn="l">
              <a:lnSpc>
                <a:spcPct val="116000"/>
              </a:lnSpc>
              <a:spcAft>
                <a:spcPts val="0"/>
              </a:spcAft>
            </a:pPr>
            <a:r>
              <a:rPr sz="1600" b="0" i="0" u="none">
                <a:solidFill>
                  <a:srgbClr val="011C40"/>
                </a:solidFill>
                <a:latin typeface="Garamond"/>
              </a:rPr>
              <a:t>France’s fiscal problems are solvable; the gap is political will.</a:t>
            </a:r>
          </a:p>
        </p:txBody>
      </p:sp>
      <p:sp>
        <p:nvSpPr>
          <p:cNvPr id="7" name="Oval 6"/>
          <p:cNvSpPr/>
          <p:nvPr/>
        </p:nvSpPr>
        <p:spPr>
          <a:xfrm>
            <a:off x="566928" y="25146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413000"/>
            <a:ext cx="5074920" cy="220894"/>
          </a:xfrm>
          <a:prstGeom prst="rect">
            <a:avLst/>
          </a:prstGeom>
          <a:noFill/>
        </p:spPr>
        <p:txBody>
          <a:bodyPr wrap="square" lIns="0" tIns="0" rIns="0" bIns="0" anchor="t">
            <a:spAutoFit/>
          </a:bodyPr>
          <a:lstStyle/>
          <a:p>
            <a:pPr algn="l">
              <a:lnSpc>
                <a:spcPct val="116000"/>
              </a:lnSpc>
              <a:spcAft>
                <a:spcPts val="0"/>
              </a:spcAft>
            </a:pPr>
            <a:r>
              <a:rPr sz="1600" b="0" i="0" u="none">
                <a:solidFill>
                  <a:srgbClr val="011C40"/>
                </a:solidFill>
                <a:latin typeface="Garamond"/>
              </a:rPr>
              <a:t>Acute pain will force a choice of “disease” over “death”.</a:t>
            </a:r>
          </a:p>
        </p:txBody>
      </p:sp>
      <p:sp>
        <p:nvSpPr>
          <p:cNvPr id="9" name="Oval 8"/>
          <p:cNvSpPr/>
          <p:nvPr/>
        </p:nvSpPr>
        <p:spPr>
          <a:xfrm>
            <a:off x="566928" y="30226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921000"/>
            <a:ext cx="5074920" cy="220894"/>
          </a:xfrm>
          <a:prstGeom prst="rect">
            <a:avLst/>
          </a:prstGeom>
          <a:noFill/>
        </p:spPr>
        <p:txBody>
          <a:bodyPr wrap="square" lIns="0" tIns="0" rIns="0" bIns="0" anchor="t">
            <a:spAutoFit/>
          </a:bodyPr>
          <a:lstStyle/>
          <a:p>
            <a:pPr algn="l">
              <a:lnSpc>
                <a:spcPct val="116000"/>
              </a:lnSpc>
              <a:spcAft>
                <a:spcPts val="0"/>
              </a:spcAft>
            </a:pPr>
            <a:r>
              <a:rPr sz="1600" b="0" i="0" u="none">
                <a:solidFill>
                  <a:srgbClr val="011C40"/>
                </a:solidFill>
                <a:latin typeface="Garamond"/>
              </a:rPr>
              <a:t>What forces the change?</a:t>
            </a:r>
          </a:p>
        </p:txBody>
      </p:sp>
      <p:sp>
        <p:nvSpPr>
          <p:cNvPr id="11" name="Oval 10"/>
          <p:cNvSpPr/>
          <p:nvPr/>
        </p:nvSpPr>
        <p:spPr>
          <a:xfrm>
            <a:off x="886968" y="353060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429000"/>
            <a:ext cx="4754880" cy="21788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A rate spike: the “Liz Truss moment”.</a:t>
            </a:r>
          </a:p>
        </p:txBody>
      </p:sp>
      <p:sp>
        <p:nvSpPr>
          <p:cNvPr id="13" name="Oval 12"/>
          <p:cNvSpPr/>
          <p:nvPr/>
        </p:nvSpPr>
        <p:spPr>
          <a:xfrm>
            <a:off x="886968" y="403860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9848" y="3937000"/>
            <a:ext cx="4754880" cy="21788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Stress on French banks.</a:t>
            </a:r>
          </a:p>
        </p:txBody>
      </p:sp>
      <p:sp>
        <p:nvSpPr>
          <p:cNvPr id="15" name="Oval 14"/>
          <p:cNvSpPr/>
          <p:nvPr/>
        </p:nvSpPr>
        <p:spPr>
          <a:xfrm>
            <a:off x="6236208" y="20066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1905000"/>
            <a:ext cx="5205679" cy="271806"/>
          </a:xfrm>
          <a:prstGeom prst="rect">
            <a:avLst/>
          </a:prstGeom>
          <a:noFill/>
        </p:spPr>
        <p:txBody>
          <a:bodyPr wrap="square" lIns="0" tIns="0" rIns="0" bIns="0" anchor="t">
            <a:spAutoFit/>
          </a:bodyPr>
          <a:lstStyle/>
          <a:p>
            <a:pPr algn="l">
              <a:lnSpc>
                <a:spcPct val="116000"/>
              </a:lnSpc>
              <a:spcAft>
                <a:spcPts val="0"/>
              </a:spcAft>
            </a:pPr>
            <a:r>
              <a:rPr sz="1600" b="0" i="0" u="none">
                <a:solidFill>
                  <a:srgbClr val="011C40"/>
                </a:solidFill>
                <a:latin typeface="Garamond"/>
              </a:rPr>
              <a:t>In a crisis, we expect the ECB to step in.</a:t>
            </a:r>
          </a:p>
        </p:txBody>
      </p:sp>
      <p:sp>
        <p:nvSpPr>
          <p:cNvPr id="17" name="Oval 16"/>
          <p:cNvSpPr/>
          <p:nvPr/>
        </p:nvSpPr>
        <p:spPr>
          <a:xfrm>
            <a:off x="6556248" y="251460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39128" y="2413000"/>
            <a:ext cx="4885639" cy="26815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EU mutualized debt in 2012; the stakes are higher now.</a:t>
            </a:r>
          </a:p>
        </p:txBody>
      </p:sp>
      <p:sp>
        <p:nvSpPr>
          <p:cNvPr id="19" name="Oval 18"/>
          <p:cNvSpPr/>
          <p:nvPr/>
        </p:nvSpPr>
        <p:spPr>
          <a:xfrm>
            <a:off x="6556248" y="302260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39128" y="2921000"/>
            <a:ext cx="4885639" cy="211148"/>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Too big to fail: 19% of euro-area output.</a:t>
            </a:r>
          </a:p>
        </p:txBody>
      </p:sp>
      <p:sp>
        <p:nvSpPr>
          <p:cNvPr id="21" name="Oval 20"/>
          <p:cNvSpPr/>
          <p:nvPr/>
        </p:nvSpPr>
        <p:spPr>
          <a:xfrm>
            <a:off x="6556248" y="353060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39128" y="3429000"/>
            <a:ext cx="4885639" cy="211148"/>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Backstops exist: ESM, OMT and TPI (2022).</a:t>
            </a:r>
          </a:p>
        </p:txBody>
      </p:sp>
      <p:sp>
        <p:nvSpPr>
          <p:cNvPr id="23" name="Oval 22"/>
          <p:cNvSpPr/>
          <p:nvPr/>
        </p:nvSpPr>
        <p:spPr>
          <a:xfrm>
            <a:off x="6556248" y="403860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39128" y="3937000"/>
            <a:ext cx="4885639" cy="26815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Euro exit means leaving the EU; no major party backs it.</a:t>
            </a:r>
          </a:p>
        </p:txBody>
      </p:sp>
      <p:sp>
        <p:nvSpPr>
          <p:cNvPr id="25" name="TextBox 24"/>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Output share: Eurostat nominal GDP 2025 via Bloomberg. ESM treaty in force 9/27/2012; OMT announced 9/6/2012; TPI 7/21/2022. Source: Eurostat, ECB, ESM, Liminality.</a:t>
            </a:r>
          </a:p>
        </p:txBody>
      </p:sp>
    </p:spTree>
    <p:extLst>
      <p:ext uri="{BB962C8B-B14F-4D97-AF65-F5344CB8AC3E}">
        <p14:creationId xmlns:p14="http://schemas.microsoft.com/office/powerpoint/2010/main" val="694662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Appendix: the return as if the swap were on €STR</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13</a:t>
            </a:r>
          </a:p>
        </p:txBody>
      </p:sp>
      <p:sp>
        <p:nvSpPr>
          <p:cNvPr id="5" name="TextBox 4"/>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Same three sources measured against €STR OIS, the financing rate; per 100m notional</a:t>
            </a:r>
          </a:p>
        </p:txBody>
      </p:sp>
      <p:sp>
        <p:nvSpPr>
          <p:cNvPr id="6" name="Rounded Rectangle 5"/>
          <p:cNvSpPr/>
          <p:nvPr/>
        </p:nvSpPr>
        <p:spPr>
          <a:xfrm>
            <a:off x="566928" y="1783080"/>
            <a:ext cx="3503066" cy="22402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1929384"/>
            <a:ext cx="3100730" cy="292608"/>
          </a:xfrm>
          <a:prstGeom prst="rect">
            <a:avLst/>
          </a:prstGeom>
          <a:noFill/>
        </p:spPr>
        <p:txBody>
          <a:bodyPr wrap="square" lIns="0" tIns="0" rIns="0" bIns="0" anchor="t">
            <a:spAutoFit/>
          </a:bodyPr>
          <a:lstStyle/>
          <a:p>
            <a:pPr algn="l">
              <a:lnSpc>
                <a:spcPct val="95000"/>
              </a:lnSpc>
              <a:spcAft>
                <a:spcPts val="600"/>
              </a:spcAft>
            </a:pPr>
            <a:r>
              <a:rPr sz="1300" b="1" i="0" u="none">
                <a:solidFill>
                  <a:srgbClr val="011C40"/>
                </a:solidFill>
                <a:latin typeface="Garamond"/>
              </a:rPr>
              <a:t>1  Carry on the spread</a:t>
            </a:r>
          </a:p>
        </p:txBody>
      </p:sp>
      <p:sp>
        <p:nvSpPr>
          <p:cNvPr id="8" name="TextBox 7"/>
          <p:cNvSpPr txBox="1"/>
          <p:nvPr/>
        </p:nvSpPr>
        <p:spPr>
          <a:xfrm>
            <a:off x="768096" y="2240279"/>
            <a:ext cx="3100730" cy="402336"/>
          </a:xfrm>
          <a:prstGeom prst="rect">
            <a:avLst/>
          </a:prstGeom>
          <a:noFill/>
        </p:spPr>
        <p:txBody>
          <a:bodyPr wrap="square" lIns="0" tIns="0" rIns="0" bIns="0" anchor="t">
            <a:spAutoFit/>
          </a:bodyPr>
          <a:lstStyle/>
          <a:p>
            <a:pPr algn="l">
              <a:lnSpc>
                <a:spcPct val="95000"/>
              </a:lnSpc>
              <a:spcAft>
                <a:spcPts val="600"/>
              </a:spcAft>
            </a:pPr>
            <a:r>
              <a:rPr sz="2000" b="1" i="0" u="none">
                <a:solidFill>
                  <a:srgbClr val="2C7A5A"/>
                </a:solidFill>
                <a:latin typeface="Garamond"/>
              </a:rPr>
              <a:t>115bp a year</a:t>
            </a:r>
          </a:p>
        </p:txBody>
      </p:sp>
      <p:sp>
        <p:nvSpPr>
          <p:cNvPr id="9" name="TextBox 8"/>
          <p:cNvSpPr txBox="1"/>
          <p:nvPr/>
        </p:nvSpPr>
        <p:spPr>
          <a:xfrm>
            <a:off x="768096" y="2679192"/>
            <a:ext cx="3100730" cy="490199"/>
          </a:xfrm>
          <a:prstGeom prst="rect">
            <a:avLst/>
          </a:prstGeom>
          <a:noFill/>
        </p:spPr>
        <p:txBody>
          <a:bodyPr wrap="square" lIns="0" tIns="0" rIns="0" bIns="0" anchor="t">
            <a:spAutoFit/>
          </a:bodyPr>
          <a:lstStyle/>
          <a:p>
            <a:pPr marL="171450" indent="-171450" algn="l">
              <a:lnSpc>
                <a:spcPct val="112000"/>
              </a:lnSpc>
              <a:spcAft>
                <a:spcPts val="400"/>
              </a:spcAft>
              <a:buFont typeface="Arial"/>
              <a:buChar char="•"/>
            </a:pPr>
            <a:r>
              <a:rPr sz="1300" b="0" i="0" u="none">
                <a:solidFill>
                  <a:srgbClr val="5A6172"/>
                </a:solidFill>
                <a:latin typeface="Garamond"/>
              </a:rPr>
              <a:t>Receive bond 4.33%; pay €STR swap 3.17%.</a:t>
            </a:r>
          </a:p>
          <a:p>
            <a:pPr marL="171450" indent="-171450" algn="l">
              <a:lnSpc>
                <a:spcPct val="112000"/>
              </a:lnSpc>
              <a:spcAft>
                <a:spcPts val="400"/>
              </a:spcAft>
              <a:buFont typeface="Arial"/>
              <a:buChar char="•"/>
            </a:pPr>
            <a:r>
              <a:rPr sz="1300" b="0" i="0" u="none">
                <a:solidFill>
                  <a:srgbClr val="5A6172"/>
                </a:solidFill>
                <a:latin typeface="Garamond"/>
              </a:rPr>
              <a:t>Spread: −115bp (−83bp + 32bp basis).</a:t>
            </a:r>
          </a:p>
        </p:txBody>
      </p:sp>
      <p:sp>
        <p:nvSpPr>
          <p:cNvPr id="10" name="Rounded Rectangle 9"/>
          <p:cNvSpPr/>
          <p:nvPr/>
        </p:nvSpPr>
        <p:spPr>
          <a:xfrm>
            <a:off x="4344314" y="1783080"/>
            <a:ext cx="3503066" cy="224028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5482" y="1929384"/>
            <a:ext cx="3100730" cy="292608"/>
          </a:xfrm>
          <a:prstGeom prst="rect">
            <a:avLst/>
          </a:prstGeom>
          <a:noFill/>
        </p:spPr>
        <p:txBody>
          <a:bodyPr wrap="square" lIns="0" tIns="0" rIns="0" bIns="0" anchor="t">
            <a:spAutoFit/>
          </a:bodyPr>
          <a:lstStyle/>
          <a:p>
            <a:pPr algn="l">
              <a:lnSpc>
                <a:spcPct val="95000"/>
              </a:lnSpc>
              <a:spcAft>
                <a:spcPts val="600"/>
              </a:spcAft>
            </a:pPr>
            <a:r>
              <a:rPr sz="1300" b="1" i="0" u="none">
                <a:solidFill>
                  <a:srgbClr val="011C40"/>
                </a:solidFill>
                <a:latin typeface="Garamond"/>
              </a:rPr>
              <a:t>2  The floating legs</a:t>
            </a:r>
          </a:p>
        </p:txBody>
      </p:sp>
      <p:sp>
        <p:nvSpPr>
          <p:cNvPr id="12" name="TextBox 11"/>
          <p:cNvSpPr txBox="1"/>
          <p:nvPr/>
        </p:nvSpPr>
        <p:spPr>
          <a:xfrm>
            <a:off x="4545482" y="2240279"/>
            <a:ext cx="3100730" cy="402336"/>
          </a:xfrm>
          <a:prstGeom prst="rect">
            <a:avLst/>
          </a:prstGeom>
          <a:noFill/>
        </p:spPr>
        <p:txBody>
          <a:bodyPr wrap="square" lIns="0" tIns="0" rIns="0" bIns="0" anchor="t">
            <a:spAutoFit/>
          </a:bodyPr>
          <a:lstStyle/>
          <a:p>
            <a:pPr algn="l">
              <a:lnSpc>
                <a:spcPct val="95000"/>
              </a:lnSpc>
              <a:spcAft>
                <a:spcPts val="600"/>
              </a:spcAft>
            </a:pPr>
            <a:r>
              <a:rPr sz="2000" b="1" i="0" u="none">
                <a:solidFill>
                  <a:srgbClr val="C9922E"/>
                </a:solidFill>
                <a:latin typeface="Garamond"/>
              </a:rPr>
              <a:t>cancel, less 17bp</a:t>
            </a:r>
          </a:p>
        </p:txBody>
      </p:sp>
      <p:sp>
        <p:nvSpPr>
          <p:cNvPr id="13" name="TextBox 12"/>
          <p:cNvSpPr txBox="1"/>
          <p:nvPr/>
        </p:nvSpPr>
        <p:spPr>
          <a:xfrm>
            <a:off x="4545482" y="2679192"/>
            <a:ext cx="3100730" cy="490199"/>
          </a:xfrm>
          <a:prstGeom prst="rect">
            <a:avLst/>
          </a:prstGeom>
          <a:noFill/>
        </p:spPr>
        <p:txBody>
          <a:bodyPr wrap="square" lIns="0" tIns="0" rIns="0" bIns="0" anchor="t">
            <a:spAutoFit/>
          </a:bodyPr>
          <a:lstStyle/>
          <a:p>
            <a:pPr marL="171450" indent="-171450" algn="l">
              <a:lnSpc>
                <a:spcPct val="112000"/>
              </a:lnSpc>
              <a:spcAft>
                <a:spcPts val="400"/>
              </a:spcAft>
              <a:buFont typeface="Arial"/>
              <a:buChar char="•"/>
            </a:pPr>
            <a:r>
              <a:rPr sz="1300" b="0" i="0" u="none">
                <a:solidFill>
                  <a:srgbClr val="5A6172"/>
                </a:solidFill>
                <a:latin typeface="Garamond"/>
              </a:rPr>
              <a:t>Floating legs cancel, as SOFR does in the US.</a:t>
            </a:r>
          </a:p>
          <a:p>
            <a:pPr marL="171450" indent="-171450" algn="l">
              <a:lnSpc>
                <a:spcPct val="112000"/>
              </a:lnSpc>
              <a:spcAft>
                <a:spcPts val="400"/>
              </a:spcAft>
              <a:buFont typeface="Arial"/>
              <a:buChar char="•"/>
            </a:pPr>
            <a:r>
              <a:rPr sz="1300" b="0" i="0" u="none">
                <a:solidFill>
                  <a:srgbClr val="5A6172"/>
                </a:solidFill>
                <a:latin typeface="Garamond"/>
              </a:rPr>
              <a:t>Net carry: 115bp − 17bp = 98bp a year.</a:t>
            </a:r>
          </a:p>
        </p:txBody>
      </p:sp>
      <p:sp>
        <p:nvSpPr>
          <p:cNvPr id="14" name="Rounded Rectangle 13"/>
          <p:cNvSpPr/>
          <p:nvPr/>
        </p:nvSpPr>
        <p:spPr>
          <a:xfrm>
            <a:off x="8121700" y="1783080"/>
            <a:ext cx="3503066" cy="22402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2868" y="1929384"/>
            <a:ext cx="3100730" cy="292608"/>
          </a:xfrm>
          <a:prstGeom prst="rect">
            <a:avLst/>
          </a:prstGeom>
          <a:noFill/>
        </p:spPr>
        <p:txBody>
          <a:bodyPr wrap="square" lIns="0" tIns="0" rIns="0" bIns="0" anchor="t">
            <a:spAutoFit/>
          </a:bodyPr>
          <a:lstStyle/>
          <a:p>
            <a:pPr algn="l">
              <a:lnSpc>
                <a:spcPct val="95000"/>
              </a:lnSpc>
              <a:spcAft>
                <a:spcPts val="600"/>
              </a:spcAft>
            </a:pPr>
            <a:r>
              <a:rPr sz="1300" b="1" i="0" u="none">
                <a:solidFill>
                  <a:srgbClr val="011C40"/>
                </a:solidFill>
                <a:latin typeface="Garamond"/>
              </a:rPr>
              <a:t>3  Roll-down</a:t>
            </a:r>
          </a:p>
        </p:txBody>
      </p:sp>
      <p:sp>
        <p:nvSpPr>
          <p:cNvPr id="16" name="TextBox 15"/>
          <p:cNvSpPr txBox="1"/>
          <p:nvPr/>
        </p:nvSpPr>
        <p:spPr>
          <a:xfrm>
            <a:off x="8322868" y="2240279"/>
            <a:ext cx="3100730" cy="402336"/>
          </a:xfrm>
          <a:prstGeom prst="rect">
            <a:avLst/>
          </a:prstGeom>
          <a:noFill/>
        </p:spPr>
        <p:txBody>
          <a:bodyPr wrap="square" lIns="0" tIns="0" rIns="0" bIns="0" anchor="t">
            <a:spAutoFit/>
          </a:bodyPr>
          <a:lstStyle/>
          <a:p>
            <a:pPr algn="l">
              <a:lnSpc>
                <a:spcPct val="95000"/>
              </a:lnSpc>
              <a:spcAft>
                <a:spcPts val="600"/>
              </a:spcAft>
            </a:pPr>
            <a:r>
              <a:rPr sz="2000" b="1" i="0" u="none">
                <a:solidFill>
                  <a:srgbClr val="011C40"/>
                </a:solidFill>
                <a:latin typeface="Garamond"/>
              </a:rPr>
              <a:t>+73bp over the life</a:t>
            </a:r>
          </a:p>
        </p:txBody>
      </p:sp>
      <p:sp>
        <p:nvSpPr>
          <p:cNvPr id="17" name="TextBox 16"/>
          <p:cNvSpPr txBox="1"/>
          <p:nvPr/>
        </p:nvSpPr>
        <p:spPr>
          <a:xfrm>
            <a:off x="8322868" y="2679192"/>
            <a:ext cx="3100730" cy="989566"/>
          </a:xfrm>
          <a:prstGeom prst="rect">
            <a:avLst/>
          </a:prstGeom>
          <a:noFill/>
        </p:spPr>
        <p:txBody>
          <a:bodyPr wrap="square" lIns="0" tIns="0" rIns="0" bIns="0" anchor="t">
            <a:spAutoFit/>
          </a:bodyPr>
          <a:lstStyle/>
          <a:p>
            <a:pPr marL="171450" indent="-171450" algn="l">
              <a:lnSpc>
                <a:spcPct val="112000"/>
              </a:lnSpc>
              <a:spcAft>
                <a:spcPts val="400"/>
              </a:spcAft>
              <a:buFont typeface="Arial"/>
              <a:buChar char="•"/>
            </a:pPr>
            <a:r>
              <a:rPr sz="1300" b="0" i="0" u="none">
                <a:solidFill>
                  <a:srgbClr val="5A6172"/>
                </a:solidFill>
                <a:latin typeface="Garamond"/>
              </a:rPr>
              <a:t>1y point at −42bp: 73bp roll vs. 82bp on Euribor.</a:t>
            </a:r>
          </a:p>
          <a:p>
            <a:pPr marL="171450" indent="-171450" algn="l">
              <a:lnSpc>
                <a:spcPct val="112000"/>
              </a:lnSpc>
              <a:spcAft>
                <a:spcPts val="400"/>
              </a:spcAft>
              <a:buFont typeface="Arial"/>
              <a:buChar char="•"/>
            </a:pPr>
            <a:r>
              <a:rPr sz="1300" b="0" i="0" u="none">
                <a:solidFill>
                  <a:srgbClr val="5A6172"/>
                </a:solidFill>
                <a:latin typeface="Garamond"/>
              </a:rPr>
              <a:t>Gap is the basis-curve slope (41bp vs. 32bp).</a:t>
            </a:r>
          </a:p>
          <a:p>
            <a:pPr marL="171450" indent="-171450" algn="l">
              <a:lnSpc>
                <a:spcPct val="112000"/>
              </a:lnSpc>
              <a:spcAft>
                <a:spcPts val="400"/>
              </a:spcAft>
              <a:buFont typeface="Arial"/>
              <a:buChar char="•"/>
            </a:pPr>
            <a:r>
              <a:rPr sz="1300" b="0" i="0" u="none">
                <a:solidFill>
                  <a:srgbClr val="5A6172"/>
                </a:solidFill>
                <a:latin typeface="Garamond"/>
              </a:rPr>
              <a:t>The model uses the Euribor spread.</a:t>
            </a:r>
          </a:p>
        </p:txBody>
      </p:sp>
      <p:sp>
        <p:nvSpPr>
          <p:cNvPr id="18" name="TextBox 17"/>
          <p:cNvSpPr txBox="1"/>
          <p:nvPr/>
        </p:nvSpPr>
        <p:spPr>
          <a:xfrm>
            <a:off x="566928" y="4187952"/>
            <a:ext cx="11057839" cy="238112"/>
          </a:xfrm>
          <a:prstGeom prst="rect">
            <a:avLst/>
          </a:prstGeom>
          <a:noFill/>
        </p:spPr>
        <p:txBody>
          <a:bodyPr wrap="square" lIns="0" tIns="0" rIns="0" bIns="0" anchor="t">
            <a:spAutoFit/>
          </a:bodyPr>
          <a:lstStyle/>
          <a:p>
            <a:pPr algn="l">
              <a:lnSpc>
                <a:spcPct val="95000"/>
              </a:lnSpc>
              <a:spcAft>
                <a:spcPts val="600"/>
              </a:spcAft>
            </a:pPr>
            <a:r>
              <a:rPr sz="1100" b="1" i="0" u="none">
                <a:solidFill>
                  <a:srgbClr val="011C40"/>
                </a:solidFill>
                <a:latin typeface="Garamond"/>
              </a:rPr>
              <a:t>France 5-year swap spread on both bases, weekly since 2010</a:t>
            </a:r>
          </a:p>
        </p:txBody>
      </p:sp>
      <p:graphicFrame>
        <p:nvGraphicFramePr>
          <p:cNvPr id="19" name="Chart 18"/>
          <p:cNvGraphicFramePr>
            <a:graphicFrameLocks noGrp="1"/>
          </p:cNvGraphicFramePr>
          <p:nvPr/>
        </p:nvGraphicFramePr>
        <p:xfrm>
          <a:off x="566928" y="4443984"/>
          <a:ext cx="11057839" cy="1645920"/>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€STR OIS from Bloomberg EESWE, with EONIA less 8.5bp before October 2019, the ECB's recalibration. As of 10/2/2026. Source: Bloomberg, Liminality calculations.</a:t>
            </a:r>
          </a:p>
        </p:txBody>
      </p:sp>
    </p:spTree>
    <p:extLst>
      <p:ext uri="{BB962C8B-B14F-4D97-AF65-F5344CB8AC3E}">
        <p14:creationId xmlns:p14="http://schemas.microsoft.com/office/powerpoint/2010/main" val="428115932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vidends_v2" id="{56D19956-A5E6-4E61-B296-8A0BAA4F67C7}" vid="{BBA9B4DC-5569-4260-A357-39FE9E7D1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3B7708-103C-4AB3-BD83-0C3A963F1603}">
  <we:reference id="WA200010001" version="1.0.0.1" store="Omex" storeType="OMEX"/>
  <we:alternateReferences>
    <we:reference id="WA200010001" version="1.0.0.1" store="WA200010001" storeType="OMEX"/>
  </we:alternateReferences>
  <we:properties>
    <we:property name="claude.fileId" value="&quot;feb735f2-bf62-4664-b1d7-59656c52649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C65B0F106080448CC440CD0B47B642" ma:contentTypeVersion="15" ma:contentTypeDescription="Create a new document." ma:contentTypeScope="" ma:versionID="23b60c0138c00645af4788556affe79e">
  <xsd:schema xmlns:xsd="http://www.w3.org/2001/XMLSchema" xmlns:xs="http://www.w3.org/2001/XMLSchema" xmlns:p="http://schemas.microsoft.com/office/2006/metadata/properties" xmlns:ns2="ee892943-9abb-4ecc-84c4-6c4ebc2a981f" xmlns:ns3="c0b1cd37-714f-4ee7-8d09-352e1c2211e5" targetNamespace="http://schemas.microsoft.com/office/2006/metadata/properties" ma:root="true" ma:fieldsID="c477f695ed6b55cbc0570e427ce9046c" ns2:_="" ns3:_="">
    <xsd:import namespace="ee892943-9abb-4ecc-84c4-6c4ebc2a981f"/>
    <xsd:import namespace="c0b1cd37-714f-4ee7-8d09-352e1c2211e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892943-9abb-4ecc-84c4-6c4ebc2a98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31d2bf-6c71-4737-8a02-ebc0833cf04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description="" ma:hidden="true" ma:indexed="true" ma:internalName="MediaServiceObjectDetectorVersions"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0b1cd37-714f-4ee7-8d09-352e1c2211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58845c6b-5f9d-4c18-b6fe-ad977bf02bbd}" ma:internalName="TaxCatchAll" ma:showField="CatchAllData" ma:web="c0b1cd37-714f-4ee7-8d09-352e1c2211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0b1cd37-714f-4ee7-8d09-352e1c2211e5" xsi:nil="true"/>
    <lcf76f155ced4ddcb4097134ff3c332f xmlns="ee892943-9abb-4ecc-84c4-6c4ebc2a981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06E7466-A0AC-4A00-9673-E73941EEB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892943-9abb-4ecc-84c4-6c4ebc2a981f"/>
    <ds:schemaRef ds:uri="c0b1cd37-714f-4ee7-8d09-352e1c2211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238523-C039-4774-8025-800A7A57634C}">
  <ds:schemaRefs>
    <ds:schemaRef ds:uri="http://www.w3.org/XML/1998/namespace"/>
    <ds:schemaRef ds:uri="ee892943-9abb-4ecc-84c4-6c4ebc2a981f"/>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c0b1cd37-714f-4ee7-8d09-352e1c2211e5"/>
    <ds:schemaRef ds:uri="http://schemas.microsoft.com/office/2006/metadata/properties"/>
  </ds:schemaRefs>
</ds:datastoreItem>
</file>

<file path=customXml/itemProps3.xml><?xml version="1.0" encoding="utf-8"?>
<ds:datastoreItem xmlns:ds="http://schemas.openxmlformats.org/officeDocument/2006/customXml" ds:itemID="{73386CA3-872E-4B23-960A-B564860DA5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63267</TotalTime>
  <Words>2382</Words>
  <Application>Microsoft Office PowerPoint</Application>
  <PresentationFormat>Widescreen</PresentationFormat>
  <Paragraphs>275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Calibri Light</vt:lpstr>
      <vt:lpstr>Garamond</vt:lpstr>
      <vt:lpstr>Arial</vt:lpstr>
      <vt:lpstr>Helvetica Neue</vt:lpstr>
      <vt:lpstr>Custom Design</vt:lpstr>
      <vt:lpstr>PowerPoint Presentation</vt:lpstr>
      <vt:lpstr>Disclaimer</vt:lpstr>
      <vt:lpstr>Liminality Capital</vt:lpstr>
      <vt:lpstr>Executive summary: the French swap spread opportunity</vt:lpstr>
      <vt:lpstr>What is a swap spread?</vt:lpstr>
      <vt:lpstr>The current dislocation</vt:lpstr>
      <vt:lpstr>Why is there a dislocation?</vt:lpstr>
      <vt:lpstr>Where the return comes from</vt:lpstr>
      <vt:lpstr>Where does the return come from – version 2</vt:lpstr>
      <vt:lpstr>Where does the return come from – version 3</vt:lpstr>
      <vt:lpstr>Where does the return come from – version 4</vt:lpstr>
      <vt:lpstr>Scenario analysis: 4.4-year IRR and multiple of capital at expiry</vt:lpstr>
      <vt:lpstr>Risk: Italy and Spain during the euro crisis</vt:lpstr>
      <vt:lpstr>Risks</vt:lpstr>
      <vt:lpstr>Why we don't think France will exit the EUR or default</vt:lpstr>
      <vt:lpstr>Appendix: the return as if the swap were on €STR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 Derr</dc:creator>
  <cp:lastModifiedBy>Charlie Ledley</cp:lastModifiedBy>
  <cp:revision>108</cp:revision>
  <cp:lastPrinted>2025-06-25T14:55:21Z</cp:lastPrinted>
  <dcterms:modified xsi:type="dcterms:W3CDTF">2026-10-08T14:32:31Z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0x01010076C65B0F106080448CC440CD0B47B642</vt:lpwstr>
  </property>
  <property fmtid="{D5CDD505-2E9C-101B-9397-08002B2CF9AE}" pid="3" name="MediaServiceImageTags">
    <vt:lpwstr/>
  </property>
</Properties>
</file>