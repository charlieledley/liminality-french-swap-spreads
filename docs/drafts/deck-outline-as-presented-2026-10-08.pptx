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19"/>
  </p:notesMasterIdLst>
  <p:sldIdLst>
    <p:sldId id="256" r:id="rId5"/>
    <p:sldId id="257" r:id="rId6"/>
    <p:sldId id="280" r:id="rId7"/>
    <p:sldId id="281" r:id="rId8"/>
    <p:sldId id="282" r:id="rId9"/>
    <p:sldId id="289" r:id="rId10"/>
    <p:sldId id="283" r:id="rId11"/>
    <p:sldId id="263" r:id="rId12"/>
    <p:sldId id="285" r:id="rId13"/>
    <p:sldId id="277" r:id="rId14"/>
    <p:sldId id="287" r:id="rId15"/>
    <p:sldId id="288" r:id="rId16"/>
    <p:sldId id="279" r:id="rId17"/>
    <p:sldId id="278" r:id="rId18"/>
  </p:sldIdLst>
  <p:sldSz cx="12192000" cy="6858000"/>
  <p:notesSz cx="7315200" cy="9601200"/>
  <p:embeddedFontLst>
    <p:embeddedFont>
      <p:font typeface="Garamond" panose="02020404030301010803" pitchFamily="18" charset="0"/>
      <p:regular r:id="rId20"/>
      <p:bold r:id="rId21"/>
      <p:italic r:id="rId22"/>
    </p:embeddedFont>
    <p:embeddedFont>
      <p:font typeface="Helvetica Neue"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E9EBF5"/>
    <a:srgbClr val="6A6A6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38A06F-80D2-40F0-8C32-EE9004002F6F}" v="3" dt="2026-10-08T18:12:42.2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59" autoAdjust="0"/>
    <p:restoredTop sz="94404" autoAdjust="0"/>
  </p:normalViewPr>
  <p:slideViewPr>
    <p:cSldViewPr snapToGrid="0">
      <p:cViewPr>
        <p:scale>
          <a:sx n="100" d="100"/>
          <a:sy n="100" d="100"/>
        </p:scale>
        <p:origin x="48" y="-1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ie Ledley" userId="4fd6789a-5b68-4c67-b2dd-741fccd174a7" providerId="ADAL" clId="{ADEF4E80-B48C-4EE4-8026-C9587D54C67A}"/>
    <pc:docChg chg="undo redo custSel delSld modSld">
      <pc:chgData name="Charlie Ledley" userId="4fd6789a-5b68-4c67-b2dd-741fccd174a7" providerId="ADAL" clId="{ADEF4E80-B48C-4EE4-8026-C9587D54C67A}" dt="2026-10-08T18:15:38.025" v="373" actId="2696"/>
      <pc:docMkLst>
        <pc:docMk/>
      </pc:docMkLst>
      <pc:sldChg chg="delSp modSp mod">
        <pc:chgData name="Charlie Ledley" userId="4fd6789a-5b68-4c67-b2dd-741fccd174a7" providerId="ADAL" clId="{ADEF4E80-B48C-4EE4-8026-C9587D54C67A}" dt="2026-10-08T17:47:21.890" v="311" actId="20577"/>
        <pc:sldMkLst>
          <pc:docMk/>
          <pc:sldMk cId="0" sldId="263"/>
        </pc:sldMkLst>
        <pc:spChg chg="del mod">
          <ac:chgData name="Charlie Ledley" userId="4fd6789a-5b68-4c67-b2dd-741fccd174a7" providerId="ADAL" clId="{ADEF4E80-B48C-4EE4-8026-C9587D54C67A}" dt="2026-10-08T17:47:04.658" v="302"/>
          <ac:spMkLst>
            <pc:docMk/>
            <pc:sldMk cId="0" sldId="263"/>
            <ac:spMk id="5" creationId="{00000000-0000-0000-0000-000000000000}"/>
          </ac:spMkLst>
        </pc:spChg>
        <pc:spChg chg="mod">
          <ac:chgData name="Charlie Ledley" userId="4fd6789a-5b68-4c67-b2dd-741fccd174a7" providerId="ADAL" clId="{ADEF4E80-B48C-4EE4-8026-C9587D54C67A}" dt="2026-10-08T17:47:21.890" v="311" actId="20577"/>
          <ac:spMkLst>
            <pc:docMk/>
            <pc:sldMk cId="0" sldId="263"/>
            <ac:spMk id="8" creationId="{00000000-0000-0000-0000-000000000000}"/>
          </ac:spMkLst>
        </pc:spChg>
        <pc:spChg chg="mod">
          <ac:chgData name="Charlie Ledley" userId="4fd6789a-5b68-4c67-b2dd-741fccd174a7" providerId="ADAL" clId="{ADEF4E80-B48C-4EE4-8026-C9587D54C67A}" dt="2026-10-08T17:39:24.048" v="260" actId="20577"/>
          <ac:spMkLst>
            <pc:docMk/>
            <pc:sldMk cId="0" sldId="263"/>
            <ac:spMk id="16" creationId="{00000000-0000-0000-0000-000000000000}"/>
          </ac:spMkLst>
        </pc:spChg>
        <pc:spChg chg="mod">
          <ac:chgData name="Charlie Ledley" userId="4fd6789a-5b68-4c67-b2dd-741fccd174a7" providerId="ADAL" clId="{ADEF4E80-B48C-4EE4-8026-C9587D54C67A}" dt="2026-10-08T17:39:41.271" v="261"/>
          <ac:spMkLst>
            <pc:docMk/>
            <pc:sldMk cId="0" sldId="263"/>
            <ac:spMk id="17" creationId="{00000000-0000-0000-0000-000000000000}"/>
          </ac:spMkLst>
        </pc:spChg>
        <pc:spChg chg="mod">
          <ac:chgData name="Charlie Ledley" userId="4fd6789a-5b68-4c67-b2dd-741fccd174a7" providerId="ADAL" clId="{ADEF4E80-B48C-4EE4-8026-C9587D54C67A}" dt="2026-10-08T17:40:31.146" v="277" actId="20577"/>
          <ac:spMkLst>
            <pc:docMk/>
            <pc:sldMk cId="0" sldId="263"/>
            <ac:spMk id="25" creationId="{00000000-0000-0000-0000-000000000000}"/>
          </ac:spMkLst>
        </pc:spChg>
        <pc:spChg chg="mod">
          <ac:chgData name="Charlie Ledley" userId="4fd6789a-5b68-4c67-b2dd-741fccd174a7" providerId="ADAL" clId="{ADEF4E80-B48C-4EE4-8026-C9587D54C67A}" dt="2026-10-08T17:40:57.973" v="291" actId="20577"/>
          <ac:spMkLst>
            <pc:docMk/>
            <pc:sldMk cId="0" sldId="263"/>
            <ac:spMk id="26" creationId="{00000000-0000-0000-0000-000000000000}"/>
          </ac:spMkLst>
        </pc:spChg>
      </pc:sldChg>
      <pc:sldChg chg="modSp mod">
        <pc:chgData name="Charlie Ledley" userId="4fd6789a-5b68-4c67-b2dd-741fccd174a7" providerId="ADAL" clId="{ADEF4E80-B48C-4EE4-8026-C9587D54C67A}" dt="2026-10-08T18:12:56.550" v="371" actId="255"/>
        <pc:sldMkLst>
          <pc:docMk/>
          <pc:sldMk cId="2661942230" sldId="278"/>
        </pc:sldMkLst>
        <pc:spChg chg="mod">
          <ac:chgData name="Charlie Ledley" userId="4fd6789a-5b68-4c67-b2dd-741fccd174a7" providerId="ADAL" clId="{ADEF4E80-B48C-4EE4-8026-C9587D54C67A}" dt="2026-10-08T18:12:56.550" v="371" actId="255"/>
          <ac:spMkLst>
            <pc:docMk/>
            <pc:sldMk cId="2661942230" sldId="278"/>
            <ac:spMk id="20" creationId="{00000000-0000-0000-0000-000000000000}"/>
          </ac:spMkLst>
        </pc:spChg>
      </pc:sldChg>
      <pc:sldChg chg="modSp mod">
        <pc:chgData name="Charlie Ledley" userId="4fd6789a-5b68-4c67-b2dd-741fccd174a7" providerId="ADAL" clId="{ADEF4E80-B48C-4EE4-8026-C9587D54C67A}" dt="2026-10-08T17:32:09.355" v="78" actId="20577"/>
        <pc:sldMkLst>
          <pc:docMk/>
          <pc:sldMk cId="1924810945" sldId="282"/>
        </pc:sldMkLst>
        <pc:spChg chg="mod">
          <ac:chgData name="Charlie Ledley" userId="4fd6789a-5b68-4c67-b2dd-741fccd174a7" providerId="ADAL" clId="{ADEF4E80-B48C-4EE4-8026-C9587D54C67A}" dt="2026-10-08T17:32:09.355" v="78" actId="20577"/>
          <ac:spMkLst>
            <pc:docMk/>
            <pc:sldMk cId="1924810945" sldId="282"/>
            <ac:spMk id="12" creationId="{00000000-0000-0000-0000-000000000000}"/>
          </ac:spMkLst>
        </pc:spChg>
      </pc:sldChg>
      <pc:sldChg chg="modSp mod">
        <pc:chgData name="Charlie Ledley" userId="4fd6789a-5b68-4c67-b2dd-741fccd174a7" providerId="ADAL" clId="{ADEF4E80-B48C-4EE4-8026-C9587D54C67A}" dt="2026-10-08T17:37:08.036" v="251" actId="20577"/>
        <pc:sldMkLst>
          <pc:docMk/>
          <pc:sldMk cId="1325077572" sldId="283"/>
        </pc:sldMkLst>
        <pc:spChg chg="mod">
          <ac:chgData name="Charlie Ledley" userId="4fd6789a-5b68-4c67-b2dd-741fccd174a7" providerId="ADAL" clId="{ADEF4E80-B48C-4EE4-8026-C9587D54C67A}" dt="2026-10-08T17:37:08.036" v="251" actId="20577"/>
          <ac:spMkLst>
            <pc:docMk/>
            <pc:sldMk cId="1325077572" sldId="283"/>
            <ac:spMk id="16" creationId="{00000000-0000-0000-0000-000000000000}"/>
          </ac:spMkLst>
        </pc:spChg>
      </pc:sldChg>
      <pc:sldChg chg="del mod modShow">
        <pc:chgData name="Charlie Ledley" userId="4fd6789a-5b68-4c67-b2dd-741fccd174a7" providerId="ADAL" clId="{ADEF4E80-B48C-4EE4-8026-C9587D54C67A}" dt="2026-10-08T18:15:38.025" v="373" actId="2696"/>
        <pc:sldMkLst>
          <pc:docMk/>
          <pc:sldMk cId="271805137" sldId="284"/>
        </pc:sldMkLst>
      </pc:sldChg>
      <pc:sldChg chg="modSp mod">
        <pc:chgData name="Charlie Ledley" userId="4fd6789a-5b68-4c67-b2dd-741fccd174a7" providerId="ADAL" clId="{ADEF4E80-B48C-4EE4-8026-C9587D54C67A}" dt="2026-10-08T18:03:56.937" v="339" actId="1036"/>
        <pc:sldMkLst>
          <pc:docMk/>
          <pc:sldMk cId="1702190418" sldId="285"/>
        </pc:sldMkLst>
        <pc:spChg chg="mod">
          <ac:chgData name="Charlie Ledley" userId="4fd6789a-5b68-4c67-b2dd-741fccd174a7" providerId="ADAL" clId="{ADEF4E80-B48C-4EE4-8026-C9587D54C67A}" dt="2026-10-08T17:47:52.750" v="323" actId="20577"/>
          <ac:spMkLst>
            <pc:docMk/>
            <pc:sldMk cId="1702190418" sldId="285"/>
            <ac:spMk id="3" creationId="{00000000-0000-0000-0000-000000000000}"/>
          </ac:spMkLst>
        </pc:spChg>
        <pc:spChg chg="mod">
          <ac:chgData name="Charlie Ledley" userId="4fd6789a-5b68-4c67-b2dd-741fccd174a7" providerId="ADAL" clId="{ADEF4E80-B48C-4EE4-8026-C9587D54C67A}" dt="2026-10-08T18:03:56.937" v="339" actId="1036"/>
          <ac:spMkLst>
            <pc:docMk/>
            <pc:sldMk cId="1702190418" sldId="285"/>
            <ac:spMk id="11" creationId="{00000000-0000-0000-0000-000000000000}"/>
          </ac:spMkLst>
        </pc:spChg>
      </pc:sldChg>
      <pc:sldChg chg="modSp mod">
        <pc:chgData name="Charlie Ledley" userId="4fd6789a-5b68-4c67-b2dd-741fccd174a7" providerId="ADAL" clId="{ADEF4E80-B48C-4EE4-8026-C9587D54C67A}" dt="2026-10-08T18:07:55.685" v="347" actId="20577"/>
        <pc:sldMkLst>
          <pc:docMk/>
          <pc:sldMk cId="1951508701" sldId="288"/>
        </pc:sldMkLst>
        <pc:spChg chg="mod">
          <ac:chgData name="Charlie Ledley" userId="4fd6789a-5b68-4c67-b2dd-741fccd174a7" providerId="ADAL" clId="{ADEF4E80-B48C-4EE4-8026-C9587D54C67A}" dt="2026-10-08T18:07:55.685" v="347" actId="20577"/>
          <ac:spMkLst>
            <pc:docMk/>
            <pc:sldMk cId="1951508701" sldId="288"/>
            <ac:spMk id="14" creationId="{00000000-0000-0000-0000-000000000000}"/>
          </ac:spMkLst>
        </pc:spChg>
      </pc:sldChg>
      <pc:sldChg chg="modSp mod">
        <pc:chgData name="Charlie Ledley" userId="4fd6789a-5b68-4c67-b2dd-741fccd174a7" providerId="ADAL" clId="{ADEF4E80-B48C-4EE4-8026-C9587D54C67A}" dt="2026-10-08T17:35:33.759" v="192" actId="20577"/>
        <pc:sldMkLst>
          <pc:docMk/>
          <pc:sldMk cId="1663502827" sldId="289"/>
        </pc:sldMkLst>
        <pc:spChg chg="mod">
          <ac:chgData name="Charlie Ledley" userId="4fd6789a-5b68-4c67-b2dd-741fccd174a7" providerId="ADAL" clId="{ADEF4E80-B48C-4EE4-8026-C9587D54C67A}" dt="2026-10-08T17:35:33.759" v="192" actId="20577"/>
          <ac:spMkLst>
            <pc:docMk/>
            <pc:sldMk cId="1663502827" sldId="289"/>
            <ac:spMk id="7" creationId="{00000000-0000-0000-0000-000000000000}"/>
          </ac:spMkLst>
        </pc:spChg>
        <pc:graphicFrameChg chg="mod">
          <ac:chgData name="Charlie Ledley" userId="4fd6789a-5b68-4c67-b2dd-741fccd174a7" providerId="ADAL" clId="{ADEF4E80-B48C-4EE4-8026-C9587D54C67A}" dt="2026-10-08T17:32:34.942" v="79"/>
          <ac:graphicFrameMkLst>
            <pc:docMk/>
            <pc:sldMk cId="1663502827" sldId="289"/>
            <ac:graphicFrameMk id="6" creationId="{00000000-0000-0000-0000-000000000000}"/>
          </ac:graphicFrameMkLst>
        </pc:graphicFrameChg>
      </pc:sldChg>
    </pc:docChg>
  </pc:docChgLst>
  <pc:docChgLst>
    <pc:chgData name="Jeffrey Begley" userId="564f9d2a-7ee5-456c-b7e6-c2bc7973e706" providerId="ADAL" clId="{8A4155C2-D434-4B57-874E-5A12940C5C46}"/>
    <pc:docChg chg="addSld modSld">
      <pc:chgData name="Jeffrey Begley" userId="564f9d2a-7ee5-456c-b7e6-c2bc7973e706" providerId="ADAL" clId="{8A4155C2-D434-4B57-874E-5A12940C5C46}" dt="2026-10-08T16:51:14.243" v="0"/>
      <pc:docMkLst>
        <pc:docMk/>
      </pc:docMkLst>
      <pc:sldChg chg="add">
        <pc:chgData name="Jeffrey Begley" userId="564f9d2a-7ee5-456c-b7e6-c2bc7973e706" providerId="ADAL" clId="{8A4155C2-D434-4B57-874E-5A12940C5C46}" dt="2026-10-08T16:51:14.243" v="0"/>
        <pc:sldMkLst>
          <pc:docMk/>
          <pc:sldMk cId="0" sldId="272"/>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OAT yield</c:v>
                </c:pt>
              </c:strCache>
            </c:strRef>
          </c:tx>
          <c:spPr>
            <a:ln w="25400">
              <a:solidFill>
                <a:srgbClr val="011C40"/>
              </a:solidFill>
            </a:ln>
          </c:spPr>
          <c:marker>
            <c:symbol val="circle"/>
            <c:size val="6"/>
            <c:spPr>
              <a:solidFill>
                <a:srgbClr val="011C40"/>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3.3</c:v>
                </c:pt>
                <c:pt idx="1">
                  <c:v>3.7227000000000001</c:v>
                </c:pt>
                <c:pt idx="2">
                  <c:v>3.9298999999999999</c:v>
                </c:pt>
                <c:pt idx="3">
                  <c:v>4.1136999999999997</c:v>
                </c:pt>
                <c:pt idx="4">
                  <c:v>4.3259999999999996</c:v>
                </c:pt>
                <c:pt idx="5">
                  <c:v>4.4177</c:v>
                </c:pt>
                <c:pt idx="6">
                  <c:v>4.5434000000000001</c:v>
                </c:pt>
                <c:pt idx="7">
                  <c:v>4.6585999999999999</c:v>
                </c:pt>
                <c:pt idx="8">
                  <c:v>4.7630999999999997</c:v>
                </c:pt>
                <c:pt idx="9">
                  <c:v>4.867</c:v>
                </c:pt>
                <c:pt idx="10">
                  <c:v>5.1856</c:v>
                </c:pt>
                <c:pt idx="11">
                  <c:v>5.2824999999999998</c:v>
                </c:pt>
                <c:pt idx="12">
                  <c:v>5.2896999999999998</c:v>
                </c:pt>
                <c:pt idx="13">
                  <c:v>5.4263000000000003</c:v>
                </c:pt>
              </c:numCache>
            </c:numRef>
          </c:yVal>
          <c:smooth val="0"/>
          <c:extLst>
            <c:ext xmlns:c16="http://schemas.microsoft.com/office/drawing/2014/chart" uri="{C3380CC4-5D6E-409C-BE32-E72D297353CC}">
              <c16:uniqueId val="{00000000-90B1-40E5-8977-318A6926DD16}"/>
            </c:ext>
          </c:extLst>
        </c:ser>
        <c:ser>
          <c:idx val="1"/>
          <c:order val="1"/>
          <c:tx>
            <c:strRef>
              <c:f>Sheet1!$B$17</c:f>
              <c:strCache>
                <c:ptCount val="1"/>
                <c:pt idx="0">
                  <c:v>6m Euribor swap rate</c:v>
                </c:pt>
              </c:strCache>
            </c:strRef>
          </c:tx>
          <c:spPr>
            <a:ln w="25400">
              <a:solidFill>
                <a:srgbClr val="3C8DBC"/>
              </a:solidFill>
            </a:ln>
          </c:spPr>
          <c:marker>
            <c:symbol val="circle"/>
            <c:size val="6"/>
            <c:spPr>
              <a:solidFill>
                <a:srgbClr val="3C8DBC"/>
              </a:solidFill>
              <a:ln>
                <a:noFill/>
              </a:ln>
            </c:spPr>
          </c:marker>
          <c:xVal>
            <c:numRef>
              <c:f>Sheet1!$A$18:$A$31</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Sheet1!$B$18:$B$31</c:f>
              <c:numCache>
                <c:formatCode>General</c:formatCode>
                <c:ptCount val="14"/>
                <c:pt idx="0">
                  <c:v>3.3006000000000002</c:v>
                </c:pt>
                <c:pt idx="1">
                  <c:v>3.4529999999999998</c:v>
                </c:pt>
                <c:pt idx="2">
                  <c:v>3.4899</c:v>
                </c:pt>
                <c:pt idx="3">
                  <c:v>3.4992000000000001</c:v>
                </c:pt>
                <c:pt idx="4">
                  <c:v>3.5009999999999999</c:v>
                </c:pt>
                <c:pt idx="5">
                  <c:v>3.5110999999999999</c:v>
                </c:pt>
                <c:pt idx="6">
                  <c:v>3.5261999999999998</c:v>
                </c:pt>
                <c:pt idx="7">
                  <c:v>3.548</c:v>
                </c:pt>
                <c:pt idx="8">
                  <c:v>3.5625</c:v>
                </c:pt>
                <c:pt idx="9">
                  <c:v>3.5830000000000002</c:v>
                </c:pt>
                <c:pt idx="10">
                  <c:v>3.6423000000000001</c:v>
                </c:pt>
                <c:pt idx="11">
                  <c:v>3.6093000000000002</c:v>
                </c:pt>
                <c:pt idx="12">
                  <c:v>3.5251999999999999</c:v>
                </c:pt>
                <c:pt idx="13">
                  <c:v>3.4348000000000001</c:v>
                </c:pt>
              </c:numCache>
            </c:numRef>
          </c:yVal>
          <c:smooth val="0"/>
          <c:extLst>
            <c:ext xmlns:c16="http://schemas.microsoft.com/office/drawing/2014/chart" uri="{C3380CC4-5D6E-409C-BE32-E72D297353CC}">
              <c16:uniqueId val="{00000001-90B1-40E5-8977-318A6926DD16}"/>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CE3EF"/>
            </a:solidFill>
          </a:ln>
        </c:spPr>
        <c:txPr>
          <a:bodyPr/>
          <a:lstStyle/>
          <a:p>
            <a:pPr>
              <a:defRPr sz="1100">
                <a:solidFill>
                  <a:srgbClr val="5A6172"/>
                </a:solidFill>
              </a:defRPr>
            </a:pPr>
            <a:endParaRPr lang="en-US"/>
          </a:p>
        </c:txPr>
        <c:crossAx val="-2129643912"/>
        <c:crosses val="autoZero"/>
        <c:crossBetween val="midCat"/>
        <c:majorUnit val="5"/>
      </c:valAx>
      <c:valAx>
        <c:axId val="-2129643912"/>
        <c:scaling>
          <c:orientation val="minMax"/>
          <c:max val="5.5"/>
          <c:min val="3"/>
        </c:scaling>
        <c:delete val="0"/>
        <c:axPos val="l"/>
        <c:majorGridlines>
          <c:spPr>
            <a:ln w="7620">
              <a:solidFill>
                <a:srgbClr val="DCE3EF"/>
              </a:solidFill>
            </a:ln>
          </c:spPr>
        </c:majorGridlines>
        <c:numFmt formatCode="0.0&quot;%&quot;" sourceLinked="0"/>
        <c:majorTickMark val="out"/>
        <c:minorTickMark val="none"/>
        <c:tickLblPos val="low"/>
        <c:spPr>
          <a:ln>
            <a:noFill/>
          </a:ln>
        </c:spPr>
        <c:txPr>
          <a:bodyPr/>
          <a:lstStyle/>
          <a:p>
            <a:pPr>
              <a:defRPr sz="1100">
                <a:solidFill>
                  <a:srgbClr val="5A6172"/>
                </a:solidFill>
              </a:defRPr>
            </a:pPr>
            <a:endParaRPr lang="en-US"/>
          </a:p>
        </c:txPr>
        <c:crossAx val="-2128940872"/>
        <c:crosses val="autoZero"/>
        <c:crossBetween val="midCat"/>
      </c:valAx>
    </c:plotArea>
    <c:legend>
      <c:legendPos val="t"/>
      <c:overlay val="0"/>
      <c:txPr>
        <a:bodyPr/>
        <a:lstStyle/>
        <a:p>
          <a:pPr>
            <a:defRPr sz="1100">
              <a:solidFill>
                <a:srgbClr val="5A6172"/>
              </a:solidFill>
            </a:defRPr>
          </a:pPr>
          <a:endParaRPr lang="en-US"/>
        </a:p>
      </c:txPr>
    </c:legend>
    <c:plotVisOnly val="1"/>
    <c:dispBlanksAs val="gap"/>
    <c:showDLblsOverMax val="0"/>
  </c:chart>
  <c:txPr>
    <a:bodyPr/>
    <a:lstStyle/>
    <a:p>
      <a:pPr>
        <a:defRPr sz="1100">
          <a:latin typeface="Garamon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Swap spread</c:v>
                </c:pt>
              </c:strCache>
            </c:strRef>
          </c:tx>
          <c:spPr>
            <a:ln w="25400">
              <a:solidFill>
                <a:srgbClr val="B3332E"/>
              </a:solidFill>
            </a:ln>
          </c:spPr>
          <c:marker>
            <c:symbol val="circle"/>
            <c:size val="6"/>
            <c:spPr>
              <a:solidFill>
                <a:srgbClr val="B3332E"/>
              </a:solidFill>
              <a:ln>
                <a:noFill/>
              </a:ln>
            </c:spPr>
          </c:marker>
          <c:xVal>
            <c:numRef>
              <c:f>Sheet1!$A$2:$A$15</c:f>
              <c:numCache>
                <c:formatCode>General</c:formatCode>
                <c:ptCount val="14"/>
                <c:pt idx="0">
                  <c:v>1</c:v>
                </c:pt>
                <c:pt idx="1">
                  <c:v>2</c:v>
                </c:pt>
                <c:pt idx="2">
                  <c:v>3</c:v>
                </c:pt>
                <c:pt idx="3">
                  <c:v>4</c:v>
                </c:pt>
                <c:pt idx="4">
                  <c:v>5</c:v>
                </c:pt>
                <c:pt idx="5">
                  <c:v>6</c:v>
                </c:pt>
                <c:pt idx="6">
                  <c:v>7</c:v>
                </c:pt>
                <c:pt idx="7">
                  <c:v>8</c:v>
                </c:pt>
                <c:pt idx="8">
                  <c:v>9</c:v>
                </c:pt>
                <c:pt idx="9">
                  <c:v>10</c:v>
                </c:pt>
                <c:pt idx="10">
                  <c:v>15</c:v>
                </c:pt>
                <c:pt idx="11">
                  <c:v>20</c:v>
                </c:pt>
                <c:pt idx="12">
                  <c:v>25</c:v>
                </c:pt>
                <c:pt idx="13">
                  <c:v>30</c:v>
                </c:pt>
              </c:numCache>
            </c:numRef>
          </c:xVal>
          <c:yVal>
            <c:numRef>
              <c:f>Sheet1!$B$2:$B$15</c:f>
              <c:numCache>
                <c:formatCode>General</c:formatCode>
                <c:ptCount val="14"/>
                <c:pt idx="0">
                  <c:v>0.06</c:v>
                </c:pt>
                <c:pt idx="1">
                  <c:v>-26.97</c:v>
                </c:pt>
                <c:pt idx="2">
                  <c:v>-44</c:v>
                </c:pt>
                <c:pt idx="3">
                  <c:v>-61.45</c:v>
                </c:pt>
                <c:pt idx="4">
                  <c:v>-82.5</c:v>
                </c:pt>
                <c:pt idx="5">
                  <c:v>-90.66</c:v>
                </c:pt>
                <c:pt idx="6">
                  <c:v>-101.72</c:v>
                </c:pt>
                <c:pt idx="7">
                  <c:v>-111.06</c:v>
                </c:pt>
                <c:pt idx="8">
                  <c:v>-120.06</c:v>
                </c:pt>
                <c:pt idx="9">
                  <c:v>-128.4</c:v>
                </c:pt>
                <c:pt idx="10">
                  <c:v>-154.33000000000001</c:v>
                </c:pt>
                <c:pt idx="11">
                  <c:v>-167.32</c:v>
                </c:pt>
                <c:pt idx="12">
                  <c:v>-176.45</c:v>
                </c:pt>
                <c:pt idx="13">
                  <c:v>-199.15</c:v>
                </c:pt>
              </c:numCache>
            </c:numRef>
          </c:yVal>
          <c:smooth val="0"/>
          <c:extLst>
            <c:ext xmlns:c16="http://schemas.microsoft.com/office/drawing/2014/chart" uri="{C3380CC4-5D6E-409C-BE32-E72D297353CC}">
              <c16:uniqueId val="{00000000-E735-433C-8EF0-9310945B9B67}"/>
            </c:ext>
          </c:extLst>
        </c:ser>
        <c:dLbls>
          <c:showLegendKey val="0"/>
          <c:showVal val="0"/>
          <c:showCatName val="0"/>
          <c:showSerName val="0"/>
          <c:showPercent val="0"/>
          <c:showBubbleSize val="0"/>
        </c:dLbls>
        <c:axId val="-2128940872"/>
        <c:axId val="-2129643912"/>
      </c:scatterChart>
      <c:valAx>
        <c:axId val="-2128940872"/>
        <c:scaling>
          <c:orientation val="minMax"/>
          <c:max val="30"/>
          <c:min val="0"/>
        </c:scaling>
        <c:delete val="0"/>
        <c:axPos val="b"/>
        <c:numFmt formatCode="0&quot;y&quot;" sourceLinked="0"/>
        <c:majorTickMark val="out"/>
        <c:minorTickMark val="none"/>
        <c:tickLblPos val="low"/>
        <c:spPr>
          <a:ln>
            <a:solidFill>
              <a:srgbClr val="DCE3EF"/>
            </a:solidFill>
          </a:ln>
        </c:spPr>
        <c:txPr>
          <a:bodyPr/>
          <a:lstStyle/>
          <a:p>
            <a:pPr>
              <a:defRPr sz="1100">
                <a:solidFill>
                  <a:srgbClr val="5A6172"/>
                </a:solidFill>
              </a:defRPr>
            </a:pPr>
            <a:endParaRPr lang="en-US"/>
          </a:p>
        </c:txPr>
        <c:crossAx val="-2129643912"/>
        <c:crosses val="autoZero"/>
        <c:crossBetween val="midCat"/>
        <c:majorUnit val="5"/>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1100">
                <a:solidFill>
                  <a:srgbClr val="5A6172"/>
                </a:solidFill>
              </a:defRPr>
            </a:pPr>
            <a:endParaRPr lang="en-US"/>
          </a:p>
        </c:txPr>
        <c:crossAx val="-2128940872"/>
        <c:crosses val="autoZero"/>
        <c:crossBetween val="midCat"/>
      </c:valAx>
    </c:plotArea>
    <c:plotVisOnly val="1"/>
    <c:dispBlanksAs val="gap"/>
    <c:showDLblsOverMax val="0"/>
  </c:chart>
  <c:txPr>
    <a:bodyPr/>
    <a:lstStyle/>
    <a:p>
      <a:pPr>
        <a:defRPr sz="1100">
          <a:latin typeface="Garamond"/>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5-year</c:v>
                </c:pt>
              </c:strCache>
            </c:strRef>
          </c:tx>
          <c:spPr>
            <a:ln w="25400">
              <a:solidFill>
                <a:srgbClr val="011C40"/>
              </a:solidFill>
            </a:ln>
          </c:spPr>
          <c:marker>
            <c:symbol val="none"/>
          </c:marker>
          <c:dLbls>
            <c:dLbl>
              <c:idx val="874"/>
              <c:layout>
                <c:manualLayout>
                  <c:x val="0"/>
                  <c:y val="2.1135265700482981E-2"/>
                </c:manualLayout>
              </c:layout>
              <c:tx>
                <c:rich>
                  <a:bodyPr/>
                  <a:lstStyle/>
                  <a:p>
                    <a:r>
                      <a:rPr lang="en-US" sz="1000" b="1">
                        <a:solidFill>
                          <a:srgbClr val="011C40"/>
                        </a:solidFill>
                        <a:latin typeface="Garamond"/>
                      </a:rPr>
                      <a:t>5-year −83bp, the cheapest since 2010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32B-4208-8759-6BC88F3A56B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33</c:v>
                </c:pt>
                <c:pt idx="1">
                  <c:v>28.8</c:v>
                </c:pt>
                <c:pt idx="2">
                  <c:v>30.9</c:v>
                </c:pt>
                <c:pt idx="3">
                  <c:v>12.1</c:v>
                </c:pt>
                <c:pt idx="4">
                  <c:v>15.02</c:v>
                </c:pt>
                <c:pt idx="5">
                  <c:v>16.100000000000001</c:v>
                </c:pt>
                <c:pt idx="6">
                  <c:v>15.68</c:v>
                </c:pt>
                <c:pt idx="7">
                  <c:v>15.1</c:v>
                </c:pt>
                <c:pt idx="8">
                  <c:v>16.899999999999999</c:v>
                </c:pt>
                <c:pt idx="9">
                  <c:v>15.7</c:v>
                </c:pt>
                <c:pt idx="10">
                  <c:v>15.35</c:v>
                </c:pt>
                <c:pt idx="11">
                  <c:v>17.38</c:v>
                </c:pt>
                <c:pt idx="12">
                  <c:v>12.71</c:v>
                </c:pt>
                <c:pt idx="13">
                  <c:v>13.1</c:v>
                </c:pt>
                <c:pt idx="14">
                  <c:v>15.09</c:v>
                </c:pt>
                <c:pt idx="15">
                  <c:v>15.4</c:v>
                </c:pt>
                <c:pt idx="16">
                  <c:v>15.1</c:v>
                </c:pt>
                <c:pt idx="17">
                  <c:v>21.9</c:v>
                </c:pt>
                <c:pt idx="18">
                  <c:v>35.6</c:v>
                </c:pt>
                <c:pt idx="19">
                  <c:v>36.1</c:v>
                </c:pt>
                <c:pt idx="20">
                  <c:v>43.9</c:v>
                </c:pt>
                <c:pt idx="21">
                  <c:v>37.700000000000003</c:v>
                </c:pt>
                <c:pt idx="22">
                  <c:v>34.4</c:v>
                </c:pt>
                <c:pt idx="23">
                  <c:v>28.4</c:v>
                </c:pt>
                <c:pt idx="24">
                  <c:v>6.7</c:v>
                </c:pt>
                <c:pt idx="25">
                  <c:v>7.43</c:v>
                </c:pt>
                <c:pt idx="26">
                  <c:v>15.4</c:v>
                </c:pt>
                <c:pt idx="27">
                  <c:v>13.4</c:v>
                </c:pt>
                <c:pt idx="28">
                  <c:v>13.6</c:v>
                </c:pt>
                <c:pt idx="29">
                  <c:v>21</c:v>
                </c:pt>
                <c:pt idx="30">
                  <c:v>19.7</c:v>
                </c:pt>
                <c:pt idx="31">
                  <c:v>23.2</c:v>
                </c:pt>
                <c:pt idx="32">
                  <c:v>19.05</c:v>
                </c:pt>
                <c:pt idx="33">
                  <c:v>19.399999999999999</c:v>
                </c:pt>
                <c:pt idx="34">
                  <c:v>16.899999999999999</c:v>
                </c:pt>
                <c:pt idx="35">
                  <c:v>29</c:v>
                </c:pt>
                <c:pt idx="36">
                  <c:v>20.3</c:v>
                </c:pt>
                <c:pt idx="37">
                  <c:v>21.2</c:v>
                </c:pt>
                <c:pt idx="38">
                  <c:v>25.87</c:v>
                </c:pt>
                <c:pt idx="39">
                  <c:v>22.3</c:v>
                </c:pt>
                <c:pt idx="40">
                  <c:v>25.7</c:v>
                </c:pt>
                <c:pt idx="41">
                  <c:v>30.6</c:v>
                </c:pt>
                <c:pt idx="42">
                  <c:v>23.7</c:v>
                </c:pt>
                <c:pt idx="43">
                  <c:v>24.85</c:v>
                </c:pt>
                <c:pt idx="44">
                  <c:v>29.1</c:v>
                </c:pt>
                <c:pt idx="45">
                  <c:v>31.1</c:v>
                </c:pt>
                <c:pt idx="46">
                  <c:v>29.88</c:v>
                </c:pt>
                <c:pt idx="47">
                  <c:v>31.5</c:v>
                </c:pt>
                <c:pt idx="48">
                  <c:v>32.049999999999997</c:v>
                </c:pt>
                <c:pt idx="49">
                  <c:v>37.590000000000003</c:v>
                </c:pt>
                <c:pt idx="50">
                  <c:v>32.450000000000003</c:v>
                </c:pt>
                <c:pt idx="51">
                  <c:v>37.299999999999997</c:v>
                </c:pt>
                <c:pt idx="52">
                  <c:v>35.4</c:v>
                </c:pt>
                <c:pt idx="53">
                  <c:v>31.85</c:v>
                </c:pt>
                <c:pt idx="54">
                  <c:v>35.799999999999997</c:v>
                </c:pt>
                <c:pt idx="55">
                  <c:v>16.25</c:v>
                </c:pt>
                <c:pt idx="56">
                  <c:v>11.4</c:v>
                </c:pt>
                <c:pt idx="57">
                  <c:v>17.600000000000001</c:v>
                </c:pt>
                <c:pt idx="58">
                  <c:v>15.3</c:v>
                </c:pt>
                <c:pt idx="59">
                  <c:v>14.8</c:v>
                </c:pt>
                <c:pt idx="60">
                  <c:v>15.7</c:v>
                </c:pt>
                <c:pt idx="61">
                  <c:v>11.4</c:v>
                </c:pt>
                <c:pt idx="62">
                  <c:v>16.8</c:v>
                </c:pt>
                <c:pt idx="63">
                  <c:v>19.399999999999999</c:v>
                </c:pt>
                <c:pt idx="64">
                  <c:v>16.95</c:v>
                </c:pt>
                <c:pt idx="65">
                  <c:v>14.9</c:v>
                </c:pt>
                <c:pt idx="66">
                  <c:v>18.3</c:v>
                </c:pt>
                <c:pt idx="67">
                  <c:v>14.2</c:v>
                </c:pt>
                <c:pt idx="68">
                  <c:v>15.6</c:v>
                </c:pt>
                <c:pt idx="69">
                  <c:v>16.3</c:v>
                </c:pt>
                <c:pt idx="70">
                  <c:v>11.7</c:v>
                </c:pt>
                <c:pt idx="71">
                  <c:v>16.5</c:v>
                </c:pt>
                <c:pt idx="72">
                  <c:v>13.2</c:v>
                </c:pt>
                <c:pt idx="73">
                  <c:v>18.2</c:v>
                </c:pt>
                <c:pt idx="74">
                  <c:v>18.3</c:v>
                </c:pt>
                <c:pt idx="75">
                  <c:v>16.899999999999999</c:v>
                </c:pt>
                <c:pt idx="76">
                  <c:v>8</c:v>
                </c:pt>
                <c:pt idx="77">
                  <c:v>5.75</c:v>
                </c:pt>
                <c:pt idx="78">
                  <c:v>9.5</c:v>
                </c:pt>
                <c:pt idx="79">
                  <c:v>13.1</c:v>
                </c:pt>
                <c:pt idx="80">
                  <c:v>6.15</c:v>
                </c:pt>
                <c:pt idx="81">
                  <c:v>11.3</c:v>
                </c:pt>
                <c:pt idx="82">
                  <c:v>17.899999999999999</c:v>
                </c:pt>
                <c:pt idx="83">
                  <c:v>31.1</c:v>
                </c:pt>
                <c:pt idx="84">
                  <c:v>23</c:v>
                </c:pt>
                <c:pt idx="85">
                  <c:v>30.4</c:v>
                </c:pt>
                <c:pt idx="86">
                  <c:v>32.6</c:v>
                </c:pt>
                <c:pt idx="87">
                  <c:v>22.8</c:v>
                </c:pt>
                <c:pt idx="88">
                  <c:v>30.7</c:v>
                </c:pt>
                <c:pt idx="89">
                  <c:v>20.7</c:v>
                </c:pt>
                <c:pt idx="90">
                  <c:v>15.8</c:v>
                </c:pt>
                <c:pt idx="91">
                  <c:v>22.6</c:v>
                </c:pt>
                <c:pt idx="92">
                  <c:v>13.7</c:v>
                </c:pt>
                <c:pt idx="93">
                  <c:v>-4.2</c:v>
                </c:pt>
                <c:pt idx="94">
                  <c:v>-23.3</c:v>
                </c:pt>
                <c:pt idx="95">
                  <c:v>-2.7</c:v>
                </c:pt>
                <c:pt idx="96">
                  <c:v>-9</c:v>
                </c:pt>
                <c:pt idx="97">
                  <c:v>-42.5</c:v>
                </c:pt>
                <c:pt idx="98">
                  <c:v>-48.2</c:v>
                </c:pt>
                <c:pt idx="99">
                  <c:v>-71.849999999999994</c:v>
                </c:pt>
                <c:pt idx="100">
                  <c:v>-21.1</c:v>
                </c:pt>
                <c:pt idx="101">
                  <c:v>-25</c:v>
                </c:pt>
                <c:pt idx="102">
                  <c:v>-16.100000000000001</c:v>
                </c:pt>
                <c:pt idx="103">
                  <c:v>-2.5</c:v>
                </c:pt>
                <c:pt idx="104">
                  <c:v>-14.7</c:v>
                </c:pt>
                <c:pt idx="105">
                  <c:v>-56.8</c:v>
                </c:pt>
                <c:pt idx="106">
                  <c:v>-32.1</c:v>
                </c:pt>
                <c:pt idx="107">
                  <c:v>-18.5</c:v>
                </c:pt>
                <c:pt idx="108">
                  <c:v>-15.3</c:v>
                </c:pt>
                <c:pt idx="109">
                  <c:v>-1</c:v>
                </c:pt>
                <c:pt idx="110">
                  <c:v>-7</c:v>
                </c:pt>
                <c:pt idx="111">
                  <c:v>-16</c:v>
                </c:pt>
                <c:pt idx="112">
                  <c:v>-5.9</c:v>
                </c:pt>
                <c:pt idx="113">
                  <c:v>2.8</c:v>
                </c:pt>
                <c:pt idx="114">
                  <c:v>-19</c:v>
                </c:pt>
                <c:pt idx="115">
                  <c:v>-11.65</c:v>
                </c:pt>
                <c:pt idx="116">
                  <c:v>-16.649999999999999</c:v>
                </c:pt>
                <c:pt idx="117">
                  <c:v>-7.77</c:v>
                </c:pt>
                <c:pt idx="118">
                  <c:v>-25.43</c:v>
                </c:pt>
                <c:pt idx="119">
                  <c:v>-30.4</c:v>
                </c:pt>
                <c:pt idx="120">
                  <c:v>-35.299999999999997</c:v>
                </c:pt>
                <c:pt idx="121">
                  <c:v>-25.12</c:v>
                </c:pt>
                <c:pt idx="122">
                  <c:v>-26.35</c:v>
                </c:pt>
                <c:pt idx="123">
                  <c:v>-25.58</c:v>
                </c:pt>
                <c:pt idx="124">
                  <c:v>-29.55</c:v>
                </c:pt>
                <c:pt idx="125">
                  <c:v>-8.1999999999999993</c:v>
                </c:pt>
                <c:pt idx="126">
                  <c:v>3.63</c:v>
                </c:pt>
                <c:pt idx="127">
                  <c:v>-9.33</c:v>
                </c:pt>
                <c:pt idx="128">
                  <c:v>-8.74</c:v>
                </c:pt>
                <c:pt idx="129">
                  <c:v>-5.21</c:v>
                </c:pt>
                <c:pt idx="130">
                  <c:v>-9.6999999999999993</c:v>
                </c:pt>
                <c:pt idx="131">
                  <c:v>9.06</c:v>
                </c:pt>
                <c:pt idx="132">
                  <c:v>17.100000000000001</c:v>
                </c:pt>
                <c:pt idx="133">
                  <c:v>10.9</c:v>
                </c:pt>
                <c:pt idx="134">
                  <c:v>7.53</c:v>
                </c:pt>
                <c:pt idx="135">
                  <c:v>23.37</c:v>
                </c:pt>
                <c:pt idx="136">
                  <c:v>17.68</c:v>
                </c:pt>
                <c:pt idx="137">
                  <c:v>11.73</c:v>
                </c:pt>
                <c:pt idx="138">
                  <c:v>9.1999999999999993</c:v>
                </c:pt>
                <c:pt idx="139">
                  <c:v>1.7</c:v>
                </c:pt>
                <c:pt idx="140">
                  <c:v>7.5</c:v>
                </c:pt>
                <c:pt idx="141">
                  <c:v>9.5</c:v>
                </c:pt>
                <c:pt idx="142">
                  <c:v>-4.4800000000000004</c:v>
                </c:pt>
                <c:pt idx="143">
                  <c:v>4.0999999999999996</c:v>
                </c:pt>
                <c:pt idx="144">
                  <c:v>1.52</c:v>
                </c:pt>
                <c:pt idx="145">
                  <c:v>7.45</c:v>
                </c:pt>
                <c:pt idx="146">
                  <c:v>8.6999999999999993</c:v>
                </c:pt>
                <c:pt idx="147">
                  <c:v>5.45</c:v>
                </c:pt>
                <c:pt idx="148">
                  <c:v>2.5</c:v>
                </c:pt>
                <c:pt idx="149">
                  <c:v>4.7</c:v>
                </c:pt>
                <c:pt idx="150">
                  <c:v>9.1999999999999993</c:v>
                </c:pt>
                <c:pt idx="151">
                  <c:v>8</c:v>
                </c:pt>
                <c:pt idx="152">
                  <c:v>12.2</c:v>
                </c:pt>
                <c:pt idx="153">
                  <c:v>12.05</c:v>
                </c:pt>
                <c:pt idx="154">
                  <c:v>21.07</c:v>
                </c:pt>
                <c:pt idx="155">
                  <c:v>19.399999999999999</c:v>
                </c:pt>
                <c:pt idx="156">
                  <c:v>15.14</c:v>
                </c:pt>
                <c:pt idx="157">
                  <c:v>11.77</c:v>
                </c:pt>
                <c:pt idx="158">
                  <c:v>14.8</c:v>
                </c:pt>
                <c:pt idx="159">
                  <c:v>16.350000000000001</c:v>
                </c:pt>
                <c:pt idx="160">
                  <c:v>-6.25</c:v>
                </c:pt>
                <c:pt idx="161">
                  <c:v>2.0499999999999998</c:v>
                </c:pt>
                <c:pt idx="162">
                  <c:v>-3.95</c:v>
                </c:pt>
                <c:pt idx="163">
                  <c:v>-7.05</c:v>
                </c:pt>
                <c:pt idx="164">
                  <c:v>-6.8</c:v>
                </c:pt>
                <c:pt idx="165">
                  <c:v>-5.75</c:v>
                </c:pt>
                <c:pt idx="166">
                  <c:v>-4.1500000000000004</c:v>
                </c:pt>
                <c:pt idx="167">
                  <c:v>-0.45</c:v>
                </c:pt>
                <c:pt idx="168">
                  <c:v>1.5</c:v>
                </c:pt>
                <c:pt idx="169">
                  <c:v>3.43</c:v>
                </c:pt>
                <c:pt idx="170">
                  <c:v>14.25</c:v>
                </c:pt>
                <c:pt idx="171">
                  <c:v>5.45</c:v>
                </c:pt>
                <c:pt idx="172">
                  <c:v>5</c:v>
                </c:pt>
                <c:pt idx="173">
                  <c:v>4.4000000000000004</c:v>
                </c:pt>
                <c:pt idx="174">
                  <c:v>8.3000000000000007</c:v>
                </c:pt>
                <c:pt idx="175">
                  <c:v>3.75</c:v>
                </c:pt>
                <c:pt idx="176">
                  <c:v>8.4</c:v>
                </c:pt>
                <c:pt idx="177">
                  <c:v>9.6999999999999993</c:v>
                </c:pt>
                <c:pt idx="178">
                  <c:v>4.2</c:v>
                </c:pt>
                <c:pt idx="179">
                  <c:v>6.1</c:v>
                </c:pt>
                <c:pt idx="180">
                  <c:v>6.9</c:v>
                </c:pt>
                <c:pt idx="181">
                  <c:v>7.4</c:v>
                </c:pt>
                <c:pt idx="182">
                  <c:v>-10</c:v>
                </c:pt>
                <c:pt idx="183">
                  <c:v>-3.6</c:v>
                </c:pt>
                <c:pt idx="184">
                  <c:v>-5.7</c:v>
                </c:pt>
                <c:pt idx="185">
                  <c:v>-2.7</c:v>
                </c:pt>
                <c:pt idx="186">
                  <c:v>1.7</c:v>
                </c:pt>
                <c:pt idx="187">
                  <c:v>5.47</c:v>
                </c:pt>
                <c:pt idx="188">
                  <c:v>1.75</c:v>
                </c:pt>
                <c:pt idx="189">
                  <c:v>5.85</c:v>
                </c:pt>
                <c:pt idx="190">
                  <c:v>1.35</c:v>
                </c:pt>
                <c:pt idx="191">
                  <c:v>1.9</c:v>
                </c:pt>
                <c:pt idx="192">
                  <c:v>0.96</c:v>
                </c:pt>
                <c:pt idx="193">
                  <c:v>-1.71</c:v>
                </c:pt>
                <c:pt idx="194">
                  <c:v>3.6</c:v>
                </c:pt>
                <c:pt idx="195">
                  <c:v>2.2000000000000002</c:v>
                </c:pt>
                <c:pt idx="196">
                  <c:v>4.7</c:v>
                </c:pt>
                <c:pt idx="197">
                  <c:v>4.9000000000000004</c:v>
                </c:pt>
                <c:pt idx="198">
                  <c:v>4.0999999999999996</c:v>
                </c:pt>
                <c:pt idx="199">
                  <c:v>4.9000000000000004</c:v>
                </c:pt>
                <c:pt idx="200">
                  <c:v>10.4</c:v>
                </c:pt>
                <c:pt idx="201">
                  <c:v>5.75</c:v>
                </c:pt>
                <c:pt idx="202">
                  <c:v>4.46</c:v>
                </c:pt>
                <c:pt idx="203">
                  <c:v>5.31</c:v>
                </c:pt>
                <c:pt idx="204">
                  <c:v>5.8</c:v>
                </c:pt>
                <c:pt idx="205">
                  <c:v>5.0599999999999996</c:v>
                </c:pt>
                <c:pt idx="206">
                  <c:v>2.4500000000000002</c:v>
                </c:pt>
                <c:pt idx="207">
                  <c:v>4.7</c:v>
                </c:pt>
                <c:pt idx="208">
                  <c:v>4.45</c:v>
                </c:pt>
                <c:pt idx="209">
                  <c:v>6.5</c:v>
                </c:pt>
                <c:pt idx="210">
                  <c:v>3.58</c:v>
                </c:pt>
                <c:pt idx="211">
                  <c:v>4.5599999999999996</c:v>
                </c:pt>
                <c:pt idx="212">
                  <c:v>5</c:v>
                </c:pt>
                <c:pt idx="213">
                  <c:v>13.2</c:v>
                </c:pt>
                <c:pt idx="214">
                  <c:v>10.09</c:v>
                </c:pt>
                <c:pt idx="215">
                  <c:v>5.85</c:v>
                </c:pt>
                <c:pt idx="216">
                  <c:v>-5.56</c:v>
                </c:pt>
                <c:pt idx="217">
                  <c:v>-5.41</c:v>
                </c:pt>
                <c:pt idx="218">
                  <c:v>-2.27</c:v>
                </c:pt>
                <c:pt idx="219">
                  <c:v>-2.4500000000000002</c:v>
                </c:pt>
                <c:pt idx="220">
                  <c:v>-0.45</c:v>
                </c:pt>
                <c:pt idx="221">
                  <c:v>1.4</c:v>
                </c:pt>
                <c:pt idx="222">
                  <c:v>5.41</c:v>
                </c:pt>
                <c:pt idx="223">
                  <c:v>2.78</c:v>
                </c:pt>
                <c:pt idx="224">
                  <c:v>5.15</c:v>
                </c:pt>
                <c:pt idx="225">
                  <c:v>4.95</c:v>
                </c:pt>
                <c:pt idx="226">
                  <c:v>7.46</c:v>
                </c:pt>
                <c:pt idx="227">
                  <c:v>9.1</c:v>
                </c:pt>
                <c:pt idx="228">
                  <c:v>7.8</c:v>
                </c:pt>
                <c:pt idx="229">
                  <c:v>9.39</c:v>
                </c:pt>
                <c:pt idx="230">
                  <c:v>8.8000000000000007</c:v>
                </c:pt>
                <c:pt idx="231">
                  <c:v>14.68</c:v>
                </c:pt>
                <c:pt idx="232">
                  <c:v>10.65</c:v>
                </c:pt>
                <c:pt idx="233">
                  <c:v>11.3</c:v>
                </c:pt>
                <c:pt idx="234">
                  <c:v>1.3</c:v>
                </c:pt>
                <c:pt idx="235">
                  <c:v>3.4</c:v>
                </c:pt>
                <c:pt idx="236">
                  <c:v>5.5</c:v>
                </c:pt>
                <c:pt idx="237">
                  <c:v>6.07</c:v>
                </c:pt>
                <c:pt idx="238">
                  <c:v>9.7100000000000009</c:v>
                </c:pt>
                <c:pt idx="239">
                  <c:v>11.9</c:v>
                </c:pt>
                <c:pt idx="240">
                  <c:v>14.69</c:v>
                </c:pt>
                <c:pt idx="241">
                  <c:v>16.7</c:v>
                </c:pt>
                <c:pt idx="242">
                  <c:v>11.45</c:v>
                </c:pt>
                <c:pt idx="243">
                  <c:v>13.75</c:v>
                </c:pt>
                <c:pt idx="244">
                  <c:v>16.809999999999999</c:v>
                </c:pt>
                <c:pt idx="245">
                  <c:v>10.8</c:v>
                </c:pt>
                <c:pt idx="246">
                  <c:v>9.6</c:v>
                </c:pt>
                <c:pt idx="247">
                  <c:v>12.25</c:v>
                </c:pt>
                <c:pt idx="248">
                  <c:v>11.05</c:v>
                </c:pt>
                <c:pt idx="249">
                  <c:v>11.7</c:v>
                </c:pt>
                <c:pt idx="250">
                  <c:v>6.1</c:v>
                </c:pt>
                <c:pt idx="251">
                  <c:v>10.050000000000001</c:v>
                </c:pt>
                <c:pt idx="252">
                  <c:v>14.6</c:v>
                </c:pt>
                <c:pt idx="253">
                  <c:v>13.3</c:v>
                </c:pt>
                <c:pt idx="254">
                  <c:v>12.8</c:v>
                </c:pt>
                <c:pt idx="255">
                  <c:v>13.1</c:v>
                </c:pt>
                <c:pt idx="256">
                  <c:v>13.29</c:v>
                </c:pt>
                <c:pt idx="257">
                  <c:v>15.7</c:v>
                </c:pt>
                <c:pt idx="258">
                  <c:v>15</c:v>
                </c:pt>
                <c:pt idx="259">
                  <c:v>16.5</c:v>
                </c:pt>
                <c:pt idx="260">
                  <c:v>18.8</c:v>
                </c:pt>
                <c:pt idx="261">
                  <c:v>20.399999999999999</c:v>
                </c:pt>
                <c:pt idx="262">
                  <c:v>19.75</c:v>
                </c:pt>
                <c:pt idx="263">
                  <c:v>23.39</c:v>
                </c:pt>
                <c:pt idx="264">
                  <c:v>20.56</c:v>
                </c:pt>
                <c:pt idx="265">
                  <c:v>25.7</c:v>
                </c:pt>
                <c:pt idx="266">
                  <c:v>24.4</c:v>
                </c:pt>
                <c:pt idx="267">
                  <c:v>25.4</c:v>
                </c:pt>
                <c:pt idx="268">
                  <c:v>26.38</c:v>
                </c:pt>
                <c:pt idx="269">
                  <c:v>21.3</c:v>
                </c:pt>
                <c:pt idx="270">
                  <c:v>24.14</c:v>
                </c:pt>
                <c:pt idx="271">
                  <c:v>23.15</c:v>
                </c:pt>
                <c:pt idx="272">
                  <c:v>21.4</c:v>
                </c:pt>
                <c:pt idx="273">
                  <c:v>20.23</c:v>
                </c:pt>
                <c:pt idx="274">
                  <c:v>19.7</c:v>
                </c:pt>
                <c:pt idx="275">
                  <c:v>21.65</c:v>
                </c:pt>
                <c:pt idx="276">
                  <c:v>18.86</c:v>
                </c:pt>
                <c:pt idx="277">
                  <c:v>19.5</c:v>
                </c:pt>
                <c:pt idx="278">
                  <c:v>16.190000000000001</c:v>
                </c:pt>
                <c:pt idx="279">
                  <c:v>17.3</c:v>
                </c:pt>
                <c:pt idx="280">
                  <c:v>17.14</c:v>
                </c:pt>
                <c:pt idx="281">
                  <c:v>18.47</c:v>
                </c:pt>
                <c:pt idx="282">
                  <c:v>20.3</c:v>
                </c:pt>
                <c:pt idx="283">
                  <c:v>18.22</c:v>
                </c:pt>
                <c:pt idx="284">
                  <c:v>18.8</c:v>
                </c:pt>
                <c:pt idx="285">
                  <c:v>16.89</c:v>
                </c:pt>
                <c:pt idx="286">
                  <c:v>19.440000000000001</c:v>
                </c:pt>
                <c:pt idx="287">
                  <c:v>16.62</c:v>
                </c:pt>
                <c:pt idx="288">
                  <c:v>18.649999999999999</c:v>
                </c:pt>
                <c:pt idx="289">
                  <c:v>18.829999999999998</c:v>
                </c:pt>
                <c:pt idx="290">
                  <c:v>22.2</c:v>
                </c:pt>
                <c:pt idx="291">
                  <c:v>22.85</c:v>
                </c:pt>
                <c:pt idx="292">
                  <c:v>23.72</c:v>
                </c:pt>
                <c:pt idx="293">
                  <c:v>23.8</c:v>
                </c:pt>
                <c:pt idx="294">
                  <c:v>19.78</c:v>
                </c:pt>
                <c:pt idx="295">
                  <c:v>17.34</c:v>
                </c:pt>
                <c:pt idx="296">
                  <c:v>20.28</c:v>
                </c:pt>
                <c:pt idx="297">
                  <c:v>20.5</c:v>
                </c:pt>
                <c:pt idx="298">
                  <c:v>22.87</c:v>
                </c:pt>
                <c:pt idx="299">
                  <c:v>13.9</c:v>
                </c:pt>
                <c:pt idx="300">
                  <c:v>16.559999999999999</c:v>
                </c:pt>
                <c:pt idx="301">
                  <c:v>15.1</c:v>
                </c:pt>
                <c:pt idx="302">
                  <c:v>16.71</c:v>
                </c:pt>
                <c:pt idx="303">
                  <c:v>19.399999999999999</c:v>
                </c:pt>
                <c:pt idx="304">
                  <c:v>18.09</c:v>
                </c:pt>
                <c:pt idx="305">
                  <c:v>14.96</c:v>
                </c:pt>
                <c:pt idx="306">
                  <c:v>17.72</c:v>
                </c:pt>
                <c:pt idx="307">
                  <c:v>16.39</c:v>
                </c:pt>
                <c:pt idx="308">
                  <c:v>18.3</c:v>
                </c:pt>
                <c:pt idx="309">
                  <c:v>16.63</c:v>
                </c:pt>
                <c:pt idx="310">
                  <c:v>19.64</c:v>
                </c:pt>
                <c:pt idx="311">
                  <c:v>21.5</c:v>
                </c:pt>
                <c:pt idx="312">
                  <c:v>23.5</c:v>
                </c:pt>
                <c:pt idx="313">
                  <c:v>25.18</c:v>
                </c:pt>
                <c:pt idx="314">
                  <c:v>21.12</c:v>
                </c:pt>
                <c:pt idx="315">
                  <c:v>18.670000000000002</c:v>
                </c:pt>
                <c:pt idx="316">
                  <c:v>18.5</c:v>
                </c:pt>
                <c:pt idx="317">
                  <c:v>22.25</c:v>
                </c:pt>
                <c:pt idx="318">
                  <c:v>19.079999999999998</c:v>
                </c:pt>
                <c:pt idx="319">
                  <c:v>18.850000000000001</c:v>
                </c:pt>
                <c:pt idx="320">
                  <c:v>21</c:v>
                </c:pt>
                <c:pt idx="321">
                  <c:v>21.15</c:v>
                </c:pt>
                <c:pt idx="322">
                  <c:v>18</c:v>
                </c:pt>
                <c:pt idx="323">
                  <c:v>22.32</c:v>
                </c:pt>
                <c:pt idx="324">
                  <c:v>20.62</c:v>
                </c:pt>
                <c:pt idx="325">
                  <c:v>22.15</c:v>
                </c:pt>
                <c:pt idx="326">
                  <c:v>23.3</c:v>
                </c:pt>
                <c:pt idx="327">
                  <c:v>24.4</c:v>
                </c:pt>
                <c:pt idx="328">
                  <c:v>24.7</c:v>
                </c:pt>
                <c:pt idx="329">
                  <c:v>24.03</c:v>
                </c:pt>
                <c:pt idx="330">
                  <c:v>17</c:v>
                </c:pt>
                <c:pt idx="331">
                  <c:v>19.100000000000001</c:v>
                </c:pt>
                <c:pt idx="332">
                  <c:v>17.8</c:v>
                </c:pt>
                <c:pt idx="333">
                  <c:v>18.48</c:v>
                </c:pt>
                <c:pt idx="334">
                  <c:v>19.8</c:v>
                </c:pt>
                <c:pt idx="335">
                  <c:v>17.82</c:v>
                </c:pt>
                <c:pt idx="336">
                  <c:v>17.5</c:v>
                </c:pt>
                <c:pt idx="337">
                  <c:v>13.59</c:v>
                </c:pt>
                <c:pt idx="338">
                  <c:v>20</c:v>
                </c:pt>
                <c:pt idx="339">
                  <c:v>25.5</c:v>
                </c:pt>
                <c:pt idx="340">
                  <c:v>24.4</c:v>
                </c:pt>
                <c:pt idx="341">
                  <c:v>22.84</c:v>
                </c:pt>
                <c:pt idx="342">
                  <c:v>22.65</c:v>
                </c:pt>
                <c:pt idx="343">
                  <c:v>25.1</c:v>
                </c:pt>
                <c:pt idx="344">
                  <c:v>26.97</c:v>
                </c:pt>
                <c:pt idx="345">
                  <c:v>28.5</c:v>
                </c:pt>
                <c:pt idx="346">
                  <c:v>27.16</c:v>
                </c:pt>
                <c:pt idx="347">
                  <c:v>27.89</c:v>
                </c:pt>
                <c:pt idx="348">
                  <c:v>26.05</c:v>
                </c:pt>
                <c:pt idx="349">
                  <c:v>24.77</c:v>
                </c:pt>
                <c:pt idx="350">
                  <c:v>26.5</c:v>
                </c:pt>
                <c:pt idx="351">
                  <c:v>27.1</c:v>
                </c:pt>
                <c:pt idx="352">
                  <c:v>30.3</c:v>
                </c:pt>
                <c:pt idx="353">
                  <c:v>28.2</c:v>
                </c:pt>
                <c:pt idx="354">
                  <c:v>30.7</c:v>
                </c:pt>
                <c:pt idx="355">
                  <c:v>31.87</c:v>
                </c:pt>
                <c:pt idx="356">
                  <c:v>28.9</c:v>
                </c:pt>
                <c:pt idx="357">
                  <c:v>31.93</c:v>
                </c:pt>
                <c:pt idx="358">
                  <c:v>26.9</c:v>
                </c:pt>
                <c:pt idx="359">
                  <c:v>28.6</c:v>
                </c:pt>
                <c:pt idx="360">
                  <c:v>11.2</c:v>
                </c:pt>
                <c:pt idx="361">
                  <c:v>16.899999999999999</c:v>
                </c:pt>
                <c:pt idx="362">
                  <c:v>19.7</c:v>
                </c:pt>
                <c:pt idx="363">
                  <c:v>20.3</c:v>
                </c:pt>
                <c:pt idx="364">
                  <c:v>22.2</c:v>
                </c:pt>
                <c:pt idx="365">
                  <c:v>20.6</c:v>
                </c:pt>
                <c:pt idx="366">
                  <c:v>14.3</c:v>
                </c:pt>
                <c:pt idx="367">
                  <c:v>11.5</c:v>
                </c:pt>
                <c:pt idx="368">
                  <c:v>14.8</c:v>
                </c:pt>
                <c:pt idx="369">
                  <c:v>7.6</c:v>
                </c:pt>
                <c:pt idx="370">
                  <c:v>8</c:v>
                </c:pt>
                <c:pt idx="371">
                  <c:v>2.2000000000000002</c:v>
                </c:pt>
                <c:pt idx="372">
                  <c:v>4.2</c:v>
                </c:pt>
                <c:pt idx="373">
                  <c:v>8.1999999999999993</c:v>
                </c:pt>
                <c:pt idx="374">
                  <c:v>13.5</c:v>
                </c:pt>
                <c:pt idx="375">
                  <c:v>9.9</c:v>
                </c:pt>
                <c:pt idx="376">
                  <c:v>1</c:v>
                </c:pt>
                <c:pt idx="377">
                  <c:v>15.1</c:v>
                </c:pt>
                <c:pt idx="378">
                  <c:v>6.85</c:v>
                </c:pt>
                <c:pt idx="379">
                  <c:v>15.4</c:v>
                </c:pt>
                <c:pt idx="380">
                  <c:v>4.9000000000000004</c:v>
                </c:pt>
                <c:pt idx="381">
                  <c:v>7.6</c:v>
                </c:pt>
                <c:pt idx="382">
                  <c:v>29.9</c:v>
                </c:pt>
                <c:pt idx="383">
                  <c:v>30.15</c:v>
                </c:pt>
                <c:pt idx="384">
                  <c:v>28.2</c:v>
                </c:pt>
                <c:pt idx="385">
                  <c:v>31.8</c:v>
                </c:pt>
                <c:pt idx="386">
                  <c:v>34.85</c:v>
                </c:pt>
                <c:pt idx="387">
                  <c:v>37</c:v>
                </c:pt>
                <c:pt idx="388">
                  <c:v>39.5</c:v>
                </c:pt>
                <c:pt idx="389">
                  <c:v>35.68</c:v>
                </c:pt>
                <c:pt idx="390">
                  <c:v>34.81</c:v>
                </c:pt>
                <c:pt idx="391">
                  <c:v>32.049999999999997</c:v>
                </c:pt>
                <c:pt idx="392">
                  <c:v>30.55</c:v>
                </c:pt>
                <c:pt idx="393">
                  <c:v>31.05</c:v>
                </c:pt>
                <c:pt idx="394">
                  <c:v>32.51</c:v>
                </c:pt>
                <c:pt idx="395">
                  <c:v>35.700000000000003</c:v>
                </c:pt>
                <c:pt idx="396">
                  <c:v>35.15</c:v>
                </c:pt>
                <c:pt idx="397">
                  <c:v>35.25</c:v>
                </c:pt>
                <c:pt idx="398">
                  <c:v>34.97</c:v>
                </c:pt>
                <c:pt idx="399">
                  <c:v>35.5</c:v>
                </c:pt>
                <c:pt idx="400">
                  <c:v>37.5</c:v>
                </c:pt>
                <c:pt idx="401">
                  <c:v>40.1</c:v>
                </c:pt>
                <c:pt idx="402">
                  <c:v>38.799999999999997</c:v>
                </c:pt>
                <c:pt idx="403">
                  <c:v>40</c:v>
                </c:pt>
                <c:pt idx="404">
                  <c:v>26.12</c:v>
                </c:pt>
                <c:pt idx="405">
                  <c:v>25.11</c:v>
                </c:pt>
                <c:pt idx="406">
                  <c:v>26.7</c:v>
                </c:pt>
                <c:pt idx="407">
                  <c:v>26.51</c:v>
                </c:pt>
                <c:pt idx="408">
                  <c:v>31.07</c:v>
                </c:pt>
                <c:pt idx="409">
                  <c:v>30.4</c:v>
                </c:pt>
                <c:pt idx="410">
                  <c:v>30.38</c:v>
                </c:pt>
                <c:pt idx="411">
                  <c:v>33.200000000000003</c:v>
                </c:pt>
                <c:pt idx="412">
                  <c:v>30.95</c:v>
                </c:pt>
                <c:pt idx="413">
                  <c:v>35.049999999999997</c:v>
                </c:pt>
                <c:pt idx="414">
                  <c:v>36.049999999999997</c:v>
                </c:pt>
                <c:pt idx="415">
                  <c:v>33.47</c:v>
                </c:pt>
                <c:pt idx="416">
                  <c:v>33.450000000000003</c:v>
                </c:pt>
                <c:pt idx="417">
                  <c:v>32.6</c:v>
                </c:pt>
                <c:pt idx="418">
                  <c:v>30.2</c:v>
                </c:pt>
                <c:pt idx="419">
                  <c:v>28.95</c:v>
                </c:pt>
                <c:pt idx="420">
                  <c:v>30</c:v>
                </c:pt>
                <c:pt idx="421">
                  <c:v>27.45</c:v>
                </c:pt>
                <c:pt idx="422">
                  <c:v>26.42</c:v>
                </c:pt>
                <c:pt idx="423">
                  <c:v>27.75</c:v>
                </c:pt>
                <c:pt idx="424">
                  <c:v>29.7</c:v>
                </c:pt>
                <c:pt idx="425">
                  <c:v>29.78</c:v>
                </c:pt>
                <c:pt idx="426">
                  <c:v>30.45</c:v>
                </c:pt>
                <c:pt idx="427">
                  <c:v>30.15</c:v>
                </c:pt>
                <c:pt idx="428">
                  <c:v>32.950000000000003</c:v>
                </c:pt>
                <c:pt idx="429">
                  <c:v>35.61</c:v>
                </c:pt>
                <c:pt idx="430">
                  <c:v>35.82</c:v>
                </c:pt>
                <c:pt idx="431">
                  <c:v>35.1</c:v>
                </c:pt>
                <c:pt idx="432">
                  <c:v>33.65</c:v>
                </c:pt>
                <c:pt idx="433">
                  <c:v>34.15</c:v>
                </c:pt>
                <c:pt idx="434">
                  <c:v>34.950000000000003</c:v>
                </c:pt>
                <c:pt idx="435">
                  <c:v>34.049999999999997</c:v>
                </c:pt>
                <c:pt idx="436">
                  <c:v>35.549999999999997</c:v>
                </c:pt>
                <c:pt idx="437">
                  <c:v>35.67</c:v>
                </c:pt>
                <c:pt idx="438">
                  <c:v>38.6</c:v>
                </c:pt>
                <c:pt idx="439">
                  <c:v>38.4</c:v>
                </c:pt>
                <c:pt idx="440">
                  <c:v>38.65</c:v>
                </c:pt>
                <c:pt idx="441">
                  <c:v>39.67</c:v>
                </c:pt>
                <c:pt idx="442">
                  <c:v>42.13</c:v>
                </c:pt>
                <c:pt idx="443">
                  <c:v>24.88</c:v>
                </c:pt>
                <c:pt idx="444">
                  <c:v>26.3</c:v>
                </c:pt>
                <c:pt idx="445">
                  <c:v>25.7</c:v>
                </c:pt>
                <c:pt idx="446">
                  <c:v>24.81</c:v>
                </c:pt>
                <c:pt idx="447">
                  <c:v>24.65</c:v>
                </c:pt>
                <c:pt idx="448">
                  <c:v>23.5</c:v>
                </c:pt>
                <c:pt idx="449">
                  <c:v>26.4</c:v>
                </c:pt>
                <c:pt idx="450">
                  <c:v>25.75</c:v>
                </c:pt>
                <c:pt idx="451">
                  <c:v>25.47</c:v>
                </c:pt>
                <c:pt idx="452">
                  <c:v>24.35</c:v>
                </c:pt>
                <c:pt idx="453">
                  <c:v>23.5</c:v>
                </c:pt>
                <c:pt idx="454">
                  <c:v>20.9</c:v>
                </c:pt>
                <c:pt idx="455">
                  <c:v>21.82</c:v>
                </c:pt>
                <c:pt idx="456">
                  <c:v>22.6</c:v>
                </c:pt>
                <c:pt idx="457">
                  <c:v>22.02</c:v>
                </c:pt>
                <c:pt idx="458">
                  <c:v>21.9</c:v>
                </c:pt>
                <c:pt idx="459">
                  <c:v>21.68</c:v>
                </c:pt>
                <c:pt idx="460">
                  <c:v>24.45</c:v>
                </c:pt>
                <c:pt idx="461">
                  <c:v>25.1</c:v>
                </c:pt>
                <c:pt idx="462">
                  <c:v>23.5</c:v>
                </c:pt>
                <c:pt idx="463">
                  <c:v>24.13</c:v>
                </c:pt>
                <c:pt idx="464">
                  <c:v>24.39</c:v>
                </c:pt>
                <c:pt idx="465">
                  <c:v>25.55</c:v>
                </c:pt>
                <c:pt idx="466">
                  <c:v>24.95</c:v>
                </c:pt>
                <c:pt idx="467">
                  <c:v>24.6</c:v>
                </c:pt>
                <c:pt idx="468">
                  <c:v>19.7</c:v>
                </c:pt>
                <c:pt idx="469">
                  <c:v>16.7</c:v>
                </c:pt>
                <c:pt idx="470">
                  <c:v>17.71</c:v>
                </c:pt>
                <c:pt idx="471">
                  <c:v>20.91</c:v>
                </c:pt>
                <c:pt idx="472">
                  <c:v>22.5</c:v>
                </c:pt>
                <c:pt idx="473">
                  <c:v>23.85</c:v>
                </c:pt>
                <c:pt idx="474">
                  <c:v>23</c:v>
                </c:pt>
                <c:pt idx="475">
                  <c:v>19.7</c:v>
                </c:pt>
                <c:pt idx="476">
                  <c:v>21.9</c:v>
                </c:pt>
                <c:pt idx="477">
                  <c:v>20.77</c:v>
                </c:pt>
                <c:pt idx="478">
                  <c:v>21.32</c:v>
                </c:pt>
                <c:pt idx="479">
                  <c:v>24</c:v>
                </c:pt>
                <c:pt idx="480">
                  <c:v>25.72</c:v>
                </c:pt>
                <c:pt idx="481">
                  <c:v>27</c:v>
                </c:pt>
                <c:pt idx="482">
                  <c:v>28.06</c:v>
                </c:pt>
                <c:pt idx="483">
                  <c:v>27</c:v>
                </c:pt>
                <c:pt idx="484">
                  <c:v>26.42</c:v>
                </c:pt>
                <c:pt idx="485">
                  <c:v>27</c:v>
                </c:pt>
                <c:pt idx="486">
                  <c:v>28.7</c:v>
                </c:pt>
                <c:pt idx="487">
                  <c:v>28.9</c:v>
                </c:pt>
                <c:pt idx="488">
                  <c:v>27.32</c:v>
                </c:pt>
                <c:pt idx="489">
                  <c:v>27.05</c:v>
                </c:pt>
                <c:pt idx="490">
                  <c:v>27.2</c:v>
                </c:pt>
                <c:pt idx="491">
                  <c:v>29.5</c:v>
                </c:pt>
                <c:pt idx="492">
                  <c:v>29.8</c:v>
                </c:pt>
                <c:pt idx="493">
                  <c:v>26.48</c:v>
                </c:pt>
                <c:pt idx="494">
                  <c:v>28.3</c:v>
                </c:pt>
                <c:pt idx="495">
                  <c:v>28.95</c:v>
                </c:pt>
                <c:pt idx="496">
                  <c:v>28.75</c:v>
                </c:pt>
                <c:pt idx="497">
                  <c:v>27.1</c:v>
                </c:pt>
                <c:pt idx="498">
                  <c:v>27.6</c:v>
                </c:pt>
                <c:pt idx="499">
                  <c:v>27.07</c:v>
                </c:pt>
                <c:pt idx="500">
                  <c:v>25.88</c:v>
                </c:pt>
                <c:pt idx="501">
                  <c:v>24.5</c:v>
                </c:pt>
                <c:pt idx="502">
                  <c:v>22.97</c:v>
                </c:pt>
                <c:pt idx="503">
                  <c:v>26.57</c:v>
                </c:pt>
                <c:pt idx="504">
                  <c:v>24.4</c:v>
                </c:pt>
                <c:pt idx="505">
                  <c:v>24.02</c:v>
                </c:pt>
                <c:pt idx="506">
                  <c:v>24.57</c:v>
                </c:pt>
                <c:pt idx="507">
                  <c:v>21.05</c:v>
                </c:pt>
                <c:pt idx="508">
                  <c:v>23.05</c:v>
                </c:pt>
                <c:pt idx="509">
                  <c:v>22.1</c:v>
                </c:pt>
                <c:pt idx="510">
                  <c:v>24.2</c:v>
                </c:pt>
                <c:pt idx="511">
                  <c:v>15.4</c:v>
                </c:pt>
                <c:pt idx="512">
                  <c:v>16.2</c:v>
                </c:pt>
                <c:pt idx="513">
                  <c:v>16.8</c:v>
                </c:pt>
                <c:pt idx="514">
                  <c:v>17.05</c:v>
                </c:pt>
                <c:pt idx="515">
                  <c:v>15.9</c:v>
                </c:pt>
                <c:pt idx="516">
                  <c:v>16.22</c:v>
                </c:pt>
                <c:pt idx="517">
                  <c:v>16.91</c:v>
                </c:pt>
                <c:pt idx="518">
                  <c:v>16.82</c:v>
                </c:pt>
                <c:pt idx="519">
                  <c:v>17.38</c:v>
                </c:pt>
                <c:pt idx="520">
                  <c:v>19.62</c:v>
                </c:pt>
                <c:pt idx="521">
                  <c:v>20.95</c:v>
                </c:pt>
                <c:pt idx="522">
                  <c:v>19.899999999999999</c:v>
                </c:pt>
                <c:pt idx="523">
                  <c:v>19.25</c:v>
                </c:pt>
                <c:pt idx="524">
                  <c:v>17.600000000000001</c:v>
                </c:pt>
                <c:pt idx="525">
                  <c:v>18.899999999999999</c:v>
                </c:pt>
                <c:pt idx="526">
                  <c:v>20.8</c:v>
                </c:pt>
                <c:pt idx="527">
                  <c:v>20.7</c:v>
                </c:pt>
                <c:pt idx="528">
                  <c:v>18.5</c:v>
                </c:pt>
                <c:pt idx="529">
                  <c:v>18.98</c:v>
                </c:pt>
                <c:pt idx="530">
                  <c:v>19.649999999999999</c:v>
                </c:pt>
                <c:pt idx="531">
                  <c:v>19.7</c:v>
                </c:pt>
                <c:pt idx="532">
                  <c:v>2.4700000000000002</c:v>
                </c:pt>
                <c:pt idx="533">
                  <c:v>5.82</c:v>
                </c:pt>
                <c:pt idx="534">
                  <c:v>17.100000000000001</c:v>
                </c:pt>
                <c:pt idx="535">
                  <c:v>4.91</c:v>
                </c:pt>
                <c:pt idx="536">
                  <c:v>6.53</c:v>
                </c:pt>
                <c:pt idx="537">
                  <c:v>5.49</c:v>
                </c:pt>
                <c:pt idx="538">
                  <c:v>10.29</c:v>
                </c:pt>
                <c:pt idx="539">
                  <c:v>14.6</c:v>
                </c:pt>
                <c:pt idx="540">
                  <c:v>14.25</c:v>
                </c:pt>
                <c:pt idx="541">
                  <c:v>9.2799999999999994</c:v>
                </c:pt>
                <c:pt idx="542">
                  <c:v>11.8</c:v>
                </c:pt>
                <c:pt idx="543">
                  <c:v>15.9</c:v>
                </c:pt>
                <c:pt idx="544">
                  <c:v>16.2</c:v>
                </c:pt>
                <c:pt idx="545">
                  <c:v>17.100000000000001</c:v>
                </c:pt>
                <c:pt idx="546">
                  <c:v>16.2</c:v>
                </c:pt>
                <c:pt idx="547">
                  <c:v>17.45</c:v>
                </c:pt>
                <c:pt idx="548">
                  <c:v>16.190000000000001</c:v>
                </c:pt>
                <c:pt idx="549">
                  <c:v>15.55</c:v>
                </c:pt>
                <c:pt idx="550">
                  <c:v>16.79</c:v>
                </c:pt>
                <c:pt idx="551">
                  <c:v>15.65</c:v>
                </c:pt>
                <c:pt idx="552">
                  <c:v>17.5</c:v>
                </c:pt>
                <c:pt idx="553">
                  <c:v>18.100000000000001</c:v>
                </c:pt>
                <c:pt idx="554">
                  <c:v>16</c:v>
                </c:pt>
                <c:pt idx="555">
                  <c:v>16.5</c:v>
                </c:pt>
                <c:pt idx="556">
                  <c:v>16.2</c:v>
                </c:pt>
                <c:pt idx="557">
                  <c:v>16.829999999999998</c:v>
                </c:pt>
                <c:pt idx="558">
                  <c:v>14.5</c:v>
                </c:pt>
                <c:pt idx="559">
                  <c:v>17.52</c:v>
                </c:pt>
                <c:pt idx="560">
                  <c:v>18.07</c:v>
                </c:pt>
                <c:pt idx="561">
                  <c:v>18.8</c:v>
                </c:pt>
                <c:pt idx="562">
                  <c:v>18.2</c:v>
                </c:pt>
                <c:pt idx="563">
                  <c:v>20.37</c:v>
                </c:pt>
                <c:pt idx="564">
                  <c:v>20</c:v>
                </c:pt>
                <c:pt idx="565">
                  <c:v>20.399999999999999</c:v>
                </c:pt>
                <c:pt idx="566">
                  <c:v>21.3</c:v>
                </c:pt>
                <c:pt idx="567">
                  <c:v>19.75</c:v>
                </c:pt>
                <c:pt idx="568">
                  <c:v>20.6</c:v>
                </c:pt>
                <c:pt idx="569">
                  <c:v>20.95</c:v>
                </c:pt>
                <c:pt idx="570">
                  <c:v>20.64</c:v>
                </c:pt>
                <c:pt idx="571">
                  <c:v>21</c:v>
                </c:pt>
                <c:pt idx="572">
                  <c:v>20.8</c:v>
                </c:pt>
                <c:pt idx="573">
                  <c:v>20.8</c:v>
                </c:pt>
                <c:pt idx="574">
                  <c:v>21.7</c:v>
                </c:pt>
                <c:pt idx="575">
                  <c:v>19.8</c:v>
                </c:pt>
                <c:pt idx="576">
                  <c:v>19.649999999999999</c:v>
                </c:pt>
                <c:pt idx="577">
                  <c:v>19.2</c:v>
                </c:pt>
                <c:pt idx="578">
                  <c:v>20.83</c:v>
                </c:pt>
                <c:pt idx="579">
                  <c:v>21.2</c:v>
                </c:pt>
                <c:pt idx="580">
                  <c:v>20.2</c:v>
                </c:pt>
                <c:pt idx="581">
                  <c:v>19.55</c:v>
                </c:pt>
                <c:pt idx="582">
                  <c:v>21.62</c:v>
                </c:pt>
                <c:pt idx="583">
                  <c:v>22.1</c:v>
                </c:pt>
                <c:pt idx="584">
                  <c:v>24.1</c:v>
                </c:pt>
                <c:pt idx="585">
                  <c:v>25.94</c:v>
                </c:pt>
                <c:pt idx="586">
                  <c:v>25.92</c:v>
                </c:pt>
                <c:pt idx="587">
                  <c:v>25.7</c:v>
                </c:pt>
                <c:pt idx="588">
                  <c:v>24.26</c:v>
                </c:pt>
                <c:pt idx="589">
                  <c:v>25.13</c:v>
                </c:pt>
                <c:pt idx="590">
                  <c:v>26.08</c:v>
                </c:pt>
                <c:pt idx="591">
                  <c:v>25.5</c:v>
                </c:pt>
                <c:pt idx="592">
                  <c:v>24.11</c:v>
                </c:pt>
                <c:pt idx="593">
                  <c:v>22.54</c:v>
                </c:pt>
                <c:pt idx="594">
                  <c:v>24.18</c:v>
                </c:pt>
                <c:pt idx="595">
                  <c:v>25.32</c:v>
                </c:pt>
                <c:pt idx="596">
                  <c:v>25.77</c:v>
                </c:pt>
                <c:pt idx="597">
                  <c:v>24.83</c:v>
                </c:pt>
                <c:pt idx="598">
                  <c:v>24.3</c:v>
                </c:pt>
                <c:pt idx="599">
                  <c:v>25.14</c:v>
                </c:pt>
                <c:pt idx="600">
                  <c:v>26.94</c:v>
                </c:pt>
                <c:pt idx="601">
                  <c:v>25.4</c:v>
                </c:pt>
                <c:pt idx="602">
                  <c:v>28.4</c:v>
                </c:pt>
                <c:pt idx="603">
                  <c:v>30.59</c:v>
                </c:pt>
                <c:pt idx="604">
                  <c:v>16.48</c:v>
                </c:pt>
                <c:pt idx="605">
                  <c:v>16.2</c:v>
                </c:pt>
                <c:pt idx="606">
                  <c:v>14.2</c:v>
                </c:pt>
                <c:pt idx="607">
                  <c:v>15.4</c:v>
                </c:pt>
                <c:pt idx="608">
                  <c:v>13.19</c:v>
                </c:pt>
                <c:pt idx="609">
                  <c:v>13.65</c:v>
                </c:pt>
                <c:pt idx="610">
                  <c:v>14</c:v>
                </c:pt>
                <c:pt idx="611">
                  <c:v>15.8</c:v>
                </c:pt>
                <c:pt idx="612">
                  <c:v>16.05</c:v>
                </c:pt>
                <c:pt idx="613">
                  <c:v>15.32</c:v>
                </c:pt>
                <c:pt idx="614">
                  <c:v>18.55</c:v>
                </c:pt>
                <c:pt idx="615">
                  <c:v>18.55</c:v>
                </c:pt>
                <c:pt idx="616">
                  <c:v>20.149999999999999</c:v>
                </c:pt>
                <c:pt idx="617">
                  <c:v>20.95</c:v>
                </c:pt>
                <c:pt idx="618">
                  <c:v>23.23</c:v>
                </c:pt>
                <c:pt idx="619">
                  <c:v>28.58</c:v>
                </c:pt>
                <c:pt idx="620">
                  <c:v>29.48</c:v>
                </c:pt>
                <c:pt idx="621">
                  <c:v>27.4</c:v>
                </c:pt>
                <c:pt idx="622">
                  <c:v>27.84</c:v>
                </c:pt>
                <c:pt idx="623">
                  <c:v>26.38</c:v>
                </c:pt>
                <c:pt idx="624">
                  <c:v>28.55</c:v>
                </c:pt>
                <c:pt idx="625">
                  <c:v>29.1</c:v>
                </c:pt>
                <c:pt idx="626">
                  <c:v>27.9</c:v>
                </c:pt>
                <c:pt idx="627">
                  <c:v>26.38</c:v>
                </c:pt>
                <c:pt idx="628">
                  <c:v>26.4</c:v>
                </c:pt>
                <c:pt idx="629">
                  <c:v>27.15</c:v>
                </c:pt>
                <c:pt idx="630">
                  <c:v>29.7</c:v>
                </c:pt>
                <c:pt idx="631">
                  <c:v>26.1</c:v>
                </c:pt>
                <c:pt idx="632">
                  <c:v>34.700000000000003</c:v>
                </c:pt>
                <c:pt idx="633">
                  <c:v>38.6</c:v>
                </c:pt>
                <c:pt idx="634">
                  <c:v>40.700000000000003</c:v>
                </c:pt>
                <c:pt idx="635">
                  <c:v>52.7</c:v>
                </c:pt>
                <c:pt idx="636">
                  <c:v>47.7</c:v>
                </c:pt>
                <c:pt idx="637">
                  <c:v>44</c:v>
                </c:pt>
                <c:pt idx="638">
                  <c:v>42.5</c:v>
                </c:pt>
                <c:pt idx="639">
                  <c:v>40.700000000000003</c:v>
                </c:pt>
                <c:pt idx="640">
                  <c:v>39.5</c:v>
                </c:pt>
                <c:pt idx="641">
                  <c:v>48.1</c:v>
                </c:pt>
                <c:pt idx="642">
                  <c:v>48.18</c:v>
                </c:pt>
                <c:pt idx="643">
                  <c:v>53.9</c:v>
                </c:pt>
                <c:pt idx="644">
                  <c:v>54.2</c:v>
                </c:pt>
                <c:pt idx="645">
                  <c:v>49.1</c:v>
                </c:pt>
                <c:pt idx="646">
                  <c:v>45.5</c:v>
                </c:pt>
                <c:pt idx="647">
                  <c:v>48.4</c:v>
                </c:pt>
                <c:pt idx="648">
                  <c:v>46.1</c:v>
                </c:pt>
                <c:pt idx="649">
                  <c:v>37.72</c:v>
                </c:pt>
                <c:pt idx="650">
                  <c:v>46.2</c:v>
                </c:pt>
                <c:pt idx="651">
                  <c:v>32.85</c:v>
                </c:pt>
                <c:pt idx="652">
                  <c:v>32.6</c:v>
                </c:pt>
                <c:pt idx="653">
                  <c:v>32</c:v>
                </c:pt>
                <c:pt idx="654">
                  <c:v>36.1</c:v>
                </c:pt>
                <c:pt idx="655">
                  <c:v>39.6</c:v>
                </c:pt>
                <c:pt idx="656">
                  <c:v>44.9</c:v>
                </c:pt>
                <c:pt idx="657">
                  <c:v>50.1</c:v>
                </c:pt>
                <c:pt idx="658">
                  <c:v>47.8</c:v>
                </c:pt>
                <c:pt idx="659">
                  <c:v>47.1</c:v>
                </c:pt>
                <c:pt idx="660">
                  <c:v>53.9</c:v>
                </c:pt>
                <c:pt idx="661">
                  <c:v>50</c:v>
                </c:pt>
                <c:pt idx="662">
                  <c:v>47.4</c:v>
                </c:pt>
                <c:pt idx="663">
                  <c:v>47.8</c:v>
                </c:pt>
                <c:pt idx="664">
                  <c:v>57.4</c:v>
                </c:pt>
                <c:pt idx="665">
                  <c:v>61.8</c:v>
                </c:pt>
                <c:pt idx="666">
                  <c:v>69</c:v>
                </c:pt>
                <c:pt idx="667">
                  <c:v>62.97</c:v>
                </c:pt>
                <c:pt idx="668">
                  <c:v>54.02</c:v>
                </c:pt>
                <c:pt idx="669">
                  <c:v>58.9</c:v>
                </c:pt>
                <c:pt idx="670">
                  <c:v>56.5</c:v>
                </c:pt>
                <c:pt idx="671">
                  <c:v>42.1</c:v>
                </c:pt>
                <c:pt idx="672">
                  <c:v>49.6</c:v>
                </c:pt>
                <c:pt idx="673">
                  <c:v>41.5</c:v>
                </c:pt>
                <c:pt idx="674">
                  <c:v>47.9</c:v>
                </c:pt>
                <c:pt idx="675">
                  <c:v>43.65</c:v>
                </c:pt>
                <c:pt idx="676">
                  <c:v>39.18</c:v>
                </c:pt>
                <c:pt idx="677">
                  <c:v>41.3</c:v>
                </c:pt>
                <c:pt idx="678">
                  <c:v>36.6</c:v>
                </c:pt>
                <c:pt idx="679">
                  <c:v>36.200000000000003</c:v>
                </c:pt>
                <c:pt idx="680">
                  <c:v>28.25</c:v>
                </c:pt>
                <c:pt idx="681">
                  <c:v>33.229999999999997</c:v>
                </c:pt>
                <c:pt idx="682">
                  <c:v>34.380000000000003</c:v>
                </c:pt>
                <c:pt idx="683">
                  <c:v>34.200000000000003</c:v>
                </c:pt>
                <c:pt idx="684">
                  <c:v>29.6</c:v>
                </c:pt>
                <c:pt idx="685">
                  <c:v>32.1</c:v>
                </c:pt>
                <c:pt idx="686">
                  <c:v>33.700000000000003</c:v>
                </c:pt>
                <c:pt idx="687">
                  <c:v>29.22</c:v>
                </c:pt>
                <c:pt idx="688">
                  <c:v>29.1</c:v>
                </c:pt>
                <c:pt idx="689">
                  <c:v>45.27</c:v>
                </c:pt>
                <c:pt idx="690">
                  <c:v>43.65</c:v>
                </c:pt>
                <c:pt idx="691">
                  <c:v>40</c:v>
                </c:pt>
                <c:pt idx="692">
                  <c:v>39</c:v>
                </c:pt>
                <c:pt idx="693">
                  <c:v>31.05</c:v>
                </c:pt>
                <c:pt idx="694">
                  <c:v>36</c:v>
                </c:pt>
                <c:pt idx="695">
                  <c:v>41.05</c:v>
                </c:pt>
                <c:pt idx="696">
                  <c:v>37.5</c:v>
                </c:pt>
                <c:pt idx="697">
                  <c:v>38.15</c:v>
                </c:pt>
                <c:pt idx="698">
                  <c:v>37.450000000000003</c:v>
                </c:pt>
                <c:pt idx="699">
                  <c:v>35.450000000000003</c:v>
                </c:pt>
                <c:pt idx="700">
                  <c:v>38.43</c:v>
                </c:pt>
                <c:pt idx="701">
                  <c:v>32.9</c:v>
                </c:pt>
                <c:pt idx="702">
                  <c:v>34</c:v>
                </c:pt>
                <c:pt idx="703">
                  <c:v>35.79</c:v>
                </c:pt>
                <c:pt idx="704">
                  <c:v>34.93</c:v>
                </c:pt>
                <c:pt idx="705">
                  <c:v>33.729999999999997</c:v>
                </c:pt>
                <c:pt idx="706">
                  <c:v>32.94</c:v>
                </c:pt>
                <c:pt idx="707">
                  <c:v>34.049999999999997</c:v>
                </c:pt>
                <c:pt idx="708">
                  <c:v>31.8</c:v>
                </c:pt>
                <c:pt idx="709">
                  <c:v>33.65</c:v>
                </c:pt>
                <c:pt idx="710">
                  <c:v>33.979999999999997</c:v>
                </c:pt>
                <c:pt idx="711">
                  <c:v>33</c:v>
                </c:pt>
                <c:pt idx="712">
                  <c:v>32.5</c:v>
                </c:pt>
                <c:pt idx="713">
                  <c:v>30.23</c:v>
                </c:pt>
                <c:pt idx="714">
                  <c:v>28.2</c:v>
                </c:pt>
                <c:pt idx="715">
                  <c:v>23.98</c:v>
                </c:pt>
                <c:pt idx="716">
                  <c:v>24.18</c:v>
                </c:pt>
                <c:pt idx="717">
                  <c:v>25.22</c:v>
                </c:pt>
                <c:pt idx="718">
                  <c:v>23.8</c:v>
                </c:pt>
                <c:pt idx="719">
                  <c:v>22.3</c:v>
                </c:pt>
                <c:pt idx="720">
                  <c:v>21.95</c:v>
                </c:pt>
                <c:pt idx="721">
                  <c:v>17.399999999999999</c:v>
                </c:pt>
                <c:pt idx="722">
                  <c:v>15.5</c:v>
                </c:pt>
                <c:pt idx="723">
                  <c:v>12.8</c:v>
                </c:pt>
                <c:pt idx="724">
                  <c:v>16.100000000000001</c:v>
                </c:pt>
                <c:pt idx="725">
                  <c:v>16.850000000000001</c:v>
                </c:pt>
                <c:pt idx="726">
                  <c:v>16</c:v>
                </c:pt>
                <c:pt idx="727">
                  <c:v>14.09</c:v>
                </c:pt>
                <c:pt idx="728">
                  <c:v>16.899999999999999</c:v>
                </c:pt>
                <c:pt idx="729">
                  <c:v>20.07</c:v>
                </c:pt>
                <c:pt idx="730">
                  <c:v>17.600000000000001</c:v>
                </c:pt>
                <c:pt idx="731">
                  <c:v>12.6</c:v>
                </c:pt>
                <c:pt idx="732">
                  <c:v>11.9</c:v>
                </c:pt>
                <c:pt idx="733">
                  <c:v>10.199999999999999</c:v>
                </c:pt>
                <c:pt idx="734">
                  <c:v>10.33</c:v>
                </c:pt>
                <c:pt idx="735">
                  <c:v>10.7</c:v>
                </c:pt>
                <c:pt idx="736">
                  <c:v>8.1199999999999992</c:v>
                </c:pt>
                <c:pt idx="737">
                  <c:v>8.33</c:v>
                </c:pt>
                <c:pt idx="738">
                  <c:v>7.2</c:v>
                </c:pt>
                <c:pt idx="739">
                  <c:v>4.28</c:v>
                </c:pt>
                <c:pt idx="740">
                  <c:v>5.0999999999999996</c:v>
                </c:pt>
                <c:pt idx="741">
                  <c:v>6.17</c:v>
                </c:pt>
                <c:pt idx="742">
                  <c:v>5.94</c:v>
                </c:pt>
                <c:pt idx="743">
                  <c:v>2</c:v>
                </c:pt>
                <c:pt idx="744">
                  <c:v>2.85</c:v>
                </c:pt>
                <c:pt idx="745">
                  <c:v>5.98</c:v>
                </c:pt>
                <c:pt idx="746">
                  <c:v>5.08</c:v>
                </c:pt>
                <c:pt idx="747">
                  <c:v>4</c:v>
                </c:pt>
                <c:pt idx="748">
                  <c:v>4.38</c:v>
                </c:pt>
                <c:pt idx="749">
                  <c:v>3</c:v>
                </c:pt>
                <c:pt idx="750">
                  <c:v>2.15</c:v>
                </c:pt>
                <c:pt idx="751">
                  <c:v>0.69</c:v>
                </c:pt>
                <c:pt idx="752">
                  <c:v>0.3</c:v>
                </c:pt>
                <c:pt idx="753">
                  <c:v>-2.59</c:v>
                </c:pt>
                <c:pt idx="754">
                  <c:v>-14.48</c:v>
                </c:pt>
                <c:pt idx="755">
                  <c:v>-14.75</c:v>
                </c:pt>
                <c:pt idx="756">
                  <c:v>-15.5</c:v>
                </c:pt>
                <c:pt idx="757">
                  <c:v>-10.98</c:v>
                </c:pt>
                <c:pt idx="758">
                  <c:v>-12.1</c:v>
                </c:pt>
                <c:pt idx="759">
                  <c:v>-11.7</c:v>
                </c:pt>
                <c:pt idx="760">
                  <c:v>-12.9</c:v>
                </c:pt>
                <c:pt idx="761">
                  <c:v>-14.65</c:v>
                </c:pt>
                <c:pt idx="762">
                  <c:v>-14.8</c:v>
                </c:pt>
                <c:pt idx="763">
                  <c:v>-16.79</c:v>
                </c:pt>
                <c:pt idx="764">
                  <c:v>-15</c:v>
                </c:pt>
                <c:pt idx="765">
                  <c:v>-16.600000000000001</c:v>
                </c:pt>
                <c:pt idx="766">
                  <c:v>-12.25</c:v>
                </c:pt>
                <c:pt idx="767">
                  <c:v>-15</c:v>
                </c:pt>
                <c:pt idx="768">
                  <c:v>-22</c:v>
                </c:pt>
                <c:pt idx="769">
                  <c:v>-23.23</c:v>
                </c:pt>
                <c:pt idx="770">
                  <c:v>-21.4</c:v>
                </c:pt>
                <c:pt idx="771">
                  <c:v>-23.25</c:v>
                </c:pt>
                <c:pt idx="772">
                  <c:v>-21.89</c:v>
                </c:pt>
                <c:pt idx="773">
                  <c:v>-27.9</c:v>
                </c:pt>
                <c:pt idx="774">
                  <c:v>-35.18</c:v>
                </c:pt>
                <c:pt idx="775">
                  <c:v>-38.96</c:v>
                </c:pt>
                <c:pt idx="776">
                  <c:v>-41</c:v>
                </c:pt>
                <c:pt idx="777">
                  <c:v>-36.9</c:v>
                </c:pt>
                <c:pt idx="778">
                  <c:v>-44.65</c:v>
                </c:pt>
                <c:pt idx="779">
                  <c:v>-44.79</c:v>
                </c:pt>
                <c:pt idx="780">
                  <c:v>-43.2</c:v>
                </c:pt>
                <c:pt idx="781">
                  <c:v>-43.4</c:v>
                </c:pt>
                <c:pt idx="782">
                  <c:v>-46.59</c:v>
                </c:pt>
                <c:pt idx="783">
                  <c:v>-53.35</c:v>
                </c:pt>
                <c:pt idx="784">
                  <c:v>-52</c:v>
                </c:pt>
                <c:pt idx="785">
                  <c:v>-47.9</c:v>
                </c:pt>
                <c:pt idx="786">
                  <c:v>-42.45</c:v>
                </c:pt>
                <c:pt idx="787">
                  <c:v>-42.5</c:v>
                </c:pt>
                <c:pt idx="788">
                  <c:v>-42.8</c:v>
                </c:pt>
                <c:pt idx="789">
                  <c:v>-35.799999999999997</c:v>
                </c:pt>
                <c:pt idx="790">
                  <c:v>-39.85</c:v>
                </c:pt>
                <c:pt idx="791">
                  <c:v>-38.299999999999997</c:v>
                </c:pt>
                <c:pt idx="792">
                  <c:v>-38.200000000000003</c:v>
                </c:pt>
                <c:pt idx="793">
                  <c:v>-36.200000000000003</c:v>
                </c:pt>
                <c:pt idx="794">
                  <c:v>-35.47</c:v>
                </c:pt>
                <c:pt idx="795">
                  <c:v>-32.68</c:v>
                </c:pt>
                <c:pt idx="796">
                  <c:v>-32.21</c:v>
                </c:pt>
                <c:pt idx="797">
                  <c:v>-30.4</c:v>
                </c:pt>
                <c:pt idx="798">
                  <c:v>-30.8</c:v>
                </c:pt>
                <c:pt idx="799">
                  <c:v>-28.77</c:v>
                </c:pt>
                <c:pt idx="800">
                  <c:v>-27.6</c:v>
                </c:pt>
                <c:pt idx="801">
                  <c:v>-28.2</c:v>
                </c:pt>
                <c:pt idx="802">
                  <c:v>-27.76</c:v>
                </c:pt>
                <c:pt idx="803">
                  <c:v>-25.4</c:v>
                </c:pt>
                <c:pt idx="804">
                  <c:v>-41.1</c:v>
                </c:pt>
                <c:pt idx="805">
                  <c:v>-41.65</c:v>
                </c:pt>
                <c:pt idx="806">
                  <c:v>-44.87</c:v>
                </c:pt>
                <c:pt idx="807">
                  <c:v>-45.55</c:v>
                </c:pt>
                <c:pt idx="808">
                  <c:v>-42.5</c:v>
                </c:pt>
                <c:pt idx="809">
                  <c:v>-44.4</c:v>
                </c:pt>
                <c:pt idx="810">
                  <c:v>-46.27</c:v>
                </c:pt>
                <c:pt idx="811">
                  <c:v>-46</c:v>
                </c:pt>
                <c:pt idx="812">
                  <c:v>-43.1</c:v>
                </c:pt>
                <c:pt idx="813">
                  <c:v>-42.07</c:v>
                </c:pt>
                <c:pt idx="814">
                  <c:v>-40.9</c:v>
                </c:pt>
                <c:pt idx="815">
                  <c:v>-44.23</c:v>
                </c:pt>
                <c:pt idx="816">
                  <c:v>-44.74</c:v>
                </c:pt>
                <c:pt idx="817">
                  <c:v>-50.96</c:v>
                </c:pt>
                <c:pt idx="818">
                  <c:v>-48.12</c:v>
                </c:pt>
                <c:pt idx="819">
                  <c:v>-45.21</c:v>
                </c:pt>
                <c:pt idx="820">
                  <c:v>-45.83</c:v>
                </c:pt>
                <c:pt idx="821">
                  <c:v>-43.8</c:v>
                </c:pt>
                <c:pt idx="822">
                  <c:v>-42.67</c:v>
                </c:pt>
                <c:pt idx="823">
                  <c:v>-44</c:v>
                </c:pt>
                <c:pt idx="824">
                  <c:v>-38.549999999999997</c:v>
                </c:pt>
                <c:pt idx="825">
                  <c:v>-41.45</c:v>
                </c:pt>
                <c:pt idx="826">
                  <c:v>-38.5</c:v>
                </c:pt>
                <c:pt idx="827">
                  <c:v>-38.299999999999997</c:v>
                </c:pt>
                <c:pt idx="828">
                  <c:v>-33.880000000000003</c:v>
                </c:pt>
                <c:pt idx="829">
                  <c:v>-36</c:v>
                </c:pt>
                <c:pt idx="830">
                  <c:v>-32.4</c:v>
                </c:pt>
                <c:pt idx="831">
                  <c:v>-32.39</c:v>
                </c:pt>
                <c:pt idx="832">
                  <c:v>-30.66</c:v>
                </c:pt>
                <c:pt idx="833">
                  <c:v>-29.13</c:v>
                </c:pt>
                <c:pt idx="834">
                  <c:v>-26.4</c:v>
                </c:pt>
                <c:pt idx="835">
                  <c:v>-29.2</c:v>
                </c:pt>
                <c:pt idx="836">
                  <c:v>-26.57</c:v>
                </c:pt>
                <c:pt idx="837">
                  <c:v>-27.9</c:v>
                </c:pt>
                <c:pt idx="838">
                  <c:v>-19.899999999999999</c:v>
                </c:pt>
                <c:pt idx="839">
                  <c:v>-20.6</c:v>
                </c:pt>
                <c:pt idx="840">
                  <c:v>-22.31</c:v>
                </c:pt>
                <c:pt idx="841">
                  <c:v>-20.7</c:v>
                </c:pt>
                <c:pt idx="842">
                  <c:v>-19.57</c:v>
                </c:pt>
                <c:pt idx="843">
                  <c:v>-18.71</c:v>
                </c:pt>
                <c:pt idx="844">
                  <c:v>-25.19</c:v>
                </c:pt>
                <c:pt idx="845">
                  <c:v>-26.06</c:v>
                </c:pt>
                <c:pt idx="846">
                  <c:v>-27.1</c:v>
                </c:pt>
                <c:pt idx="847">
                  <c:v>-24.98</c:v>
                </c:pt>
                <c:pt idx="848">
                  <c:v>-23.1</c:v>
                </c:pt>
                <c:pt idx="849">
                  <c:v>-23.2</c:v>
                </c:pt>
                <c:pt idx="850">
                  <c:v>-21</c:v>
                </c:pt>
                <c:pt idx="851">
                  <c:v>-21.5</c:v>
                </c:pt>
                <c:pt idx="852">
                  <c:v>-21.6</c:v>
                </c:pt>
                <c:pt idx="853">
                  <c:v>-20</c:v>
                </c:pt>
                <c:pt idx="854">
                  <c:v>-21.06</c:v>
                </c:pt>
                <c:pt idx="855">
                  <c:v>-18.43</c:v>
                </c:pt>
                <c:pt idx="856">
                  <c:v>-19.149999999999999</c:v>
                </c:pt>
                <c:pt idx="857">
                  <c:v>-21.66</c:v>
                </c:pt>
                <c:pt idx="858">
                  <c:v>-33.409999999999997</c:v>
                </c:pt>
                <c:pt idx="859">
                  <c:v>-32.5</c:v>
                </c:pt>
                <c:pt idx="860">
                  <c:v>-33.71</c:v>
                </c:pt>
                <c:pt idx="861">
                  <c:v>-34</c:v>
                </c:pt>
                <c:pt idx="862">
                  <c:v>-32.799999999999997</c:v>
                </c:pt>
                <c:pt idx="863">
                  <c:v>-33.24</c:v>
                </c:pt>
                <c:pt idx="864">
                  <c:v>-33.729999999999997</c:v>
                </c:pt>
                <c:pt idx="865">
                  <c:v>-33.479999999999997</c:v>
                </c:pt>
                <c:pt idx="866">
                  <c:v>-32.54</c:v>
                </c:pt>
                <c:pt idx="867">
                  <c:v>-38.17</c:v>
                </c:pt>
                <c:pt idx="868">
                  <c:v>-40</c:v>
                </c:pt>
                <c:pt idx="869">
                  <c:v>-36.33</c:v>
                </c:pt>
                <c:pt idx="870">
                  <c:v>-36.82</c:v>
                </c:pt>
                <c:pt idx="871">
                  <c:v>-42.72</c:v>
                </c:pt>
                <c:pt idx="872">
                  <c:v>-48.74</c:v>
                </c:pt>
                <c:pt idx="873">
                  <c:v>-48.84</c:v>
                </c:pt>
                <c:pt idx="874">
                  <c:v>-83.1</c:v>
                </c:pt>
              </c:numCache>
            </c:numRef>
          </c:yVal>
          <c:smooth val="0"/>
          <c:extLst>
            <c:ext xmlns:c16="http://schemas.microsoft.com/office/drawing/2014/chart" uri="{C3380CC4-5D6E-409C-BE32-E72D297353CC}">
              <c16:uniqueId val="{00000001-E32B-4208-8759-6BC88F3A56B6}"/>
            </c:ext>
          </c:extLst>
        </c:ser>
        <c:ser>
          <c:idx val="1"/>
          <c:order val="1"/>
          <c:tx>
            <c:strRef>
              <c:f>Sheet1!$B$878</c:f>
              <c:strCache>
                <c:ptCount val="1"/>
                <c:pt idx="0">
                  <c:v>1-year</c:v>
                </c:pt>
              </c:strCache>
            </c:strRef>
          </c:tx>
          <c:spPr>
            <a:ln w="25400">
              <a:solidFill>
                <a:srgbClr val="3C8DBC"/>
              </a:solidFill>
            </a:ln>
          </c:spPr>
          <c:marker>
            <c:symbol val="none"/>
          </c:marker>
          <c:dLbls>
            <c:dLbl>
              <c:idx val="874"/>
              <c:tx>
                <c:rich>
                  <a:bodyPr/>
                  <a:lstStyle/>
                  <a:p>
                    <a:r>
                      <a:rPr lang="en-US" sz="1100" b="1">
                        <a:solidFill>
                          <a:srgbClr val="3C8DBC"/>
                        </a:solidFill>
                        <a:latin typeface="Garamond"/>
                      </a:rPr>
                      <a:t>1-year −1bp</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32B-4208-8759-6BC88F3A56B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Sheet1!$A$879:$A$1753</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Sheet1!$B$879:$B$1753</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3-E32B-4208-8759-6BC88F3A56B6}"/>
            </c:ext>
          </c:extLst>
        </c:ser>
        <c:dLbls>
          <c:showLegendKey val="0"/>
          <c:showVal val="0"/>
          <c:showCatName val="0"/>
          <c:showSerName val="0"/>
          <c:showPercent val="0"/>
          <c:showBubbleSize val="0"/>
        </c:dLbls>
        <c:axId val="-2128940872"/>
        <c:axId val="-2129643912"/>
      </c:scatterChart>
      <c:valAx>
        <c:axId val="-2128940872"/>
        <c:scaling>
          <c:orientation val="minMax"/>
          <c:max val="47393"/>
          <c:min val="40179"/>
        </c:scaling>
        <c:delete val="0"/>
        <c:axPos val="b"/>
        <c:numFmt formatCode="yyyy" sourceLinked="0"/>
        <c:majorTickMark val="out"/>
        <c:minorTickMark val="none"/>
        <c:tickLblPos val="low"/>
        <c:spPr>
          <a:ln>
            <a:solidFill>
              <a:srgbClr val="DCE3EF"/>
            </a:solidFill>
          </a:ln>
        </c:spPr>
        <c:txPr>
          <a:bodyPr/>
          <a:lstStyle/>
          <a:p>
            <a:pPr>
              <a:defRPr sz="1100">
                <a:solidFill>
                  <a:srgbClr val="5A6172"/>
                </a:solidFill>
              </a:defRPr>
            </a:pPr>
            <a:endParaRPr lang="en-US"/>
          </a:p>
        </c:txPr>
        <c:crossAx val="-2129643912"/>
        <c:crosses val="autoZero"/>
        <c:crossBetween val="midCat"/>
        <c:majorUnit val="730"/>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1100">
                <a:solidFill>
                  <a:srgbClr val="5A6172"/>
                </a:solidFill>
              </a:defRPr>
            </a:pPr>
            <a:endParaRPr lang="en-US"/>
          </a:p>
        </c:txPr>
        <c:crossAx val="-2128940872"/>
        <c:crosses val="autoZero"/>
        <c:crossBetween val="midCat"/>
      </c:valAx>
    </c:plotArea>
    <c:legend>
      <c:legendPos val="t"/>
      <c:overlay val="0"/>
      <c:txPr>
        <a:bodyPr/>
        <a:lstStyle/>
        <a:p>
          <a:pPr>
            <a:defRPr sz="1100">
              <a:solidFill>
                <a:srgbClr val="5A6172"/>
              </a:solidFill>
            </a:defRPr>
          </a:pPr>
          <a:endParaRPr lang="en-US"/>
        </a:p>
      </c:txPr>
    </c:legend>
    <c:plotVisOnly val="1"/>
    <c:dispBlanksAs val="gap"/>
    <c:showDLblsOverMax val="0"/>
  </c:chart>
  <c:txPr>
    <a:bodyPr/>
    <a:lstStyle/>
    <a:p>
      <a:pPr>
        <a:defRPr sz="1100">
          <a:latin typeface="Garamon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2"/>
          <c:y val="0.1"/>
          <c:w val="0.96"/>
          <c:h val="0.78"/>
        </c:manualLayout>
      </c:layout>
      <c:barChart>
        <c:barDir val="col"/>
        <c:grouping val="clustered"/>
        <c:varyColors val="0"/>
        <c:ser>
          <c:idx val="0"/>
          <c:order val="0"/>
          <c:tx>
            <c:strRef>
              <c:f>Sheet1!$B$1</c:f>
              <c:strCache>
                <c:ptCount val="1"/>
                <c:pt idx="0">
                  <c:v>MOIC</c:v>
                </c:pt>
              </c:strCache>
            </c:strRef>
          </c:tx>
          <c:spPr>
            <a:solidFill>
              <a:srgbClr val="9AA1B2"/>
            </a:solidFill>
            <a:ln>
              <a:noFill/>
            </a:ln>
          </c:spPr>
          <c:invertIfNegative val="0"/>
          <c:dPt>
            <c:idx val="0"/>
            <c:invertIfNegative val="0"/>
            <c:bubble3D val="0"/>
            <c:spPr>
              <a:solidFill>
                <a:srgbClr val="9AA1B2"/>
              </a:solidFill>
            </c:spPr>
            <c:extLst>
              <c:ext xmlns:c16="http://schemas.microsoft.com/office/drawing/2014/chart" uri="{C3380CC4-5D6E-409C-BE32-E72D297353CC}">
                <c16:uniqueId val="{00000001-92A4-49F9-B58A-C32FD2F74A98}"/>
              </c:ext>
            </c:extLst>
          </c:dPt>
          <c:dPt>
            <c:idx val="1"/>
            <c:invertIfNegative val="0"/>
            <c:bubble3D val="0"/>
            <c:spPr>
              <a:solidFill>
                <a:srgbClr val="9AA1B2"/>
              </a:solidFill>
            </c:spPr>
            <c:extLst>
              <c:ext xmlns:c16="http://schemas.microsoft.com/office/drawing/2014/chart" uri="{C3380CC4-5D6E-409C-BE32-E72D297353CC}">
                <c16:uniqueId val="{00000003-92A4-49F9-B58A-C32FD2F74A98}"/>
              </c:ext>
            </c:extLst>
          </c:dPt>
          <c:dPt>
            <c:idx val="2"/>
            <c:invertIfNegative val="0"/>
            <c:bubble3D val="0"/>
            <c:spPr>
              <a:solidFill>
                <a:srgbClr val="9AA1B2"/>
              </a:solidFill>
            </c:spPr>
            <c:extLst>
              <c:ext xmlns:c16="http://schemas.microsoft.com/office/drawing/2014/chart" uri="{C3380CC4-5D6E-409C-BE32-E72D297353CC}">
                <c16:uniqueId val="{00000005-92A4-49F9-B58A-C32FD2F74A98}"/>
              </c:ext>
            </c:extLst>
          </c:dPt>
          <c:dPt>
            <c:idx val="3"/>
            <c:invertIfNegative val="0"/>
            <c:bubble3D val="0"/>
            <c:spPr>
              <a:solidFill>
                <a:srgbClr val="9AA1B2"/>
              </a:solidFill>
            </c:spPr>
            <c:extLst>
              <c:ext xmlns:c16="http://schemas.microsoft.com/office/drawing/2014/chart" uri="{C3380CC4-5D6E-409C-BE32-E72D297353CC}">
                <c16:uniqueId val="{00000007-92A4-49F9-B58A-C32FD2F74A98}"/>
              </c:ext>
            </c:extLst>
          </c:dPt>
          <c:dPt>
            <c:idx val="4"/>
            <c:invertIfNegative val="0"/>
            <c:bubble3D val="0"/>
            <c:spPr>
              <a:solidFill>
                <a:srgbClr val="2C7A5A"/>
              </a:solidFill>
            </c:spPr>
            <c:extLst>
              <c:ext xmlns:c16="http://schemas.microsoft.com/office/drawing/2014/chart" uri="{C3380CC4-5D6E-409C-BE32-E72D297353CC}">
                <c16:uniqueId val="{00000009-92A4-49F9-B58A-C32FD2F74A98}"/>
              </c:ext>
            </c:extLst>
          </c:dPt>
          <c:dPt>
            <c:idx val="5"/>
            <c:invertIfNegative val="0"/>
            <c:bubble3D val="0"/>
            <c:spPr>
              <a:solidFill>
                <a:srgbClr val="9AA1B2"/>
              </a:solidFill>
            </c:spPr>
            <c:extLst>
              <c:ext xmlns:c16="http://schemas.microsoft.com/office/drawing/2014/chart" uri="{C3380CC4-5D6E-409C-BE32-E72D297353CC}">
                <c16:uniqueId val="{0000000B-92A4-49F9-B58A-C32FD2F74A98}"/>
              </c:ext>
            </c:extLst>
          </c:dPt>
          <c:dLbls>
            <c:numFmt formatCode="0.0&quot;x&quot;;\-0.0&quot;x&quot;;&quot;0x&quot;" sourceLinked="0"/>
            <c:spPr>
              <a:noFill/>
              <a:ln>
                <a:noFill/>
              </a:ln>
              <a:effectLst/>
            </c:spPr>
            <c:txPr>
              <a:bodyPr/>
              <a:lstStyle/>
              <a:p>
                <a:pPr>
                  <a:defRPr sz="1200" b="1">
                    <a:solidFill>
                      <a:srgbClr val="011C4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Full impairment
−572bp
94.71</c:v>
                </c:pt>
                <c:pt idx="1">
                  <c:v>Break-even
−445bp
95.82</c:v>
                </c:pt>
                <c:pt idx="2">
                  <c:v>Italy 2011
−350bp
96.68</c:v>
                </c:pt>
                <c:pt idx="3">
                  <c:v>No roll
−83bp
99.15</c:v>
                </c:pt>
                <c:pt idx="4">
                  <c:v>Roll to spot
−1.3bp
99.94</c:v>
                </c:pt>
                <c:pt idx="5">
                  <c:v>Median
28bp
100.22</c:v>
                </c:pt>
              </c:strCache>
            </c:strRef>
          </c:cat>
          <c:val>
            <c:numRef>
              <c:f>Sheet1!$B$2:$B$7</c:f>
              <c:numCache>
                <c:formatCode>General</c:formatCode>
                <c:ptCount val="6"/>
                <c:pt idx="0">
                  <c:v>0</c:v>
                </c:pt>
                <c:pt idx="1">
                  <c:v>1</c:v>
                </c:pt>
                <c:pt idx="2">
                  <c:v>1.8</c:v>
                </c:pt>
                <c:pt idx="3">
                  <c:v>4</c:v>
                </c:pt>
                <c:pt idx="4">
                  <c:v>4.8</c:v>
                </c:pt>
                <c:pt idx="5">
                  <c:v>5</c:v>
                </c:pt>
              </c:numCache>
            </c:numRef>
          </c:val>
          <c:extLst>
            <c:ext xmlns:c16="http://schemas.microsoft.com/office/drawing/2014/chart" uri="{C3380CC4-5D6E-409C-BE32-E72D297353CC}">
              <c16:uniqueId val="{0000000C-92A4-49F9-B58A-C32FD2F74A98}"/>
            </c:ext>
          </c:extLst>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one"/>
        <c:spPr>
          <a:ln>
            <a:solidFill>
              <a:srgbClr val="DCE3EF"/>
            </a:solidFill>
          </a:ln>
        </c:spPr>
        <c:txPr>
          <a:bodyPr/>
          <a:lstStyle/>
          <a:p>
            <a:pPr>
              <a:defRPr sz="1000">
                <a:solidFill>
                  <a:srgbClr val="5A6172"/>
                </a:solidFill>
              </a:defRPr>
            </a:pPr>
            <a:endParaRPr lang="en-US"/>
          </a:p>
        </c:txPr>
        <c:crossAx val="-2113994440"/>
        <c:crosses val="autoZero"/>
        <c:auto val="1"/>
        <c:lblAlgn val="ctr"/>
        <c:lblOffset val="100"/>
        <c:noMultiLvlLbl val="0"/>
      </c:catAx>
      <c:valAx>
        <c:axId val="-2113994440"/>
        <c:scaling>
          <c:orientation val="minMax"/>
          <c:min val="0"/>
        </c:scaling>
        <c:delete val="1"/>
        <c:axPos val="l"/>
        <c:majorGridlines>
          <c:spPr>
            <a:ln w="7620">
              <a:solidFill>
                <a:srgbClr val="DCE3EF"/>
              </a:solidFill>
            </a:ln>
          </c:spPr>
        </c:majorGridlines>
        <c:numFmt formatCode="0.0&quot;x&quot;;\-0.0&quot;x&quot;;&quot;0x&quot;"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Garamond"/>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2"/>
          <c:y val="0.03"/>
          <c:w val="0.7"/>
          <c:h val="0.87"/>
        </c:manualLayout>
      </c:layout>
      <c:scatterChart>
        <c:scatterStyle val="lineMarker"/>
        <c:varyColors val="0"/>
        <c:ser>
          <c:idx val="0"/>
          <c:order val="0"/>
          <c:tx>
            <c:strRef>
              <c:f>Sheet1!$B$1</c:f>
              <c:strCache>
                <c:ptCount val="1"/>
                <c:pt idx="0">
                  <c:v>1-year France spread</c:v>
                </c:pt>
              </c:strCache>
            </c:strRef>
          </c:tx>
          <c:spPr>
            <a:ln w="22225">
              <a:solidFill>
                <a:srgbClr val="011C40"/>
              </a:solidFill>
            </a:ln>
          </c:spPr>
          <c:marker>
            <c:symbol val="none"/>
          </c:marker>
          <c:xVal>
            <c:numRef>
              <c:f>Sheet1!$A$2:$A$876</c:f>
              <c:numCache>
                <c:formatCode>General</c:formatCode>
                <c:ptCount val="875"/>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pt idx="209">
                  <c:v>41642</c:v>
                </c:pt>
                <c:pt idx="210">
                  <c:v>41649</c:v>
                </c:pt>
                <c:pt idx="211">
                  <c:v>41656</c:v>
                </c:pt>
                <c:pt idx="212">
                  <c:v>41663</c:v>
                </c:pt>
                <c:pt idx="213">
                  <c:v>41670</c:v>
                </c:pt>
                <c:pt idx="214">
                  <c:v>41677</c:v>
                </c:pt>
                <c:pt idx="215">
                  <c:v>41684</c:v>
                </c:pt>
                <c:pt idx="216">
                  <c:v>41691</c:v>
                </c:pt>
                <c:pt idx="217">
                  <c:v>41698</c:v>
                </c:pt>
                <c:pt idx="218">
                  <c:v>41705</c:v>
                </c:pt>
                <c:pt idx="219">
                  <c:v>41712</c:v>
                </c:pt>
                <c:pt idx="220">
                  <c:v>41719</c:v>
                </c:pt>
                <c:pt idx="221">
                  <c:v>41726</c:v>
                </c:pt>
                <c:pt idx="222">
                  <c:v>41733</c:v>
                </c:pt>
                <c:pt idx="223">
                  <c:v>41740</c:v>
                </c:pt>
                <c:pt idx="224">
                  <c:v>41747</c:v>
                </c:pt>
                <c:pt idx="225">
                  <c:v>41754</c:v>
                </c:pt>
                <c:pt idx="226">
                  <c:v>41761</c:v>
                </c:pt>
                <c:pt idx="227">
                  <c:v>41768</c:v>
                </c:pt>
                <c:pt idx="228">
                  <c:v>41775</c:v>
                </c:pt>
                <c:pt idx="229">
                  <c:v>41782</c:v>
                </c:pt>
                <c:pt idx="230">
                  <c:v>41789</c:v>
                </c:pt>
                <c:pt idx="231">
                  <c:v>41796</c:v>
                </c:pt>
                <c:pt idx="232">
                  <c:v>41803</c:v>
                </c:pt>
                <c:pt idx="233">
                  <c:v>41810</c:v>
                </c:pt>
                <c:pt idx="234">
                  <c:v>41817</c:v>
                </c:pt>
                <c:pt idx="235">
                  <c:v>41824</c:v>
                </c:pt>
                <c:pt idx="236">
                  <c:v>41831</c:v>
                </c:pt>
                <c:pt idx="237">
                  <c:v>41838</c:v>
                </c:pt>
                <c:pt idx="238">
                  <c:v>41845</c:v>
                </c:pt>
                <c:pt idx="239">
                  <c:v>41852</c:v>
                </c:pt>
                <c:pt idx="240">
                  <c:v>41859</c:v>
                </c:pt>
                <c:pt idx="241">
                  <c:v>41866</c:v>
                </c:pt>
                <c:pt idx="242">
                  <c:v>41873</c:v>
                </c:pt>
                <c:pt idx="243">
                  <c:v>41880</c:v>
                </c:pt>
                <c:pt idx="244">
                  <c:v>41887</c:v>
                </c:pt>
                <c:pt idx="245">
                  <c:v>41894</c:v>
                </c:pt>
                <c:pt idx="246">
                  <c:v>41901</c:v>
                </c:pt>
                <c:pt idx="247">
                  <c:v>41908</c:v>
                </c:pt>
                <c:pt idx="248">
                  <c:v>41915</c:v>
                </c:pt>
                <c:pt idx="249">
                  <c:v>41922</c:v>
                </c:pt>
                <c:pt idx="250">
                  <c:v>41929</c:v>
                </c:pt>
                <c:pt idx="251">
                  <c:v>41936</c:v>
                </c:pt>
                <c:pt idx="252">
                  <c:v>41943</c:v>
                </c:pt>
                <c:pt idx="253">
                  <c:v>41950</c:v>
                </c:pt>
                <c:pt idx="254">
                  <c:v>41957</c:v>
                </c:pt>
                <c:pt idx="255">
                  <c:v>41964</c:v>
                </c:pt>
                <c:pt idx="256">
                  <c:v>41971</c:v>
                </c:pt>
                <c:pt idx="257">
                  <c:v>41978</c:v>
                </c:pt>
                <c:pt idx="258">
                  <c:v>41985</c:v>
                </c:pt>
                <c:pt idx="259">
                  <c:v>41992</c:v>
                </c:pt>
                <c:pt idx="260">
                  <c:v>41999</c:v>
                </c:pt>
                <c:pt idx="261">
                  <c:v>42006</c:v>
                </c:pt>
                <c:pt idx="262">
                  <c:v>42013</c:v>
                </c:pt>
                <c:pt idx="263">
                  <c:v>42020</c:v>
                </c:pt>
                <c:pt idx="264">
                  <c:v>42027</c:v>
                </c:pt>
                <c:pt idx="265">
                  <c:v>42034</c:v>
                </c:pt>
                <c:pt idx="266">
                  <c:v>42041</c:v>
                </c:pt>
                <c:pt idx="267">
                  <c:v>42048</c:v>
                </c:pt>
                <c:pt idx="268">
                  <c:v>42055</c:v>
                </c:pt>
                <c:pt idx="269">
                  <c:v>42062</c:v>
                </c:pt>
                <c:pt idx="270">
                  <c:v>42069</c:v>
                </c:pt>
                <c:pt idx="271">
                  <c:v>42076</c:v>
                </c:pt>
                <c:pt idx="272">
                  <c:v>42083</c:v>
                </c:pt>
                <c:pt idx="273">
                  <c:v>42090</c:v>
                </c:pt>
                <c:pt idx="274">
                  <c:v>42097</c:v>
                </c:pt>
                <c:pt idx="275">
                  <c:v>42104</c:v>
                </c:pt>
                <c:pt idx="276">
                  <c:v>42111</c:v>
                </c:pt>
                <c:pt idx="277">
                  <c:v>42118</c:v>
                </c:pt>
                <c:pt idx="278">
                  <c:v>42125</c:v>
                </c:pt>
                <c:pt idx="279">
                  <c:v>42132</c:v>
                </c:pt>
                <c:pt idx="280">
                  <c:v>42139</c:v>
                </c:pt>
                <c:pt idx="281">
                  <c:v>42146</c:v>
                </c:pt>
                <c:pt idx="282">
                  <c:v>42153</c:v>
                </c:pt>
                <c:pt idx="283">
                  <c:v>42160</c:v>
                </c:pt>
                <c:pt idx="284">
                  <c:v>42167</c:v>
                </c:pt>
                <c:pt idx="285">
                  <c:v>42174</c:v>
                </c:pt>
                <c:pt idx="286">
                  <c:v>42181</c:v>
                </c:pt>
                <c:pt idx="287">
                  <c:v>42188</c:v>
                </c:pt>
                <c:pt idx="288">
                  <c:v>42195</c:v>
                </c:pt>
                <c:pt idx="289">
                  <c:v>42202</c:v>
                </c:pt>
                <c:pt idx="290">
                  <c:v>42209</c:v>
                </c:pt>
                <c:pt idx="291">
                  <c:v>42216</c:v>
                </c:pt>
                <c:pt idx="292">
                  <c:v>42223</c:v>
                </c:pt>
                <c:pt idx="293">
                  <c:v>42230</c:v>
                </c:pt>
                <c:pt idx="294">
                  <c:v>42237</c:v>
                </c:pt>
                <c:pt idx="295">
                  <c:v>42244</c:v>
                </c:pt>
                <c:pt idx="296">
                  <c:v>42251</c:v>
                </c:pt>
                <c:pt idx="297">
                  <c:v>42258</c:v>
                </c:pt>
                <c:pt idx="298">
                  <c:v>42265</c:v>
                </c:pt>
                <c:pt idx="299">
                  <c:v>42272</c:v>
                </c:pt>
                <c:pt idx="300">
                  <c:v>42279</c:v>
                </c:pt>
                <c:pt idx="301">
                  <c:v>42286</c:v>
                </c:pt>
                <c:pt idx="302">
                  <c:v>42293</c:v>
                </c:pt>
                <c:pt idx="303">
                  <c:v>42300</c:v>
                </c:pt>
                <c:pt idx="304">
                  <c:v>42307</c:v>
                </c:pt>
                <c:pt idx="305">
                  <c:v>42314</c:v>
                </c:pt>
                <c:pt idx="306">
                  <c:v>42321</c:v>
                </c:pt>
                <c:pt idx="307">
                  <c:v>42328</c:v>
                </c:pt>
                <c:pt idx="308">
                  <c:v>42335</c:v>
                </c:pt>
                <c:pt idx="309">
                  <c:v>42342</c:v>
                </c:pt>
                <c:pt idx="310">
                  <c:v>42349</c:v>
                </c:pt>
                <c:pt idx="311">
                  <c:v>42356</c:v>
                </c:pt>
                <c:pt idx="312">
                  <c:v>42363</c:v>
                </c:pt>
                <c:pt idx="313">
                  <c:v>42370</c:v>
                </c:pt>
                <c:pt idx="314">
                  <c:v>42377</c:v>
                </c:pt>
                <c:pt idx="315">
                  <c:v>42384</c:v>
                </c:pt>
                <c:pt idx="316">
                  <c:v>42391</c:v>
                </c:pt>
                <c:pt idx="317">
                  <c:v>42398</c:v>
                </c:pt>
                <c:pt idx="318">
                  <c:v>42405</c:v>
                </c:pt>
                <c:pt idx="319">
                  <c:v>42412</c:v>
                </c:pt>
                <c:pt idx="320">
                  <c:v>42419</c:v>
                </c:pt>
                <c:pt idx="321">
                  <c:v>42426</c:v>
                </c:pt>
                <c:pt idx="322">
                  <c:v>42433</c:v>
                </c:pt>
                <c:pt idx="323">
                  <c:v>42440</c:v>
                </c:pt>
                <c:pt idx="324">
                  <c:v>42447</c:v>
                </c:pt>
                <c:pt idx="325">
                  <c:v>42454</c:v>
                </c:pt>
                <c:pt idx="326">
                  <c:v>42461</c:v>
                </c:pt>
                <c:pt idx="327">
                  <c:v>42468</c:v>
                </c:pt>
                <c:pt idx="328">
                  <c:v>42475</c:v>
                </c:pt>
                <c:pt idx="329">
                  <c:v>42482</c:v>
                </c:pt>
                <c:pt idx="330">
                  <c:v>42489</c:v>
                </c:pt>
                <c:pt idx="331">
                  <c:v>42496</c:v>
                </c:pt>
                <c:pt idx="332">
                  <c:v>42503</c:v>
                </c:pt>
                <c:pt idx="333">
                  <c:v>42510</c:v>
                </c:pt>
                <c:pt idx="334">
                  <c:v>42517</c:v>
                </c:pt>
                <c:pt idx="335">
                  <c:v>42524</c:v>
                </c:pt>
                <c:pt idx="336">
                  <c:v>42531</c:v>
                </c:pt>
                <c:pt idx="337">
                  <c:v>42538</c:v>
                </c:pt>
                <c:pt idx="338">
                  <c:v>42545</c:v>
                </c:pt>
                <c:pt idx="339">
                  <c:v>42552</c:v>
                </c:pt>
                <c:pt idx="340">
                  <c:v>42559</c:v>
                </c:pt>
                <c:pt idx="341">
                  <c:v>42566</c:v>
                </c:pt>
                <c:pt idx="342">
                  <c:v>42573</c:v>
                </c:pt>
                <c:pt idx="343">
                  <c:v>42580</c:v>
                </c:pt>
                <c:pt idx="344">
                  <c:v>42587</c:v>
                </c:pt>
                <c:pt idx="345">
                  <c:v>42594</c:v>
                </c:pt>
                <c:pt idx="346">
                  <c:v>42601</c:v>
                </c:pt>
                <c:pt idx="347">
                  <c:v>42608</c:v>
                </c:pt>
                <c:pt idx="348">
                  <c:v>42615</c:v>
                </c:pt>
                <c:pt idx="349">
                  <c:v>42622</c:v>
                </c:pt>
                <c:pt idx="350">
                  <c:v>42629</c:v>
                </c:pt>
                <c:pt idx="351">
                  <c:v>42636</c:v>
                </c:pt>
                <c:pt idx="352">
                  <c:v>42643</c:v>
                </c:pt>
                <c:pt idx="353">
                  <c:v>42650</c:v>
                </c:pt>
                <c:pt idx="354">
                  <c:v>42657</c:v>
                </c:pt>
                <c:pt idx="355">
                  <c:v>42664</c:v>
                </c:pt>
                <c:pt idx="356">
                  <c:v>42671</c:v>
                </c:pt>
                <c:pt idx="357">
                  <c:v>42678</c:v>
                </c:pt>
                <c:pt idx="358">
                  <c:v>42685</c:v>
                </c:pt>
                <c:pt idx="359">
                  <c:v>42692</c:v>
                </c:pt>
                <c:pt idx="360">
                  <c:v>42699</c:v>
                </c:pt>
                <c:pt idx="361">
                  <c:v>42706</c:v>
                </c:pt>
                <c:pt idx="362">
                  <c:v>42713</c:v>
                </c:pt>
                <c:pt idx="363">
                  <c:v>42720</c:v>
                </c:pt>
                <c:pt idx="364">
                  <c:v>42727</c:v>
                </c:pt>
                <c:pt idx="365">
                  <c:v>42734</c:v>
                </c:pt>
                <c:pt idx="366">
                  <c:v>42741</c:v>
                </c:pt>
                <c:pt idx="367">
                  <c:v>42748</c:v>
                </c:pt>
                <c:pt idx="368">
                  <c:v>42755</c:v>
                </c:pt>
                <c:pt idx="369">
                  <c:v>42762</c:v>
                </c:pt>
                <c:pt idx="370">
                  <c:v>42769</c:v>
                </c:pt>
                <c:pt idx="371">
                  <c:v>42776</c:v>
                </c:pt>
                <c:pt idx="372">
                  <c:v>42783</c:v>
                </c:pt>
                <c:pt idx="373">
                  <c:v>42790</c:v>
                </c:pt>
                <c:pt idx="374">
                  <c:v>42797</c:v>
                </c:pt>
                <c:pt idx="375">
                  <c:v>42804</c:v>
                </c:pt>
                <c:pt idx="376">
                  <c:v>42811</c:v>
                </c:pt>
                <c:pt idx="377">
                  <c:v>42818</c:v>
                </c:pt>
                <c:pt idx="378">
                  <c:v>42825</c:v>
                </c:pt>
                <c:pt idx="379">
                  <c:v>42832</c:v>
                </c:pt>
                <c:pt idx="380">
                  <c:v>42839</c:v>
                </c:pt>
                <c:pt idx="381">
                  <c:v>42846</c:v>
                </c:pt>
                <c:pt idx="382">
                  <c:v>42853</c:v>
                </c:pt>
                <c:pt idx="383">
                  <c:v>42860</c:v>
                </c:pt>
                <c:pt idx="384">
                  <c:v>42867</c:v>
                </c:pt>
                <c:pt idx="385">
                  <c:v>42874</c:v>
                </c:pt>
                <c:pt idx="386">
                  <c:v>42881</c:v>
                </c:pt>
                <c:pt idx="387">
                  <c:v>42888</c:v>
                </c:pt>
                <c:pt idx="388">
                  <c:v>42895</c:v>
                </c:pt>
                <c:pt idx="389">
                  <c:v>42902</c:v>
                </c:pt>
                <c:pt idx="390">
                  <c:v>42909</c:v>
                </c:pt>
                <c:pt idx="391">
                  <c:v>42916</c:v>
                </c:pt>
                <c:pt idx="392">
                  <c:v>42923</c:v>
                </c:pt>
                <c:pt idx="393">
                  <c:v>42930</c:v>
                </c:pt>
                <c:pt idx="394">
                  <c:v>42937</c:v>
                </c:pt>
                <c:pt idx="395">
                  <c:v>42944</c:v>
                </c:pt>
                <c:pt idx="396">
                  <c:v>42951</c:v>
                </c:pt>
                <c:pt idx="397">
                  <c:v>42958</c:v>
                </c:pt>
                <c:pt idx="398">
                  <c:v>42965</c:v>
                </c:pt>
                <c:pt idx="399">
                  <c:v>42972</c:v>
                </c:pt>
                <c:pt idx="400">
                  <c:v>42979</c:v>
                </c:pt>
                <c:pt idx="401">
                  <c:v>42986</c:v>
                </c:pt>
                <c:pt idx="402">
                  <c:v>42993</c:v>
                </c:pt>
                <c:pt idx="403">
                  <c:v>43000</c:v>
                </c:pt>
                <c:pt idx="404">
                  <c:v>43007</c:v>
                </c:pt>
                <c:pt idx="405">
                  <c:v>43014</c:v>
                </c:pt>
                <c:pt idx="406">
                  <c:v>43021</c:v>
                </c:pt>
                <c:pt idx="407">
                  <c:v>43028</c:v>
                </c:pt>
                <c:pt idx="408">
                  <c:v>43035</c:v>
                </c:pt>
                <c:pt idx="409">
                  <c:v>43042</c:v>
                </c:pt>
                <c:pt idx="410">
                  <c:v>43049</c:v>
                </c:pt>
                <c:pt idx="411">
                  <c:v>43056</c:v>
                </c:pt>
                <c:pt idx="412">
                  <c:v>43063</c:v>
                </c:pt>
                <c:pt idx="413">
                  <c:v>43070</c:v>
                </c:pt>
                <c:pt idx="414">
                  <c:v>43077</c:v>
                </c:pt>
                <c:pt idx="415">
                  <c:v>43084</c:v>
                </c:pt>
                <c:pt idx="416">
                  <c:v>43091</c:v>
                </c:pt>
                <c:pt idx="417">
                  <c:v>43098</c:v>
                </c:pt>
                <c:pt idx="418">
                  <c:v>43105</c:v>
                </c:pt>
                <c:pt idx="419">
                  <c:v>43112</c:v>
                </c:pt>
                <c:pt idx="420">
                  <c:v>43119</c:v>
                </c:pt>
                <c:pt idx="421">
                  <c:v>43126</c:v>
                </c:pt>
                <c:pt idx="422">
                  <c:v>43133</c:v>
                </c:pt>
                <c:pt idx="423">
                  <c:v>43140</c:v>
                </c:pt>
                <c:pt idx="424">
                  <c:v>43147</c:v>
                </c:pt>
                <c:pt idx="425">
                  <c:v>43154</c:v>
                </c:pt>
                <c:pt idx="426">
                  <c:v>43161</c:v>
                </c:pt>
                <c:pt idx="427">
                  <c:v>43168</c:v>
                </c:pt>
                <c:pt idx="428">
                  <c:v>43175</c:v>
                </c:pt>
                <c:pt idx="429">
                  <c:v>43182</c:v>
                </c:pt>
                <c:pt idx="430">
                  <c:v>43189</c:v>
                </c:pt>
                <c:pt idx="431">
                  <c:v>43196</c:v>
                </c:pt>
                <c:pt idx="432">
                  <c:v>43203</c:v>
                </c:pt>
                <c:pt idx="433">
                  <c:v>43210</c:v>
                </c:pt>
                <c:pt idx="434">
                  <c:v>43217</c:v>
                </c:pt>
                <c:pt idx="435">
                  <c:v>43224</c:v>
                </c:pt>
                <c:pt idx="436">
                  <c:v>43231</c:v>
                </c:pt>
                <c:pt idx="437">
                  <c:v>43238</c:v>
                </c:pt>
                <c:pt idx="438">
                  <c:v>43245</c:v>
                </c:pt>
                <c:pt idx="439">
                  <c:v>43252</c:v>
                </c:pt>
                <c:pt idx="440">
                  <c:v>43259</c:v>
                </c:pt>
                <c:pt idx="441">
                  <c:v>43266</c:v>
                </c:pt>
                <c:pt idx="442">
                  <c:v>43273</c:v>
                </c:pt>
                <c:pt idx="443">
                  <c:v>43280</c:v>
                </c:pt>
                <c:pt idx="444">
                  <c:v>43287</c:v>
                </c:pt>
                <c:pt idx="445">
                  <c:v>43294</c:v>
                </c:pt>
                <c:pt idx="446">
                  <c:v>43301</c:v>
                </c:pt>
                <c:pt idx="447">
                  <c:v>43308</c:v>
                </c:pt>
                <c:pt idx="448">
                  <c:v>43315</c:v>
                </c:pt>
                <c:pt idx="449">
                  <c:v>43322</c:v>
                </c:pt>
                <c:pt idx="450">
                  <c:v>43329</c:v>
                </c:pt>
                <c:pt idx="451">
                  <c:v>43336</c:v>
                </c:pt>
                <c:pt idx="452">
                  <c:v>43343</c:v>
                </c:pt>
                <c:pt idx="453">
                  <c:v>43350</c:v>
                </c:pt>
                <c:pt idx="454">
                  <c:v>43357</c:v>
                </c:pt>
                <c:pt idx="455">
                  <c:v>43364</c:v>
                </c:pt>
                <c:pt idx="456">
                  <c:v>43371</c:v>
                </c:pt>
                <c:pt idx="457">
                  <c:v>43378</c:v>
                </c:pt>
                <c:pt idx="458">
                  <c:v>43385</c:v>
                </c:pt>
                <c:pt idx="459">
                  <c:v>43392</c:v>
                </c:pt>
                <c:pt idx="460">
                  <c:v>43399</c:v>
                </c:pt>
                <c:pt idx="461">
                  <c:v>43406</c:v>
                </c:pt>
                <c:pt idx="462">
                  <c:v>43413</c:v>
                </c:pt>
                <c:pt idx="463">
                  <c:v>43420</c:v>
                </c:pt>
                <c:pt idx="464">
                  <c:v>43427</c:v>
                </c:pt>
                <c:pt idx="465">
                  <c:v>43434</c:v>
                </c:pt>
                <c:pt idx="466">
                  <c:v>43441</c:v>
                </c:pt>
                <c:pt idx="467">
                  <c:v>43448</c:v>
                </c:pt>
                <c:pt idx="468">
                  <c:v>43455</c:v>
                </c:pt>
                <c:pt idx="469">
                  <c:v>43462</c:v>
                </c:pt>
                <c:pt idx="470">
                  <c:v>43469</c:v>
                </c:pt>
                <c:pt idx="471">
                  <c:v>43476</c:v>
                </c:pt>
                <c:pt idx="472">
                  <c:v>43483</c:v>
                </c:pt>
                <c:pt idx="473">
                  <c:v>43490</c:v>
                </c:pt>
                <c:pt idx="474">
                  <c:v>43497</c:v>
                </c:pt>
                <c:pt idx="475">
                  <c:v>43504</c:v>
                </c:pt>
                <c:pt idx="476">
                  <c:v>43511</c:v>
                </c:pt>
                <c:pt idx="477">
                  <c:v>43518</c:v>
                </c:pt>
                <c:pt idx="478">
                  <c:v>43525</c:v>
                </c:pt>
                <c:pt idx="479">
                  <c:v>43532</c:v>
                </c:pt>
                <c:pt idx="480">
                  <c:v>43539</c:v>
                </c:pt>
                <c:pt idx="481">
                  <c:v>43546</c:v>
                </c:pt>
                <c:pt idx="482">
                  <c:v>43553</c:v>
                </c:pt>
                <c:pt idx="483">
                  <c:v>43560</c:v>
                </c:pt>
                <c:pt idx="484">
                  <c:v>43567</c:v>
                </c:pt>
                <c:pt idx="485">
                  <c:v>43574</c:v>
                </c:pt>
                <c:pt idx="486">
                  <c:v>43581</c:v>
                </c:pt>
                <c:pt idx="487">
                  <c:v>43588</c:v>
                </c:pt>
                <c:pt idx="488">
                  <c:v>43595</c:v>
                </c:pt>
                <c:pt idx="489">
                  <c:v>43602</c:v>
                </c:pt>
                <c:pt idx="490">
                  <c:v>43609</c:v>
                </c:pt>
                <c:pt idx="491">
                  <c:v>43616</c:v>
                </c:pt>
                <c:pt idx="492">
                  <c:v>43623</c:v>
                </c:pt>
                <c:pt idx="493">
                  <c:v>43630</c:v>
                </c:pt>
                <c:pt idx="494">
                  <c:v>43637</c:v>
                </c:pt>
                <c:pt idx="495">
                  <c:v>43644</c:v>
                </c:pt>
                <c:pt idx="496">
                  <c:v>43651</c:v>
                </c:pt>
                <c:pt idx="497">
                  <c:v>43658</c:v>
                </c:pt>
                <c:pt idx="498">
                  <c:v>43665</c:v>
                </c:pt>
                <c:pt idx="499">
                  <c:v>43672</c:v>
                </c:pt>
                <c:pt idx="500">
                  <c:v>43679</c:v>
                </c:pt>
                <c:pt idx="501">
                  <c:v>43686</c:v>
                </c:pt>
                <c:pt idx="502">
                  <c:v>43693</c:v>
                </c:pt>
                <c:pt idx="503">
                  <c:v>43700</c:v>
                </c:pt>
                <c:pt idx="504">
                  <c:v>43707</c:v>
                </c:pt>
                <c:pt idx="505">
                  <c:v>43714</c:v>
                </c:pt>
                <c:pt idx="506">
                  <c:v>43721</c:v>
                </c:pt>
                <c:pt idx="507">
                  <c:v>43728</c:v>
                </c:pt>
                <c:pt idx="508">
                  <c:v>43735</c:v>
                </c:pt>
                <c:pt idx="509">
                  <c:v>43742</c:v>
                </c:pt>
                <c:pt idx="510">
                  <c:v>43749</c:v>
                </c:pt>
                <c:pt idx="511">
                  <c:v>43756</c:v>
                </c:pt>
                <c:pt idx="512">
                  <c:v>43763</c:v>
                </c:pt>
                <c:pt idx="513">
                  <c:v>43770</c:v>
                </c:pt>
                <c:pt idx="514">
                  <c:v>43777</c:v>
                </c:pt>
                <c:pt idx="515">
                  <c:v>43784</c:v>
                </c:pt>
                <c:pt idx="516">
                  <c:v>43791</c:v>
                </c:pt>
                <c:pt idx="517">
                  <c:v>43798</c:v>
                </c:pt>
                <c:pt idx="518">
                  <c:v>43805</c:v>
                </c:pt>
                <c:pt idx="519">
                  <c:v>43812</c:v>
                </c:pt>
                <c:pt idx="520">
                  <c:v>43819</c:v>
                </c:pt>
                <c:pt idx="521">
                  <c:v>43826</c:v>
                </c:pt>
                <c:pt idx="522">
                  <c:v>43833</c:v>
                </c:pt>
                <c:pt idx="523">
                  <c:v>43840</c:v>
                </c:pt>
                <c:pt idx="524">
                  <c:v>43847</c:v>
                </c:pt>
                <c:pt idx="525">
                  <c:v>43854</c:v>
                </c:pt>
                <c:pt idx="526">
                  <c:v>43861</c:v>
                </c:pt>
                <c:pt idx="527">
                  <c:v>43868</c:v>
                </c:pt>
                <c:pt idx="528">
                  <c:v>43875</c:v>
                </c:pt>
                <c:pt idx="529">
                  <c:v>43882</c:v>
                </c:pt>
                <c:pt idx="530">
                  <c:v>43889</c:v>
                </c:pt>
                <c:pt idx="531">
                  <c:v>43896</c:v>
                </c:pt>
                <c:pt idx="532">
                  <c:v>43903</c:v>
                </c:pt>
                <c:pt idx="533">
                  <c:v>43910</c:v>
                </c:pt>
                <c:pt idx="534">
                  <c:v>43917</c:v>
                </c:pt>
                <c:pt idx="535">
                  <c:v>43924</c:v>
                </c:pt>
                <c:pt idx="536">
                  <c:v>43931</c:v>
                </c:pt>
                <c:pt idx="537">
                  <c:v>43938</c:v>
                </c:pt>
                <c:pt idx="538">
                  <c:v>43945</c:v>
                </c:pt>
                <c:pt idx="539">
                  <c:v>43952</c:v>
                </c:pt>
                <c:pt idx="540">
                  <c:v>43959</c:v>
                </c:pt>
                <c:pt idx="541">
                  <c:v>43966</c:v>
                </c:pt>
                <c:pt idx="542">
                  <c:v>43973</c:v>
                </c:pt>
                <c:pt idx="543">
                  <c:v>43980</c:v>
                </c:pt>
                <c:pt idx="544">
                  <c:v>43987</c:v>
                </c:pt>
                <c:pt idx="545">
                  <c:v>43994</c:v>
                </c:pt>
                <c:pt idx="546">
                  <c:v>44001</c:v>
                </c:pt>
                <c:pt idx="547">
                  <c:v>44008</c:v>
                </c:pt>
                <c:pt idx="548">
                  <c:v>44015</c:v>
                </c:pt>
                <c:pt idx="549">
                  <c:v>44022</c:v>
                </c:pt>
                <c:pt idx="550">
                  <c:v>44029</c:v>
                </c:pt>
                <c:pt idx="551">
                  <c:v>44036</c:v>
                </c:pt>
                <c:pt idx="552">
                  <c:v>44043</c:v>
                </c:pt>
                <c:pt idx="553">
                  <c:v>44050</c:v>
                </c:pt>
                <c:pt idx="554">
                  <c:v>44057</c:v>
                </c:pt>
                <c:pt idx="555">
                  <c:v>44064</c:v>
                </c:pt>
                <c:pt idx="556">
                  <c:v>44071</c:v>
                </c:pt>
                <c:pt idx="557">
                  <c:v>44078</c:v>
                </c:pt>
                <c:pt idx="558">
                  <c:v>44085</c:v>
                </c:pt>
                <c:pt idx="559">
                  <c:v>44092</c:v>
                </c:pt>
                <c:pt idx="560">
                  <c:v>44099</c:v>
                </c:pt>
                <c:pt idx="561">
                  <c:v>44106</c:v>
                </c:pt>
                <c:pt idx="562">
                  <c:v>44113</c:v>
                </c:pt>
                <c:pt idx="563">
                  <c:v>44120</c:v>
                </c:pt>
                <c:pt idx="564">
                  <c:v>44127</c:v>
                </c:pt>
                <c:pt idx="565">
                  <c:v>44134</c:v>
                </c:pt>
                <c:pt idx="566">
                  <c:v>44141</c:v>
                </c:pt>
                <c:pt idx="567">
                  <c:v>44148</c:v>
                </c:pt>
                <c:pt idx="568">
                  <c:v>44155</c:v>
                </c:pt>
                <c:pt idx="569">
                  <c:v>44162</c:v>
                </c:pt>
                <c:pt idx="570">
                  <c:v>44169</c:v>
                </c:pt>
                <c:pt idx="571">
                  <c:v>44176</c:v>
                </c:pt>
                <c:pt idx="572">
                  <c:v>44183</c:v>
                </c:pt>
                <c:pt idx="573">
                  <c:v>44190</c:v>
                </c:pt>
                <c:pt idx="574">
                  <c:v>44197</c:v>
                </c:pt>
                <c:pt idx="575">
                  <c:v>44204</c:v>
                </c:pt>
                <c:pt idx="576">
                  <c:v>44211</c:v>
                </c:pt>
                <c:pt idx="577">
                  <c:v>44218</c:v>
                </c:pt>
                <c:pt idx="578">
                  <c:v>44225</c:v>
                </c:pt>
                <c:pt idx="579">
                  <c:v>44232</c:v>
                </c:pt>
                <c:pt idx="580">
                  <c:v>44239</c:v>
                </c:pt>
                <c:pt idx="581">
                  <c:v>44246</c:v>
                </c:pt>
                <c:pt idx="582">
                  <c:v>44253</c:v>
                </c:pt>
                <c:pt idx="583">
                  <c:v>44260</c:v>
                </c:pt>
                <c:pt idx="584">
                  <c:v>44267</c:v>
                </c:pt>
                <c:pt idx="585">
                  <c:v>44274</c:v>
                </c:pt>
                <c:pt idx="586">
                  <c:v>44281</c:v>
                </c:pt>
                <c:pt idx="587">
                  <c:v>44288</c:v>
                </c:pt>
                <c:pt idx="588">
                  <c:v>44295</c:v>
                </c:pt>
                <c:pt idx="589">
                  <c:v>44302</c:v>
                </c:pt>
                <c:pt idx="590">
                  <c:v>44309</c:v>
                </c:pt>
                <c:pt idx="591">
                  <c:v>44316</c:v>
                </c:pt>
                <c:pt idx="592">
                  <c:v>44323</c:v>
                </c:pt>
                <c:pt idx="593">
                  <c:v>44330</c:v>
                </c:pt>
                <c:pt idx="594">
                  <c:v>44337</c:v>
                </c:pt>
                <c:pt idx="595">
                  <c:v>44344</c:v>
                </c:pt>
                <c:pt idx="596">
                  <c:v>44351</c:v>
                </c:pt>
                <c:pt idx="597">
                  <c:v>44358</c:v>
                </c:pt>
                <c:pt idx="598">
                  <c:v>44365</c:v>
                </c:pt>
                <c:pt idx="599">
                  <c:v>44372</c:v>
                </c:pt>
                <c:pt idx="600">
                  <c:v>44379</c:v>
                </c:pt>
                <c:pt idx="601">
                  <c:v>44386</c:v>
                </c:pt>
                <c:pt idx="602">
                  <c:v>44393</c:v>
                </c:pt>
                <c:pt idx="603">
                  <c:v>44400</c:v>
                </c:pt>
                <c:pt idx="604">
                  <c:v>44407</c:v>
                </c:pt>
                <c:pt idx="605">
                  <c:v>44414</c:v>
                </c:pt>
                <c:pt idx="606">
                  <c:v>44421</c:v>
                </c:pt>
                <c:pt idx="607">
                  <c:v>44428</c:v>
                </c:pt>
                <c:pt idx="608">
                  <c:v>44435</c:v>
                </c:pt>
                <c:pt idx="609">
                  <c:v>44442</c:v>
                </c:pt>
                <c:pt idx="610">
                  <c:v>44449</c:v>
                </c:pt>
                <c:pt idx="611">
                  <c:v>44456</c:v>
                </c:pt>
                <c:pt idx="612">
                  <c:v>44463</c:v>
                </c:pt>
                <c:pt idx="613">
                  <c:v>44470</c:v>
                </c:pt>
                <c:pt idx="614">
                  <c:v>44477</c:v>
                </c:pt>
                <c:pt idx="615">
                  <c:v>44484</c:v>
                </c:pt>
                <c:pt idx="616">
                  <c:v>44491</c:v>
                </c:pt>
                <c:pt idx="617">
                  <c:v>44498</c:v>
                </c:pt>
                <c:pt idx="618">
                  <c:v>44505</c:v>
                </c:pt>
                <c:pt idx="619">
                  <c:v>44512</c:v>
                </c:pt>
                <c:pt idx="620">
                  <c:v>44519</c:v>
                </c:pt>
                <c:pt idx="621">
                  <c:v>44526</c:v>
                </c:pt>
                <c:pt idx="622">
                  <c:v>44533</c:v>
                </c:pt>
                <c:pt idx="623">
                  <c:v>44540</c:v>
                </c:pt>
                <c:pt idx="624">
                  <c:v>44547</c:v>
                </c:pt>
                <c:pt idx="625">
                  <c:v>44554</c:v>
                </c:pt>
                <c:pt idx="626">
                  <c:v>44561</c:v>
                </c:pt>
                <c:pt idx="627">
                  <c:v>44568</c:v>
                </c:pt>
                <c:pt idx="628">
                  <c:v>44575</c:v>
                </c:pt>
                <c:pt idx="629">
                  <c:v>44582</c:v>
                </c:pt>
                <c:pt idx="630">
                  <c:v>44589</c:v>
                </c:pt>
                <c:pt idx="631">
                  <c:v>44596</c:v>
                </c:pt>
                <c:pt idx="632">
                  <c:v>44603</c:v>
                </c:pt>
                <c:pt idx="633">
                  <c:v>44610</c:v>
                </c:pt>
                <c:pt idx="634">
                  <c:v>44617</c:v>
                </c:pt>
                <c:pt idx="635">
                  <c:v>44624</c:v>
                </c:pt>
                <c:pt idx="636">
                  <c:v>44631</c:v>
                </c:pt>
                <c:pt idx="637">
                  <c:v>44638</c:v>
                </c:pt>
                <c:pt idx="638">
                  <c:v>44645</c:v>
                </c:pt>
                <c:pt idx="639">
                  <c:v>44652</c:v>
                </c:pt>
                <c:pt idx="640">
                  <c:v>44659</c:v>
                </c:pt>
                <c:pt idx="641">
                  <c:v>44666</c:v>
                </c:pt>
                <c:pt idx="642">
                  <c:v>44673</c:v>
                </c:pt>
                <c:pt idx="643">
                  <c:v>44680</c:v>
                </c:pt>
                <c:pt idx="644">
                  <c:v>44687</c:v>
                </c:pt>
                <c:pt idx="645">
                  <c:v>44694</c:v>
                </c:pt>
                <c:pt idx="646">
                  <c:v>44701</c:v>
                </c:pt>
                <c:pt idx="647">
                  <c:v>44708</c:v>
                </c:pt>
                <c:pt idx="648">
                  <c:v>44715</c:v>
                </c:pt>
                <c:pt idx="649">
                  <c:v>44722</c:v>
                </c:pt>
                <c:pt idx="650">
                  <c:v>44729</c:v>
                </c:pt>
                <c:pt idx="651">
                  <c:v>44736</c:v>
                </c:pt>
                <c:pt idx="652">
                  <c:v>44743</c:v>
                </c:pt>
                <c:pt idx="653">
                  <c:v>44750</c:v>
                </c:pt>
                <c:pt idx="654">
                  <c:v>44757</c:v>
                </c:pt>
                <c:pt idx="655">
                  <c:v>44764</c:v>
                </c:pt>
                <c:pt idx="656">
                  <c:v>44771</c:v>
                </c:pt>
                <c:pt idx="657">
                  <c:v>44778</c:v>
                </c:pt>
                <c:pt idx="658">
                  <c:v>44785</c:v>
                </c:pt>
                <c:pt idx="659">
                  <c:v>44792</c:v>
                </c:pt>
                <c:pt idx="660">
                  <c:v>44799</c:v>
                </c:pt>
                <c:pt idx="661">
                  <c:v>44806</c:v>
                </c:pt>
                <c:pt idx="662">
                  <c:v>44813</c:v>
                </c:pt>
                <c:pt idx="663">
                  <c:v>44820</c:v>
                </c:pt>
                <c:pt idx="664">
                  <c:v>44827</c:v>
                </c:pt>
                <c:pt idx="665">
                  <c:v>44834</c:v>
                </c:pt>
                <c:pt idx="666">
                  <c:v>44841</c:v>
                </c:pt>
                <c:pt idx="667">
                  <c:v>44848</c:v>
                </c:pt>
                <c:pt idx="668">
                  <c:v>44855</c:v>
                </c:pt>
                <c:pt idx="669">
                  <c:v>44862</c:v>
                </c:pt>
                <c:pt idx="670">
                  <c:v>44869</c:v>
                </c:pt>
                <c:pt idx="671">
                  <c:v>44876</c:v>
                </c:pt>
                <c:pt idx="672">
                  <c:v>44883</c:v>
                </c:pt>
                <c:pt idx="673">
                  <c:v>44890</c:v>
                </c:pt>
                <c:pt idx="674">
                  <c:v>44897</c:v>
                </c:pt>
                <c:pt idx="675">
                  <c:v>44904</c:v>
                </c:pt>
                <c:pt idx="676">
                  <c:v>44911</c:v>
                </c:pt>
                <c:pt idx="677">
                  <c:v>44918</c:v>
                </c:pt>
                <c:pt idx="678">
                  <c:v>44925</c:v>
                </c:pt>
                <c:pt idx="679">
                  <c:v>44932</c:v>
                </c:pt>
                <c:pt idx="680">
                  <c:v>44939</c:v>
                </c:pt>
                <c:pt idx="681">
                  <c:v>44946</c:v>
                </c:pt>
                <c:pt idx="682">
                  <c:v>44953</c:v>
                </c:pt>
                <c:pt idx="683">
                  <c:v>44960</c:v>
                </c:pt>
                <c:pt idx="684">
                  <c:v>44967</c:v>
                </c:pt>
                <c:pt idx="685">
                  <c:v>44974</c:v>
                </c:pt>
                <c:pt idx="686">
                  <c:v>44981</c:v>
                </c:pt>
                <c:pt idx="687">
                  <c:v>44988</c:v>
                </c:pt>
                <c:pt idx="688">
                  <c:v>44995</c:v>
                </c:pt>
                <c:pt idx="689">
                  <c:v>45002</c:v>
                </c:pt>
                <c:pt idx="690">
                  <c:v>45009</c:v>
                </c:pt>
                <c:pt idx="691">
                  <c:v>45016</c:v>
                </c:pt>
                <c:pt idx="692">
                  <c:v>45023</c:v>
                </c:pt>
                <c:pt idx="693">
                  <c:v>45030</c:v>
                </c:pt>
                <c:pt idx="694">
                  <c:v>45037</c:v>
                </c:pt>
                <c:pt idx="695">
                  <c:v>45044</c:v>
                </c:pt>
                <c:pt idx="696">
                  <c:v>45051</c:v>
                </c:pt>
                <c:pt idx="697">
                  <c:v>45058</c:v>
                </c:pt>
                <c:pt idx="698">
                  <c:v>45065</c:v>
                </c:pt>
                <c:pt idx="699">
                  <c:v>45072</c:v>
                </c:pt>
                <c:pt idx="700">
                  <c:v>45079</c:v>
                </c:pt>
                <c:pt idx="701">
                  <c:v>45086</c:v>
                </c:pt>
                <c:pt idx="702">
                  <c:v>45093</c:v>
                </c:pt>
                <c:pt idx="703">
                  <c:v>45100</c:v>
                </c:pt>
                <c:pt idx="704">
                  <c:v>45107</c:v>
                </c:pt>
                <c:pt idx="705">
                  <c:v>45114</c:v>
                </c:pt>
                <c:pt idx="706">
                  <c:v>45121</c:v>
                </c:pt>
                <c:pt idx="707">
                  <c:v>45128</c:v>
                </c:pt>
                <c:pt idx="708">
                  <c:v>45135</c:v>
                </c:pt>
                <c:pt idx="709">
                  <c:v>45142</c:v>
                </c:pt>
                <c:pt idx="710">
                  <c:v>45149</c:v>
                </c:pt>
                <c:pt idx="711">
                  <c:v>45156</c:v>
                </c:pt>
                <c:pt idx="712">
                  <c:v>45163</c:v>
                </c:pt>
                <c:pt idx="713">
                  <c:v>45170</c:v>
                </c:pt>
                <c:pt idx="714">
                  <c:v>45177</c:v>
                </c:pt>
                <c:pt idx="715">
                  <c:v>45184</c:v>
                </c:pt>
                <c:pt idx="716">
                  <c:v>45191</c:v>
                </c:pt>
                <c:pt idx="717">
                  <c:v>45198</c:v>
                </c:pt>
                <c:pt idx="718">
                  <c:v>45205</c:v>
                </c:pt>
                <c:pt idx="719">
                  <c:v>45212</c:v>
                </c:pt>
                <c:pt idx="720">
                  <c:v>45219</c:v>
                </c:pt>
                <c:pt idx="721">
                  <c:v>45226</c:v>
                </c:pt>
                <c:pt idx="722">
                  <c:v>45233</c:v>
                </c:pt>
                <c:pt idx="723">
                  <c:v>45240</c:v>
                </c:pt>
                <c:pt idx="724">
                  <c:v>45247</c:v>
                </c:pt>
                <c:pt idx="725">
                  <c:v>45254</c:v>
                </c:pt>
                <c:pt idx="726">
                  <c:v>45261</c:v>
                </c:pt>
                <c:pt idx="727">
                  <c:v>45268</c:v>
                </c:pt>
                <c:pt idx="728">
                  <c:v>45275</c:v>
                </c:pt>
                <c:pt idx="729">
                  <c:v>45282</c:v>
                </c:pt>
                <c:pt idx="730">
                  <c:v>45289</c:v>
                </c:pt>
                <c:pt idx="731">
                  <c:v>45296</c:v>
                </c:pt>
                <c:pt idx="732">
                  <c:v>45303</c:v>
                </c:pt>
                <c:pt idx="733">
                  <c:v>45310</c:v>
                </c:pt>
                <c:pt idx="734">
                  <c:v>45317</c:v>
                </c:pt>
                <c:pt idx="735">
                  <c:v>45324</c:v>
                </c:pt>
                <c:pt idx="736">
                  <c:v>45331</c:v>
                </c:pt>
                <c:pt idx="737">
                  <c:v>45338</c:v>
                </c:pt>
                <c:pt idx="738">
                  <c:v>45345</c:v>
                </c:pt>
                <c:pt idx="739">
                  <c:v>45352</c:v>
                </c:pt>
                <c:pt idx="740">
                  <c:v>45359</c:v>
                </c:pt>
                <c:pt idx="741">
                  <c:v>45366</c:v>
                </c:pt>
                <c:pt idx="742">
                  <c:v>45373</c:v>
                </c:pt>
                <c:pt idx="743">
                  <c:v>45380</c:v>
                </c:pt>
                <c:pt idx="744">
                  <c:v>45387</c:v>
                </c:pt>
                <c:pt idx="745">
                  <c:v>45394</c:v>
                </c:pt>
                <c:pt idx="746">
                  <c:v>45401</c:v>
                </c:pt>
                <c:pt idx="747">
                  <c:v>45408</c:v>
                </c:pt>
                <c:pt idx="748">
                  <c:v>45415</c:v>
                </c:pt>
                <c:pt idx="749">
                  <c:v>45422</c:v>
                </c:pt>
                <c:pt idx="750">
                  <c:v>45429</c:v>
                </c:pt>
                <c:pt idx="751">
                  <c:v>45436</c:v>
                </c:pt>
                <c:pt idx="752">
                  <c:v>45443</c:v>
                </c:pt>
                <c:pt idx="753">
                  <c:v>45450</c:v>
                </c:pt>
                <c:pt idx="754">
                  <c:v>45457</c:v>
                </c:pt>
                <c:pt idx="755">
                  <c:v>45464</c:v>
                </c:pt>
                <c:pt idx="756">
                  <c:v>45471</c:v>
                </c:pt>
                <c:pt idx="757">
                  <c:v>45478</c:v>
                </c:pt>
                <c:pt idx="758">
                  <c:v>45485</c:v>
                </c:pt>
                <c:pt idx="759">
                  <c:v>45492</c:v>
                </c:pt>
                <c:pt idx="760">
                  <c:v>45499</c:v>
                </c:pt>
                <c:pt idx="761">
                  <c:v>45506</c:v>
                </c:pt>
                <c:pt idx="762">
                  <c:v>45513</c:v>
                </c:pt>
                <c:pt idx="763">
                  <c:v>45520</c:v>
                </c:pt>
                <c:pt idx="764">
                  <c:v>45527</c:v>
                </c:pt>
                <c:pt idx="765">
                  <c:v>45534</c:v>
                </c:pt>
                <c:pt idx="766">
                  <c:v>45541</c:v>
                </c:pt>
                <c:pt idx="767">
                  <c:v>45548</c:v>
                </c:pt>
                <c:pt idx="768">
                  <c:v>45555</c:v>
                </c:pt>
                <c:pt idx="769">
                  <c:v>45562</c:v>
                </c:pt>
                <c:pt idx="770">
                  <c:v>45569</c:v>
                </c:pt>
                <c:pt idx="771">
                  <c:v>45576</c:v>
                </c:pt>
                <c:pt idx="772">
                  <c:v>45583</c:v>
                </c:pt>
                <c:pt idx="773">
                  <c:v>45590</c:v>
                </c:pt>
                <c:pt idx="774">
                  <c:v>45597</c:v>
                </c:pt>
                <c:pt idx="775">
                  <c:v>45604</c:v>
                </c:pt>
                <c:pt idx="776">
                  <c:v>45611</c:v>
                </c:pt>
                <c:pt idx="777">
                  <c:v>45618</c:v>
                </c:pt>
                <c:pt idx="778">
                  <c:v>45625</c:v>
                </c:pt>
                <c:pt idx="779">
                  <c:v>45632</c:v>
                </c:pt>
                <c:pt idx="780">
                  <c:v>45639</c:v>
                </c:pt>
                <c:pt idx="781">
                  <c:v>45646</c:v>
                </c:pt>
                <c:pt idx="782">
                  <c:v>45653</c:v>
                </c:pt>
                <c:pt idx="783">
                  <c:v>45660</c:v>
                </c:pt>
                <c:pt idx="784">
                  <c:v>45667</c:v>
                </c:pt>
                <c:pt idx="785">
                  <c:v>45674</c:v>
                </c:pt>
                <c:pt idx="786">
                  <c:v>45681</c:v>
                </c:pt>
                <c:pt idx="787">
                  <c:v>45688</c:v>
                </c:pt>
                <c:pt idx="788">
                  <c:v>45695</c:v>
                </c:pt>
                <c:pt idx="789">
                  <c:v>45702</c:v>
                </c:pt>
                <c:pt idx="790">
                  <c:v>45709</c:v>
                </c:pt>
                <c:pt idx="791">
                  <c:v>45716</c:v>
                </c:pt>
                <c:pt idx="792">
                  <c:v>45723</c:v>
                </c:pt>
                <c:pt idx="793">
                  <c:v>45730</c:v>
                </c:pt>
                <c:pt idx="794">
                  <c:v>45737</c:v>
                </c:pt>
                <c:pt idx="795">
                  <c:v>45744</c:v>
                </c:pt>
                <c:pt idx="796">
                  <c:v>45751</c:v>
                </c:pt>
                <c:pt idx="797">
                  <c:v>45758</c:v>
                </c:pt>
                <c:pt idx="798">
                  <c:v>45765</c:v>
                </c:pt>
                <c:pt idx="799">
                  <c:v>45772</c:v>
                </c:pt>
                <c:pt idx="800">
                  <c:v>45779</c:v>
                </c:pt>
                <c:pt idx="801">
                  <c:v>45786</c:v>
                </c:pt>
                <c:pt idx="802">
                  <c:v>45793</c:v>
                </c:pt>
                <c:pt idx="803">
                  <c:v>45800</c:v>
                </c:pt>
                <c:pt idx="804">
                  <c:v>45807</c:v>
                </c:pt>
                <c:pt idx="805">
                  <c:v>45814</c:v>
                </c:pt>
                <c:pt idx="806">
                  <c:v>45821</c:v>
                </c:pt>
                <c:pt idx="807">
                  <c:v>45828</c:v>
                </c:pt>
                <c:pt idx="808">
                  <c:v>45835</c:v>
                </c:pt>
                <c:pt idx="809">
                  <c:v>45842</c:v>
                </c:pt>
                <c:pt idx="810">
                  <c:v>45849</c:v>
                </c:pt>
                <c:pt idx="811">
                  <c:v>45856</c:v>
                </c:pt>
                <c:pt idx="812">
                  <c:v>45863</c:v>
                </c:pt>
                <c:pt idx="813">
                  <c:v>45870</c:v>
                </c:pt>
                <c:pt idx="814">
                  <c:v>45877</c:v>
                </c:pt>
                <c:pt idx="815">
                  <c:v>45884</c:v>
                </c:pt>
                <c:pt idx="816">
                  <c:v>45891</c:v>
                </c:pt>
                <c:pt idx="817">
                  <c:v>45898</c:v>
                </c:pt>
                <c:pt idx="818">
                  <c:v>45905</c:v>
                </c:pt>
                <c:pt idx="819">
                  <c:v>45912</c:v>
                </c:pt>
                <c:pt idx="820">
                  <c:v>45919</c:v>
                </c:pt>
                <c:pt idx="821">
                  <c:v>45926</c:v>
                </c:pt>
                <c:pt idx="822">
                  <c:v>45933</c:v>
                </c:pt>
                <c:pt idx="823">
                  <c:v>45940</c:v>
                </c:pt>
                <c:pt idx="824">
                  <c:v>45947</c:v>
                </c:pt>
                <c:pt idx="825">
                  <c:v>45954</c:v>
                </c:pt>
                <c:pt idx="826">
                  <c:v>45961</c:v>
                </c:pt>
                <c:pt idx="827">
                  <c:v>45968</c:v>
                </c:pt>
                <c:pt idx="828">
                  <c:v>45975</c:v>
                </c:pt>
                <c:pt idx="829">
                  <c:v>45982</c:v>
                </c:pt>
                <c:pt idx="830">
                  <c:v>45989</c:v>
                </c:pt>
                <c:pt idx="831">
                  <c:v>45996</c:v>
                </c:pt>
                <c:pt idx="832">
                  <c:v>46003</c:v>
                </c:pt>
                <c:pt idx="833">
                  <c:v>46010</c:v>
                </c:pt>
                <c:pt idx="834">
                  <c:v>46017</c:v>
                </c:pt>
                <c:pt idx="835">
                  <c:v>46024</c:v>
                </c:pt>
                <c:pt idx="836">
                  <c:v>46031</c:v>
                </c:pt>
                <c:pt idx="837">
                  <c:v>46038</c:v>
                </c:pt>
                <c:pt idx="838">
                  <c:v>46045</c:v>
                </c:pt>
                <c:pt idx="839">
                  <c:v>46052</c:v>
                </c:pt>
                <c:pt idx="840">
                  <c:v>46059</c:v>
                </c:pt>
                <c:pt idx="841">
                  <c:v>46066</c:v>
                </c:pt>
                <c:pt idx="842">
                  <c:v>46073</c:v>
                </c:pt>
                <c:pt idx="843">
                  <c:v>46080</c:v>
                </c:pt>
                <c:pt idx="844">
                  <c:v>46087</c:v>
                </c:pt>
                <c:pt idx="845">
                  <c:v>46094</c:v>
                </c:pt>
                <c:pt idx="846">
                  <c:v>46101</c:v>
                </c:pt>
                <c:pt idx="847">
                  <c:v>46108</c:v>
                </c:pt>
                <c:pt idx="848">
                  <c:v>46115</c:v>
                </c:pt>
                <c:pt idx="849">
                  <c:v>46122</c:v>
                </c:pt>
                <c:pt idx="850">
                  <c:v>46129</c:v>
                </c:pt>
                <c:pt idx="851">
                  <c:v>46136</c:v>
                </c:pt>
                <c:pt idx="852">
                  <c:v>46143</c:v>
                </c:pt>
                <c:pt idx="853">
                  <c:v>46150</c:v>
                </c:pt>
                <c:pt idx="854">
                  <c:v>46157</c:v>
                </c:pt>
                <c:pt idx="855">
                  <c:v>46164</c:v>
                </c:pt>
                <c:pt idx="856">
                  <c:v>46171</c:v>
                </c:pt>
                <c:pt idx="857">
                  <c:v>46178</c:v>
                </c:pt>
                <c:pt idx="858">
                  <c:v>46185</c:v>
                </c:pt>
                <c:pt idx="859">
                  <c:v>46192</c:v>
                </c:pt>
                <c:pt idx="860">
                  <c:v>46199</c:v>
                </c:pt>
                <c:pt idx="861">
                  <c:v>46206</c:v>
                </c:pt>
                <c:pt idx="862">
                  <c:v>46213</c:v>
                </c:pt>
                <c:pt idx="863">
                  <c:v>46220</c:v>
                </c:pt>
                <c:pt idx="864">
                  <c:v>46227</c:v>
                </c:pt>
                <c:pt idx="865">
                  <c:v>46234</c:v>
                </c:pt>
                <c:pt idx="866">
                  <c:v>46241</c:v>
                </c:pt>
                <c:pt idx="867">
                  <c:v>46248</c:v>
                </c:pt>
                <c:pt idx="868">
                  <c:v>46255</c:v>
                </c:pt>
                <c:pt idx="869">
                  <c:v>46262</c:v>
                </c:pt>
                <c:pt idx="870">
                  <c:v>46269</c:v>
                </c:pt>
                <c:pt idx="871">
                  <c:v>46276</c:v>
                </c:pt>
                <c:pt idx="872">
                  <c:v>46283</c:v>
                </c:pt>
                <c:pt idx="873">
                  <c:v>46290</c:v>
                </c:pt>
                <c:pt idx="874">
                  <c:v>46297</c:v>
                </c:pt>
              </c:numCache>
            </c:numRef>
          </c:xVal>
          <c:yVal>
            <c:numRef>
              <c:f>Sheet1!$B$2:$B$876</c:f>
              <c:numCache>
                <c:formatCode>General</c:formatCode>
                <c:ptCount val="875"/>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pt idx="209">
                  <c:v>22.3</c:v>
                </c:pt>
                <c:pt idx="210">
                  <c:v>25.8</c:v>
                </c:pt>
                <c:pt idx="211">
                  <c:v>23.5</c:v>
                </c:pt>
                <c:pt idx="212">
                  <c:v>24.3</c:v>
                </c:pt>
                <c:pt idx="213">
                  <c:v>24.4</c:v>
                </c:pt>
                <c:pt idx="214">
                  <c:v>23.5</c:v>
                </c:pt>
                <c:pt idx="215">
                  <c:v>23.1</c:v>
                </c:pt>
                <c:pt idx="216">
                  <c:v>22.45</c:v>
                </c:pt>
                <c:pt idx="217">
                  <c:v>23.7</c:v>
                </c:pt>
                <c:pt idx="218">
                  <c:v>21.6</c:v>
                </c:pt>
                <c:pt idx="219">
                  <c:v>21.3</c:v>
                </c:pt>
                <c:pt idx="220">
                  <c:v>22.6</c:v>
                </c:pt>
                <c:pt idx="221">
                  <c:v>22.4</c:v>
                </c:pt>
                <c:pt idx="222">
                  <c:v>22.9</c:v>
                </c:pt>
                <c:pt idx="223">
                  <c:v>22.8</c:v>
                </c:pt>
                <c:pt idx="224">
                  <c:v>22.18</c:v>
                </c:pt>
                <c:pt idx="225">
                  <c:v>23.35</c:v>
                </c:pt>
                <c:pt idx="226">
                  <c:v>22.32</c:v>
                </c:pt>
                <c:pt idx="227">
                  <c:v>23.2</c:v>
                </c:pt>
                <c:pt idx="228">
                  <c:v>24.08</c:v>
                </c:pt>
                <c:pt idx="229">
                  <c:v>24.9</c:v>
                </c:pt>
                <c:pt idx="230">
                  <c:v>24.7</c:v>
                </c:pt>
                <c:pt idx="231">
                  <c:v>25.17</c:v>
                </c:pt>
                <c:pt idx="232">
                  <c:v>27.1</c:v>
                </c:pt>
                <c:pt idx="233">
                  <c:v>26.1</c:v>
                </c:pt>
                <c:pt idx="234">
                  <c:v>25.4</c:v>
                </c:pt>
                <c:pt idx="235">
                  <c:v>26.3</c:v>
                </c:pt>
                <c:pt idx="236">
                  <c:v>26.8</c:v>
                </c:pt>
                <c:pt idx="237">
                  <c:v>28.1</c:v>
                </c:pt>
                <c:pt idx="238">
                  <c:v>28.9</c:v>
                </c:pt>
                <c:pt idx="239">
                  <c:v>28.4</c:v>
                </c:pt>
                <c:pt idx="240">
                  <c:v>28.7</c:v>
                </c:pt>
                <c:pt idx="241">
                  <c:v>27.65</c:v>
                </c:pt>
                <c:pt idx="242">
                  <c:v>26.9</c:v>
                </c:pt>
                <c:pt idx="243">
                  <c:v>24.9</c:v>
                </c:pt>
                <c:pt idx="244">
                  <c:v>24.6</c:v>
                </c:pt>
                <c:pt idx="245">
                  <c:v>23.3</c:v>
                </c:pt>
                <c:pt idx="246">
                  <c:v>21.4</c:v>
                </c:pt>
                <c:pt idx="247">
                  <c:v>21.1</c:v>
                </c:pt>
                <c:pt idx="248">
                  <c:v>21</c:v>
                </c:pt>
                <c:pt idx="249">
                  <c:v>21.3</c:v>
                </c:pt>
                <c:pt idx="250">
                  <c:v>22.5</c:v>
                </c:pt>
                <c:pt idx="251">
                  <c:v>21.9</c:v>
                </c:pt>
                <c:pt idx="252">
                  <c:v>20.6</c:v>
                </c:pt>
                <c:pt idx="253">
                  <c:v>19.8</c:v>
                </c:pt>
                <c:pt idx="254">
                  <c:v>19.350000000000001</c:v>
                </c:pt>
                <c:pt idx="255">
                  <c:v>18.850000000000001</c:v>
                </c:pt>
                <c:pt idx="256">
                  <c:v>19.2</c:v>
                </c:pt>
                <c:pt idx="257">
                  <c:v>18.850000000000001</c:v>
                </c:pt>
                <c:pt idx="258">
                  <c:v>19.5</c:v>
                </c:pt>
                <c:pt idx="259">
                  <c:v>20.100000000000001</c:v>
                </c:pt>
                <c:pt idx="260">
                  <c:v>19.3</c:v>
                </c:pt>
                <c:pt idx="261">
                  <c:v>19.5</c:v>
                </c:pt>
                <c:pt idx="262">
                  <c:v>24.4</c:v>
                </c:pt>
                <c:pt idx="263">
                  <c:v>25.7</c:v>
                </c:pt>
                <c:pt idx="264">
                  <c:v>24.3</c:v>
                </c:pt>
                <c:pt idx="265">
                  <c:v>24.6</c:v>
                </c:pt>
                <c:pt idx="266">
                  <c:v>25.8</c:v>
                </c:pt>
                <c:pt idx="267">
                  <c:v>24.4</c:v>
                </c:pt>
                <c:pt idx="268">
                  <c:v>25.6</c:v>
                </c:pt>
                <c:pt idx="269">
                  <c:v>22.8</c:v>
                </c:pt>
                <c:pt idx="270">
                  <c:v>23.5</c:v>
                </c:pt>
                <c:pt idx="271">
                  <c:v>23.95</c:v>
                </c:pt>
                <c:pt idx="272">
                  <c:v>24.7</c:v>
                </c:pt>
                <c:pt idx="273">
                  <c:v>25.1</c:v>
                </c:pt>
                <c:pt idx="274">
                  <c:v>25.6</c:v>
                </c:pt>
                <c:pt idx="275">
                  <c:v>26.02</c:v>
                </c:pt>
                <c:pt idx="276">
                  <c:v>26.2</c:v>
                </c:pt>
                <c:pt idx="277">
                  <c:v>25.18</c:v>
                </c:pt>
                <c:pt idx="278">
                  <c:v>25.15</c:v>
                </c:pt>
                <c:pt idx="279">
                  <c:v>24.5</c:v>
                </c:pt>
                <c:pt idx="280">
                  <c:v>24.7</c:v>
                </c:pt>
                <c:pt idx="281">
                  <c:v>25.3</c:v>
                </c:pt>
                <c:pt idx="282">
                  <c:v>25.5</c:v>
                </c:pt>
                <c:pt idx="283">
                  <c:v>25.6</c:v>
                </c:pt>
                <c:pt idx="284">
                  <c:v>26</c:v>
                </c:pt>
                <c:pt idx="285">
                  <c:v>24.8</c:v>
                </c:pt>
                <c:pt idx="286">
                  <c:v>23.8</c:v>
                </c:pt>
                <c:pt idx="287">
                  <c:v>24.2</c:v>
                </c:pt>
                <c:pt idx="288">
                  <c:v>24.08</c:v>
                </c:pt>
                <c:pt idx="289">
                  <c:v>23.5</c:v>
                </c:pt>
                <c:pt idx="290">
                  <c:v>24.7</c:v>
                </c:pt>
                <c:pt idx="291">
                  <c:v>26.05</c:v>
                </c:pt>
                <c:pt idx="292">
                  <c:v>25.55</c:v>
                </c:pt>
                <c:pt idx="293">
                  <c:v>25.1</c:v>
                </c:pt>
                <c:pt idx="294">
                  <c:v>24.2</c:v>
                </c:pt>
                <c:pt idx="295">
                  <c:v>24.45</c:v>
                </c:pt>
                <c:pt idx="296">
                  <c:v>22.7</c:v>
                </c:pt>
                <c:pt idx="297">
                  <c:v>22.8</c:v>
                </c:pt>
                <c:pt idx="298">
                  <c:v>23.1</c:v>
                </c:pt>
                <c:pt idx="299">
                  <c:v>22.7</c:v>
                </c:pt>
                <c:pt idx="300">
                  <c:v>21.5</c:v>
                </c:pt>
                <c:pt idx="301">
                  <c:v>22.2</c:v>
                </c:pt>
                <c:pt idx="302">
                  <c:v>21.7</c:v>
                </c:pt>
                <c:pt idx="303">
                  <c:v>22.9</c:v>
                </c:pt>
                <c:pt idx="304">
                  <c:v>23.3</c:v>
                </c:pt>
                <c:pt idx="305">
                  <c:v>22.8</c:v>
                </c:pt>
                <c:pt idx="306">
                  <c:v>22.6</c:v>
                </c:pt>
                <c:pt idx="307">
                  <c:v>23.15</c:v>
                </c:pt>
                <c:pt idx="308">
                  <c:v>25.6</c:v>
                </c:pt>
                <c:pt idx="309">
                  <c:v>22.6</c:v>
                </c:pt>
                <c:pt idx="310">
                  <c:v>23.8</c:v>
                </c:pt>
                <c:pt idx="311">
                  <c:v>30.6</c:v>
                </c:pt>
                <c:pt idx="312">
                  <c:v>34.520000000000003</c:v>
                </c:pt>
                <c:pt idx="313">
                  <c:v>33.1</c:v>
                </c:pt>
                <c:pt idx="314">
                  <c:v>30.1</c:v>
                </c:pt>
                <c:pt idx="315">
                  <c:v>28.3</c:v>
                </c:pt>
                <c:pt idx="316">
                  <c:v>25.9</c:v>
                </c:pt>
                <c:pt idx="317">
                  <c:v>24.8</c:v>
                </c:pt>
                <c:pt idx="318">
                  <c:v>24.4</c:v>
                </c:pt>
                <c:pt idx="319">
                  <c:v>26</c:v>
                </c:pt>
                <c:pt idx="320">
                  <c:v>23.5</c:v>
                </c:pt>
                <c:pt idx="321">
                  <c:v>25.3</c:v>
                </c:pt>
                <c:pt idx="322">
                  <c:v>28</c:v>
                </c:pt>
                <c:pt idx="323">
                  <c:v>27.1</c:v>
                </c:pt>
                <c:pt idx="324">
                  <c:v>28.2</c:v>
                </c:pt>
                <c:pt idx="325">
                  <c:v>27.4</c:v>
                </c:pt>
                <c:pt idx="326">
                  <c:v>27.93</c:v>
                </c:pt>
                <c:pt idx="327">
                  <c:v>28.7</c:v>
                </c:pt>
                <c:pt idx="328">
                  <c:v>31.8</c:v>
                </c:pt>
                <c:pt idx="329">
                  <c:v>31</c:v>
                </c:pt>
                <c:pt idx="330">
                  <c:v>33.5</c:v>
                </c:pt>
                <c:pt idx="331">
                  <c:v>32.299999999999997</c:v>
                </c:pt>
                <c:pt idx="332">
                  <c:v>34.020000000000003</c:v>
                </c:pt>
                <c:pt idx="333">
                  <c:v>34.1</c:v>
                </c:pt>
                <c:pt idx="334">
                  <c:v>33.700000000000003</c:v>
                </c:pt>
                <c:pt idx="335">
                  <c:v>33.799999999999997</c:v>
                </c:pt>
                <c:pt idx="336">
                  <c:v>33.9</c:v>
                </c:pt>
                <c:pt idx="337">
                  <c:v>32.729999999999997</c:v>
                </c:pt>
                <c:pt idx="338">
                  <c:v>35.200000000000003</c:v>
                </c:pt>
                <c:pt idx="339">
                  <c:v>35</c:v>
                </c:pt>
                <c:pt idx="340">
                  <c:v>35.1</c:v>
                </c:pt>
                <c:pt idx="341">
                  <c:v>35.9</c:v>
                </c:pt>
                <c:pt idx="342">
                  <c:v>35.93</c:v>
                </c:pt>
                <c:pt idx="343">
                  <c:v>37.1</c:v>
                </c:pt>
                <c:pt idx="344">
                  <c:v>37.200000000000003</c:v>
                </c:pt>
                <c:pt idx="345">
                  <c:v>37.65</c:v>
                </c:pt>
                <c:pt idx="346">
                  <c:v>39.200000000000003</c:v>
                </c:pt>
                <c:pt idx="347">
                  <c:v>38.9</c:v>
                </c:pt>
                <c:pt idx="348">
                  <c:v>37.9</c:v>
                </c:pt>
                <c:pt idx="349">
                  <c:v>36</c:v>
                </c:pt>
                <c:pt idx="350">
                  <c:v>36.4</c:v>
                </c:pt>
                <c:pt idx="351">
                  <c:v>37.1</c:v>
                </c:pt>
                <c:pt idx="352">
                  <c:v>43.5</c:v>
                </c:pt>
                <c:pt idx="353">
                  <c:v>42.6</c:v>
                </c:pt>
                <c:pt idx="354">
                  <c:v>41.7</c:v>
                </c:pt>
                <c:pt idx="355">
                  <c:v>42.6</c:v>
                </c:pt>
                <c:pt idx="356">
                  <c:v>44.3</c:v>
                </c:pt>
                <c:pt idx="357">
                  <c:v>47.25</c:v>
                </c:pt>
                <c:pt idx="358">
                  <c:v>50.6</c:v>
                </c:pt>
                <c:pt idx="359">
                  <c:v>44.9</c:v>
                </c:pt>
                <c:pt idx="360">
                  <c:v>47.7</c:v>
                </c:pt>
                <c:pt idx="361">
                  <c:v>47.8</c:v>
                </c:pt>
                <c:pt idx="362">
                  <c:v>47.2</c:v>
                </c:pt>
                <c:pt idx="363">
                  <c:v>58.8</c:v>
                </c:pt>
                <c:pt idx="364">
                  <c:v>59.5</c:v>
                </c:pt>
                <c:pt idx="365">
                  <c:v>54.2</c:v>
                </c:pt>
                <c:pt idx="366">
                  <c:v>42.8</c:v>
                </c:pt>
                <c:pt idx="367">
                  <c:v>34.9</c:v>
                </c:pt>
                <c:pt idx="368">
                  <c:v>30.3</c:v>
                </c:pt>
                <c:pt idx="369">
                  <c:v>30.5</c:v>
                </c:pt>
                <c:pt idx="370">
                  <c:v>34.299999999999997</c:v>
                </c:pt>
                <c:pt idx="371">
                  <c:v>39</c:v>
                </c:pt>
                <c:pt idx="372">
                  <c:v>37.700000000000003</c:v>
                </c:pt>
                <c:pt idx="373">
                  <c:v>33.4</c:v>
                </c:pt>
                <c:pt idx="374">
                  <c:v>35.049999999999997</c:v>
                </c:pt>
                <c:pt idx="375">
                  <c:v>42.5</c:v>
                </c:pt>
                <c:pt idx="376">
                  <c:v>37.4</c:v>
                </c:pt>
                <c:pt idx="377">
                  <c:v>35.93</c:v>
                </c:pt>
                <c:pt idx="378">
                  <c:v>30.28</c:v>
                </c:pt>
                <c:pt idx="379">
                  <c:v>31.8</c:v>
                </c:pt>
                <c:pt idx="380">
                  <c:v>26.35</c:v>
                </c:pt>
                <c:pt idx="381">
                  <c:v>26.8</c:v>
                </c:pt>
                <c:pt idx="382">
                  <c:v>31.5</c:v>
                </c:pt>
                <c:pt idx="383">
                  <c:v>33.4</c:v>
                </c:pt>
                <c:pt idx="384">
                  <c:v>31.8</c:v>
                </c:pt>
                <c:pt idx="385">
                  <c:v>31.8</c:v>
                </c:pt>
                <c:pt idx="386">
                  <c:v>32.200000000000003</c:v>
                </c:pt>
                <c:pt idx="387">
                  <c:v>32.630000000000003</c:v>
                </c:pt>
                <c:pt idx="388">
                  <c:v>35.659999999999997</c:v>
                </c:pt>
                <c:pt idx="389">
                  <c:v>34.200000000000003</c:v>
                </c:pt>
                <c:pt idx="390">
                  <c:v>36</c:v>
                </c:pt>
                <c:pt idx="391">
                  <c:v>33.049999999999997</c:v>
                </c:pt>
                <c:pt idx="392">
                  <c:v>31.86</c:v>
                </c:pt>
                <c:pt idx="393">
                  <c:v>31.5</c:v>
                </c:pt>
                <c:pt idx="394">
                  <c:v>27.8</c:v>
                </c:pt>
                <c:pt idx="395">
                  <c:v>30.55</c:v>
                </c:pt>
                <c:pt idx="396">
                  <c:v>31.4</c:v>
                </c:pt>
                <c:pt idx="397">
                  <c:v>29.7</c:v>
                </c:pt>
                <c:pt idx="398">
                  <c:v>31.6</c:v>
                </c:pt>
                <c:pt idx="399">
                  <c:v>30.5</c:v>
                </c:pt>
                <c:pt idx="400">
                  <c:v>31.5</c:v>
                </c:pt>
                <c:pt idx="401">
                  <c:v>31.8</c:v>
                </c:pt>
                <c:pt idx="402">
                  <c:v>32.18</c:v>
                </c:pt>
                <c:pt idx="403">
                  <c:v>32.700000000000003</c:v>
                </c:pt>
                <c:pt idx="404">
                  <c:v>32.85</c:v>
                </c:pt>
                <c:pt idx="405">
                  <c:v>33.5</c:v>
                </c:pt>
                <c:pt idx="406">
                  <c:v>35.1</c:v>
                </c:pt>
                <c:pt idx="407">
                  <c:v>32.840000000000003</c:v>
                </c:pt>
                <c:pt idx="408">
                  <c:v>33.299999999999997</c:v>
                </c:pt>
                <c:pt idx="409">
                  <c:v>35.299999999999997</c:v>
                </c:pt>
                <c:pt idx="410">
                  <c:v>38.1</c:v>
                </c:pt>
                <c:pt idx="411">
                  <c:v>37.630000000000003</c:v>
                </c:pt>
                <c:pt idx="412">
                  <c:v>36.700000000000003</c:v>
                </c:pt>
                <c:pt idx="413">
                  <c:v>38.520000000000003</c:v>
                </c:pt>
                <c:pt idx="414">
                  <c:v>38.18</c:v>
                </c:pt>
                <c:pt idx="415">
                  <c:v>39.950000000000003</c:v>
                </c:pt>
                <c:pt idx="416">
                  <c:v>40.799999999999997</c:v>
                </c:pt>
                <c:pt idx="417">
                  <c:v>38.28</c:v>
                </c:pt>
                <c:pt idx="418">
                  <c:v>33.450000000000003</c:v>
                </c:pt>
                <c:pt idx="419">
                  <c:v>27.55</c:v>
                </c:pt>
                <c:pt idx="420">
                  <c:v>29.2</c:v>
                </c:pt>
                <c:pt idx="421">
                  <c:v>31.1</c:v>
                </c:pt>
                <c:pt idx="422">
                  <c:v>30.55</c:v>
                </c:pt>
                <c:pt idx="423">
                  <c:v>30.1</c:v>
                </c:pt>
                <c:pt idx="424">
                  <c:v>31.12</c:v>
                </c:pt>
                <c:pt idx="425">
                  <c:v>31.55</c:v>
                </c:pt>
                <c:pt idx="426">
                  <c:v>33.03</c:v>
                </c:pt>
                <c:pt idx="427">
                  <c:v>32.4</c:v>
                </c:pt>
                <c:pt idx="428">
                  <c:v>32</c:v>
                </c:pt>
                <c:pt idx="429">
                  <c:v>30.9</c:v>
                </c:pt>
                <c:pt idx="430">
                  <c:v>31.16</c:v>
                </c:pt>
                <c:pt idx="431">
                  <c:v>32.1</c:v>
                </c:pt>
                <c:pt idx="432">
                  <c:v>29.45</c:v>
                </c:pt>
                <c:pt idx="433">
                  <c:v>29.05</c:v>
                </c:pt>
                <c:pt idx="434">
                  <c:v>30</c:v>
                </c:pt>
                <c:pt idx="435">
                  <c:v>30.35</c:v>
                </c:pt>
                <c:pt idx="436">
                  <c:v>31</c:v>
                </c:pt>
                <c:pt idx="437">
                  <c:v>30.47</c:v>
                </c:pt>
                <c:pt idx="438">
                  <c:v>33.79</c:v>
                </c:pt>
                <c:pt idx="439">
                  <c:v>30.7</c:v>
                </c:pt>
                <c:pt idx="440">
                  <c:v>35.4</c:v>
                </c:pt>
                <c:pt idx="441">
                  <c:v>34.1</c:v>
                </c:pt>
                <c:pt idx="442">
                  <c:v>36.01</c:v>
                </c:pt>
                <c:pt idx="443">
                  <c:v>30.72</c:v>
                </c:pt>
                <c:pt idx="444">
                  <c:v>31.27</c:v>
                </c:pt>
                <c:pt idx="445">
                  <c:v>29.9</c:v>
                </c:pt>
                <c:pt idx="446">
                  <c:v>30.05</c:v>
                </c:pt>
                <c:pt idx="447">
                  <c:v>29.25</c:v>
                </c:pt>
                <c:pt idx="448">
                  <c:v>30.1</c:v>
                </c:pt>
                <c:pt idx="449">
                  <c:v>31.7</c:v>
                </c:pt>
                <c:pt idx="450">
                  <c:v>31.34</c:v>
                </c:pt>
                <c:pt idx="451">
                  <c:v>28.91</c:v>
                </c:pt>
                <c:pt idx="452">
                  <c:v>30.32</c:v>
                </c:pt>
                <c:pt idx="453">
                  <c:v>30.15</c:v>
                </c:pt>
                <c:pt idx="454">
                  <c:v>30.44</c:v>
                </c:pt>
                <c:pt idx="455">
                  <c:v>29.5</c:v>
                </c:pt>
                <c:pt idx="456">
                  <c:v>29.77</c:v>
                </c:pt>
                <c:pt idx="457">
                  <c:v>31.61</c:v>
                </c:pt>
                <c:pt idx="458">
                  <c:v>37.799999999999997</c:v>
                </c:pt>
                <c:pt idx="459">
                  <c:v>40.08</c:v>
                </c:pt>
                <c:pt idx="460">
                  <c:v>38.6</c:v>
                </c:pt>
                <c:pt idx="461">
                  <c:v>38.06</c:v>
                </c:pt>
                <c:pt idx="462">
                  <c:v>36.700000000000003</c:v>
                </c:pt>
                <c:pt idx="463">
                  <c:v>33.799999999999997</c:v>
                </c:pt>
                <c:pt idx="464">
                  <c:v>32.700000000000003</c:v>
                </c:pt>
                <c:pt idx="465">
                  <c:v>33.5</c:v>
                </c:pt>
                <c:pt idx="466">
                  <c:v>35.909999999999997</c:v>
                </c:pt>
                <c:pt idx="467">
                  <c:v>40.340000000000003</c:v>
                </c:pt>
                <c:pt idx="468">
                  <c:v>42.35</c:v>
                </c:pt>
                <c:pt idx="469">
                  <c:v>39.299999999999997</c:v>
                </c:pt>
                <c:pt idx="470">
                  <c:v>34.270000000000003</c:v>
                </c:pt>
                <c:pt idx="471">
                  <c:v>33.82</c:v>
                </c:pt>
                <c:pt idx="472">
                  <c:v>32.74</c:v>
                </c:pt>
                <c:pt idx="473">
                  <c:v>31.5</c:v>
                </c:pt>
                <c:pt idx="474">
                  <c:v>31.4</c:v>
                </c:pt>
                <c:pt idx="475">
                  <c:v>28.1</c:v>
                </c:pt>
                <c:pt idx="476">
                  <c:v>28.35</c:v>
                </c:pt>
                <c:pt idx="477">
                  <c:v>29.3</c:v>
                </c:pt>
                <c:pt idx="478">
                  <c:v>29.9</c:v>
                </c:pt>
                <c:pt idx="479">
                  <c:v>28.55</c:v>
                </c:pt>
                <c:pt idx="480">
                  <c:v>29.35</c:v>
                </c:pt>
                <c:pt idx="481">
                  <c:v>30.65</c:v>
                </c:pt>
                <c:pt idx="482">
                  <c:v>30.83</c:v>
                </c:pt>
                <c:pt idx="483">
                  <c:v>28.2</c:v>
                </c:pt>
                <c:pt idx="484">
                  <c:v>29.05</c:v>
                </c:pt>
                <c:pt idx="485">
                  <c:v>28.8</c:v>
                </c:pt>
                <c:pt idx="486">
                  <c:v>30.81</c:v>
                </c:pt>
                <c:pt idx="487">
                  <c:v>30.9</c:v>
                </c:pt>
                <c:pt idx="488">
                  <c:v>33.549999999999997</c:v>
                </c:pt>
                <c:pt idx="489">
                  <c:v>30.13</c:v>
                </c:pt>
                <c:pt idx="490">
                  <c:v>29.64</c:v>
                </c:pt>
                <c:pt idx="491">
                  <c:v>29.56</c:v>
                </c:pt>
                <c:pt idx="492">
                  <c:v>27.65</c:v>
                </c:pt>
                <c:pt idx="493">
                  <c:v>26.95</c:v>
                </c:pt>
                <c:pt idx="494">
                  <c:v>24.12</c:v>
                </c:pt>
                <c:pt idx="495">
                  <c:v>25.2</c:v>
                </c:pt>
                <c:pt idx="496">
                  <c:v>24.25</c:v>
                </c:pt>
                <c:pt idx="497">
                  <c:v>23.03</c:v>
                </c:pt>
                <c:pt idx="498">
                  <c:v>23.53</c:v>
                </c:pt>
                <c:pt idx="499">
                  <c:v>23.4</c:v>
                </c:pt>
                <c:pt idx="500">
                  <c:v>21.41</c:v>
                </c:pt>
                <c:pt idx="501">
                  <c:v>19.7</c:v>
                </c:pt>
                <c:pt idx="502">
                  <c:v>22.8</c:v>
                </c:pt>
                <c:pt idx="503">
                  <c:v>24.3</c:v>
                </c:pt>
                <c:pt idx="504">
                  <c:v>24.6</c:v>
                </c:pt>
                <c:pt idx="505">
                  <c:v>24.45</c:v>
                </c:pt>
                <c:pt idx="506">
                  <c:v>22.6</c:v>
                </c:pt>
                <c:pt idx="507">
                  <c:v>20.75</c:v>
                </c:pt>
                <c:pt idx="508">
                  <c:v>20.05</c:v>
                </c:pt>
                <c:pt idx="509">
                  <c:v>19.149999999999999</c:v>
                </c:pt>
                <c:pt idx="510">
                  <c:v>21.15</c:v>
                </c:pt>
                <c:pt idx="511">
                  <c:v>22.27</c:v>
                </c:pt>
                <c:pt idx="512">
                  <c:v>26.8</c:v>
                </c:pt>
                <c:pt idx="513">
                  <c:v>25.6</c:v>
                </c:pt>
                <c:pt idx="514">
                  <c:v>26</c:v>
                </c:pt>
                <c:pt idx="515">
                  <c:v>24.64</c:v>
                </c:pt>
                <c:pt idx="516">
                  <c:v>22.4</c:v>
                </c:pt>
                <c:pt idx="517">
                  <c:v>22.75</c:v>
                </c:pt>
                <c:pt idx="518">
                  <c:v>25.95</c:v>
                </c:pt>
                <c:pt idx="519">
                  <c:v>25.22</c:v>
                </c:pt>
                <c:pt idx="520">
                  <c:v>28.25</c:v>
                </c:pt>
                <c:pt idx="521">
                  <c:v>27.73</c:v>
                </c:pt>
                <c:pt idx="522">
                  <c:v>28.39</c:v>
                </c:pt>
                <c:pt idx="523">
                  <c:v>25.2</c:v>
                </c:pt>
                <c:pt idx="524">
                  <c:v>24.55</c:v>
                </c:pt>
                <c:pt idx="525">
                  <c:v>23.6</c:v>
                </c:pt>
                <c:pt idx="526">
                  <c:v>22.29</c:v>
                </c:pt>
                <c:pt idx="527">
                  <c:v>22.4</c:v>
                </c:pt>
                <c:pt idx="528">
                  <c:v>21.05</c:v>
                </c:pt>
                <c:pt idx="529">
                  <c:v>20.440000000000001</c:v>
                </c:pt>
                <c:pt idx="530">
                  <c:v>19.899999999999999</c:v>
                </c:pt>
                <c:pt idx="531">
                  <c:v>21.95</c:v>
                </c:pt>
                <c:pt idx="532">
                  <c:v>28.95</c:v>
                </c:pt>
                <c:pt idx="533">
                  <c:v>23.33</c:v>
                </c:pt>
                <c:pt idx="534">
                  <c:v>19.43</c:v>
                </c:pt>
                <c:pt idx="535">
                  <c:v>19.32</c:v>
                </c:pt>
                <c:pt idx="536">
                  <c:v>22.3</c:v>
                </c:pt>
                <c:pt idx="537">
                  <c:v>17.05</c:v>
                </c:pt>
                <c:pt idx="538">
                  <c:v>21.65</c:v>
                </c:pt>
                <c:pt idx="539">
                  <c:v>20.6</c:v>
                </c:pt>
                <c:pt idx="540">
                  <c:v>23.91</c:v>
                </c:pt>
                <c:pt idx="541">
                  <c:v>26.61</c:v>
                </c:pt>
                <c:pt idx="542">
                  <c:v>29.6</c:v>
                </c:pt>
                <c:pt idx="543">
                  <c:v>26.4</c:v>
                </c:pt>
                <c:pt idx="544">
                  <c:v>22.05</c:v>
                </c:pt>
                <c:pt idx="545">
                  <c:v>20.5</c:v>
                </c:pt>
                <c:pt idx="546">
                  <c:v>21.75</c:v>
                </c:pt>
                <c:pt idx="547">
                  <c:v>18.3</c:v>
                </c:pt>
                <c:pt idx="548">
                  <c:v>17.8</c:v>
                </c:pt>
                <c:pt idx="549">
                  <c:v>19.55</c:v>
                </c:pt>
                <c:pt idx="550">
                  <c:v>19.7</c:v>
                </c:pt>
                <c:pt idx="551">
                  <c:v>17.579999999999998</c:v>
                </c:pt>
                <c:pt idx="552">
                  <c:v>14.4</c:v>
                </c:pt>
                <c:pt idx="553">
                  <c:v>14.16</c:v>
                </c:pt>
                <c:pt idx="554">
                  <c:v>13.76</c:v>
                </c:pt>
                <c:pt idx="555">
                  <c:v>12.39</c:v>
                </c:pt>
                <c:pt idx="556">
                  <c:v>11.76</c:v>
                </c:pt>
                <c:pt idx="557">
                  <c:v>10.44</c:v>
                </c:pt>
                <c:pt idx="558">
                  <c:v>10.55</c:v>
                </c:pt>
                <c:pt idx="559">
                  <c:v>9.6</c:v>
                </c:pt>
                <c:pt idx="560">
                  <c:v>11.59</c:v>
                </c:pt>
                <c:pt idx="561">
                  <c:v>11.45</c:v>
                </c:pt>
                <c:pt idx="562">
                  <c:v>12.55</c:v>
                </c:pt>
                <c:pt idx="563">
                  <c:v>12.3</c:v>
                </c:pt>
                <c:pt idx="564">
                  <c:v>13.21</c:v>
                </c:pt>
                <c:pt idx="565">
                  <c:v>11.12</c:v>
                </c:pt>
                <c:pt idx="566">
                  <c:v>10.9</c:v>
                </c:pt>
                <c:pt idx="567">
                  <c:v>10.62</c:v>
                </c:pt>
                <c:pt idx="568">
                  <c:v>9.25</c:v>
                </c:pt>
                <c:pt idx="569">
                  <c:v>11.69</c:v>
                </c:pt>
                <c:pt idx="570">
                  <c:v>15.95</c:v>
                </c:pt>
                <c:pt idx="571">
                  <c:v>14.94</c:v>
                </c:pt>
                <c:pt idx="572">
                  <c:v>14.48</c:v>
                </c:pt>
                <c:pt idx="573">
                  <c:v>14.71</c:v>
                </c:pt>
                <c:pt idx="574">
                  <c:v>14</c:v>
                </c:pt>
                <c:pt idx="575">
                  <c:v>8.92</c:v>
                </c:pt>
                <c:pt idx="576">
                  <c:v>8.33</c:v>
                </c:pt>
                <c:pt idx="577">
                  <c:v>8.6</c:v>
                </c:pt>
                <c:pt idx="578">
                  <c:v>8.6999999999999993</c:v>
                </c:pt>
                <c:pt idx="579">
                  <c:v>11.93</c:v>
                </c:pt>
                <c:pt idx="580">
                  <c:v>11.44</c:v>
                </c:pt>
                <c:pt idx="581">
                  <c:v>10.18</c:v>
                </c:pt>
                <c:pt idx="582">
                  <c:v>9.8000000000000007</c:v>
                </c:pt>
                <c:pt idx="583">
                  <c:v>9.3800000000000008</c:v>
                </c:pt>
                <c:pt idx="584">
                  <c:v>8.92</c:v>
                </c:pt>
                <c:pt idx="585">
                  <c:v>9.6999999999999993</c:v>
                </c:pt>
                <c:pt idx="586">
                  <c:v>10.95</c:v>
                </c:pt>
                <c:pt idx="587">
                  <c:v>11.19</c:v>
                </c:pt>
                <c:pt idx="588">
                  <c:v>9.92</c:v>
                </c:pt>
                <c:pt idx="589">
                  <c:v>11.1</c:v>
                </c:pt>
                <c:pt idx="590">
                  <c:v>10.8</c:v>
                </c:pt>
                <c:pt idx="591">
                  <c:v>10.42</c:v>
                </c:pt>
                <c:pt idx="592">
                  <c:v>11.69</c:v>
                </c:pt>
                <c:pt idx="593">
                  <c:v>12.1</c:v>
                </c:pt>
                <c:pt idx="594">
                  <c:v>12.71</c:v>
                </c:pt>
                <c:pt idx="595">
                  <c:v>12.71</c:v>
                </c:pt>
                <c:pt idx="596">
                  <c:v>12.92</c:v>
                </c:pt>
                <c:pt idx="597">
                  <c:v>11.95</c:v>
                </c:pt>
                <c:pt idx="598">
                  <c:v>13.15</c:v>
                </c:pt>
                <c:pt idx="599">
                  <c:v>13.83</c:v>
                </c:pt>
                <c:pt idx="600">
                  <c:v>12.81</c:v>
                </c:pt>
                <c:pt idx="601">
                  <c:v>12.84</c:v>
                </c:pt>
                <c:pt idx="602">
                  <c:v>14.3</c:v>
                </c:pt>
                <c:pt idx="603">
                  <c:v>12.36</c:v>
                </c:pt>
                <c:pt idx="604">
                  <c:v>11.94</c:v>
                </c:pt>
                <c:pt idx="605">
                  <c:v>11.83</c:v>
                </c:pt>
                <c:pt idx="606">
                  <c:v>12.11</c:v>
                </c:pt>
                <c:pt idx="607">
                  <c:v>12.45</c:v>
                </c:pt>
                <c:pt idx="608">
                  <c:v>12.6</c:v>
                </c:pt>
                <c:pt idx="609">
                  <c:v>13.07</c:v>
                </c:pt>
                <c:pt idx="610">
                  <c:v>14.22</c:v>
                </c:pt>
                <c:pt idx="611">
                  <c:v>13.91</c:v>
                </c:pt>
                <c:pt idx="612">
                  <c:v>14.72</c:v>
                </c:pt>
                <c:pt idx="613">
                  <c:v>14.16</c:v>
                </c:pt>
                <c:pt idx="614">
                  <c:v>15.71</c:v>
                </c:pt>
                <c:pt idx="615">
                  <c:v>14</c:v>
                </c:pt>
                <c:pt idx="616">
                  <c:v>14.47</c:v>
                </c:pt>
                <c:pt idx="617">
                  <c:v>19.45</c:v>
                </c:pt>
                <c:pt idx="618">
                  <c:v>18.14</c:v>
                </c:pt>
                <c:pt idx="619">
                  <c:v>26.28</c:v>
                </c:pt>
                <c:pt idx="620">
                  <c:v>25.3</c:v>
                </c:pt>
                <c:pt idx="621">
                  <c:v>25.2</c:v>
                </c:pt>
                <c:pt idx="622">
                  <c:v>32.43</c:v>
                </c:pt>
                <c:pt idx="623">
                  <c:v>18.23</c:v>
                </c:pt>
                <c:pt idx="624">
                  <c:v>16.59</c:v>
                </c:pt>
                <c:pt idx="625">
                  <c:v>14.65</c:v>
                </c:pt>
                <c:pt idx="626">
                  <c:v>17.2</c:v>
                </c:pt>
                <c:pt idx="627">
                  <c:v>16.600000000000001</c:v>
                </c:pt>
                <c:pt idx="628">
                  <c:v>17.27</c:v>
                </c:pt>
                <c:pt idx="629">
                  <c:v>19.32</c:v>
                </c:pt>
                <c:pt idx="630">
                  <c:v>22.13</c:v>
                </c:pt>
                <c:pt idx="631">
                  <c:v>23.83</c:v>
                </c:pt>
                <c:pt idx="632">
                  <c:v>28.39</c:v>
                </c:pt>
                <c:pt idx="633">
                  <c:v>28</c:v>
                </c:pt>
                <c:pt idx="634">
                  <c:v>29.37</c:v>
                </c:pt>
                <c:pt idx="635">
                  <c:v>32.770000000000003</c:v>
                </c:pt>
                <c:pt idx="636">
                  <c:v>37.799999999999997</c:v>
                </c:pt>
                <c:pt idx="637">
                  <c:v>43.17</c:v>
                </c:pt>
                <c:pt idx="638">
                  <c:v>42.43</c:v>
                </c:pt>
                <c:pt idx="639">
                  <c:v>33.42</c:v>
                </c:pt>
                <c:pt idx="640">
                  <c:v>33.200000000000003</c:v>
                </c:pt>
                <c:pt idx="641">
                  <c:v>31.9</c:v>
                </c:pt>
                <c:pt idx="642">
                  <c:v>41.27</c:v>
                </c:pt>
                <c:pt idx="643">
                  <c:v>41</c:v>
                </c:pt>
                <c:pt idx="644">
                  <c:v>42.88</c:v>
                </c:pt>
                <c:pt idx="645">
                  <c:v>37.78</c:v>
                </c:pt>
                <c:pt idx="646">
                  <c:v>42.66</c:v>
                </c:pt>
                <c:pt idx="647">
                  <c:v>35.33</c:v>
                </c:pt>
                <c:pt idx="648">
                  <c:v>41.27</c:v>
                </c:pt>
                <c:pt idx="649">
                  <c:v>48.3</c:v>
                </c:pt>
                <c:pt idx="650">
                  <c:v>56.14</c:v>
                </c:pt>
                <c:pt idx="651">
                  <c:v>34.81</c:v>
                </c:pt>
                <c:pt idx="652">
                  <c:v>31.61</c:v>
                </c:pt>
                <c:pt idx="653">
                  <c:v>44.01</c:v>
                </c:pt>
                <c:pt idx="654">
                  <c:v>67.39</c:v>
                </c:pt>
                <c:pt idx="655">
                  <c:v>66.150000000000006</c:v>
                </c:pt>
                <c:pt idx="656">
                  <c:v>53</c:v>
                </c:pt>
                <c:pt idx="657">
                  <c:v>57.27</c:v>
                </c:pt>
                <c:pt idx="658">
                  <c:v>61.9</c:v>
                </c:pt>
                <c:pt idx="659">
                  <c:v>62.83</c:v>
                </c:pt>
                <c:pt idx="660">
                  <c:v>94</c:v>
                </c:pt>
                <c:pt idx="661">
                  <c:v>113.27</c:v>
                </c:pt>
                <c:pt idx="662">
                  <c:v>81.23</c:v>
                </c:pt>
                <c:pt idx="663">
                  <c:v>53.73</c:v>
                </c:pt>
                <c:pt idx="664">
                  <c:v>68.7</c:v>
                </c:pt>
                <c:pt idx="665">
                  <c:v>60.3</c:v>
                </c:pt>
                <c:pt idx="666">
                  <c:v>74.540000000000006</c:v>
                </c:pt>
                <c:pt idx="667">
                  <c:v>54.5</c:v>
                </c:pt>
                <c:pt idx="668">
                  <c:v>55.6</c:v>
                </c:pt>
                <c:pt idx="669">
                  <c:v>45.11</c:v>
                </c:pt>
                <c:pt idx="670">
                  <c:v>57.52</c:v>
                </c:pt>
                <c:pt idx="671">
                  <c:v>41.17</c:v>
                </c:pt>
                <c:pt idx="672">
                  <c:v>45.43</c:v>
                </c:pt>
                <c:pt idx="673">
                  <c:v>47.42</c:v>
                </c:pt>
                <c:pt idx="674">
                  <c:v>49.62</c:v>
                </c:pt>
                <c:pt idx="675">
                  <c:v>40.51</c:v>
                </c:pt>
                <c:pt idx="676">
                  <c:v>44.09</c:v>
                </c:pt>
                <c:pt idx="677">
                  <c:v>61.4</c:v>
                </c:pt>
                <c:pt idx="678">
                  <c:v>65.459999999999994</c:v>
                </c:pt>
                <c:pt idx="679">
                  <c:v>45.71</c:v>
                </c:pt>
                <c:pt idx="680">
                  <c:v>46.46</c:v>
                </c:pt>
                <c:pt idx="681">
                  <c:v>43.64</c:v>
                </c:pt>
                <c:pt idx="682">
                  <c:v>48.55</c:v>
                </c:pt>
                <c:pt idx="683">
                  <c:v>51.46</c:v>
                </c:pt>
                <c:pt idx="684">
                  <c:v>44.7</c:v>
                </c:pt>
                <c:pt idx="685">
                  <c:v>47.67</c:v>
                </c:pt>
                <c:pt idx="686">
                  <c:v>47.7</c:v>
                </c:pt>
                <c:pt idx="687">
                  <c:v>48.89</c:v>
                </c:pt>
                <c:pt idx="688">
                  <c:v>45.46</c:v>
                </c:pt>
                <c:pt idx="689">
                  <c:v>44.76</c:v>
                </c:pt>
                <c:pt idx="690">
                  <c:v>53.8</c:v>
                </c:pt>
                <c:pt idx="691">
                  <c:v>46.08</c:v>
                </c:pt>
                <c:pt idx="692">
                  <c:v>39.9</c:v>
                </c:pt>
                <c:pt idx="693">
                  <c:v>42.8</c:v>
                </c:pt>
                <c:pt idx="694">
                  <c:v>50.5</c:v>
                </c:pt>
                <c:pt idx="695">
                  <c:v>55.9</c:v>
                </c:pt>
                <c:pt idx="696">
                  <c:v>53.4</c:v>
                </c:pt>
                <c:pt idx="697">
                  <c:v>51.66</c:v>
                </c:pt>
                <c:pt idx="698">
                  <c:v>55.8</c:v>
                </c:pt>
                <c:pt idx="699">
                  <c:v>52.1</c:v>
                </c:pt>
                <c:pt idx="700">
                  <c:v>48.24</c:v>
                </c:pt>
                <c:pt idx="701">
                  <c:v>44.33</c:v>
                </c:pt>
                <c:pt idx="702">
                  <c:v>42.01</c:v>
                </c:pt>
                <c:pt idx="703">
                  <c:v>43.71</c:v>
                </c:pt>
                <c:pt idx="704">
                  <c:v>42.6</c:v>
                </c:pt>
                <c:pt idx="705">
                  <c:v>39.93</c:v>
                </c:pt>
                <c:pt idx="706">
                  <c:v>36.200000000000003</c:v>
                </c:pt>
                <c:pt idx="707">
                  <c:v>39.700000000000003</c:v>
                </c:pt>
                <c:pt idx="708">
                  <c:v>40.06</c:v>
                </c:pt>
                <c:pt idx="709">
                  <c:v>37.32</c:v>
                </c:pt>
                <c:pt idx="710">
                  <c:v>41.78</c:v>
                </c:pt>
                <c:pt idx="711">
                  <c:v>40.85</c:v>
                </c:pt>
                <c:pt idx="712">
                  <c:v>40.130000000000003</c:v>
                </c:pt>
                <c:pt idx="713">
                  <c:v>36.409999999999997</c:v>
                </c:pt>
                <c:pt idx="714">
                  <c:v>36.549999999999997</c:v>
                </c:pt>
                <c:pt idx="715">
                  <c:v>36.200000000000003</c:v>
                </c:pt>
                <c:pt idx="716">
                  <c:v>34.869999999999997</c:v>
                </c:pt>
                <c:pt idx="717">
                  <c:v>35.96</c:v>
                </c:pt>
                <c:pt idx="718">
                  <c:v>34.49</c:v>
                </c:pt>
                <c:pt idx="719">
                  <c:v>34.119999999999997</c:v>
                </c:pt>
                <c:pt idx="720">
                  <c:v>34.1</c:v>
                </c:pt>
                <c:pt idx="721">
                  <c:v>31</c:v>
                </c:pt>
                <c:pt idx="722">
                  <c:v>27.9</c:v>
                </c:pt>
                <c:pt idx="723">
                  <c:v>31.94</c:v>
                </c:pt>
                <c:pt idx="724">
                  <c:v>31.35</c:v>
                </c:pt>
                <c:pt idx="725">
                  <c:v>30.88</c:v>
                </c:pt>
                <c:pt idx="726">
                  <c:v>29.2</c:v>
                </c:pt>
                <c:pt idx="727">
                  <c:v>25.05</c:v>
                </c:pt>
                <c:pt idx="728">
                  <c:v>23.9</c:v>
                </c:pt>
                <c:pt idx="729">
                  <c:v>22.45</c:v>
                </c:pt>
                <c:pt idx="730">
                  <c:v>19.93</c:v>
                </c:pt>
                <c:pt idx="731">
                  <c:v>25</c:v>
                </c:pt>
                <c:pt idx="732">
                  <c:v>22.59</c:v>
                </c:pt>
                <c:pt idx="733">
                  <c:v>19.03</c:v>
                </c:pt>
                <c:pt idx="734">
                  <c:v>19.559999999999999</c:v>
                </c:pt>
                <c:pt idx="735">
                  <c:v>19.600000000000001</c:v>
                </c:pt>
                <c:pt idx="736">
                  <c:v>21.4</c:v>
                </c:pt>
                <c:pt idx="737">
                  <c:v>19.399999999999999</c:v>
                </c:pt>
                <c:pt idx="738">
                  <c:v>19.5</c:v>
                </c:pt>
                <c:pt idx="739">
                  <c:v>17.45</c:v>
                </c:pt>
                <c:pt idx="740">
                  <c:v>19.399999999999999</c:v>
                </c:pt>
                <c:pt idx="741">
                  <c:v>17.2</c:v>
                </c:pt>
                <c:pt idx="742">
                  <c:v>18</c:v>
                </c:pt>
                <c:pt idx="743">
                  <c:v>19.36</c:v>
                </c:pt>
                <c:pt idx="744">
                  <c:v>18</c:v>
                </c:pt>
                <c:pt idx="745">
                  <c:v>18.899999999999999</c:v>
                </c:pt>
                <c:pt idx="746">
                  <c:v>16.86</c:v>
                </c:pt>
                <c:pt idx="747">
                  <c:v>18.559999999999999</c:v>
                </c:pt>
                <c:pt idx="748">
                  <c:v>17.7</c:v>
                </c:pt>
                <c:pt idx="749">
                  <c:v>16.7</c:v>
                </c:pt>
                <c:pt idx="750">
                  <c:v>16.600000000000001</c:v>
                </c:pt>
                <c:pt idx="751">
                  <c:v>16.63</c:v>
                </c:pt>
                <c:pt idx="752">
                  <c:v>16.2</c:v>
                </c:pt>
                <c:pt idx="753">
                  <c:v>14.3</c:v>
                </c:pt>
                <c:pt idx="754">
                  <c:v>14.8</c:v>
                </c:pt>
                <c:pt idx="755">
                  <c:v>8.6999999999999993</c:v>
                </c:pt>
                <c:pt idx="756">
                  <c:v>8.77</c:v>
                </c:pt>
                <c:pt idx="757">
                  <c:v>9.1</c:v>
                </c:pt>
                <c:pt idx="758">
                  <c:v>9.8000000000000007</c:v>
                </c:pt>
                <c:pt idx="759">
                  <c:v>10.5</c:v>
                </c:pt>
                <c:pt idx="760">
                  <c:v>9.74</c:v>
                </c:pt>
                <c:pt idx="761">
                  <c:v>13.46</c:v>
                </c:pt>
                <c:pt idx="762">
                  <c:v>4.8</c:v>
                </c:pt>
                <c:pt idx="763">
                  <c:v>4.2300000000000004</c:v>
                </c:pt>
                <c:pt idx="764">
                  <c:v>8.02</c:v>
                </c:pt>
                <c:pt idx="765">
                  <c:v>3.78</c:v>
                </c:pt>
                <c:pt idx="766">
                  <c:v>5.0999999999999996</c:v>
                </c:pt>
                <c:pt idx="767">
                  <c:v>2.27</c:v>
                </c:pt>
                <c:pt idx="768">
                  <c:v>-2.76</c:v>
                </c:pt>
                <c:pt idx="769">
                  <c:v>1.21</c:v>
                </c:pt>
                <c:pt idx="770">
                  <c:v>-1.75</c:v>
                </c:pt>
                <c:pt idx="771">
                  <c:v>0.8</c:v>
                </c:pt>
                <c:pt idx="772">
                  <c:v>7.1</c:v>
                </c:pt>
                <c:pt idx="773">
                  <c:v>0.45</c:v>
                </c:pt>
                <c:pt idx="774">
                  <c:v>-2.11</c:v>
                </c:pt>
                <c:pt idx="775">
                  <c:v>-7.79</c:v>
                </c:pt>
                <c:pt idx="776">
                  <c:v>-5.4</c:v>
                </c:pt>
                <c:pt idx="777">
                  <c:v>4.0999999999999996</c:v>
                </c:pt>
                <c:pt idx="778">
                  <c:v>-2.44</c:v>
                </c:pt>
                <c:pt idx="779">
                  <c:v>-2.8</c:v>
                </c:pt>
                <c:pt idx="780">
                  <c:v>-1.8</c:v>
                </c:pt>
                <c:pt idx="781">
                  <c:v>-0.1</c:v>
                </c:pt>
                <c:pt idx="782">
                  <c:v>1.1000000000000001</c:v>
                </c:pt>
                <c:pt idx="783">
                  <c:v>-2.2999999999999998</c:v>
                </c:pt>
                <c:pt idx="784">
                  <c:v>1.35</c:v>
                </c:pt>
                <c:pt idx="785">
                  <c:v>3.95</c:v>
                </c:pt>
                <c:pt idx="786">
                  <c:v>0.9</c:v>
                </c:pt>
                <c:pt idx="787">
                  <c:v>9.2100000000000009</c:v>
                </c:pt>
                <c:pt idx="788">
                  <c:v>5.7</c:v>
                </c:pt>
                <c:pt idx="789">
                  <c:v>7.5</c:v>
                </c:pt>
                <c:pt idx="790">
                  <c:v>5.6</c:v>
                </c:pt>
                <c:pt idx="791">
                  <c:v>4.2</c:v>
                </c:pt>
                <c:pt idx="792">
                  <c:v>4.8</c:v>
                </c:pt>
                <c:pt idx="793">
                  <c:v>5.9</c:v>
                </c:pt>
                <c:pt idx="794">
                  <c:v>6.25</c:v>
                </c:pt>
                <c:pt idx="795">
                  <c:v>8.14</c:v>
                </c:pt>
                <c:pt idx="796">
                  <c:v>5.34</c:v>
                </c:pt>
                <c:pt idx="797">
                  <c:v>6.9</c:v>
                </c:pt>
                <c:pt idx="798">
                  <c:v>5.8</c:v>
                </c:pt>
                <c:pt idx="799">
                  <c:v>7</c:v>
                </c:pt>
                <c:pt idx="800">
                  <c:v>7.38</c:v>
                </c:pt>
                <c:pt idx="801">
                  <c:v>6.5</c:v>
                </c:pt>
                <c:pt idx="802">
                  <c:v>10.71</c:v>
                </c:pt>
                <c:pt idx="803">
                  <c:v>9.9</c:v>
                </c:pt>
                <c:pt idx="804">
                  <c:v>6.35</c:v>
                </c:pt>
                <c:pt idx="805">
                  <c:v>4.8</c:v>
                </c:pt>
                <c:pt idx="806">
                  <c:v>6.62</c:v>
                </c:pt>
                <c:pt idx="807">
                  <c:v>5.48</c:v>
                </c:pt>
                <c:pt idx="808">
                  <c:v>5.64</c:v>
                </c:pt>
                <c:pt idx="809">
                  <c:v>6.37</c:v>
                </c:pt>
                <c:pt idx="810">
                  <c:v>7.84</c:v>
                </c:pt>
                <c:pt idx="811">
                  <c:v>7.1</c:v>
                </c:pt>
                <c:pt idx="812">
                  <c:v>5.7</c:v>
                </c:pt>
                <c:pt idx="813">
                  <c:v>8.17</c:v>
                </c:pt>
                <c:pt idx="814">
                  <c:v>8.23</c:v>
                </c:pt>
                <c:pt idx="815">
                  <c:v>9</c:v>
                </c:pt>
                <c:pt idx="816">
                  <c:v>6.5</c:v>
                </c:pt>
                <c:pt idx="817">
                  <c:v>4.57</c:v>
                </c:pt>
                <c:pt idx="818">
                  <c:v>6.22</c:v>
                </c:pt>
                <c:pt idx="819">
                  <c:v>6.84</c:v>
                </c:pt>
                <c:pt idx="820">
                  <c:v>6.77</c:v>
                </c:pt>
                <c:pt idx="821">
                  <c:v>6.64</c:v>
                </c:pt>
                <c:pt idx="822">
                  <c:v>6.1</c:v>
                </c:pt>
                <c:pt idx="823">
                  <c:v>7.77</c:v>
                </c:pt>
                <c:pt idx="824">
                  <c:v>7.5</c:v>
                </c:pt>
                <c:pt idx="825">
                  <c:v>5.2</c:v>
                </c:pt>
                <c:pt idx="826">
                  <c:v>7.5</c:v>
                </c:pt>
                <c:pt idx="827">
                  <c:v>7.25</c:v>
                </c:pt>
                <c:pt idx="828">
                  <c:v>7.44</c:v>
                </c:pt>
                <c:pt idx="829">
                  <c:v>6</c:v>
                </c:pt>
                <c:pt idx="830">
                  <c:v>4.91</c:v>
                </c:pt>
                <c:pt idx="831">
                  <c:v>4.1900000000000004</c:v>
                </c:pt>
                <c:pt idx="832">
                  <c:v>5.82</c:v>
                </c:pt>
                <c:pt idx="833">
                  <c:v>6.57</c:v>
                </c:pt>
                <c:pt idx="834">
                  <c:v>8.67</c:v>
                </c:pt>
                <c:pt idx="835">
                  <c:v>4.7</c:v>
                </c:pt>
                <c:pt idx="836">
                  <c:v>6.39</c:v>
                </c:pt>
                <c:pt idx="837">
                  <c:v>7.7</c:v>
                </c:pt>
                <c:pt idx="838">
                  <c:v>10.59</c:v>
                </c:pt>
                <c:pt idx="839">
                  <c:v>10.25</c:v>
                </c:pt>
                <c:pt idx="840">
                  <c:v>10.65</c:v>
                </c:pt>
                <c:pt idx="841">
                  <c:v>11.09</c:v>
                </c:pt>
                <c:pt idx="842">
                  <c:v>10.26</c:v>
                </c:pt>
                <c:pt idx="843">
                  <c:v>9.81</c:v>
                </c:pt>
                <c:pt idx="844">
                  <c:v>3.74</c:v>
                </c:pt>
                <c:pt idx="845">
                  <c:v>10.15</c:v>
                </c:pt>
                <c:pt idx="846">
                  <c:v>9.4</c:v>
                </c:pt>
                <c:pt idx="847">
                  <c:v>11.85</c:v>
                </c:pt>
                <c:pt idx="848">
                  <c:v>7.55</c:v>
                </c:pt>
                <c:pt idx="849">
                  <c:v>8.1999999999999993</c:v>
                </c:pt>
                <c:pt idx="850">
                  <c:v>12.65</c:v>
                </c:pt>
                <c:pt idx="851">
                  <c:v>11.85</c:v>
                </c:pt>
                <c:pt idx="852">
                  <c:v>12.4</c:v>
                </c:pt>
                <c:pt idx="853">
                  <c:v>11.5</c:v>
                </c:pt>
                <c:pt idx="854">
                  <c:v>15.8</c:v>
                </c:pt>
                <c:pt idx="855">
                  <c:v>14.07</c:v>
                </c:pt>
                <c:pt idx="856">
                  <c:v>14.2</c:v>
                </c:pt>
                <c:pt idx="857">
                  <c:v>13.58</c:v>
                </c:pt>
                <c:pt idx="858">
                  <c:v>15.66</c:v>
                </c:pt>
                <c:pt idx="859">
                  <c:v>15.8</c:v>
                </c:pt>
                <c:pt idx="860">
                  <c:v>14.5</c:v>
                </c:pt>
                <c:pt idx="861">
                  <c:v>13.9</c:v>
                </c:pt>
                <c:pt idx="862">
                  <c:v>14.3</c:v>
                </c:pt>
                <c:pt idx="863">
                  <c:v>15</c:v>
                </c:pt>
                <c:pt idx="864">
                  <c:v>16</c:v>
                </c:pt>
                <c:pt idx="865">
                  <c:v>15.7</c:v>
                </c:pt>
                <c:pt idx="866">
                  <c:v>15.66</c:v>
                </c:pt>
                <c:pt idx="867">
                  <c:v>15.1</c:v>
                </c:pt>
                <c:pt idx="868">
                  <c:v>14.81</c:v>
                </c:pt>
                <c:pt idx="869">
                  <c:v>14.47</c:v>
                </c:pt>
                <c:pt idx="870">
                  <c:v>15.8</c:v>
                </c:pt>
                <c:pt idx="871">
                  <c:v>9.06</c:v>
                </c:pt>
                <c:pt idx="872">
                  <c:v>14.74</c:v>
                </c:pt>
                <c:pt idx="873">
                  <c:v>19.399999999999999</c:v>
                </c:pt>
                <c:pt idx="874">
                  <c:v>-0.65</c:v>
                </c:pt>
              </c:numCache>
            </c:numRef>
          </c:yVal>
          <c:smooth val="0"/>
          <c:extLst>
            <c:ext xmlns:c16="http://schemas.microsoft.com/office/drawing/2014/chart" uri="{C3380CC4-5D6E-409C-BE32-E72D297353CC}">
              <c16:uniqueId val="{00000000-D547-4409-AD65-E3897254AB3B}"/>
            </c:ext>
          </c:extLst>
        </c:ser>
        <c:ser>
          <c:idx val="1"/>
          <c:order val="1"/>
          <c:tx>
            <c:strRef>
              <c:f>Sheet1!$B$878</c:f>
              <c:strCache>
                <c:ptCount val="1"/>
                <c:pt idx="0">
                  <c:v>S1</c:v>
                </c:pt>
              </c:strCache>
            </c:strRef>
          </c:tx>
          <c:spPr>
            <a:ln w="19050">
              <a:solidFill>
                <a:srgbClr val="2C7A5A"/>
              </a:solidFill>
              <a:prstDash val="dash"/>
            </a:ln>
          </c:spPr>
          <c:marker>
            <c:symbol val="none"/>
          </c:marker>
          <c:xVal>
            <c:numRef>
              <c:f>Sheet1!$A$879:$A$880</c:f>
              <c:numCache>
                <c:formatCode>General</c:formatCode>
                <c:ptCount val="2"/>
                <c:pt idx="0">
                  <c:v>40179</c:v>
                </c:pt>
                <c:pt idx="1">
                  <c:v>46297</c:v>
                </c:pt>
              </c:numCache>
            </c:numRef>
          </c:xVal>
          <c:yVal>
            <c:numRef>
              <c:f>Sheet1!$B$879:$B$880</c:f>
              <c:numCache>
                <c:formatCode>General</c:formatCode>
                <c:ptCount val="2"/>
                <c:pt idx="0">
                  <c:v>28</c:v>
                </c:pt>
                <c:pt idx="1">
                  <c:v>28</c:v>
                </c:pt>
              </c:numCache>
            </c:numRef>
          </c:yVal>
          <c:smooth val="0"/>
          <c:extLst>
            <c:ext xmlns:c16="http://schemas.microsoft.com/office/drawing/2014/chart" uri="{C3380CC4-5D6E-409C-BE32-E72D297353CC}">
              <c16:uniqueId val="{00000001-D547-4409-AD65-E3897254AB3B}"/>
            </c:ext>
          </c:extLst>
        </c:ser>
        <c:ser>
          <c:idx val="2"/>
          <c:order val="2"/>
          <c:tx>
            <c:strRef>
              <c:f>Sheet1!$B$882</c:f>
              <c:strCache>
                <c:ptCount val="1"/>
                <c:pt idx="0">
                  <c:v>S3</c:v>
                </c:pt>
              </c:strCache>
            </c:strRef>
          </c:tx>
          <c:spPr>
            <a:ln w="19050">
              <a:solidFill>
                <a:srgbClr val="3C8DBC"/>
              </a:solidFill>
              <a:prstDash val="dash"/>
            </a:ln>
          </c:spPr>
          <c:marker>
            <c:symbol val="none"/>
          </c:marker>
          <c:xVal>
            <c:numRef>
              <c:f>Sheet1!$A$883:$A$884</c:f>
              <c:numCache>
                <c:formatCode>General</c:formatCode>
                <c:ptCount val="2"/>
                <c:pt idx="0">
                  <c:v>40179</c:v>
                </c:pt>
                <c:pt idx="1">
                  <c:v>46297</c:v>
                </c:pt>
              </c:numCache>
            </c:numRef>
          </c:xVal>
          <c:yVal>
            <c:numRef>
              <c:f>Sheet1!$B$883:$B$884</c:f>
              <c:numCache>
                <c:formatCode>General</c:formatCode>
                <c:ptCount val="2"/>
                <c:pt idx="0">
                  <c:v>-1.3</c:v>
                </c:pt>
                <c:pt idx="1">
                  <c:v>-1.3</c:v>
                </c:pt>
              </c:numCache>
            </c:numRef>
          </c:yVal>
          <c:smooth val="0"/>
          <c:extLst>
            <c:ext xmlns:c16="http://schemas.microsoft.com/office/drawing/2014/chart" uri="{C3380CC4-5D6E-409C-BE32-E72D297353CC}">
              <c16:uniqueId val="{00000002-D547-4409-AD65-E3897254AB3B}"/>
            </c:ext>
          </c:extLst>
        </c:ser>
        <c:ser>
          <c:idx val="3"/>
          <c:order val="3"/>
          <c:tx>
            <c:strRef>
              <c:f>Sheet1!$B$886</c:f>
              <c:strCache>
                <c:ptCount val="1"/>
                <c:pt idx="0">
                  <c:v>S4</c:v>
                </c:pt>
              </c:strCache>
            </c:strRef>
          </c:tx>
          <c:spPr>
            <a:ln w="19050">
              <a:solidFill>
                <a:srgbClr val="011C40"/>
              </a:solidFill>
              <a:prstDash val="dash"/>
            </a:ln>
          </c:spPr>
          <c:marker>
            <c:symbol val="none"/>
          </c:marker>
          <c:xVal>
            <c:numRef>
              <c:f>Sheet1!$A$887:$A$888</c:f>
              <c:numCache>
                <c:formatCode>General</c:formatCode>
                <c:ptCount val="2"/>
                <c:pt idx="0">
                  <c:v>40179</c:v>
                </c:pt>
                <c:pt idx="1">
                  <c:v>46297</c:v>
                </c:pt>
              </c:numCache>
            </c:numRef>
          </c:xVal>
          <c:yVal>
            <c:numRef>
              <c:f>Sheet1!$B$887:$B$888</c:f>
              <c:numCache>
                <c:formatCode>General</c:formatCode>
                <c:ptCount val="2"/>
                <c:pt idx="0">
                  <c:v>-83</c:v>
                </c:pt>
                <c:pt idx="1">
                  <c:v>-83</c:v>
                </c:pt>
              </c:numCache>
            </c:numRef>
          </c:yVal>
          <c:smooth val="0"/>
          <c:extLst>
            <c:ext xmlns:c16="http://schemas.microsoft.com/office/drawing/2014/chart" uri="{C3380CC4-5D6E-409C-BE32-E72D297353CC}">
              <c16:uniqueId val="{00000003-D547-4409-AD65-E3897254AB3B}"/>
            </c:ext>
          </c:extLst>
        </c:ser>
        <c:ser>
          <c:idx val="4"/>
          <c:order val="4"/>
          <c:tx>
            <c:strRef>
              <c:f>Sheet1!$B$890</c:f>
              <c:strCache>
                <c:ptCount val="1"/>
                <c:pt idx="0">
                  <c:v>S5</c:v>
                </c:pt>
              </c:strCache>
            </c:strRef>
          </c:tx>
          <c:spPr>
            <a:ln w="19050">
              <a:solidFill>
                <a:srgbClr val="6A4C93"/>
              </a:solidFill>
              <a:prstDash val="dash"/>
            </a:ln>
          </c:spPr>
          <c:marker>
            <c:symbol val="none"/>
          </c:marker>
          <c:xVal>
            <c:numRef>
              <c:f>Sheet1!$A$891:$A$892</c:f>
              <c:numCache>
                <c:formatCode>General</c:formatCode>
                <c:ptCount val="2"/>
                <c:pt idx="0">
                  <c:v>40179</c:v>
                </c:pt>
                <c:pt idx="1">
                  <c:v>46297</c:v>
                </c:pt>
              </c:numCache>
            </c:numRef>
          </c:xVal>
          <c:yVal>
            <c:numRef>
              <c:f>Sheet1!$B$891:$B$892</c:f>
              <c:numCache>
                <c:formatCode>General</c:formatCode>
                <c:ptCount val="2"/>
                <c:pt idx="0">
                  <c:v>-350</c:v>
                </c:pt>
                <c:pt idx="1">
                  <c:v>-350</c:v>
                </c:pt>
              </c:numCache>
            </c:numRef>
          </c:yVal>
          <c:smooth val="0"/>
          <c:extLst>
            <c:ext xmlns:c16="http://schemas.microsoft.com/office/drawing/2014/chart" uri="{C3380CC4-5D6E-409C-BE32-E72D297353CC}">
              <c16:uniqueId val="{00000004-D547-4409-AD65-E3897254AB3B}"/>
            </c:ext>
          </c:extLst>
        </c:ser>
        <c:ser>
          <c:idx val="5"/>
          <c:order val="5"/>
          <c:tx>
            <c:strRef>
              <c:f>Sheet1!$B$894</c:f>
              <c:strCache>
                <c:ptCount val="1"/>
                <c:pt idx="0">
                  <c:v>BE</c:v>
                </c:pt>
              </c:strCache>
            </c:strRef>
          </c:tx>
          <c:spPr>
            <a:ln w="19050">
              <a:solidFill>
                <a:srgbClr val="5A6172"/>
              </a:solidFill>
              <a:prstDash val="dash"/>
            </a:ln>
          </c:spPr>
          <c:marker>
            <c:symbol val="none"/>
          </c:marker>
          <c:xVal>
            <c:numRef>
              <c:f>Sheet1!$A$895:$A$896</c:f>
              <c:numCache>
                <c:formatCode>General</c:formatCode>
                <c:ptCount val="2"/>
                <c:pt idx="0">
                  <c:v>40179</c:v>
                </c:pt>
                <c:pt idx="1">
                  <c:v>46297</c:v>
                </c:pt>
              </c:numCache>
            </c:numRef>
          </c:xVal>
          <c:yVal>
            <c:numRef>
              <c:f>Sheet1!$B$895:$B$896</c:f>
              <c:numCache>
                <c:formatCode>General</c:formatCode>
                <c:ptCount val="2"/>
                <c:pt idx="0">
                  <c:v>-445</c:v>
                </c:pt>
                <c:pt idx="1">
                  <c:v>-445</c:v>
                </c:pt>
              </c:numCache>
            </c:numRef>
          </c:yVal>
          <c:smooth val="0"/>
          <c:extLst>
            <c:ext xmlns:c16="http://schemas.microsoft.com/office/drawing/2014/chart" uri="{C3380CC4-5D6E-409C-BE32-E72D297353CC}">
              <c16:uniqueId val="{00000005-D547-4409-AD65-E3897254AB3B}"/>
            </c:ext>
          </c:extLst>
        </c:ser>
        <c:ser>
          <c:idx val="6"/>
          <c:order val="6"/>
          <c:tx>
            <c:strRef>
              <c:f>Sheet1!$B$898</c:f>
              <c:strCache>
                <c:ptCount val="1"/>
                <c:pt idx="0">
                  <c:v>IMP</c:v>
                </c:pt>
              </c:strCache>
            </c:strRef>
          </c:tx>
          <c:spPr>
            <a:ln w="19050">
              <a:solidFill>
                <a:srgbClr val="B3332E"/>
              </a:solidFill>
              <a:prstDash val="dash"/>
            </a:ln>
          </c:spPr>
          <c:marker>
            <c:symbol val="none"/>
          </c:marker>
          <c:xVal>
            <c:numRef>
              <c:f>Sheet1!$A$899:$A$900</c:f>
              <c:numCache>
                <c:formatCode>General</c:formatCode>
                <c:ptCount val="2"/>
                <c:pt idx="0">
                  <c:v>40179</c:v>
                </c:pt>
                <c:pt idx="1">
                  <c:v>46297</c:v>
                </c:pt>
              </c:numCache>
            </c:numRef>
          </c:xVal>
          <c:yVal>
            <c:numRef>
              <c:f>Sheet1!$B$899:$B$900</c:f>
              <c:numCache>
                <c:formatCode>General</c:formatCode>
                <c:ptCount val="2"/>
                <c:pt idx="0">
                  <c:v>-572</c:v>
                </c:pt>
                <c:pt idx="1">
                  <c:v>-572</c:v>
                </c:pt>
              </c:numCache>
            </c:numRef>
          </c:yVal>
          <c:smooth val="0"/>
          <c:extLst>
            <c:ext xmlns:c16="http://schemas.microsoft.com/office/drawing/2014/chart" uri="{C3380CC4-5D6E-409C-BE32-E72D297353CC}">
              <c16:uniqueId val="{00000006-D547-4409-AD65-E3897254AB3B}"/>
            </c:ext>
          </c:extLst>
        </c:ser>
        <c:ser>
          <c:idx val="7"/>
          <c:order val="7"/>
          <c:tx>
            <c:strRef>
              <c:f>Sheet1!$B$902</c:f>
              <c:strCache>
                <c:ptCount val="1"/>
                <c:pt idx="0">
                  <c:v>S6</c:v>
                </c:pt>
              </c:strCache>
            </c:strRef>
          </c:tx>
          <c:spPr>
            <a:ln w="19050">
              <a:solidFill>
                <a:srgbClr val="B3332E"/>
              </a:solidFill>
              <a:prstDash val="dash"/>
            </a:ln>
          </c:spPr>
          <c:marker>
            <c:symbol val="none"/>
          </c:marker>
          <c:xVal>
            <c:numRef>
              <c:f>Sheet1!$A$903:$A$904</c:f>
              <c:numCache>
                <c:formatCode>General</c:formatCode>
                <c:ptCount val="2"/>
                <c:pt idx="0">
                  <c:v>40179</c:v>
                </c:pt>
                <c:pt idx="1">
                  <c:v>46297</c:v>
                </c:pt>
              </c:numCache>
            </c:numRef>
          </c:xVal>
          <c:yVal>
            <c:numRef>
              <c:f>Sheet1!$B$903:$B$904</c:f>
              <c:numCache>
                <c:formatCode>General</c:formatCode>
                <c:ptCount val="2"/>
                <c:pt idx="0">
                  <c:v>-615</c:v>
                </c:pt>
                <c:pt idx="1">
                  <c:v>-615</c:v>
                </c:pt>
              </c:numCache>
            </c:numRef>
          </c:yVal>
          <c:smooth val="0"/>
          <c:extLst>
            <c:ext xmlns:c16="http://schemas.microsoft.com/office/drawing/2014/chart" uri="{C3380CC4-5D6E-409C-BE32-E72D297353CC}">
              <c16:uniqueId val="{00000007-D547-4409-AD65-E3897254AB3B}"/>
            </c:ext>
          </c:extLst>
        </c:ser>
        <c:dLbls>
          <c:showLegendKey val="0"/>
          <c:showVal val="0"/>
          <c:showCatName val="0"/>
          <c:showSerName val="0"/>
          <c:showPercent val="0"/>
          <c:showBubbleSize val="0"/>
        </c:dLbls>
        <c:axId val="-2128940872"/>
        <c:axId val="-2129643912"/>
      </c:scatterChart>
      <c:valAx>
        <c:axId val="-2128940872"/>
        <c:scaling>
          <c:orientation val="minMax"/>
          <c:max val="46297"/>
          <c:min val="40179"/>
        </c:scaling>
        <c:delete val="0"/>
        <c:axPos val="b"/>
        <c:numFmt formatCode="yyyy" sourceLinked="0"/>
        <c:majorTickMark val="out"/>
        <c:minorTickMark val="none"/>
        <c:tickLblPos val="low"/>
        <c:spPr>
          <a:ln>
            <a:solidFill>
              <a:srgbClr val="DCE3EF"/>
            </a:solidFill>
          </a:ln>
        </c:spPr>
        <c:txPr>
          <a:bodyPr/>
          <a:lstStyle/>
          <a:p>
            <a:pPr>
              <a:defRPr sz="1200">
                <a:solidFill>
                  <a:srgbClr val="5A6172"/>
                </a:solidFill>
              </a:defRPr>
            </a:pPr>
            <a:endParaRPr lang="en-US"/>
          </a:p>
        </c:txPr>
        <c:crossAx val="-2129643912"/>
        <c:crosses val="autoZero"/>
        <c:crossBetween val="midCat"/>
        <c:majorUnit val="1461"/>
      </c:valAx>
      <c:valAx>
        <c:axId val="-2129643912"/>
        <c:scaling>
          <c:orientation val="minMax"/>
          <c:max val="150"/>
          <c:min val="-650"/>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1200">
                <a:solidFill>
                  <a:srgbClr val="5A6172"/>
                </a:solidFill>
              </a:defRPr>
            </a:pPr>
            <a:endParaRPr lang="en-US"/>
          </a:p>
        </c:txPr>
        <c:crossAx val="-2128940872"/>
        <c:crosses val="autoZero"/>
        <c:crossBetween val="midCat"/>
      </c:valAx>
    </c:plotArea>
    <c:plotVisOnly val="1"/>
    <c:dispBlanksAs val="gap"/>
    <c:showDLblsOverMax val="0"/>
  </c:chart>
  <c:txPr>
    <a:bodyPr/>
    <a:lstStyle/>
    <a:p>
      <a:pPr>
        <a:defRPr sz="1200">
          <a:latin typeface="Garamond"/>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Italy</c:v>
                </c:pt>
              </c:strCache>
            </c:strRef>
          </c:tx>
          <c:spPr>
            <a:ln w="28575">
              <a:solidFill>
                <a:srgbClr val="B3332E"/>
              </a:solidFill>
            </a:ln>
          </c:spPr>
          <c:marker>
            <c:symbol val="none"/>
          </c:marker>
          <c:xVal>
            <c:numRef>
              <c:f>Sheet1!$A$2:$A$210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Sheet1!$B$2:$B$210</c:f>
              <c:numCache>
                <c:formatCode>General</c:formatCode>
                <c:ptCount val="209"/>
                <c:pt idx="0">
                  <c:v>39.6</c:v>
                </c:pt>
                <c:pt idx="1">
                  <c:v>47.35</c:v>
                </c:pt>
                <c:pt idx="2">
                  <c:v>37.299999999999997</c:v>
                </c:pt>
                <c:pt idx="3">
                  <c:v>35.950000000000003</c:v>
                </c:pt>
                <c:pt idx="4">
                  <c:v>14.95</c:v>
                </c:pt>
                <c:pt idx="5">
                  <c:v>4</c:v>
                </c:pt>
                <c:pt idx="6">
                  <c:v>14.97</c:v>
                </c:pt>
                <c:pt idx="7">
                  <c:v>20.350000000000001</c:v>
                </c:pt>
                <c:pt idx="8">
                  <c:v>19.170000000000002</c:v>
                </c:pt>
                <c:pt idx="9">
                  <c:v>27.95</c:v>
                </c:pt>
                <c:pt idx="10">
                  <c:v>21</c:v>
                </c:pt>
                <c:pt idx="11">
                  <c:v>21</c:v>
                </c:pt>
                <c:pt idx="12">
                  <c:v>23.3</c:v>
                </c:pt>
                <c:pt idx="13">
                  <c:v>21.6</c:v>
                </c:pt>
                <c:pt idx="14">
                  <c:v>21.9</c:v>
                </c:pt>
                <c:pt idx="15">
                  <c:v>16.45</c:v>
                </c:pt>
                <c:pt idx="16">
                  <c:v>15.5</c:v>
                </c:pt>
                <c:pt idx="17">
                  <c:v>4.7</c:v>
                </c:pt>
                <c:pt idx="18">
                  <c:v>-37</c:v>
                </c:pt>
                <c:pt idx="19">
                  <c:v>-18.8</c:v>
                </c:pt>
                <c:pt idx="20">
                  <c:v>-15.8</c:v>
                </c:pt>
                <c:pt idx="21">
                  <c:v>-14.7</c:v>
                </c:pt>
                <c:pt idx="22">
                  <c:v>-17.95</c:v>
                </c:pt>
                <c:pt idx="23">
                  <c:v>-26.1</c:v>
                </c:pt>
                <c:pt idx="24">
                  <c:v>-3.4</c:v>
                </c:pt>
                <c:pt idx="25">
                  <c:v>-9.25</c:v>
                </c:pt>
                <c:pt idx="26">
                  <c:v>-7.45</c:v>
                </c:pt>
                <c:pt idx="27">
                  <c:v>-23.8</c:v>
                </c:pt>
                <c:pt idx="28">
                  <c:v>-19.850000000000001</c:v>
                </c:pt>
                <c:pt idx="29">
                  <c:v>-21.9</c:v>
                </c:pt>
                <c:pt idx="30">
                  <c:v>-16</c:v>
                </c:pt>
                <c:pt idx="31">
                  <c:v>-9</c:v>
                </c:pt>
                <c:pt idx="32">
                  <c:v>-16.399999999999999</c:v>
                </c:pt>
                <c:pt idx="33">
                  <c:v>-12.35</c:v>
                </c:pt>
                <c:pt idx="34">
                  <c:v>-13.2</c:v>
                </c:pt>
                <c:pt idx="35">
                  <c:v>-5.7</c:v>
                </c:pt>
                <c:pt idx="36">
                  <c:v>-24.5</c:v>
                </c:pt>
                <c:pt idx="37">
                  <c:v>-21.8</c:v>
                </c:pt>
                <c:pt idx="38">
                  <c:v>-25.85</c:v>
                </c:pt>
                <c:pt idx="39">
                  <c:v>-26.95</c:v>
                </c:pt>
                <c:pt idx="40">
                  <c:v>-17.600000000000001</c:v>
                </c:pt>
                <c:pt idx="41">
                  <c:v>-17.899999999999999</c:v>
                </c:pt>
                <c:pt idx="42">
                  <c:v>-11.6</c:v>
                </c:pt>
                <c:pt idx="43">
                  <c:v>-16.02</c:v>
                </c:pt>
                <c:pt idx="44">
                  <c:v>-25.15</c:v>
                </c:pt>
                <c:pt idx="45">
                  <c:v>-29.7</c:v>
                </c:pt>
                <c:pt idx="46">
                  <c:v>-24.05</c:v>
                </c:pt>
                <c:pt idx="47">
                  <c:v>-59.33</c:v>
                </c:pt>
                <c:pt idx="48">
                  <c:v>-52.2</c:v>
                </c:pt>
                <c:pt idx="49">
                  <c:v>-54</c:v>
                </c:pt>
                <c:pt idx="50">
                  <c:v>-47.6</c:v>
                </c:pt>
                <c:pt idx="51">
                  <c:v>-55.15</c:v>
                </c:pt>
                <c:pt idx="52">
                  <c:v>-62.5</c:v>
                </c:pt>
                <c:pt idx="53">
                  <c:v>-59.15</c:v>
                </c:pt>
                <c:pt idx="54">
                  <c:v>-50.55</c:v>
                </c:pt>
                <c:pt idx="55">
                  <c:v>-24.85</c:v>
                </c:pt>
                <c:pt idx="56">
                  <c:v>-27.95</c:v>
                </c:pt>
                <c:pt idx="57">
                  <c:v>-7.87</c:v>
                </c:pt>
                <c:pt idx="58">
                  <c:v>-26.9</c:v>
                </c:pt>
                <c:pt idx="59">
                  <c:v>-18.3</c:v>
                </c:pt>
                <c:pt idx="60">
                  <c:v>-16.8</c:v>
                </c:pt>
                <c:pt idx="61">
                  <c:v>-13.13</c:v>
                </c:pt>
                <c:pt idx="62">
                  <c:v>-13.1</c:v>
                </c:pt>
                <c:pt idx="63">
                  <c:v>-2.88</c:v>
                </c:pt>
                <c:pt idx="64">
                  <c:v>3.1</c:v>
                </c:pt>
                <c:pt idx="65">
                  <c:v>8.5</c:v>
                </c:pt>
                <c:pt idx="66">
                  <c:v>10.73</c:v>
                </c:pt>
                <c:pt idx="67">
                  <c:v>-5.9</c:v>
                </c:pt>
                <c:pt idx="68">
                  <c:v>-12.4</c:v>
                </c:pt>
                <c:pt idx="69">
                  <c:v>-10.45</c:v>
                </c:pt>
                <c:pt idx="70">
                  <c:v>-5.0999999999999996</c:v>
                </c:pt>
                <c:pt idx="71">
                  <c:v>-14.4</c:v>
                </c:pt>
                <c:pt idx="72">
                  <c:v>-16</c:v>
                </c:pt>
                <c:pt idx="73">
                  <c:v>-19.3</c:v>
                </c:pt>
                <c:pt idx="74">
                  <c:v>-7.4</c:v>
                </c:pt>
                <c:pt idx="75">
                  <c:v>-17.399999999999999</c:v>
                </c:pt>
                <c:pt idx="76">
                  <c:v>-23.6</c:v>
                </c:pt>
                <c:pt idx="77">
                  <c:v>-43.2</c:v>
                </c:pt>
                <c:pt idx="78">
                  <c:v>-28.6</c:v>
                </c:pt>
                <c:pt idx="79">
                  <c:v>-37.700000000000003</c:v>
                </c:pt>
                <c:pt idx="80">
                  <c:v>-147.4</c:v>
                </c:pt>
                <c:pt idx="81">
                  <c:v>-87.8</c:v>
                </c:pt>
                <c:pt idx="82">
                  <c:v>-115.15</c:v>
                </c:pt>
                <c:pt idx="83">
                  <c:v>-151.30000000000001</c:v>
                </c:pt>
                <c:pt idx="84">
                  <c:v>-134.19999999999999</c:v>
                </c:pt>
                <c:pt idx="85">
                  <c:v>-120.8</c:v>
                </c:pt>
                <c:pt idx="86">
                  <c:v>-122</c:v>
                </c:pt>
                <c:pt idx="87">
                  <c:v>-123.2</c:v>
                </c:pt>
                <c:pt idx="88">
                  <c:v>-190</c:v>
                </c:pt>
                <c:pt idx="89">
                  <c:v>-186.65</c:v>
                </c:pt>
                <c:pt idx="90">
                  <c:v>-213.1</c:v>
                </c:pt>
                <c:pt idx="91">
                  <c:v>-186</c:v>
                </c:pt>
                <c:pt idx="92">
                  <c:v>-159.4</c:v>
                </c:pt>
                <c:pt idx="93">
                  <c:v>-190.1</c:v>
                </c:pt>
                <c:pt idx="94">
                  <c:v>-201.4</c:v>
                </c:pt>
                <c:pt idx="95">
                  <c:v>-236.1</c:v>
                </c:pt>
                <c:pt idx="96">
                  <c:v>-366.55</c:v>
                </c:pt>
                <c:pt idx="97">
                  <c:v>-420.45</c:v>
                </c:pt>
                <c:pt idx="98">
                  <c:v>-374.3</c:v>
                </c:pt>
                <c:pt idx="99">
                  <c:v>-501</c:v>
                </c:pt>
                <c:pt idx="100">
                  <c:v>-409.5</c:v>
                </c:pt>
                <c:pt idx="101">
                  <c:v>-383.7</c:v>
                </c:pt>
                <c:pt idx="102">
                  <c:v>-282.75</c:v>
                </c:pt>
                <c:pt idx="103">
                  <c:v>-258</c:v>
                </c:pt>
                <c:pt idx="104">
                  <c:v>-231.9</c:v>
                </c:pt>
                <c:pt idx="105">
                  <c:v>-228.9</c:v>
                </c:pt>
                <c:pt idx="106">
                  <c:v>-159.19999999999999</c:v>
                </c:pt>
                <c:pt idx="107">
                  <c:v>-127.7</c:v>
                </c:pt>
                <c:pt idx="108">
                  <c:v>-102.2</c:v>
                </c:pt>
                <c:pt idx="109">
                  <c:v>-78</c:v>
                </c:pt>
                <c:pt idx="110">
                  <c:v>-83.15</c:v>
                </c:pt>
                <c:pt idx="111">
                  <c:v>-98.5</c:v>
                </c:pt>
                <c:pt idx="112">
                  <c:v>-69.650000000000006</c:v>
                </c:pt>
                <c:pt idx="113">
                  <c:v>0.8</c:v>
                </c:pt>
                <c:pt idx="114">
                  <c:v>-12.7</c:v>
                </c:pt>
                <c:pt idx="115">
                  <c:v>-21.7</c:v>
                </c:pt>
                <c:pt idx="116">
                  <c:v>-37</c:v>
                </c:pt>
                <c:pt idx="117">
                  <c:v>-63.1</c:v>
                </c:pt>
                <c:pt idx="118">
                  <c:v>-93.95</c:v>
                </c:pt>
                <c:pt idx="119">
                  <c:v>-131.1</c:v>
                </c:pt>
                <c:pt idx="120">
                  <c:v>-128.4</c:v>
                </c:pt>
                <c:pt idx="121">
                  <c:v>-120</c:v>
                </c:pt>
                <c:pt idx="122">
                  <c:v>-95.8</c:v>
                </c:pt>
                <c:pt idx="123">
                  <c:v>-120.6</c:v>
                </c:pt>
                <c:pt idx="124">
                  <c:v>-182.3</c:v>
                </c:pt>
                <c:pt idx="125">
                  <c:v>-185.5</c:v>
                </c:pt>
                <c:pt idx="126">
                  <c:v>-250.6</c:v>
                </c:pt>
                <c:pt idx="127">
                  <c:v>-222.2</c:v>
                </c:pt>
                <c:pt idx="128">
                  <c:v>-291.60000000000002</c:v>
                </c:pt>
                <c:pt idx="129">
                  <c:v>-224.6</c:v>
                </c:pt>
                <c:pt idx="130">
                  <c:v>-221.9</c:v>
                </c:pt>
                <c:pt idx="131">
                  <c:v>-209.2</c:v>
                </c:pt>
                <c:pt idx="132">
                  <c:v>-200.75</c:v>
                </c:pt>
                <c:pt idx="133">
                  <c:v>-235</c:v>
                </c:pt>
                <c:pt idx="134">
                  <c:v>-216.55</c:v>
                </c:pt>
                <c:pt idx="135">
                  <c:v>-160.94999999999999</c:v>
                </c:pt>
                <c:pt idx="136">
                  <c:v>-188.3</c:v>
                </c:pt>
                <c:pt idx="137">
                  <c:v>-187.7</c:v>
                </c:pt>
                <c:pt idx="138">
                  <c:v>-193.5</c:v>
                </c:pt>
                <c:pt idx="139">
                  <c:v>-149.80000000000001</c:v>
                </c:pt>
                <c:pt idx="140">
                  <c:v>-125.85</c:v>
                </c:pt>
                <c:pt idx="141">
                  <c:v>-121.1</c:v>
                </c:pt>
                <c:pt idx="142">
                  <c:v>-112.5</c:v>
                </c:pt>
                <c:pt idx="143">
                  <c:v>-140.9</c:v>
                </c:pt>
                <c:pt idx="144">
                  <c:v>-130.80000000000001</c:v>
                </c:pt>
                <c:pt idx="145">
                  <c:v>-124.35</c:v>
                </c:pt>
                <c:pt idx="146">
                  <c:v>-114.05</c:v>
                </c:pt>
                <c:pt idx="147">
                  <c:v>-125.3</c:v>
                </c:pt>
                <c:pt idx="148">
                  <c:v>-125.2</c:v>
                </c:pt>
                <c:pt idx="149">
                  <c:v>-130.75</c:v>
                </c:pt>
                <c:pt idx="150">
                  <c:v>-121.8</c:v>
                </c:pt>
                <c:pt idx="151">
                  <c:v>-103.2</c:v>
                </c:pt>
                <c:pt idx="152">
                  <c:v>-97.9</c:v>
                </c:pt>
                <c:pt idx="153">
                  <c:v>-113.1</c:v>
                </c:pt>
                <c:pt idx="154">
                  <c:v>-109.4</c:v>
                </c:pt>
                <c:pt idx="155">
                  <c:v>-85.6</c:v>
                </c:pt>
                <c:pt idx="156">
                  <c:v>-96.1</c:v>
                </c:pt>
                <c:pt idx="157">
                  <c:v>-61.1</c:v>
                </c:pt>
                <c:pt idx="158">
                  <c:v>-45.1</c:v>
                </c:pt>
                <c:pt idx="159">
                  <c:v>-46.1</c:v>
                </c:pt>
                <c:pt idx="160">
                  <c:v>-45.6</c:v>
                </c:pt>
                <c:pt idx="161">
                  <c:v>-48.9</c:v>
                </c:pt>
                <c:pt idx="162">
                  <c:v>-58.2</c:v>
                </c:pt>
                <c:pt idx="163">
                  <c:v>-65.099999999999994</c:v>
                </c:pt>
                <c:pt idx="164">
                  <c:v>-74.8</c:v>
                </c:pt>
                <c:pt idx="165">
                  <c:v>-96.8</c:v>
                </c:pt>
                <c:pt idx="166">
                  <c:v>-85</c:v>
                </c:pt>
                <c:pt idx="167">
                  <c:v>-88.15</c:v>
                </c:pt>
                <c:pt idx="168">
                  <c:v>-80.2</c:v>
                </c:pt>
                <c:pt idx="169">
                  <c:v>-80</c:v>
                </c:pt>
                <c:pt idx="170">
                  <c:v>-56.7</c:v>
                </c:pt>
                <c:pt idx="171">
                  <c:v>-58</c:v>
                </c:pt>
                <c:pt idx="172">
                  <c:v>-46.9</c:v>
                </c:pt>
                <c:pt idx="173">
                  <c:v>-42.2</c:v>
                </c:pt>
                <c:pt idx="174">
                  <c:v>-28.6</c:v>
                </c:pt>
                <c:pt idx="175">
                  <c:v>-32.549999999999997</c:v>
                </c:pt>
                <c:pt idx="176">
                  <c:v>-38.9</c:v>
                </c:pt>
                <c:pt idx="177">
                  <c:v>-52</c:v>
                </c:pt>
                <c:pt idx="178">
                  <c:v>-43.3</c:v>
                </c:pt>
                <c:pt idx="179">
                  <c:v>-42.8</c:v>
                </c:pt>
                <c:pt idx="180">
                  <c:v>-59</c:v>
                </c:pt>
                <c:pt idx="181">
                  <c:v>-76.8</c:v>
                </c:pt>
                <c:pt idx="182">
                  <c:v>-75.2</c:v>
                </c:pt>
                <c:pt idx="183">
                  <c:v>-60.4</c:v>
                </c:pt>
                <c:pt idx="184">
                  <c:v>-77.099999999999994</c:v>
                </c:pt>
                <c:pt idx="185">
                  <c:v>-66.599999999999994</c:v>
                </c:pt>
                <c:pt idx="186">
                  <c:v>-61.5</c:v>
                </c:pt>
                <c:pt idx="187">
                  <c:v>-55.4</c:v>
                </c:pt>
                <c:pt idx="188">
                  <c:v>-55</c:v>
                </c:pt>
                <c:pt idx="189">
                  <c:v>-58.2</c:v>
                </c:pt>
                <c:pt idx="190">
                  <c:v>-59.2</c:v>
                </c:pt>
                <c:pt idx="191">
                  <c:v>-71.2</c:v>
                </c:pt>
                <c:pt idx="192">
                  <c:v>-78.099999999999994</c:v>
                </c:pt>
                <c:pt idx="193">
                  <c:v>-88.9</c:v>
                </c:pt>
                <c:pt idx="194">
                  <c:v>-69.2</c:v>
                </c:pt>
                <c:pt idx="195">
                  <c:v>-72.8</c:v>
                </c:pt>
                <c:pt idx="196">
                  <c:v>-50.45</c:v>
                </c:pt>
                <c:pt idx="197">
                  <c:v>-53.3</c:v>
                </c:pt>
                <c:pt idx="198">
                  <c:v>-37.9</c:v>
                </c:pt>
                <c:pt idx="199">
                  <c:v>-41.5</c:v>
                </c:pt>
                <c:pt idx="200">
                  <c:v>-30.8</c:v>
                </c:pt>
                <c:pt idx="201">
                  <c:v>-23.9</c:v>
                </c:pt>
                <c:pt idx="202">
                  <c:v>-32.9</c:v>
                </c:pt>
                <c:pt idx="203">
                  <c:v>-32.4</c:v>
                </c:pt>
                <c:pt idx="204">
                  <c:v>-36.700000000000003</c:v>
                </c:pt>
                <c:pt idx="205">
                  <c:v>-38.1</c:v>
                </c:pt>
                <c:pt idx="206">
                  <c:v>-35.6</c:v>
                </c:pt>
                <c:pt idx="207">
                  <c:v>-39</c:v>
                </c:pt>
                <c:pt idx="208">
                  <c:v>-51.2</c:v>
                </c:pt>
              </c:numCache>
            </c:numRef>
          </c:yVal>
          <c:smooth val="0"/>
          <c:extLst>
            <c:ext xmlns:c16="http://schemas.microsoft.com/office/drawing/2014/chart" uri="{C3380CC4-5D6E-409C-BE32-E72D297353CC}">
              <c16:uniqueId val="{00000000-3904-4671-863D-E7C3A4E44727}"/>
            </c:ext>
          </c:extLst>
        </c:ser>
        <c:ser>
          <c:idx val="1"/>
          <c:order val="1"/>
          <c:tx>
            <c:strRef>
              <c:f>Sheet1!$B$212</c:f>
              <c:strCache>
                <c:ptCount val="1"/>
                <c:pt idx="0">
                  <c:v>Spain</c:v>
                </c:pt>
              </c:strCache>
            </c:strRef>
          </c:tx>
          <c:spPr>
            <a:ln w="25400">
              <a:solidFill>
                <a:srgbClr val="2A9D8F"/>
              </a:solidFill>
            </a:ln>
          </c:spPr>
          <c:marker>
            <c:symbol val="none"/>
          </c:marker>
          <c:xVal>
            <c:numRef>
              <c:f>Sheet1!$A$213:$A$329</c:f>
              <c:numCache>
                <c:formatCode>General</c:formatCode>
                <c:ptCount val="117"/>
                <c:pt idx="0">
                  <c:v>40823</c:v>
                </c:pt>
                <c:pt idx="1">
                  <c:v>40830</c:v>
                </c:pt>
                <c:pt idx="2">
                  <c:v>40837</c:v>
                </c:pt>
                <c:pt idx="3">
                  <c:v>40844</c:v>
                </c:pt>
                <c:pt idx="4">
                  <c:v>40851</c:v>
                </c:pt>
                <c:pt idx="5">
                  <c:v>40858</c:v>
                </c:pt>
                <c:pt idx="6">
                  <c:v>40865</c:v>
                </c:pt>
                <c:pt idx="7">
                  <c:v>40872</c:v>
                </c:pt>
                <c:pt idx="8">
                  <c:v>40879</c:v>
                </c:pt>
                <c:pt idx="9">
                  <c:v>40886</c:v>
                </c:pt>
                <c:pt idx="10">
                  <c:v>40893</c:v>
                </c:pt>
                <c:pt idx="11">
                  <c:v>40900</c:v>
                </c:pt>
                <c:pt idx="12">
                  <c:v>40907</c:v>
                </c:pt>
                <c:pt idx="13">
                  <c:v>40914</c:v>
                </c:pt>
                <c:pt idx="14">
                  <c:v>40921</c:v>
                </c:pt>
                <c:pt idx="15">
                  <c:v>40928</c:v>
                </c:pt>
                <c:pt idx="16">
                  <c:v>40935</c:v>
                </c:pt>
                <c:pt idx="17">
                  <c:v>40942</c:v>
                </c:pt>
                <c:pt idx="18">
                  <c:v>40949</c:v>
                </c:pt>
                <c:pt idx="19">
                  <c:v>40956</c:v>
                </c:pt>
                <c:pt idx="20">
                  <c:v>40963</c:v>
                </c:pt>
                <c:pt idx="21">
                  <c:v>40970</c:v>
                </c:pt>
                <c:pt idx="22">
                  <c:v>40977</c:v>
                </c:pt>
                <c:pt idx="23">
                  <c:v>40984</c:v>
                </c:pt>
                <c:pt idx="24">
                  <c:v>40991</c:v>
                </c:pt>
                <c:pt idx="25">
                  <c:v>40998</c:v>
                </c:pt>
                <c:pt idx="26">
                  <c:v>41005</c:v>
                </c:pt>
                <c:pt idx="27">
                  <c:v>41012</c:v>
                </c:pt>
                <c:pt idx="28">
                  <c:v>41019</c:v>
                </c:pt>
                <c:pt idx="29">
                  <c:v>41026</c:v>
                </c:pt>
                <c:pt idx="30">
                  <c:v>41033</c:v>
                </c:pt>
                <c:pt idx="31">
                  <c:v>41040</c:v>
                </c:pt>
                <c:pt idx="32">
                  <c:v>41047</c:v>
                </c:pt>
                <c:pt idx="33">
                  <c:v>41054</c:v>
                </c:pt>
                <c:pt idx="34">
                  <c:v>41061</c:v>
                </c:pt>
                <c:pt idx="35">
                  <c:v>41068</c:v>
                </c:pt>
                <c:pt idx="36">
                  <c:v>41075</c:v>
                </c:pt>
                <c:pt idx="37">
                  <c:v>41082</c:v>
                </c:pt>
                <c:pt idx="38">
                  <c:v>41089</c:v>
                </c:pt>
                <c:pt idx="39">
                  <c:v>41096</c:v>
                </c:pt>
                <c:pt idx="40">
                  <c:v>41103</c:v>
                </c:pt>
                <c:pt idx="41">
                  <c:v>41110</c:v>
                </c:pt>
                <c:pt idx="42">
                  <c:v>41117</c:v>
                </c:pt>
                <c:pt idx="43">
                  <c:v>41124</c:v>
                </c:pt>
                <c:pt idx="44">
                  <c:v>41131</c:v>
                </c:pt>
                <c:pt idx="45">
                  <c:v>41138</c:v>
                </c:pt>
                <c:pt idx="46">
                  <c:v>41145</c:v>
                </c:pt>
                <c:pt idx="47">
                  <c:v>41152</c:v>
                </c:pt>
                <c:pt idx="48">
                  <c:v>41159</c:v>
                </c:pt>
                <c:pt idx="49">
                  <c:v>41166</c:v>
                </c:pt>
                <c:pt idx="50">
                  <c:v>41173</c:v>
                </c:pt>
                <c:pt idx="51">
                  <c:v>41180</c:v>
                </c:pt>
                <c:pt idx="52">
                  <c:v>41187</c:v>
                </c:pt>
                <c:pt idx="53">
                  <c:v>41194</c:v>
                </c:pt>
                <c:pt idx="54">
                  <c:v>41201</c:v>
                </c:pt>
                <c:pt idx="55">
                  <c:v>41208</c:v>
                </c:pt>
                <c:pt idx="56">
                  <c:v>41215</c:v>
                </c:pt>
                <c:pt idx="57">
                  <c:v>41222</c:v>
                </c:pt>
                <c:pt idx="58">
                  <c:v>41229</c:v>
                </c:pt>
                <c:pt idx="59">
                  <c:v>41236</c:v>
                </c:pt>
                <c:pt idx="60">
                  <c:v>41243</c:v>
                </c:pt>
                <c:pt idx="61">
                  <c:v>41250</c:v>
                </c:pt>
                <c:pt idx="62">
                  <c:v>41257</c:v>
                </c:pt>
                <c:pt idx="63">
                  <c:v>41264</c:v>
                </c:pt>
                <c:pt idx="64">
                  <c:v>41271</c:v>
                </c:pt>
                <c:pt idx="65">
                  <c:v>41278</c:v>
                </c:pt>
                <c:pt idx="66">
                  <c:v>41285</c:v>
                </c:pt>
                <c:pt idx="67">
                  <c:v>41292</c:v>
                </c:pt>
                <c:pt idx="68">
                  <c:v>41299</c:v>
                </c:pt>
                <c:pt idx="69">
                  <c:v>41306</c:v>
                </c:pt>
                <c:pt idx="70">
                  <c:v>41313</c:v>
                </c:pt>
                <c:pt idx="71">
                  <c:v>41320</c:v>
                </c:pt>
                <c:pt idx="72">
                  <c:v>41327</c:v>
                </c:pt>
                <c:pt idx="73">
                  <c:v>41334</c:v>
                </c:pt>
                <c:pt idx="74">
                  <c:v>41341</c:v>
                </c:pt>
                <c:pt idx="75">
                  <c:v>41348</c:v>
                </c:pt>
                <c:pt idx="76">
                  <c:v>41355</c:v>
                </c:pt>
                <c:pt idx="77">
                  <c:v>41362</c:v>
                </c:pt>
                <c:pt idx="78">
                  <c:v>41369</c:v>
                </c:pt>
                <c:pt idx="79">
                  <c:v>41376</c:v>
                </c:pt>
                <c:pt idx="80">
                  <c:v>41383</c:v>
                </c:pt>
                <c:pt idx="81">
                  <c:v>41390</c:v>
                </c:pt>
                <c:pt idx="82">
                  <c:v>41397</c:v>
                </c:pt>
                <c:pt idx="83">
                  <c:v>41404</c:v>
                </c:pt>
                <c:pt idx="84">
                  <c:v>41411</c:v>
                </c:pt>
                <c:pt idx="85">
                  <c:v>41418</c:v>
                </c:pt>
                <c:pt idx="86">
                  <c:v>41425</c:v>
                </c:pt>
                <c:pt idx="87">
                  <c:v>41432</c:v>
                </c:pt>
                <c:pt idx="88">
                  <c:v>41439</c:v>
                </c:pt>
                <c:pt idx="89">
                  <c:v>41446</c:v>
                </c:pt>
                <c:pt idx="90">
                  <c:v>41453</c:v>
                </c:pt>
                <c:pt idx="91">
                  <c:v>41460</c:v>
                </c:pt>
                <c:pt idx="92">
                  <c:v>41467</c:v>
                </c:pt>
                <c:pt idx="93">
                  <c:v>41474</c:v>
                </c:pt>
                <c:pt idx="94">
                  <c:v>41481</c:v>
                </c:pt>
                <c:pt idx="95">
                  <c:v>41488</c:v>
                </c:pt>
                <c:pt idx="96">
                  <c:v>41495</c:v>
                </c:pt>
                <c:pt idx="97">
                  <c:v>41502</c:v>
                </c:pt>
                <c:pt idx="98">
                  <c:v>41509</c:v>
                </c:pt>
                <c:pt idx="99">
                  <c:v>41516</c:v>
                </c:pt>
                <c:pt idx="100">
                  <c:v>41523</c:v>
                </c:pt>
                <c:pt idx="101">
                  <c:v>41530</c:v>
                </c:pt>
                <c:pt idx="102">
                  <c:v>41537</c:v>
                </c:pt>
                <c:pt idx="103">
                  <c:v>41544</c:v>
                </c:pt>
                <c:pt idx="104">
                  <c:v>41551</c:v>
                </c:pt>
                <c:pt idx="105">
                  <c:v>41558</c:v>
                </c:pt>
                <c:pt idx="106">
                  <c:v>41565</c:v>
                </c:pt>
                <c:pt idx="107">
                  <c:v>41572</c:v>
                </c:pt>
                <c:pt idx="108">
                  <c:v>41579</c:v>
                </c:pt>
                <c:pt idx="109">
                  <c:v>41586</c:v>
                </c:pt>
                <c:pt idx="110">
                  <c:v>41593</c:v>
                </c:pt>
                <c:pt idx="111">
                  <c:v>41600</c:v>
                </c:pt>
                <c:pt idx="112">
                  <c:v>41607</c:v>
                </c:pt>
                <c:pt idx="113">
                  <c:v>41614</c:v>
                </c:pt>
                <c:pt idx="114">
                  <c:v>41621</c:v>
                </c:pt>
                <c:pt idx="115">
                  <c:v>41628</c:v>
                </c:pt>
                <c:pt idx="116">
                  <c:v>41635</c:v>
                </c:pt>
              </c:numCache>
            </c:numRef>
          </c:xVal>
          <c:yVal>
            <c:numRef>
              <c:f>Sheet1!$B$213:$B$329</c:f>
              <c:numCache>
                <c:formatCode>General</c:formatCode>
                <c:ptCount val="117"/>
                <c:pt idx="0">
                  <c:v>-149.44999999999999</c:v>
                </c:pt>
                <c:pt idx="1">
                  <c:v>-160.12</c:v>
                </c:pt>
                <c:pt idx="2">
                  <c:v>-211.85</c:v>
                </c:pt>
                <c:pt idx="3">
                  <c:v>-190.25</c:v>
                </c:pt>
                <c:pt idx="4">
                  <c:v>-228.66</c:v>
                </c:pt>
                <c:pt idx="5">
                  <c:v>-297.99</c:v>
                </c:pt>
                <c:pt idx="6">
                  <c:v>-356.97</c:v>
                </c:pt>
                <c:pt idx="7">
                  <c:v>-363.67</c:v>
                </c:pt>
                <c:pt idx="8">
                  <c:v>-278.66000000000003</c:v>
                </c:pt>
                <c:pt idx="9">
                  <c:v>-267.22000000000003</c:v>
                </c:pt>
                <c:pt idx="10">
                  <c:v>-146.37</c:v>
                </c:pt>
                <c:pt idx="11">
                  <c:v>-156.88999999999999</c:v>
                </c:pt>
                <c:pt idx="12">
                  <c:v>-139.54</c:v>
                </c:pt>
                <c:pt idx="13">
                  <c:v>-140.91999999999999</c:v>
                </c:pt>
                <c:pt idx="14">
                  <c:v>-94.15</c:v>
                </c:pt>
                <c:pt idx="15">
                  <c:v>-104.35</c:v>
                </c:pt>
                <c:pt idx="16">
                  <c:v>-44.75</c:v>
                </c:pt>
                <c:pt idx="17">
                  <c:v>-31.28</c:v>
                </c:pt>
                <c:pt idx="18">
                  <c:v>-33.75</c:v>
                </c:pt>
                <c:pt idx="19">
                  <c:v>-59.61</c:v>
                </c:pt>
                <c:pt idx="20">
                  <c:v>-35.409999999999997</c:v>
                </c:pt>
                <c:pt idx="21">
                  <c:v>2.93</c:v>
                </c:pt>
                <c:pt idx="22">
                  <c:v>-8.52</c:v>
                </c:pt>
                <c:pt idx="23">
                  <c:v>-13.84</c:v>
                </c:pt>
                <c:pt idx="24">
                  <c:v>-57.38</c:v>
                </c:pt>
                <c:pt idx="25">
                  <c:v>-67.81</c:v>
                </c:pt>
                <c:pt idx="26">
                  <c:v>-93.27</c:v>
                </c:pt>
                <c:pt idx="27">
                  <c:v>-145.19999999999999</c:v>
                </c:pt>
                <c:pt idx="28">
                  <c:v>-162.08000000000001</c:v>
                </c:pt>
                <c:pt idx="29">
                  <c:v>-154.15</c:v>
                </c:pt>
                <c:pt idx="30">
                  <c:v>-142.44999999999999</c:v>
                </c:pt>
                <c:pt idx="31">
                  <c:v>-155.78</c:v>
                </c:pt>
                <c:pt idx="32">
                  <c:v>-224.52</c:v>
                </c:pt>
                <c:pt idx="33">
                  <c:v>-222.09</c:v>
                </c:pt>
                <c:pt idx="34">
                  <c:v>-298.08999999999997</c:v>
                </c:pt>
                <c:pt idx="35">
                  <c:v>-248.21</c:v>
                </c:pt>
                <c:pt idx="36">
                  <c:v>-304.06</c:v>
                </c:pt>
                <c:pt idx="37">
                  <c:v>-312.62</c:v>
                </c:pt>
                <c:pt idx="38">
                  <c:v>-299.89999999999998</c:v>
                </c:pt>
                <c:pt idx="39">
                  <c:v>-312.17</c:v>
                </c:pt>
                <c:pt idx="40">
                  <c:v>-271.07</c:v>
                </c:pt>
                <c:pt idx="41">
                  <c:v>-370.65</c:v>
                </c:pt>
                <c:pt idx="42">
                  <c:v>-366.89</c:v>
                </c:pt>
                <c:pt idx="43">
                  <c:v>-215.66</c:v>
                </c:pt>
                <c:pt idx="44">
                  <c:v>-226.17</c:v>
                </c:pt>
                <c:pt idx="45">
                  <c:v>-256.77999999999997</c:v>
                </c:pt>
                <c:pt idx="46">
                  <c:v>-227.34</c:v>
                </c:pt>
                <c:pt idx="47">
                  <c:v>-220.7</c:v>
                </c:pt>
                <c:pt idx="48">
                  <c:v>-178.6</c:v>
                </c:pt>
                <c:pt idx="49">
                  <c:v>-178.61</c:v>
                </c:pt>
                <c:pt idx="50">
                  <c:v>-195.38</c:v>
                </c:pt>
                <c:pt idx="51">
                  <c:v>-216.33</c:v>
                </c:pt>
                <c:pt idx="52">
                  <c:v>-196.5</c:v>
                </c:pt>
                <c:pt idx="53">
                  <c:v>-239.69</c:v>
                </c:pt>
                <c:pt idx="54">
                  <c:v>-195.21</c:v>
                </c:pt>
                <c:pt idx="55">
                  <c:v>-222.07</c:v>
                </c:pt>
                <c:pt idx="56">
                  <c:v>-204.4</c:v>
                </c:pt>
                <c:pt idx="57">
                  <c:v>-224.07</c:v>
                </c:pt>
                <c:pt idx="58">
                  <c:v>-232.7</c:v>
                </c:pt>
                <c:pt idx="59">
                  <c:v>-214.86</c:v>
                </c:pt>
                <c:pt idx="60">
                  <c:v>-185.06</c:v>
                </c:pt>
                <c:pt idx="61">
                  <c:v>-211.73</c:v>
                </c:pt>
                <c:pt idx="62">
                  <c:v>-205.94</c:v>
                </c:pt>
                <c:pt idx="63">
                  <c:v>-180.09</c:v>
                </c:pt>
                <c:pt idx="64">
                  <c:v>-177.49</c:v>
                </c:pt>
                <c:pt idx="65">
                  <c:v>-114.66</c:v>
                </c:pt>
                <c:pt idx="66">
                  <c:v>-86.25</c:v>
                </c:pt>
                <c:pt idx="67">
                  <c:v>-111.1</c:v>
                </c:pt>
                <c:pt idx="68">
                  <c:v>-86.3</c:v>
                </c:pt>
                <c:pt idx="69">
                  <c:v>-86.64</c:v>
                </c:pt>
                <c:pt idx="70">
                  <c:v>-100.08</c:v>
                </c:pt>
                <c:pt idx="71">
                  <c:v>-98.94</c:v>
                </c:pt>
                <c:pt idx="72">
                  <c:v>-100.79</c:v>
                </c:pt>
                <c:pt idx="73">
                  <c:v>-104.68</c:v>
                </c:pt>
                <c:pt idx="74">
                  <c:v>-93.58</c:v>
                </c:pt>
                <c:pt idx="75">
                  <c:v>-100.01</c:v>
                </c:pt>
                <c:pt idx="76">
                  <c:v>-91.68</c:v>
                </c:pt>
                <c:pt idx="77">
                  <c:v>-101.48</c:v>
                </c:pt>
                <c:pt idx="78">
                  <c:v>-88</c:v>
                </c:pt>
                <c:pt idx="79">
                  <c:v>-76.8</c:v>
                </c:pt>
                <c:pt idx="80">
                  <c:v>-80.63</c:v>
                </c:pt>
                <c:pt idx="81">
                  <c:v>-70.84</c:v>
                </c:pt>
                <c:pt idx="82">
                  <c:v>-44.51</c:v>
                </c:pt>
                <c:pt idx="83">
                  <c:v>-55.4</c:v>
                </c:pt>
                <c:pt idx="84">
                  <c:v>-62.53</c:v>
                </c:pt>
                <c:pt idx="85">
                  <c:v>-76.73</c:v>
                </c:pt>
                <c:pt idx="86">
                  <c:v>-73.75</c:v>
                </c:pt>
                <c:pt idx="87">
                  <c:v>-76.55</c:v>
                </c:pt>
                <c:pt idx="88">
                  <c:v>-89.04</c:v>
                </c:pt>
                <c:pt idx="89">
                  <c:v>-105.06</c:v>
                </c:pt>
                <c:pt idx="90">
                  <c:v>-107.67</c:v>
                </c:pt>
                <c:pt idx="91">
                  <c:v>-78.95</c:v>
                </c:pt>
                <c:pt idx="92">
                  <c:v>-97.28</c:v>
                </c:pt>
                <c:pt idx="93">
                  <c:v>-98.48</c:v>
                </c:pt>
                <c:pt idx="94">
                  <c:v>-80.540000000000006</c:v>
                </c:pt>
                <c:pt idx="95">
                  <c:v>-74.36</c:v>
                </c:pt>
                <c:pt idx="96">
                  <c:v>-69.19</c:v>
                </c:pt>
                <c:pt idx="97">
                  <c:v>-69.28</c:v>
                </c:pt>
                <c:pt idx="98">
                  <c:v>-75.97</c:v>
                </c:pt>
                <c:pt idx="99">
                  <c:v>-82.38</c:v>
                </c:pt>
                <c:pt idx="100">
                  <c:v>-81.93</c:v>
                </c:pt>
                <c:pt idx="101">
                  <c:v>-81.400000000000006</c:v>
                </c:pt>
                <c:pt idx="102">
                  <c:v>-75.86</c:v>
                </c:pt>
                <c:pt idx="103">
                  <c:v>-69.489999999999995</c:v>
                </c:pt>
                <c:pt idx="104">
                  <c:v>-47.04</c:v>
                </c:pt>
                <c:pt idx="105">
                  <c:v>-51.26</c:v>
                </c:pt>
                <c:pt idx="106">
                  <c:v>-43.21</c:v>
                </c:pt>
                <c:pt idx="107">
                  <c:v>-44.8</c:v>
                </c:pt>
                <c:pt idx="108">
                  <c:v>-29.02</c:v>
                </c:pt>
                <c:pt idx="109">
                  <c:v>-22.89</c:v>
                </c:pt>
                <c:pt idx="110">
                  <c:v>-22.42</c:v>
                </c:pt>
                <c:pt idx="111">
                  <c:v>-31.19</c:v>
                </c:pt>
                <c:pt idx="112">
                  <c:v>-41.04</c:v>
                </c:pt>
                <c:pt idx="113">
                  <c:v>-49.72</c:v>
                </c:pt>
                <c:pt idx="114">
                  <c:v>-43.84</c:v>
                </c:pt>
                <c:pt idx="115">
                  <c:v>-52.87</c:v>
                </c:pt>
                <c:pt idx="116">
                  <c:v>-52.97</c:v>
                </c:pt>
              </c:numCache>
            </c:numRef>
          </c:yVal>
          <c:smooth val="0"/>
          <c:extLst>
            <c:ext xmlns:c16="http://schemas.microsoft.com/office/drawing/2014/chart" uri="{C3380CC4-5D6E-409C-BE32-E72D297353CC}">
              <c16:uniqueId val="{00000001-3904-4671-863D-E7C3A4E44727}"/>
            </c:ext>
          </c:extLst>
        </c:ser>
        <c:ser>
          <c:idx val="2"/>
          <c:order val="2"/>
          <c:tx>
            <c:strRef>
              <c:f>Sheet1!$B$331</c:f>
              <c:strCache>
                <c:ptCount val="1"/>
                <c:pt idx="0">
                  <c:v>France</c:v>
                </c:pt>
              </c:strCache>
            </c:strRef>
          </c:tx>
          <c:spPr>
            <a:ln w="25400">
              <a:solidFill>
                <a:srgbClr val="011C40"/>
              </a:solidFill>
            </a:ln>
          </c:spPr>
          <c:marker>
            <c:symbol val="none"/>
          </c:marker>
          <c:xVal>
            <c:numRef>
              <c:f>Sheet1!$A$332:$A$540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Sheet1!$B$332:$B$540</c:f>
              <c:numCache>
                <c:formatCode>General</c:formatCode>
                <c:ptCount val="209"/>
                <c:pt idx="0">
                  <c:v>48.8</c:v>
                </c:pt>
                <c:pt idx="1">
                  <c:v>54.25</c:v>
                </c:pt>
                <c:pt idx="2">
                  <c:v>51.7</c:v>
                </c:pt>
                <c:pt idx="3">
                  <c:v>51.35</c:v>
                </c:pt>
                <c:pt idx="4">
                  <c:v>52.55</c:v>
                </c:pt>
                <c:pt idx="5">
                  <c:v>55.2</c:v>
                </c:pt>
                <c:pt idx="6">
                  <c:v>53.77</c:v>
                </c:pt>
                <c:pt idx="7">
                  <c:v>53.35</c:v>
                </c:pt>
                <c:pt idx="8">
                  <c:v>53.17</c:v>
                </c:pt>
                <c:pt idx="9">
                  <c:v>54.75</c:v>
                </c:pt>
                <c:pt idx="10">
                  <c:v>51.9</c:v>
                </c:pt>
                <c:pt idx="11">
                  <c:v>49.5</c:v>
                </c:pt>
                <c:pt idx="12">
                  <c:v>48.4</c:v>
                </c:pt>
                <c:pt idx="13">
                  <c:v>46.3</c:v>
                </c:pt>
                <c:pt idx="14">
                  <c:v>45.9</c:v>
                </c:pt>
                <c:pt idx="15">
                  <c:v>47.85</c:v>
                </c:pt>
                <c:pt idx="16">
                  <c:v>51.3</c:v>
                </c:pt>
                <c:pt idx="17">
                  <c:v>54.7</c:v>
                </c:pt>
                <c:pt idx="18">
                  <c:v>74.2</c:v>
                </c:pt>
                <c:pt idx="19">
                  <c:v>69.8</c:v>
                </c:pt>
                <c:pt idx="20">
                  <c:v>72.400000000000006</c:v>
                </c:pt>
                <c:pt idx="21">
                  <c:v>77.2</c:v>
                </c:pt>
                <c:pt idx="22">
                  <c:v>70.25</c:v>
                </c:pt>
                <c:pt idx="23">
                  <c:v>68.099999999999994</c:v>
                </c:pt>
                <c:pt idx="24">
                  <c:v>69.400000000000006</c:v>
                </c:pt>
                <c:pt idx="25">
                  <c:v>64.05</c:v>
                </c:pt>
                <c:pt idx="26">
                  <c:v>63.35</c:v>
                </c:pt>
                <c:pt idx="27">
                  <c:v>54.1</c:v>
                </c:pt>
                <c:pt idx="28">
                  <c:v>47.85</c:v>
                </c:pt>
                <c:pt idx="29">
                  <c:v>52.9</c:v>
                </c:pt>
                <c:pt idx="30">
                  <c:v>52</c:v>
                </c:pt>
                <c:pt idx="31">
                  <c:v>52.5</c:v>
                </c:pt>
                <c:pt idx="32">
                  <c:v>58.2</c:v>
                </c:pt>
                <c:pt idx="33">
                  <c:v>58.25</c:v>
                </c:pt>
                <c:pt idx="34">
                  <c:v>60.2</c:v>
                </c:pt>
                <c:pt idx="35">
                  <c:v>59.4</c:v>
                </c:pt>
                <c:pt idx="36">
                  <c:v>61</c:v>
                </c:pt>
                <c:pt idx="37">
                  <c:v>60.8</c:v>
                </c:pt>
                <c:pt idx="38">
                  <c:v>56.15</c:v>
                </c:pt>
                <c:pt idx="39">
                  <c:v>51.75</c:v>
                </c:pt>
                <c:pt idx="40">
                  <c:v>52.4</c:v>
                </c:pt>
                <c:pt idx="41">
                  <c:v>51.3</c:v>
                </c:pt>
                <c:pt idx="42">
                  <c:v>46.2</c:v>
                </c:pt>
                <c:pt idx="43">
                  <c:v>44.88</c:v>
                </c:pt>
                <c:pt idx="44">
                  <c:v>49.25</c:v>
                </c:pt>
                <c:pt idx="45">
                  <c:v>50.6</c:v>
                </c:pt>
                <c:pt idx="46">
                  <c:v>48.65</c:v>
                </c:pt>
                <c:pt idx="47">
                  <c:v>52.88</c:v>
                </c:pt>
                <c:pt idx="48">
                  <c:v>51.6</c:v>
                </c:pt>
                <c:pt idx="49">
                  <c:v>58.8</c:v>
                </c:pt>
                <c:pt idx="50">
                  <c:v>61.9</c:v>
                </c:pt>
                <c:pt idx="51">
                  <c:v>62.45</c:v>
                </c:pt>
                <c:pt idx="52">
                  <c:v>62.8</c:v>
                </c:pt>
                <c:pt idx="53">
                  <c:v>64.150000000000006</c:v>
                </c:pt>
                <c:pt idx="54">
                  <c:v>65.849999999999994</c:v>
                </c:pt>
                <c:pt idx="55">
                  <c:v>56.35</c:v>
                </c:pt>
                <c:pt idx="56">
                  <c:v>53.35</c:v>
                </c:pt>
                <c:pt idx="57">
                  <c:v>56.03</c:v>
                </c:pt>
                <c:pt idx="58">
                  <c:v>54.9</c:v>
                </c:pt>
                <c:pt idx="59">
                  <c:v>55.5</c:v>
                </c:pt>
                <c:pt idx="60">
                  <c:v>53.1</c:v>
                </c:pt>
                <c:pt idx="61">
                  <c:v>53.48</c:v>
                </c:pt>
                <c:pt idx="62">
                  <c:v>53.7</c:v>
                </c:pt>
                <c:pt idx="63">
                  <c:v>56.53</c:v>
                </c:pt>
                <c:pt idx="64">
                  <c:v>56.5</c:v>
                </c:pt>
                <c:pt idx="65">
                  <c:v>58.9</c:v>
                </c:pt>
                <c:pt idx="66">
                  <c:v>52.52</c:v>
                </c:pt>
                <c:pt idx="67">
                  <c:v>54.4</c:v>
                </c:pt>
                <c:pt idx="68">
                  <c:v>56.6</c:v>
                </c:pt>
                <c:pt idx="69">
                  <c:v>54.55</c:v>
                </c:pt>
                <c:pt idx="70">
                  <c:v>48.7</c:v>
                </c:pt>
                <c:pt idx="71">
                  <c:v>51.9</c:v>
                </c:pt>
                <c:pt idx="72">
                  <c:v>53.2</c:v>
                </c:pt>
                <c:pt idx="73">
                  <c:v>54.8</c:v>
                </c:pt>
                <c:pt idx="74">
                  <c:v>54.2</c:v>
                </c:pt>
                <c:pt idx="75">
                  <c:v>50.5</c:v>
                </c:pt>
                <c:pt idx="76">
                  <c:v>49</c:v>
                </c:pt>
                <c:pt idx="77">
                  <c:v>53.1</c:v>
                </c:pt>
                <c:pt idx="78">
                  <c:v>57</c:v>
                </c:pt>
                <c:pt idx="79">
                  <c:v>55.9</c:v>
                </c:pt>
                <c:pt idx="80">
                  <c:v>63.1</c:v>
                </c:pt>
                <c:pt idx="81">
                  <c:v>59.7</c:v>
                </c:pt>
                <c:pt idx="82">
                  <c:v>65.75</c:v>
                </c:pt>
                <c:pt idx="83">
                  <c:v>80.2</c:v>
                </c:pt>
                <c:pt idx="84">
                  <c:v>79.599999999999994</c:v>
                </c:pt>
                <c:pt idx="85">
                  <c:v>83.7</c:v>
                </c:pt>
                <c:pt idx="86">
                  <c:v>85.4</c:v>
                </c:pt>
                <c:pt idx="87">
                  <c:v>85.4</c:v>
                </c:pt>
                <c:pt idx="88">
                  <c:v>95.3</c:v>
                </c:pt>
                <c:pt idx="89">
                  <c:v>91.85</c:v>
                </c:pt>
                <c:pt idx="90">
                  <c:v>101.5</c:v>
                </c:pt>
                <c:pt idx="91">
                  <c:v>97.5</c:v>
                </c:pt>
                <c:pt idx="92">
                  <c:v>97.1</c:v>
                </c:pt>
                <c:pt idx="93">
                  <c:v>98.3</c:v>
                </c:pt>
                <c:pt idx="94">
                  <c:v>79.599999999999994</c:v>
                </c:pt>
                <c:pt idx="95">
                  <c:v>83.2</c:v>
                </c:pt>
                <c:pt idx="96">
                  <c:v>83.55</c:v>
                </c:pt>
                <c:pt idx="97">
                  <c:v>56.05</c:v>
                </c:pt>
                <c:pt idx="98">
                  <c:v>69.8</c:v>
                </c:pt>
                <c:pt idx="99">
                  <c:v>62.6</c:v>
                </c:pt>
                <c:pt idx="100">
                  <c:v>94.5</c:v>
                </c:pt>
                <c:pt idx="101">
                  <c:v>84.3</c:v>
                </c:pt>
                <c:pt idx="102">
                  <c:v>126.85</c:v>
                </c:pt>
                <c:pt idx="103">
                  <c:v>136.6</c:v>
                </c:pt>
                <c:pt idx="104">
                  <c:v>126.7</c:v>
                </c:pt>
                <c:pt idx="105">
                  <c:v>92.8</c:v>
                </c:pt>
                <c:pt idx="106">
                  <c:v>92.8</c:v>
                </c:pt>
                <c:pt idx="107">
                  <c:v>87</c:v>
                </c:pt>
                <c:pt idx="108">
                  <c:v>84.1</c:v>
                </c:pt>
                <c:pt idx="109">
                  <c:v>84</c:v>
                </c:pt>
                <c:pt idx="110">
                  <c:v>83.75</c:v>
                </c:pt>
                <c:pt idx="111">
                  <c:v>80.900000000000006</c:v>
                </c:pt>
                <c:pt idx="112">
                  <c:v>80.95</c:v>
                </c:pt>
                <c:pt idx="113">
                  <c:v>86.8</c:v>
                </c:pt>
                <c:pt idx="114">
                  <c:v>87.8</c:v>
                </c:pt>
                <c:pt idx="115">
                  <c:v>86.2</c:v>
                </c:pt>
                <c:pt idx="116">
                  <c:v>81.099999999999994</c:v>
                </c:pt>
                <c:pt idx="117">
                  <c:v>79.7</c:v>
                </c:pt>
                <c:pt idx="118">
                  <c:v>77.45</c:v>
                </c:pt>
                <c:pt idx="119">
                  <c:v>78.400000000000006</c:v>
                </c:pt>
                <c:pt idx="120">
                  <c:v>77.5</c:v>
                </c:pt>
                <c:pt idx="121">
                  <c:v>76.5</c:v>
                </c:pt>
                <c:pt idx="122">
                  <c:v>72.2</c:v>
                </c:pt>
                <c:pt idx="123">
                  <c:v>76.7</c:v>
                </c:pt>
                <c:pt idx="124">
                  <c:v>79.3</c:v>
                </c:pt>
                <c:pt idx="125">
                  <c:v>75.8</c:v>
                </c:pt>
                <c:pt idx="126">
                  <c:v>70.900000000000006</c:v>
                </c:pt>
                <c:pt idx="127">
                  <c:v>67.7</c:v>
                </c:pt>
                <c:pt idx="128">
                  <c:v>66.5</c:v>
                </c:pt>
                <c:pt idx="129">
                  <c:v>68.599999999999994</c:v>
                </c:pt>
                <c:pt idx="130">
                  <c:v>67.7</c:v>
                </c:pt>
                <c:pt idx="131">
                  <c:v>69.8</c:v>
                </c:pt>
                <c:pt idx="132">
                  <c:v>71.2</c:v>
                </c:pt>
                <c:pt idx="133">
                  <c:v>66.099999999999994</c:v>
                </c:pt>
                <c:pt idx="134">
                  <c:v>59.95</c:v>
                </c:pt>
                <c:pt idx="135">
                  <c:v>61.4</c:v>
                </c:pt>
                <c:pt idx="136">
                  <c:v>59.2</c:v>
                </c:pt>
                <c:pt idx="137">
                  <c:v>55.3</c:v>
                </c:pt>
                <c:pt idx="138">
                  <c:v>53.3</c:v>
                </c:pt>
                <c:pt idx="139">
                  <c:v>48.4</c:v>
                </c:pt>
                <c:pt idx="140">
                  <c:v>47.65</c:v>
                </c:pt>
                <c:pt idx="141">
                  <c:v>44.8</c:v>
                </c:pt>
                <c:pt idx="142">
                  <c:v>37.9</c:v>
                </c:pt>
                <c:pt idx="143">
                  <c:v>38.1</c:v>
                </c:pt>
                <c:pt idx="144">
                  <c:v>38.4</c:v>
                </c:pt>
                <c:pt idx="145">
                  <c:v>39.15</c:v>
                </c:pt>
                <c:pt idx="146">
                  <c:v>38.75</c:v>
                </c:pt>
                <c:pt idx="147">
                  <c:v>38.700000000000003</c:v>
                </c:pt>
                <c:pt idx="148">
                  <c:v>37.799999999999997</c:v>
                </c:pt>
                <c:pt idx="149">
                  <c:v>33.549999999999997</c:v>
                </c:pt>
                <c:pt idx="150">
                  <c:v>33.200000000000003</c:v>
                </c:pt>
                <c:pt idx="151">
                  <c:v>33.4</c:v>
                </c:pt>
                <c:pt idx="152">
                  <c:v>33.5</c:v>
                </c:pt>
                <c:pt idx="153">
                  <c:v>29.9</c:v>
                </c:pt>
                <c:pt idx="154">
                  <c:v>28.6</c:v>
                </c:pt>
                <c:pt idx="155">
                  <c:v>30.4</c:v>
                </c:pt>
                <c:pt idx="156">
                  <c:v>30.1</c:v>
                </c:pt>
                <c:pt idx="157">
                  <c:v>31.6</c:v>
                </c:pt>
                <c:pt idx="158">
                  <c:v>34.700000000000003</c:v>
                </c:pt>
                <c:pt idx="159">
                  <c:v>35.5</c:v>
                </c:pt>
                <c:pt idx="160">
                  <c:v>32.1</c:v>
                </c:pt>
                <c:pt idx="161">
                  <c:v>33.1</c:v>
                </c:pt>
                <c:pt idx="162">
                  <c:v>32.1</c:v>
                </c:pt>
                <c:pt idx="163">
                  <c:v>30.3</c:v>
                </c:pt>
                <c:pt idx="164">
                  <c:v>28.2</c:v>
                </c:pt>
                <c:pt idx="165">
                  <c:v>26.1</c:v>
                </c:pt>
                <c:pt idx="166">
                  <c:v>27.1</c:v>
                </c:pt>
                <c:pt idx="167">
                  <c:v>26.45</c:v>
                </c:pt>
                <c:pt idx="168">
                  <c:v>32</c:v>
                </c:pt>
                <c:pt idx="169">
                  <c:v>32.799999999999997</c:v>
                </c:pt>
                <c:pt idx="170">
                  <c:v>28.1</c:v>
                </c:pt>
                <c:pt idx="171">
                  <c:v>30.3</c:v>
                </c:pt>
                <c:pt idx="172">
                  <c:v>27.9</c:v>
                </c:pt>
                <c:pt idx="173">
                  <c:v>28.2</c:v>
                </c:pt>
                <c:pt idx="174">
                  <c:v>29</c:v>
                </c:pt>
                <c:pt idx="175">
                  <c:v>29.15</c:v>
                </c:pt>
                <c:pt idx="176">
                  <c:v>27.4</c:v>
                </c:pt>
                <c:pt idx="177">
                  <c:v>27.2</c:v>
                </c:pt>
                <c:pt idx="178">
                  <c:v>26.7</c:v>
                </c:pt>
                <c:pt idx="179">
                  <c:v>27.2</c:v>
                </c:pt>
                <c:pt idx="180">
                  <c:v>26.1</c:v>
                </c:pt>
                <c:pt idx="181">
                  <c:v>28.7</c:v>
                </c:pt>
                <c:pt idx="182">
                  <c:v>27.1</c:v>
                </c:pt>
                <c:pt idx="183">
                  <c:v>29.3</c:v>
                </c:pt>
                <c:pt idx="184">
                  <c:v>29.8</c:v>
                </c:pt>
                <c:pt idx="185">
                  <c:v>27.9</c:v>
                </c:pt>
                <c:pt idx="186">
                  <c:v>26.5</c:v>
                </c:pt>
                <c:pt idx="187">
                  <c:v>27.1</c:v>
                </c:pt>
                <c:pt idx="188">
                  <c:v>28.7</c:v>
                </c:pt>
                <c:pt idx="189">
                  <c:v>27.9</c:v>
                </c:pt>
                <c:pt idx="190">
                  <c:v>27.1</c:v>
                </c:pt>
                <c:pt idx="191">
                  <c:v>25.1</c:v>
                </c:pt>
                <c:pt idx="192">
                  <c:v>24.6</c:v>
                </c:pt>
                <c:pt idx="193">
                  <c:v>23.8</c:v>
                </c:pt>
                <c:pt idx="194">
                  <c:v>22.7</c:v>
                </c:pt>
                <c:pt idx="195">
                  <c:v>24</c:v>
                </c:pt>
                <c:pt idx="196">
                  <c:v>24.15</c:v>
                </c:pt>
                <c:pt idx="197">
                  <c:v>26.4</c:v>
                </c:pt>
                <c:pt idx="198">
                  <c:v>25.5</c:v>
                </c:pt>
                <c:pt idx="199">
                  <c:v>25.4</c:v>
                </c:pt>
                <c:pt idx="200">
                  <c:v>22.7</c:v>
                </c:pt>
                <c:pt idx="201">
                  <c:v>22.4</c:v>
                </c:pt>
                <c:pt idx="202">
                  <c:v>23.1</c:v>
                </c:pt>
                <c:pt idx="203">
                  <c:v>21.6</c:v>
                </c:pt>
                <c:pt idx="204">
                  <c:v>22.3</c:v>
                </c:pt>
                <c:pt idx="205">
                  <c:v>21.7</c:v>
                </c:pt>
                <c:pt idx="206">
                  <c:v>19.600000000000001</c:v>
                </c:pt>
                <c:pt idx="207">
                  <c:v>19.899999999999999</c:v>
                </c:pt>
                <c:pt idx="208">
                  <c:v>20.9</c:v>
                </c:pt>
              </c:numCache>
            </c:numRef>
          </c:yVal>
          <c:smooth val="0"/>
          <c:extLst>
            <c:ext xmlns:c16="http://schemas.microsoft.com/office/drawing/2014/chart" uri="{C3380CC4-5D6E-409C-BE32-E72D297353CC}">
              <c16:uniqueId val="{00000002-3904-4671-863D-E7C3A4E44727}"/>
            </c:ext>
          </c:extLst>
        </c:ser>
        <c:ser>
          <c:idx val="3"/>
          <c:order val="3"/>
          <c:tx>
            <c:strRef>
              <c:f>Sheet1!$B$542</c:f>
              <c:strCache>
                <c:ptCount val="1"/>
                <c:pt idx="0">
                  <c:v>Break-even</c:v>
                </c:pt>
              </c:strCache>
            </c:strRef>
          </c:tx>
          <c:spPr>
            <a:ln w="19050">
              <a:solidFill>
                <a:srgbClr val="5A6172"/>
              </a:solidFill>
              <a:prstDash val="dash"/>
            </a:ln>
          </c:spPr>
          <c:marker>
            <c:symbol val="none"/>
          </c:marker>
          <c:dLbls>
            <c:dLbl>
              <c:idx val="1"/>
              <c:tx>
                <c:rich>
                  <a:bodyPr/>
                  <a:lstStyle/>
                  <a:p>
                    <a:r>
                      <a:rPr lang="en-US" sz="1100" b="1">
                        <a:solidFill>
                          <a:srgbClr val="5A6172"/>
                        </a:solidFill>
                        <a:latin typeface="Garamond"/>
                      </a:rPr>
                      <a:t>break-even −445bp</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904-4671-863D-E7C3A4E4472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Sheet1!$A$543:$A$544</c:f>
              <c:numCache>
                <c:formatCode>General</c:formatCode>
                <c:ptCount val="2"/>
                <c:pt idx="0">
                  <c:v>40179</c:v>
                </c:pt>
                <c:pt idx="1">
                  <c:v>41639</c:v>
                </c:pt>
              </c:numCache>
            </c:numRef>
          </c:xVal>
          <c:yVal>
            <c:numRef>
              <c:f>Sheet1!$B$543:$B$544</c:f>
              <c:numCache>
                <c:formatCode>General</c:formatCode>
                <c:ptCount val="2"/>
                <c:pt idx="0">
                  <c:v>-445</c:v>
                </c:pt>
                <c:pt idx="1">
                  <c:v>-445</c:v>
                </c:pt>
              </c:numCache>
            </c:numRef>
          </c:yVal>
          <c:smooth val="0"/>
          <c:extLst>
            <c:ext xmlns:c16="http://schemas.microsoft.com/office/drawing/2014/chart" uri="{C3380CC4-5D6E-409C-BE32-E72D297353CC}">
              <c16:uniqueId val="{00000004-3904-4671-863D-E7C3A4E44727}"/>
            </c:ext>
          </c:extLst>
        </c:ser>
        <c:dLbls>
          <c:showLegendKey val="0"/>
          <c:showVal val="0"/>
          <c:showCatName val="0"/>
          <c:showSerName val="0"/>
          <c:showPercent val="0"/>
          <c:showBubbleSize val="0"/>
        </c:dLbls>
        <c:axId val="-2128940872"/>
        <c:axId val="-2129643912"/>
      </c:scatterChart>
      <c:valAx>
        <c:axId val="-2128940872"/>
        <c:scaling>
          <c:orientation val="minMax"/>
          <c:max val="41820"/>
          <c:min val="40179"/>
        </c:scaling>
        <c:delete val="0"/>
        <c:axPos val="b"/>
        <c:numFmt formatCode="yyyy" sourceLinked="0"/>
        <c:majorTickMark val="out"/>
        <c:minorTickMark val="none"/>
        <c:tickLblPos val="low"/>
        <c:spPr>
          <a:ln>
            <a:solidFill>
              <a:srgbClr val="DCE3EF"/>
            </a:solidFill>
          </a:ln>
        </c:spPr>
        <c:txPr>
          <a:bodyPr/>
          <a:lstStyle/>
          <a:p>
            <a:pPr>
              <a:defRPr sz="1100">
                <a:solidFill>
                  <a:srgbClr val="5A6172"/>
                </a:solidFill>
              </a:defRPr>
            </a:pPr>
            <a:endParaRPr lang="en-US"/>
          </a:p>
        </c:txPr>
        <c:crossAx val="-2129643912"/>
        <c:crosses val="autoZero"/>
        <c:crossBetween val="midCat"/>
        <c:majorUnit val="366"/>
      </c:valAx>
      <c:valAx>
        <c:axId val="-2129643912"/>
        <c:scaling>
          <c:orientation val="minMax"/>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1100">
                <a:solidFill>
                  <a:srgbClr val="5A6172"/>
                </a:solidFill>
              </a:defRPr>
            </a:pPr>
            <a:endParaRPr lang="en-US"/>
          </a:p>
        </c:txPr>
        <c:crossAx val="-2128940872"/>
        <c:crosses val="autoZero"/>
        <c:crossBetween val="midCat"/>
      </c:valAx>
    </c:plotArea>
    <c:legend>
      <c:legendPos val="t"/>
      <c:overlay val="0"/>
      <c:txPr>
        <a:bodyPr/>
        <a:lstStyle/>
        <a:p>
          <a:pPr>
            <a:defRPr sz="1100">
              <a:solidFill>
                <a:srgbClr val="5A6172"/>
              </a:solidFill>
            </a:defRPr>
          </a:pPr>
          <a:endParaRPr lang="en-US"/>
        </a:p>
      </c:txPr>
    </c:legend>
    <c:plotVisOnly val="1"/>
    <c:dispBlanksAs val="gap"/>
    <c:showDLblsOverMax val="0"/>
  </c:chart>
  <c:txPr>
    <a:bodyPr/>
    <a:lstStyle/>
    <a:p>
      <a:pPr>
        <a:defRPr sz="1100">
          <a:latin typeface="Garamond"/>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
          <c:y val="0.1"/>
          <c:w val="0.88"/>
          <c:h val="0.8"/>
        </c:manualLayout>
      </c:layout>
      <c:scatterChart>
        <c:scatterStyle val="lineMarker"/>
        <c:varyColors val="0"/>
        <c:ser>
          <c:idx val="0"/>
          <c:order val="0"/>
          <c:tx>
            <c:strRef>
              <c:f>Sheet1!$B$1</c:f>
              <c:strCache>
                <c:ptCount val="1"/>
                <c:pt idx="0">
                  <c:v>Italy</c:v>
                </c:pt>
              </c:strCache>
            </c:strRef>
          </c:tx>
          <c:spPr>
            <a:ln w="25400">
              <a:solidFill>
                <a:srgbClr val="B3332E"/>
              </a:solidFill>
            </a:ln>
          </c:spPr>
          <c:marker>
            <c:symbol val="none"/>
          </c:marker>
          <c:xVal>
            <c:numRef>
              <c:f>Sheet1!$A$2:$A$210</c:f>
              <c:numCache>
                <c:formatCode>General</c:formatCode>
                <c:ptCount val="209"/>
                <c:pt idx="0">
                  <c:v>40179</c:v>
                </c:pt>
                <c:pt idx="1">
                  <c:v>40186</c:v>
                </c:pt>
                <c:pt idx="2">
                  <c:v>40193</c:v>
                </c:pt>
                <c:pt idx="3">
                  <c:v>40200</c:v>
                </c:pt>
                <c:pt idx="4">
                  <c:v>40207</c:v>
                </c:pt>
                <c:pt idx="5">
                  <c:v>40214</c:v>
                </c:pt>
                <c:pt idx="6">
                  <c:v>40221</c:v>
                </c:pt>
                <c:pt idx="7">
                  <c:v>40228</c:v>
                </c:pt>
                <c:pt idx="8">
                  <c:v>40235</c:v>
                </c:pt>
                <c:pt idx="9">
                  <c:v>40242</c:v>
                </c:pt>
                <c:pt idx="10">
                  <c:v>40249</c:v>
                </c:pt>
                <c:pt idx="11">
                  <c:v>40256</c:v>
                </c:pt>
                <c:pt idx="12">
                  <c:v>40263</c:v>
                </c:pt>
                <c:pt idx="13">
                  <c:v>40270</c:v>
                </c:pt>
                <c:pt idx="14">
                  <c:v>40277</c:v>
                </c:pt>
                <c:pt idx="15">
                  <c:v>40284</c:v>
                </c:pt>
                <c:pt idx="16">
                  <c:v>40291</c:v>
                </c:pt>
                <c:pt idx="17">
                  <c:v>40298</c:v>
                </c:pt>
                <c:pt idx="18">
                  <c:v>40305</c:v>
                </c:pt>
                <c:pt idx="19">
                  <c:v>40312</c:v>
                </c:pt>
                <c:pt idx="20">
                  <c:v>40319</c:v>
                </c:pt>
                <c:pt idx="21">
                  <c:v>40326</c:v>
                </c:pt>
                <c:pt idx="22">
                  <c:v>40333</c:v>
                </c:pt>
                <c:pt idx="23">
                  <c:v>40340</c:v>
                </c:pt>
                <c:pt idx="24">
                  <c:v>40347</c:v>
                </c:pt>
                <c:pt idx="25">
                  <c:v>40354</c:v>
                </c:pt>
                <c:pt idx="26">
                  <c:v>40361</c:v>
                </c:pt>
                <c:pt idx="27">
                  <c:v>40368</c:v>
                </c:pt>
                <c:pt idx="28">
                  <c:v>40375</c:v>
                </c:pt>
                <c:pt idx="29">
                  <c:v>40382</c:v>
                </c:pt>
                <c:pt idx="30">
                  <c:v>40389</c:v>
                </c:pt>
                <c:pt idx="31">
                  <c:v>40396</c:v>
                </c:pt>
                <c:pt idx="32">
                  <c:v>40403</c:v>
                </c:pt>
                <c:pt idx="33">
                  <c:v>40410</c:v>
                </c:pt>
                <c:pt idx="34">
                  <c:v>40417</c:v>
                </c:pt>
                <c:pt idx="35">
                  <c:v>40424</c:v>
                </c:pt>
                <c:pt idx="36">
                  <c:v>40431</c:v>
                </c:pt>
                <c:pt idx="37">
                  <c:v>40438</c:v>
                </c:pt>
                <c:pt idx="38">
                  <c:v>40445</c:v>
                </c:pt>
                <c:pt idx="39">
                  <c:v>40452</c:v>
                </c:pt>
                <c:pt idx="40">
                  <c:v>40459</c:v>
                </c:pt>
                <c:pt idx="41">
                  <c:v>40466</c:v>
                </c:pt>
                <c:pt idx="42">
                  <c:v>40473</c:v>
                </c:pt>
                <c:pt idx="43">
                  <c:v>40480</c:v>
                </c:pt>
                <c:pt idx="44">
                  <c:v>40487</c:v>
                </c:pt>
                <c:pt idx="45">
                  <c:v>40494</c:v>
                </c:pt>
                <c:pt idx="46">
                  <c:v>40501</c:v>
                </c:pt>
                <c:pt idx="47">
                  <c:v>40508</c:v>
                </c:pt>
                <c:pt idx="48">
                  <c:v>40515</c:v>
                </c:pt>
                <c:pt idx="49">
                  <c:v>40522</c:v>
                </c:pt>
                <c:pt idx="50">
                  <c:v>40529</c:v>
                </c:pt>
                <c:pt idx="51">
                  <c:v>40536</c:v>
                </c:pt>
                <c:pt idx="52">
                  <c:v>40543</c:v>
                </c:pt>
                <c:pt idx="53">
                  <c:v>40550</c:v>
                </c:pt>
                <c:pt idx="54">
                  <c:v>40557</c:v>
                </c:pt>
                <c:pt idx="55">
                  <c:v>40564</c:v>
                </c:pt>
                <c:pt idx="56">
                  <c:v>40571</c:v>
                </c:pt>
                <c:pt idx="57">
                  <c:v>40578</c:v>
                </c:pt>
                <c:pt idx="58">
                  <c:v>40585</c:v>
                </c:pt>
                <c:pt idx="59">
                  <c:v>40592</c:v>
                </c:pt>
                <c:pt idx="60">
                  <c:v>40599</c:v>
                </c:pt>
                <c:pt idx="61">
                  <c:v>40606</c:v>
                </c:pt>
                <c:pt idx="62">
                  <c:v>40613</c:v>
                </c:pt>
                <c:pt idx="63">
                  <c:v>40620</c:v>
                </c:pt>
                <c:pt idx="64">
                  <c:v>40627</c:v>
                </c:pt>
                <c:pt idx="65">
                  <c:v>40634</c:v>
                </c:pt>
                <c:pt idx="66">
                  <c:v>40641</c:v>
                </c:pt>
                <c:pt idx="67">
                  <c:v>40648</c:v>
                </c:pt>
                <c:pt idx="68">
                  <c:v>40655</c:v>
                </c:pt>
                <c:pt idx="69">
                  <c:v>40662</c:v>
                </c:pt>
                <c:pt idx="70">
                  <c:v>40669</c:v>
                </c:pt>
                <c:pt idx="71">
                  <c:v>40676</c:v>
                </c:pt>
                <c:pt idx="72">
                  <c:v>40683</c:v>
                </c:pt>
                <c:pt idx="73">
                  <c:v>40690</c:v>
                </c:pt>
                <c:pt idx="74">
                  <c:v>40697</c:v>
                </c:pt>
                <c:pt idx="75">
                  <c:v>40704</c:v>
                </c:pt>
                <c:pt idx="76">
                  <c:v>40711</c:v>
                </c:pt>
                <c:pt idx="77">
                  <c:v>40718</c:v>
                </c:pt>
                <c:pt idx="78">
                  <c:v>40725</c:v>
                </c:pt>
                <c:pt idx="79">
                  <c:v>40732</c:v>
                </c:pt>
                <c:pt idx="80">
                  <c:v>40739</c:v>
                </c:pt>
                <c:pt idx="81">
                  <c:v>40746</c:v>
                </c:pt>
                <c:pt idx="82">
                  <c:v>40753</c:v>
                </c:pt>
                <c:pt idx="83">
                  <c:v>40760</c:v>
                </c:pt>
                <c:pt idx="84">
                  <c:v>40767</c:v>
                </c:pt>
                <c:pt idx="85">
                  <c:v>40774</c:v>
                </c:pt>
                <c:pt idx="86">
                  <c:v>40781</c:v>
                </c:pt>
                <c:pt idx="87">
                  <c:v>40788</c:v>
                </c:pt>
                <c:pt idx="88">
                  <c:v>40795</c:v>
                </c:pt>
                <c:pt idx="89">
                  <c:v>40802</c:v>
                </c:pt>
                <c:pt idx="90">
                  <c:v>40809</c:v>
                </c:pt>
                <c:pt idx="91">
                  <c:v>40816</c:v>
                </c:pt>
                <c:pt idx="92">
                  <c:v>40823</c:v>
                </c:pt>
                <c:pt idx="93">
                  <c:v>40830</c:v>
                </c:pt>
                <c:pt idx="94">
                  <c:v>40837</c:v>
                </c:pt>
                <c:pt idx="95">
                  <c:v>40844</c:v>
                </c:pt>
                <c:pt idx="96">
                  <c:v>40851</c:v>
                </c:pt>
                <c:pt idx="97">
                  <c:v>40858</c:v>
                </c:pt>
                <c:pt idx="98">
                  <c:v>40865</c:v>
                </c:pt>
                <c:pt idx="99">
                  <c:v>40872</c:v>
                </c:pt>
                <c:pt idx="100">
                  <c:v>40879</c:v>
                </c:pt>
                <c:pt idx="101">
                  <c:v>40886</c:v>
                </c:pt>
                <c:pt idx="102">
                  <c:v>40893</c:v>
                </c:pt>
                <c:pt idx="103">
                  <c:v>40900</c:v>
                </c:pt>
                <c:pt idx="104">
                  <c:v>40907</c:v>
                </c:pt>
                <c:pt idx="105">
                  <c:v>40914</c:v>
                </c:pt>
                <c:pt idx="106">
                  <c:v>40921</c:v>
                </c:pt>
                <c:pt idx="107">
                  <c:v>40928</c:v>
                </c:pt>
                <c:pt idx="108">
                  <c:v>40935</c:v>
                </c:pt>
                <c:pt idx="109">
                  <c:v>40942</c:v>
                </c:pt>
                <c:pt idx="110">
                  <c:v>40949</c:v>
                </c:pt>
                <c:pt idx="111">
                  <c:v>40956</c:v>
                </c:pt>
                <c:pt idx="112">
                  <c:v>40963</c:v>
                </c:pt>
                <c:pt idx="113">
                  <c:v>40970</c:v>
                </c:pt>
                <c:pt idx="114">
                  <c:v>40977</c:v>
                </c:pt>
                <c:pt idx="115">
                  <c:v>40984</c:v>
                </c:pt>
                <c:pt idx="116">
                  <c:v>40991</c:v>
                </c:pt>
                <c:pt idx="117">
                  <c:v>40998</c:v>
                </c:pt>
                <c:pt idx="118">
                  <c:v>41005</c:v>
                </c:pt>
                <c:pt idx="119">
                  <c:v>41012</c:v>
                </c:pt>
                <c:pt idx="120">
                  <c:v>41019</c:v>
                </c:pt>
                <c:pt idx="121">
                  <c:v>41026</c:v>
                </c:pt>
                <c:pt idx="122">
                  <c:v>41033</c:v>
                </c:pt>
                <c:pt idx="123">
                  <c:v>41040</c:v>
                </c:pt>
                <c:pt idx="124">
                  <c:v>41047</c:v>
                </c:pt>
                <c:pt idx="125">
                  <c:v>41054</c:v>
                </c:pt>
                <c:pt idx="126">
                  <c:v>41061</c:v>
                </c:pt>
                <c:pt idx="127">
                  <c:v>41068</c:v>
                </c:pt>
                <c:pt idx="128">
                  <c:v>41075</c:v>
                </c:pt>
                <c:pt idx="129">
                  <c:v>41082</c:v>
                </c:pt>
                <c:pt idx="130">
                  <c:v>41089</c:v>
                </c:pt>
                <c:pt idx="131">
                  <c:v>41096</c:v>
                </c:pt>
                <c:pt idx="132">
                  <c:v>41103</c:v>
                </c:pt>
                <c:pt idx="133">
                  <c:v>41110</c:v>
                </c:pt>
                <c:pt idx="134">
                  <c:v>41117</c:v>
                </c:pt>
                <c:pt idx="135">
                  <c:v>41124</c:v>
                </c:pt>
                <c:pt idx="136">
                  <c:v>41131</c:v>
                </c:pt>
                <c:pt idx="137">
                  <c:v>41138</c:v>
                </c:pt>
                <c:pt idx="138">
                  <c:v>41145</c:v>
                </c:pt>
                <c:pt idx="139">
                  <c:v>41152</c:v>
                </c:pt>
                <c:pt idx="140">
                  <c:v>41159</c:v>
                </c:pt>
                <c:pt idx="141">
                  <c:v>41166</c:v>
                </c:pt>
                <c:pt idx="142">
                  <c:v>41173</c:v>
                </c:pt>
                <c:pt idx="143">
                  <c:v>41180</c:v>
                </c:pt>
                <c:pt idx="144">
                  <c:v>41187</c:v>
                </c:pt>
                <c:pt idx="145">
                  <c:v>41194</c:v>
                </c:pt>
                <c:pt idx="146">
                  <c:v>41201</c:v>
                </c:pt>
                <c:pt idx="147">
                  <c:v>41208</c:v>
                </c:pt>
                <c:pt idx="148">
                  <c:v>41215</c:v>
                </c:pt>
                <c:pt idx="149">
                  <c:v>41222</c:v>
                </c:pt>
                <c:pt idx="150">
                  <c:v>41229</c:v>
                </c:pt>
                <c:pt idx="151">
                  <c:v>41236</c:v>
                </c:pt>
                <c:pt idx="152">
                  <c:v>41243</c:v>
                </c:pt>
                <c:pt idx="153">
                  <c:v>41250</c:v>
                </c:pt>
                <c:pt idx="154">
                  <c:v>41257</c:v>
                </c:pt>
                <c:pt idx="155">
                  <c:v>41264</c:v>
                </c:pt>
                <c:pt idx="156">
                  <c:v>41271</c:v>
                </c:pt>
                <c:pt idx="157">
                  <c:v>41278</c:v>
                </c:pt>
                <c:pt idx="158">
                  <c:v>41285</c:v>
                </c:pt>
                <c:pt idx="159">
                  <c:v>41292</c:v>
                </c:pt>
                <c:pt idx="160">
                  <c:v>41299</c:v>
                </c:pt>
                <c:pt idx="161">
                  <c:v>41306</c:v>
                </c:pt>
                <c:pt idx="162">
                  <c:v>41313</c:v>
                </c:pt>
                <c:pt idx="163">
                  <c:v>41320</c:v>
                </c:pt>
                <c:pt idx="164">
                  <c:v>41327</c:v>
                </c:pt>
                <c:pt idx="165">
                  <c:v>41334</c:v>
                </c:pt>
                <c:pt idx="166">
                  <c:v>41341</c:v>
                </c:pt>
                <c:pt idx="167">
                  <c:v>41348</c:v>
                </c:pt>
                <c:pt idx="168">
                  <c:v>41355</c:v>
                </c:pt>
                <c:pt idx="169">
                  <c:v>41362</c:v>
                </c:pt>
                <c:pt idx="170">
                  <c:v>41369</c:v>
                </c:pt>
                <c:pt idx="171">
                  <c:v>41376</c:v>
                </c:pt>
                <c:pt idx="172">
                  <c:v>41383</c:v>
                </c:pt>
                <c:pt idx="173">
                  <c:v>41390</c:v>
                </c:pt>
                <c:pt idx="174">
                  <c:v>41397</c:v>
                </c:pt>
                <c:pt idx="175">
                  <c:v>41404</c:v>
                </c:pt>
                <c:pt idx="176">
                  <c:v>41411</c:v>
                </c:pt>
                <c:pt idx="177">
                  <c:v>41418</c:v>
                </c:pt>
                <c:pt idx="178">
                  <c:v>41425</c:v>
                </c:pt>
                <c:pt idx="179">
                  <c:v>41432</c:v>
                </c:pt>
                <c:pt idx="180">
                  <c:v>41439</c:v>
                </c:pt>
                <c:pt idx="181">
                  <c:v>41446</c:v>
                </c:pt>
                <c:pt idx="182">
                  <c:v>41453</c:v>
                </c:pt>
                <c:pt idx="183">
                  <c:v>41460</c:v>
                </c:pt>
                <c:pt idx="184">
                  <c:v>41467</c:v>
                </c:pt>
                <c:pt idx="185">
                  <c:v>41474</c:v>
                </c:pt>
                <c:pt idx="186">
                  <c:v>41481</c:v>
                </c:pt>
                <c:pt idx="187">
                  <c:v>41488</c:v>
                </c:pt>
                <c:pt idx="188">
                  <c:v>41495</c:v>
                </c:pt>
                <c:pt idx="189">
                  <c:v>41502</c:v>
                </c:pt>
                <c:pt idx="190">
                  <c:v>41509</c:v>
                </c:pt>
                <c:pt idx="191">
                  <c:v>41516</c:v>
                </c:pt>
                <c:pt idx="192">
                  <c:v>41523</c:v>
                </c:pt>
                <c:pt idx="193">
                  <c:v>41530</c:v>
                </c:pt>
                <c:pt idx="194">
                  <c:v>41537</c:v>
                </c:pt>
                <c:pt idx="195">
                  <c:v>41544</c:v>
                </c:pt>
                <c:pt idx="196">
                  <c:v>41551</c:v>
                </c:pt>
                <c:pt idx="197">
                  <c:v>41558</c:v>
                </c:pt>
                <c:pt idx="198">
                  <c:v>41565</c:v>
                </c:pt>
                <c:pt idx="199">
                  <c:v>41572</c:v>
                </c:pt>
                <c:pt idx="200">
                  <c:v>41579</c:v>
                </c:pt>
                <c:pt idx="201">
                  <c:v>41586</c:v>
                </c:pt>
                <c:pt idx="202">
                  <c:v>41593</c:v>
                </c:pt>
                <c:pt idx="203">
                  <c:v>41600</c:v>
                </c:pt>
                <c:pt idx="204">
                  <c:v>41607</c:v>
                </c:pt>
                <c:pt idx="205">
                  <c:v>41614</c:v>
                </c:pt>
                <c:pt idx="206">
                  <c:v>41621</c:v>
                </c:pt>
                <c:pt idx="207">
                  <c:v>41628</c:v>
                </c:pt>
                <c:pt idx="208">
                  <c:v>41635</c:v>
                </c:pt>
              </c:numCache>
            </c:numRef>
          </c:xVal>
          <c:yVal>
            <c:numRef>
              <c:f>Sheet1!$B$2:$B$210</c:f>
              <c:numCache>
                <c:formatCode>General</c:formatCode>
                <c:ptCount val="209"/>
                <c:pt idx="0">
                  <c:v>39.6</c:v>
                </c:pt>
                <c:pt idx="1">
                  <c:v>47.35</c:v>
                </c:pt>
                <c:pt idx="2">
                  <c:v>37.299999999999997</c:v>
                </c:pt>
                <c:pt idx="3">
                  <c:v>35.950000000000003</c:v>
                </c:pt>
                <c:pt idx="4">
                  <c:v>14.95</c:v>
                </c:pt>
                <c:pt idx="5">
                  <c:v>4</c:v>
                </c:pt>
                <c:pt idx="6">
                  <c:v>14.97</c:v>
                </c:pt>
                <c:pt idx="7">
                  <c:v>20.350000000000001</c:v>
                </c:pt>
                <c:pt idx="8">
                  <c:v>19.170000000000002</c:v>
                </c:pt>
                <c:pt idx="9">
                  <c:v>27.95</c:v>
                </c:pt>
                <c:pt idx="10">
                  <c:v>21</c:v>
                </c:pt>
                <c:pt idx="11">
                  <c:v>21</c:v>
                </c:pt>
                <c:pt idx="12">
                  <c:v>23.3</c:v>
                </c:pt>
                <c:pt idx="13">
                  <c:v>21.6</c:v>
                </c:pt>
                <c:pt idx="14">
                  <c:v>21.9</c:v>
                </c:pt>
                <c:pt idx="15">
                  <c:v>16.45</c:v>
                </c:pt>
                <c:pt idx="16">
                  <c:v>15.5</c:v>
                </c:pt>
                <c:pt idx="17">
                  <c:v>4.7</c:v>
                </c:pt>
                <c:pt idx="18">
                  <c:v>-37</c:v>
                </c:pt>
                <c:pt idx="19">
                  <c:v>-18.8</c:v>
                </c:pt>
                <c:pt idx="20">
                  <c:v>-15.8</c:v>
                </c:pt>
                <c:pt idx="21">
                  <c:v>-14.7</c:v>
                </c:pt>
                <c:pt idx="22">
                  <c:v>-17.95</c:v>
                </c:pt>
                <c:pt idx="23">
                  <c:v>-26.1</c:v>
                </c:pt>
                <c:pt idx="24">
                  <c:v>-3.4</c:v>
                </c:pt>
                <c:pt idx="25">
                  <c:v>-9.25</c:v>
                </c:pt>
                <c:pt idx="26">
                  <c:v>-7.45</c:v>
                </c:pt>
                <c:pt idx="27">
                  <c:v>-23.8</c:v>
                </c:pt>
                <c:pt idx="28">
                  <c:v>-19.850000000000001</c:v>
                </c:pt>
                <c:pt idx="29">
                  <c:v>-21.9</c:v>
                </c:pt>
                <c:pt idx="30">
                  <c:v>-16</c:v>
                </c:pt>
                <c:pt idx="31">
                  <c:v>-9</c:v>
                </c:pt>
                <c:pt idx="32">
                  <c:v>-16.399999999999999</c:v>
                </c:pt>
                <c:pt idx="33">
                  <c:v>-12.35</c:v>
                </c:pt>
                <c:pt idx="34">
                  <c:v>-13.2</c:v>
                </c:pt>
                <c:pt idx="35">
                  <c:v>-5.7</c:v>
                </c:pt>
                <c:pt idx="36">
                  <c:v>-24.5</c:v>
                </c:pt>
                <c:pt idx="37">
                  <c:v>-21.8</c:v>
                </c:pt>
                <c:pt idx="38">
                  <c:v>-25.85</c:v>
                </c:pt>
                <c:pt idx="39">
                  <c:v>-26.95</c:v>
                </c:pt>
                <c:pt idx="40">
                  <c:v>-17.600000000000001</c:v>
                </c:pt>
                <c:pt idx="41">
                  <c:v>-17.899999999999999</c:v>
                </c:pt>
                <c:pt idx="42">
                  <c:v>-11.6</c:v>
                </c:pt>
                <c:pt idx="43">
                  <c:v>-16.02</c:v>
                </c:pt>
                <c:pt idx="44">
                  <c:v>-25.15</c:v>
                </c:pt>
                <c:pt idx="45">
                  <c:v>-29.7</c:v>
                </c:pt>
                <c:pt idx="46">
                  <c:v>-24.05</c:v>
                </c:pt>
                <c:pt idx="47">
                  <c:v>-59.33</c:v>
                </c:pt>
                <c:pt idx="48">
                  <c:v>-52.2</c:v>
                </c:pt>
                <c:pt idx="49">
                  <c:v>-54</c:v>
                </c:pt>
                <c:pt idx="50">
                  <c:v>-47.6</c:v>
                </c:pt>
                <c:pt idx="51">
                  <c:v>-55.15</c:v>
                </c:pt>
                <c:pt idx="52">
                  <c:v>-62.5</c:v>
                </c:pt>
                <c:pt idx="53">
                  <c:v>-59.15</c:v>
                </c:pt>
                <c:pt idx="54">
                  <c:v>-50.55</c:v>
                </c:pt>
                <c:pt idx="55">
                  <c:v>-24.85</c:v>
                </c:pt>
                <c:pt idx="56">
                  <c:v>-27.95</c:v>
                </c:pt>
                <c:pt idx="57">
                  <c:v>-7.87</c:v>
                </c:pt>
                <c:pt idx="58">
                  <c:v>-26.9</c:v>
                </c:pt>
                <c:pt idx="59">
                  <c:v>-18.3</c:v>
                </c:pt>
                <c:pt idx="60">
                  <c:v>-16.8</c:v>
                </c:pt>
                <c:pt idx="61">
                  <c:v>-13.13</c:v>
                </c:pt>
                <c:pt idx="62">
                  <c:v>-13.1</c:v>
                </c:pt>
                <c:pt idx="63">
                  <c:v>-2.88</c:v>
                </c:pt>
                <c:pt idx="64">
                  <c:v>3.1</c:v>
                </c:pt>
                <c:pt idx="65">
                  <c:v>8.5</c:v>
                </c:pt>
                <c:pt idx="66">
                  <c:v>10.73</c:v>
                </c:pt>
                <c:pt idx="67">
                  <c:v>-5.9</c:v>
                </c:pt>
                <c:pt idx="68">
                  <c:v>-12.4</c:v>
                </c:pt>
                <c:pt idx="69">
                  <c:v>-10.45</c:v>
                </c:pt>
                <c:pt idx="70">
                  <c:v>-5.0999999999999996</c:v>
                </c:pt>
                <c:pt idx="71">
                  <c:v>-14.4</c:v>
                </c:pt>
                <c:pt idx="72">
                  <c:v>-16</c:v>
                </c:pt>
                <c:pt idx="73">
                  <c:v>-19.3</c:v>
                </c:pt>
                <c:pt idx="74">
                  <c:v>-7.4</c:v>
                </c:pt>
                <c:pt idx="75">
                  <c:v>-17.399999999999999</c:v>
                </c:pt>
                <c:pt idx="76">
                  <c:v>-23.6</c:v>
                </c:pt>
                <c:pt idx="77">
                  <c:v>-43.2</c:v>
                </c:pt>
                <c:pt idx="78">
                  <c:v>-28.6</c:v>
                </c:pt>
                <c:pt idx="79">
                  <c:v>-37.700000000000003</c:v>
                </c:pt>
                <c:pt idx="80">
                  <c:v>-147.4</c:v>
                </c:pt>
                <c:pt idx="81">
                  <c:v>-87.8</c:v>
                </c:pt>
                <c:pt idx="82">
                  <c:v>-115.15</c:v>
                </c:pt>
                <c:pt idx="83">
                  <c:v>-151.30000000000001</c:v>
                </c:pt>
                <c:pt idx="84">
                  <c:v>-134.19999999999999</c:v>
                </c:pt>
                <c:pt idx="85">
                  <c:v>-120.8</c:v>
                </c:pt>
                <c:pt idx="86">
                  <c:v>-122</c:v>
                </c:pt>
                <c:pt idx="87">
                  <c:v>-123.2</c:v>
                </c:pt>
                <c:pt idx="88">
                  <c:v>-190</c:v>
                </c:pt>
                <c:pt idx="89">
                  <c:v>-186.65</c:v>
                </c:pt>
                <c:pt idx="90">
                  <c:v>-213.1</c:v>
                </c:pt>
                <c:pt idx="91">
                  <c:v>-186</c:v>
                </c:pt>
                <c:pt idx="92">
                  <c:v>-159.4</c:v>
                </c:pt>
                <c:pt idx="93">
                  <c:v>-190.1</c:v>
                </c:pt>
                <c:pt idx="94">
                  <c:v>-201.4</c:v>
                </c:pt>
                <c:pt idx="95">
                  <c:v>-236.1</c:v>
                </c:pt>
                <c:pt idx="96">
                  <c:v>-366.55</c:v>
                </c:pt>
                <c:pt idx="97">
                  <c:v>-420.45</c:v>
                </c:pt>
                <c:pt idx="98">
                  <c:v>-374.3</c:v>
                </c:pt>
                <c:pt idx="99">
                  <c:v>-501</c:v>
                </c:pt>
                <c:pt idx="100">
                  <c:v>-409.5</c:v>
                </c:pt>
                <c:pt idx="101">
                  <c:v>-383.7</c:v>
                </c:pt>
                <c:pt idx="102">
                  <c:v>-282.75</c:v>
                </c:pt>
                <c:pt idx="103">
                  <c:v>-258</c:v>
                </c:pt>
                <c:pt idx="104">
                  <c:v>-231.9</c:v>
                </c:pt>
                <c:pt idx="105">
                  <c:v>-228.9</c:v>
                </c:pt>
                <c:pt idx="106">
                  <c:v>-159.19999999999999</c:v>
                </c:pt>
                <c:pt idx="107">
                  <c:v>-127.7</c:v>
                </c:pt>
                <c:pt idx="108">
                  <c:v>-102.2</c:v>
                </c:pt>
                <c:pt idx="109">
                  <c:v>-78</c:v>
                </c:pt>
                <c:pt idx="110">
                  <c:v>-83.15</c:v>
                </c:pt>
                <c:pt idx="111">
                  <c:v>-98.5</c:v>
                </c:pt>
                <c:pt idx="112">
                  <c:v>-69.650000000000006</c:v>
                </c:pt>
                <c:pt idx="113">
                  <c:v>0.8</c:v>
                </c:pt>
                <c:pt idx="114">
                  <c:v>-12.7</c:v>
                </c:pt>
                <c:pt idx="115">
                  <c:v>-21.7</c:v>
                </c:pt>
                <c:pt idx="116">
                  <c:v>-37</c:v>
                </c:pt>
                <c:pt idx="117">
                  <c:v>-63.1</c:v>
                </c:pt>
                <c:pt idx="118">
                  <c:v>-93.95</c:v>
                </c:pt>
                <c:pt idx="119">
                  <c:v>-131.1</c:v>
                </c:pt>
                <c:pt idx="120">
                  <c:v>-128.4</c:v>
                </c:pt>
                <c:pt idx="121">
                  <c:v>-120</c:v>
                </c:pt>
                <c:pt idx="122">
                  <c:v>-95.8</c:v>
                </c:pt>
                <c:pt idx="123">
                  <c:v>-120.6</c:v>
                </c:pt>
                <c:pt idx="124">
                  <c:v>-182.3</c:v>
                </c:pt>
                <c:pt idx="125">
                  <c:v>-185.5</c:v>
                </c:pt>
                <c:pt idx="126">
                  <c:v>-250.6</c:v>
                </c:pt>
                <c:pt idx="127">
                  <c:v>-222.2</c:v>
                </c:pt>
                <c:pt idx="128">
                  <c:v>-291.60000000000002</c:v>
                </c:pt>
                <c:pt idx="129">
                  <c:v>-224.6</c:v>
                </c:pt>
                <c:pt idx="130">
                  <c:v>-221.9</c:v>
                </c:pt>
                <c:pt idx="131">
                  <c:v>-209.2</c:v>
                </c:pt>
                <c:pt idx="132">
                  <c:v>-200.75</c:v>
                </c:pt>
                <c:pt idx="133">
                  <c:v>-235</c:v>
                </c:pt>
                <c:pt idx="134">
                  <c:v>-216.55</c:v>
                </c:pt>
                <c:pt idx="135">
                  <c:v>-160.94999999999999</c:v>
                </c:pt>
                <c:pt idx="136">
                  <c:v>-188.3</c:v>
                </c:pt>
                <c:pt idx="137">
                  <c:v>-187.7</c:v>
                </c:pt>
                <c:pt idx="138">
                  <c:v>-193.5</c:v>
                </c:pt>
                <c:pt idx="139">
                  <c:v>-149.80000000000001</c:v>
                </c:pt>
                <c:pt idx="140">
                  <c:v>-125.85</c:v>
                </c:pt>
                <c:pt idx="141">
                  <c:v>-121.1</c:v>
                </c:pt>
                <c:pt idx="142">
                  <c:v>-112.5</c:v>
                </c:pt>
                <c:pt idx="143">
                  <c:v>-140.9</c:v>
                </c:pt>
                <c:pt idx="144">
                  <c:v>-130.80000000000001</c:v>
                </c:pt>
                <c:pt idx="145">
                  <c:v>-124.35</c:v>
                </c:pt>
                <c:pt idx="146">
                  <c:v>-114.05</c:v>
                </c:pt>
                <c:pt idx="147">
                  <c:v>-125.3</c:v>
                </c:pt>
                <c:pt idx="148">
                  <c:v>-125.2</c:v>
                </c:pt>
                <c:pt idx="149">
                  <c:v>-130.75</c:v>
                </c:pt>
                <c:pt idx="150">
                  <c:v>-121.8</c:v>
                </c:pt>
                <c:pt idx="151">
                  <c:v>-103.2</c:v>
                </c:pt>
                <c:pt idx="152">
                  <c:v>-97.9</c:v>
                </c:pt>
                <c:pt idx="153">
                  <c:v>-113.1</c:v>
                </c:pt>
                <c:pt idx="154">
                  <c:v>-109.4</c:v>
                </c:pt>
                <c:pt idx="155">
                  <c:v>-85.6</c:v>
                </c:pt>
                <c:pt idx="156">
                  <c:v>-96.1</c:v>
                </c:pt>
                <c:pt idx="157">
                  <c:v>-61.1</c:v>
                </c:pt>
                <c:pt idx="158">
                  <c:v>-45.1</c:v>
                </c:pt>
                <c:pt idx="159">
                  <c:v>-46.1</c:v>
                </c:pt>
                <c:pt idx="160">
                  <c:v>-45.6</c:v>
                </c:pt>
                <c:pt idx="161">
                  <c:v>-48.9</c:v>
                </c:pt>
                <c:pt idx="162">
                  <c:v>-58.2</c:v>
                </c:pt>
                <c:pt idx="163">
                  <c:v>-65.099999999999994</c:v>
                </c:pt>
                <c:pt idx="164">
                  <c:v>-74.8</c:v>
                </c:pt>
                <c:pt idx="165">
                  <c:v>-96.8</c:v>
                </c:pt>
                <c:pt idx="166">
                  <c:v>-85</c:v>
                </c:pt>
                <c:pt idx="167">
                  <c:v>-88.15</c:v>
                </c:pt>
                <c:pt idx="168">
                  <c:v>-80.2</c:v>
                </c:pt>
                <c:pt idx="169">
                  <c:v>-80</c:v>
                </c:pt>
                <c:pt idx="170">
                  <c:v>-56.7</c:v>
                </c:pt>
                <c:pt idx="171">
                  <c:v>-58</c:v>
                </c:pt>
                <c:pt idx="172">
                  <c:v>-46.9</c:v>
                </c:pt>
                <c:pt idx="173">
                  <c:v>-42.2</c:v>
                </c:pt>
                <c:pt idx="174">
                  <c:v>-28.6</c:v>
                </c:pt>
                <c:pt idx="175">
                  <c:v>-32.549999999999997</c:v>
                </c:pt>
                <c:pt idx="176">
                  <c:v>-38.9</c:v>
                </c:pt>
                <c:pt idx="177">
                  <c:v>-52</c:v>
                </c:pt>
                <c:pt idx="178">
                  <c:v>-43.3</c:v>
                </c:pt>
                <c:pt idx="179">
                  <c:v>-42.8</c:v>
                </c:pt>
                <c:pt idx="180">
                  <c:v>-59</c:v>
                </c:pt>
                <c:pt idx="181">
                  <c:v>-76.8</c:v>
                </c:pt>
                <c:pt idx="182">
                  <c:v>-75.2</c:v>
                </c:pt>
                <c:pt idx="183">
                  <c:v>-60.4</c:v>
                </c:pt>
                <c:pt idx="184">
                  <c:v>-77.099999999999994</c:v>
                </c:pt>
                <c:pt idx="185">
                  <c:v>-66.599999999999994</c:v>
                </c:pt>
                <c:pt idx="186">
                  <c:v>-61.5</c:v>
                </c:pt>
                <c:pt idx="187">
                  <c:v>-55.4</c:v>
                </c:pt>
                <c:pt idx="188">
                  <c:v>-55</c:v>
                </c:pt>
                <c:pt idx="189">
                  <c:v>-58.2</c:v>
                </c:pt>
                <c:pt idx="190">
                  <c:v>-59.2</c:v>
                </c:pt>
                <c:pt idx="191">
                  <c:v>-71.2</c:v>
                </c:pt>
                <c:pt idx="192">
                  <c:v>-78.099999999999994</c:v>
                </c:pt>
                <c:pt idx="193">
                  <c:v>-88.9</c:v>
                </c:pt>
                <c:pt idx="194">
                  <c:v>-69.2</c:v>
                </c:pt>
                <c:pt idx="195">
                  <c:v>-72.8</c:v>
                </c:pt>
                <c:pt idx="196">
                  <c:v>-50.45</c:v>
                </c:pt>
                <c:pt idx="197">
                  <c:v>-53.3</c:v>
                </c:pt>
                <c:pt idx="198">
                  <c:v>-37.9</c:v>
                </c:pt>
                <c:pt idx="199">
                  <c:v>-41.5</c:v>
                </c:pt>
                <c:pt idx="200">
                  <c:v>-30.8</c:v>
                </c:pt>
                <c:pt idx="201">
                  <c:v>-23.9</c:v>
                </c:pt>
                <c:pt idx="202">
                  <c:v>-32.9</c:v>
                </c:pt>
                <c:pt idx="203">
                  <c:v>-32.4</c:v>
                </c:pt>
                <c:pt idx="204">
                  <c:v>-36.700000000000003</c:v>
                </c:pt>
                <c:pt idx="205">
                  <c:v>-38.1</c:v>
                </c:pt>
                <c:pt idx="206">
                  <c:v>-35.6</c:v>
                </c:pt>
                <c:pt idx="207">
                  <c:v>-39</c:v>
                </c:pt>
                <c:pt idx="208">
                  <c:v>-51.2</c:v>
                </c:pt>
              </c:numCache>
            </c:numRef>
          </c:yVal>
          <c:smooth val="0"/>
          <c:extLst>
            <c:ext xmlns:c16="http://schemas.microsoft.com/office/drawing/2014/chart" uri="{C3380CC4-5D6E-409C-BE32-E72D297353CC}">
              <c16:uniqueId val="{00000000-A05A-4021-8E41-BD62AFF39EDB}"/>
            </c:ext>
          </c:extLst>
        </c:ser>
        <c:ser>
          <c:idx val="1"/>
          <c:order val="1"/>
          <c:tx>
            <c:strRef>
              <c:f>Sheet1!$B$212</c:f>
              <c:strCache>
                <c:ptCount val="1"/>
                <c:pt idx="0">
                  <c:v>Spain</c:v>
                </c:pt>
              </c:strCache>
            </c:strRef>
          </c:tx>
          <c:spPr>
            <a:ln w="25400">
              <a:solidFill>
                <a:srgbClr val="2A9D8F"/>
              </a:solidFill>
            </a:ln>
          </c:spPr>
          <c:marker>
            <c:symbol val="none"/>
          </c:marker>
          <c:xVal>
            <c:numRef>
              <c:f>Sheet1!$A$213:$A$329</c:f>
              <c:numCache>
                <c:formatCode>General</c:formatCode>
                <c:ptCount val="117"/>
                <c:pt idx="0">
                  <c:v>40823</c:v>
                </c:pt>
                <c:pt idx="1">
                  <c:v>40830</c:v>
                </c:pt>
                <c:pt idx="2">
                  <c:v>40837</c:v>
                </c:pt>
                <c:pt idx="3">
                  <c:v>40844</c:v>
                </c:pt>
                <c:pt idx="4">
                  <c:v>40851</c:v>
                </c:pt>
                <c:pt idx="5">
                  <c:v>40858</c:v>
                </c:pt>
                <c:pt idx="6">
                  <c:v>40865</c:v>
                </c:pt>
                <c:pt idx="7">
                  <c:v>40872</c:v>
                </c:pt>
                <c:pt idx="8">
                  <c:v>40879</c:v>
                </c:pt>
                <c:pt idx="9">
                  <c:v>40886</c:v>
                </c:pt>
                <c:pt idx="10">
                  <c:v>40893</c:v>
                </c:pt>
                <c:pt idx="11">
                  <c:v>40900</c:v>
                </c:pt>
                <c:pt idx="12">
                  <c:v>40907</c:v>
                </c:pt>
                <c:pt idx="13">
                  <c:v>40914</c:v>
                </c:pt>
                <c:pt idx="14">
                  <c:v>40921</c:v>
                </c:pt>
                <c:pt idx="15">
                  <c:v>40928</c:v>
                </c:pt>
                <c:pt idx="16">
                  <c:v>40935</c:v>
                </c:pt>
                <c:pt idx="17">
                  <c:v>40942</c:v>
                </c:pt>
                <c:pt idx="18">
                  <c:v>40949</c:v>
                </c:pt>
                <c:pt idx="19">
                  <c:v>40956</c:v>
                </c:pt>
                <c:pt idx="20">
                  <c:v>40963</c:v>
                </c:pt>
                <c:pt idx="21">
                  <c:v>40970</c:v>
                </c:pt>
                <c:pt idx="22">
                  <c:v>40977</c:v>
                </c:pt>
                <c:pt idx="23">
                  <c:v>40984</c:v>
                </c:pt>
                <c:pt idx="24">
                  <c:v>40991</c:v>
                </c:pt>
                <c:pt idx="25">
                  <c:v>40998</c:v>
                </c:pt>
                <c:pt idx="26">
                  <c:v>41005</c:v>
                </c:pt>
                <c:pt idx="27">
                  <c:v>41012</c:v>
                </c:pt>
                <c:pt idx="28">
                  <c:v>41019</c:v>
                </c:pt>
                <c:pt idx="29">
                  <c:v>41026</c:v>
                </c:pt>
                <c:pt idx="30">
                  <c:v>41033</c:v>
                </c:pt>
                <c:pt idx="31">
                  <c:v>41040</c:v>
                </c:pt>
                <c:pt idx="32">
                  <c:v>41047</c:v>
                </c:pt>
                <c:pt idx="33">
                  <c:v>41054</c:v>
                </c:pt>
                <c:pt idx="34">
                  <c:v>41061</c:v>
                </c:pt>
                <c:pt idx="35">
                  <c:v>41068</c:v>
                </c:pt>
                <c:pt idx="36">
                  <c:v>41075</c:v>
                </c:pt>
                <c:pt idx="37">
                  <c:v>41082</c:v>
                </c:pt>
                <c:pt idx="38">
                  <c:v>41089</c:v>
                </c:pt>
                <c:pt idx="39">
                  <c:v>41096</c:v>
                </c:pt>
                <c:pt idx="40">
                  <c:v>41103</c:v>
                </c:pt>
                <c:pt idx="41">
                  <c:v>41110</c:v>
                </c:pt>
                <c:pt idx="42">
                  <c:v>41117</c:v>
                </c:pt>
                <c:pt idx="43">
                  <c:v>41124</c:v>
                </c:pt>
                <c:pt idx="44">
                  <c:v>41131</c:v>
                </c:pt>
                <c:pt idx="45">
                  <c:v>41138</c:v>
                </c:pt>
                <c:pt idx="46">
                  <c:v>41145</c:v>
                </c:pt>
                <c:pt idx="47">
                  <c:v>41152</c:v>
                </c:pt>
                <c:pt idx="48">
                  <c:v>41159</c:v>
                </c:pt>
                <c:pt idx="49">
                  <c:v>41166</c:v>
                </c:pt>
                <c:pt idx="50">
                  <c:v>41173</c:v>
                </c:pt>
                <c:pt idx="51">
                  <c:v>41180</c:v>
                </c:pt>
                <c:pt idx="52">
                  <c:v>41187</c:v>
                </c:pt>
                <c:pt idx="53">
                  <c:v>41194</c:v>
                </c:pt>
                <c:pt idx="54">
                  <c:v>41201</c:v>
                </c:pt>
                <c:pt idx="55">
                  <c:v>41208</c:v>
                </c:pt>
                <c:pt idx="56">
                  <c:v>41215</c:v>
                </c:pt>
                <c:pt idx="57">
                  <c:v>41222</c:v>
                </c:pt>
                <c:pt idx="58">
                  <c:v>41229</c:v>
                </c:pt>
                <c:pt idx="59">
                  <c:v>41236</c:v>
                </c:pt>
                <c:pt idx="60">
                  <c:v>41243</c:v>
                </c:pt>
                <c:pt idx="61">
                  <c:v>41250</c:v>
                </c:pt>
                <c:pt idx="62">
                  <c:v>41257</c:v>
                </c:pt>
                <c:pt idx="63">
                  <c:v>41264</c:v>
                </c:pt>
                <c:pt idx="64">
                  <c:v>41271</c:v>
                </c:pt>
                <c:pt idx="65">
                  <c:v>41278</c:v>
                </c:pt>
                <c:pt idx="66">
                  <c:v>41285</c:v>
                </c:pt>
                <c:pt idx="67">
                  <c:v>41292</c:v>
                </c:pt>
                <c:pt idx="68">
                  <c:v>41299</c:v>
                </c:pt>
                <c:pt idx="69">
                  <c:v>41306</c:v>
                </c:pt>
                <c:pt idx="70">
                  <c:v>41313</c:v>
                </c:pt>
                <c:pt idx="71">
                  <c:v>41320</c:v>
                </c:pt>
                <c:pt idx="72">
                  <c:v>41327</c:v>
                </c:pt>
                <c:pt idx="73">
                  <c:v>41334</c:v>
                </c:pt>
                <c:pt idx="74">
                  <c:v>41341</c:v>
                </c:pt>
                <c:pt idx="75">
                  <c:v>41348</c:v>
                </c:pt>
                <c:pt idx="76">
                  <c:v>41355</c:v>
                </c:pt>
                <c:pt idx="77">
                  <c:v>41362</c:v>
                </c:pt>
                <c:pt idx="78">
                  <c:v>41369</c:v>
                </c:pt>
                <c:pt idx="79">
                  <c:v>41376</c:v>
                </c:pt>
                <c:pt idx="80">
                  <c:v>41383</c:v>
                </c:pt>
                <c:pt idx="81">
                  <c:v>41390</c:v>
                </c:pt>
                <c:pt idx="82">
                  <c:v>41397</c:v>
                </c:pt>
                <c:pt idx="83">
                  <c:v>41404</c:v>
                </c:pt>
                <c:pt idx="84">
                  <c:v>41411</c:v>
                </c:pt>
                <c:pt idx="85">
                  <c:v>41418</c:v>
                </c:pt>
                <c:pt idx="86">
                  <c:v>41425</c:v>
                </c:pt>
                <c:pt idx="87">
                  <c:v>41432</c:v>
                </c:pt>
                <c:pt idx="88">
                  <c:v>41439</c:v>
                </c:pt>
                <c:pt idx="89">
                  <c:v>41446</c:v>
                </c:pt>
                <c:pt idx="90">
                  <c:v>41453</c:v>
                </c:pt>
                <c:pt idx="91">
                  <c:v>41460</c:v>
                </c:pt>
                <c:pt idx="92">
                  <c:v>41467</c:v>
                </c:pt>
                <c:pt idx="93">
                  <c:v>41474</c:v>
                </c:pt>
                <c:pt idx="94">
                  <c:v>41481</c:v>
                </c:pt>
                <c:pt idx="95">
                  <c:v>41488</c:v>
                </c:pt>
                <c:pt idx="96">
                  <c:v>41495</c:v>
                </c:pt>
                <c:pt idx="97">
                  <c:v>41502</c:v>
                </c:pt>
                <c:pt idx="98">
                  <c:v>41509</c:v>
                </c:pt>
                <c:pt idx="99">
                  <c:v>41516</c:v>
                </c:pt>
                <c:pt idx="100">
                  <c:v>41523</c:v>
                </c:pt>
                <c:pt idx="101">
                  <c:v>41530</c:v>
                </c:pt>
                <c:pt idx="102">
                  <c:v>41537</c:v>
                </c:pt>
                <c:pt idx="103">
                  <c:v>41544</c:v>
                </c:pt>
                <c:pt idx="104">
                  <c:v>41551</c:v>
                </c:pt>
                <c:pt idx="105">
                  <c:v>41558</c:v>
                </c:pt>
                <c:pt idx="106">
                  <c:v>41565</c:v>
                </c:pt>
                <c:pt idx="107">
                  <c:v>41572</c:v>
                </c:pt>
                <c:pt idx="108">
                  <c:v>41579</c:v>
                </c:pt>
                <c:pt idx="109">
                  <c:v>41586</c:v>
                </c:pt>
                <c:pt idx="110">
                  <c:v>41593</c:v>
                </c:pt>
                <c:pt idx="111">
                  <c:v>41600</c:v>
                </c:pt>
                <c:pt idx="112">
                  <c:v>41607</c:v>
                </c:pt>
                <c:pt idx="113">
                  <c:v>41614</c:v>
                </c:pt>
                <c:pt idx="114">
                  <c:v>41621</c:v>
                </c:pt>
                <c:pt idx="115">
                  <c:v>41628</c:v>
                </c:pt>
                <c:pt idx="116">
                  <c:v>41635</c:v>
                </c:pt>
              </c:numCache>
            </c:numRef>
          </c:xVal>
          <c:yVal>
            <c:numRef>
              <c:f>Sheet1!$B$213:$B$329</c:f>
              <c:numCache>
                <c:formatCode>General</c:formatCode>
                <c:ptCount val="117"/>
                <c:pt idx="0">
                  <c:v>-149.44999999999999</c:v>
                </c:pt>
                <c:pt idx="1">
                  <c:v>-160.12</c:v>
                </c:pt>
                <c:pt idx="2">
                  <c:v>-211.85</c:v>
                </c:pt>
                <c:pt idx="3">
                  <c:v>-190.25</c:v>
                </c:pt>
                <c:pt idx="4">
                  <c:v>-228.66</c:v>
                </c:pt>
                <c:pt idx="5">
                  <c:v>-297.99</c:v>
                </c:pt>
                <c:pt idx="6">
                  <c:v>-356.97</c:v>
                </c:pt>
                <c:pt idx="7">
                  <c:v>-363.67</c:v>
                </c:pt>
                <c:pt idx="8">
                  <c:v>-278.66000000000003</c:v>
                </c:pt>
                <c:pt idx="9">
                  <c:v>-267.22000000000003</c:v>
                </c:pt>
                <c:pt idx="10">
                  <c:v>-146.37</c:v>
                </c:pt>
                <c:pt idx="11">
                  <c:v>-156.88999999999999</c:v>
                </c:pt>
                <c:pt idx="12">
                  <c:v>-139.54</c:v>
                </c:pt>
                <c:pt idx="13">
                  <c:v>-140.91999999999999</c:v>
                </c:pt>
                <c:pt idx="14">
                  <c:v>-94.15</c:v>
                </c:pt>
                <c:pt idx="15">
                  <c:v>-104.35</c:v>
                </c:pt>
                <c:pt idx="16">
                  <c:v>-44.75</c:v>
                </c:pt>
                <c:pt idx="17">
                  <c:v>-31.28</c:v>
                </c:pt>
                <c:pt idx="18">
                  <c:v>-33.75</c:v>
                </c:pt>
                <c:pt idx="19">
                  <c:v>-59.61</c:v>
                </c:pt>
                <c:pt idx="20">
                  <c:v>-35.409999999999997</c:v>
                </c:pt>
                <c:pt idx="21">
                  <c:v>2.93</c:v>
                </c:pt>
                <c:pt idx="22">
                  <c:v>-8.52</c:v>
                </c:pt>
                <c:pt idx="23">
                  <c:v>-13.84</c:v>
                </c:pt>
                <c:pt idx="24">
                  <c:v>-57.38</c:v>
                </c:pt>
                <c:pt idx="25">
                  <c:v>-67.81</c:v>
                </c:pt>
                <c:pt idx="26">
                  <c:v>-93.27</c:v>
                </c:pt>
                <c:pt idx="27">
                  <c:v>-145.19999999999999</c:v>
                </c:pt>
                <c:pt idx="28">
                  <c:v>-162.08000000000001</c:v>
                </c:pt>
                <c:pt idx="29">
                  <c:v>-154.15</c:v>
                </c:pt>
                <c:pt idx="30">
                  <c:v>-142.44999999999999</c:v>
                </c:pt>
                <c:pt idx="31">
                  <c:v>-155.78</c:v>
                </c:pt>
                <c:pt idx="32">
                  <c:v>-224.52</c:v>
                </c:pt>
                <c:pt idx="33">
                  <c:v>-222.09</c:v>
                </c:pt>
                <c:pt idx="34">
                  <c:v>-298.08999999999997</c:v>
                </c:pt>
                <c:pt idx="35">
                  <c:v>-248.21</c:v>
                </c:pt>
                <c:pt idx="36">
                  <c:v>-304.06</c:v>
                </c:pt>
                <c:pt idx="37">
                  <c:v>-312.62</c:v>
                </c:pt>
                <c:pt idx="38">
                  <c:v>-299.89999999999998</c:v>
                </c:pt>
                <c:pt idx="39">
                  <c:v>-312.17</c:v>
                </c:pt>
                <c:pt idx="40">
                  <c:v>-271.07</c:v>
                </c:pt>
                <c:pt idx="41">
                  <c:v>-370.65</c:v>
                </c:pt>
                <c:pt idx="42">
                  <c:v>-366.89</c:v>
                </c:pt>
                <c:pt idx="43">
                  <c:v>-215.66</c:v>
                </c:pt>
                <c:pt idx="44">
                  <c:v>-226.17</c:v>
                </c:pt>
                <c:pt idx="45">
                  <c:v>-256.77999999999997</c:v>
                </c:pt>
                <c:pt idx="46">
                  <c:v>-227.34</c:v>
                </c:pt>
                <c:pt idx="47">
                  <c:v>-220.7</c:v>
                </c:pt>
                <c:pt idx="48">
                  <c:v>-178.6</c:v>
                </c:pt>
                <c:pt idx="49">
                  <c:v>-178.61</c:v>
                </c:pt>
                <c:pt idx="50">
                  <c:v>-195.38</c:v>
                </c:pt>
                <c:pt idx="51">
                  <c:v>-216.33</c:v>
                </c:pt>
                <c:pt idx="52">
                  <c:v>-196.5</c:v>
                </c:pt>
                <c:pt idx="53">
                  <c:v>-239.69</c:v>
                </c:pt>
                <c:pt idx="54">
                  <c:v>-195.21</c:v>
                </c:pt>
                <c:pt idx="55">
                  <c:v>-222.07</c:v>
                </c:pt>
                <c:pt idx="56">
                  <c:v>-204.4</c:v>
                </c:pt>
                <c:pt idx="57">
                  <c:v>-224.07</c:v>
                </c:pt>
                <c:pt idx="58">
                  <c:v>-232.7</c:v>
                </c:pt>
                <c:pt idx="59">
                  <c:v>-214.86</c:v>
                </c:pt>
                <c:pt idx="60">
                  <c:v>-185.06</c:v>
                </c:pt>
                <c:pt idx="61">
                  <c:v>-211.73</c:v>
                </c:pt>
                <c:pt idx="62">
                  <c:v>-205.94</c:v>
                </c:pt>
                <c:pt idx="63">
                  <c:v>-180.09</c:v>
                </c:pt>
                <c:pt idx="64">
                  <c:v>-177.49</c:v>
                </c:pt>
                <c:pt idx="65">
                  <c:v>-114.66</c:v>
                </c:pt>
                <c:pt idx="66">
                  <c:v>-86.25</c:v>
                </c:pt>
                <c:pt idx="67">
                  <c:v>-111.1</c:v>
                </c:pt>
                <c:pt idx="68">
                  <c:v>-86.3</c:v>
                </c:pt>
                <c:pt idx="69">
                  <c:v>-86.64</c:v>
                </c:pt>
                <c:pt idx="70">
                  <c:v>-100.08</c:v>
                </c:pt>
                <c:pt idx="71">
                  <c:v>-98.94</c:v>
                </c:pt>
                <c:pt idx="72">
                  <c:v>-100.79</c:v>
                </c:pt>
                <c:pt idx="73">
                  <c:v>-104.68</c:v>
                </c:pt>
                <c:pt idx="74">
                  <c:v>-93.58</c:v>
                </c:pt>
                <c:pt idx="75">
                  <c:v>-100.01</c:v>
                </c:pt>
                <c:pt idx="76">
                  <c:v>-91.68</c:v>
                </c:pt>
                <c:pt idx="77">
                  <c:v>-101.48</c:v>
                </c:pt>
                <c:pt idx="78">
                  <c:v>-88</c:v>
                </c:pt>
                <c:pt idx="79">
                  <c:v>-76.8</c:v>
                </c:pt>
                <c:pt idx="80">
                  <c:v>-80.63</c:v>
                </c:pt>
                <c:pt idx="81">
                  <c:v>-70.84</c:v>
                </c:pt>
                <c:pt idx="82">
                  <c:v>-44.51</c:v>
                </c:pt>
                <c:pt idx="83">
                  <c:v>-55.4</c:v>
                </c:pt>
                <c:pt idx="84">
                  <c:v>-62.53</c:v>
                </c:pt>
                <c:pt idx="85">
                  <c:v>-76.73</c:v>
                </c:pt>
                <c:pt idx="86">
                  <c:v>-73.75</c:v>
                </c:pt>
                <c:pt idx="87">
                  <c:v>-76.55</c:v>
                </c:pt>
                <c:pt idx="88">
                  <c:v>-89.04</c:v>
                </c:pt>
                <c:pt idx="89">
                  <c:v>-105.06</c:v>
                </c:pt>
                <c:pt idx="90">
                  <c:v>-107.67</c:v>
                </c:pt>
                <c:pt idx="91">
                  <c:v>-78.95</c:v>
                </c:pt>
                <c:pt idx="92">
                  <c:v>-97.28</c:v>
                </c:pt>
                <c:pt idx="93">
                  <c:v>-98.48</c:v>
                </c:pt>
                <c:pt idx="94">
                  <c:v>-80.540000000000006</c:v>
                </c:pt>
                <c:pt idx="95">
                  <c:v>-74.36</c:v>
                </c:pt>
                <c:pt idx="96">
                  <c:v>-69.19</c:v>
                </c:pt>
                <c:pt idx="97">
                  <c:v>-69.28</c:v>
                </c:pt>
                <c:pt idx="98">
                  <c:v>-75.97</c:v>
                </c:pt>
                <c:pt idx="99">
                  <c:v>-82.38</c:v>
                </c:pt>
                <c:pt idx="100">
                  <c:v>-81.93</c:v>
                </c:pt>
                <c:pt idx="101">
                  <c:v>-81.400000000000006</c:v>
                </c:pt>
                <c:pt idx="102">
                  <c:v>-75.86</c:v>
                </c:pt>
                <c:pt idx="103">
                  <c:v>-69.489999999999995</c:v>
                </c:pt>
                <c:pt idx="104">
                  <c:v>-47.04</c:v>
                </c:pt>
                <c:pt idx="105">
                  <c:v>-51.26</c:v>
                </c:pt>
                <c:pt idx="106">
                  <c:v>-43.21</c:v>
                </c:pt>
                <c:pt idx="107">
                  <c:v>-44.8</c:v>
                </c:pt>
                <c:pt idx="108">
                  <c:v>-29.02</c:v>
                </c:pt>
                <c:pt idx="109">
                  <c:v>-22.89</c:v>
                </c:pt>
                <c:pt idx="110">
                  <c:v>-22.42</c:v>
                </c:pt>
                <c:pt idx="111">
                  <c:v>-31.19</c:v>
                </c:pt>
                <c:pt idx="112">
                  <c:v>-41.04</c:v>
                </c:pt>
                <c:pt idx="113">
                  <c:v>-49.72</c:v>
                </c:pt>
                <c:pt idx="114">
                  <c:v>-43.84</c:v>
                </c:pt>
                <c:pt idx="115">
                  <c:v>-52.87</c:v>
                </c:pt>
                <c:pt idx="116">
                  <c:v>-52.97</c:v>
                </c:pt>
              </c:numCache>
            </c:numRef>
          </c:yVal>
          <c:smooth val="0"/>
          <c:extLst>
            <c:ext xmlns:c16="http://schemas.microsoft.com/office/drawing/2014/chart" uri="{C3380CC4-5D6E-409C-BE32-E72D297353CC}">
              <c16:uniqueId val="{00000001-A05A-4021-8E41-BD62AFF39EDB}"/>
            </c:ext>
          </c:extLst>
        </c:ser>
        <c:ser>
          <c:idx val="2"/>
          <c:order val="2"/>
          <c:tx>
            <c:strRef>
              <c:f>Sheet1!$B$331</c:f>
              <c:strCache>
                <c:ptCount val="1"/>
                <c:pt idx="0">
                  <c:v>SMP</c:v>
                </c:pt>
              </c:strCache>
            </c:strRef>
          </c:tx>
          <c:spPr>
            <a:ln w="12700">
              <a:solidFill>
                <a:srgbClr val="5A6172"/>
              </a:solidFill>
              <a:prstDash val="dash"/>
            </a:ln>
          </c:spPr>
          <c:marker>
            <c:symbol val="none"/>
          </c:marker>
          <c:xVal>
            <c:numRef>
              <c:f>Sheet1!$A$332:$A$333</c:f>
              <c:numCache>
                <c:formatCode>General</c:formatCode>
                <c:ptCount val="2"/>
                <c:pt idx="0">
                  <c:v>40308</c:v>
                </c:pt>
                <c:pt idx="1">
                  <c:v>40308</c:v>
                </c:pt>
              </c:numCache>
            </c:numRef>
          </c:xVal>
          <c:yVal>
            <c:numRef>
              <c:f>Sheet1!$B$332:$B$333</c:f>
              <c:numCache>
                <c:formatCode>General</c:formatCode>
                <c:ptCount val="2"/>
                <c:pt idx="0">
                  <c:v>-650</c:v>
                </c:pt>
                <c:pt idx="1">
                  <c:v>150</c:v>
                </c:pt>
              </c:numCache>
            </c:numRef>
          </c:yVal>
          <c:smooth val="0"/>
          <c:extLst>
            <c:ext xmlns:c16="http://schemas.microsoft.com/office/drawing/2014/chart" uri="{C3380CC4-5D6E-409C-BE32-E72D297353CC}">
              <c16:uniqueId val="{00000002-A05A-4021-8E41-BD62AFF39EDB}"/>
            </c:ext>
          </c:extLst>
        </c:ser>
        <c:ser>
          <c:idx val="3"/>
          <c:order val="3"/>
          <c:tx>
            <c:strRef>
              <c:f>Sheet1!$B$335</c:f>
              <c:strCache>
                <c:ptCount val="1"/>
                <c:pt idx="0">
                  <c:v>3-year LTRO</c:v>
                </c:pt>
              </c:strCache>
            </c:strRef>
          </c:tx>
          <c:spPr>
            <a:ln w="12700">
              <a:solidFill>
                <a:srgbClr val="5A6172"/>
              </a:solidFill>
              <a:prstDash val="dash"/>
            </a:ln>
          </c:spPr>
          <c:marker>
            <c:symbol val="none"/>
          </c:marker>
          <c:xVal>
            <c:numRef>
              <c:f>Sheet1!$A$336:$A$337</c:f>
              <c:numCache>
                <c:formatCode>General</c:formatCode>
                <c:ptCount val="2"/>
                <c:pt idx="0">
                  <c:v>40885</c:v>
                </c:pt>
                <c:pt idx="1">
                  <c:v>40885</c:v>
                </c:pt>
              </c:numCache>
            </c:numRef>
          </c:xVal>
          <c:yVal>
            <c:numRef>
              <c:f>Sheet1!$B$336:$B$337</c:f>
              <c:numCache>
                <c:formatCode>General</c:formatCode>
                <c:ptCount val="2"/>
                <c:pt idx="0">
                  <c:v>-650</c:v>
                </c:pt>
                <c:pt idx="1">
                  <c:v>150</c:v>
                </c:pt>
              </c:numCache>
            </c:numRef>
          </c:yVal>
          <c:smooth val="0"/>
          <c:extLst>
            <c:ext xmlns:c16="http://schemas.microsoft.com/office/drawing/2014/chart" uri="{C3380CC4-5D6E-409C-BE32-E72D297353CC}">
              <c16:uniqueId val="{00000003-A05A-4021-8E41-BD62AFF39EDB}"/>
            </c:ext>
          </c:extLst>
        </c:ser>
        <c:ser>
          <c:idx val="4"/>
          <c:order val="4"/>
          <c:tx>
            <c:strRef>
              <c:f>Sheet1!$B$339</c:f>
              <c:strCache>
                <c:ptCount val="1"/>
                <c:pt idx="0">
                  <c:v>“whatever it takes”</c:v>
                </c:pt>
              </c:strCache>
            </c:strRef>
          </c:tx>
          <c:spPr>
            <a:ln w="12700">
              <a:solidFill>
                <a:srgbClr val="5A6172"/>
              </a:solidFill>
              <a:prstDash val="dash"/>
            </a:ln>
          </c:spPr>
          <c:marker>
            <c:symbol val="none"/>
          </c:marker>
          <c:xVal>
            <c:numRef>
              <c:f>Sheet1!$A$340:$A$341</c:f>
              <c:numCache>
                <c:formatCode>General</c:formatCode>
                <c:ptCount val="2"/>
                <c:pt idx="0">
                  <c:v>41116</c:v>
                </c:pt>
                <c:pt idx="1">
                  <c:v>41116</c:v>
                </c:pt>
              </c:numCache>
            </c:numRef>
          </c:xVal>
          <c:yVal>
            <c:numRef>
              <c:f>Sheet1!$B$340:$B$341</c:f>
              <c:numCache>
                <c:formatCode>General</c:formatCode>
                <c:ptCount val="2"/>
                <c:pt idx="0">
                  <c:v>-650</c:v>
                </c:pt>
                <c:pt idx="1">
                  <c:v>150</c:v>
                </c:pt>
              </c:numCache>
            </c:numRef>
          </c:yVal>
          <c:smooth val="0"/>
          <c:extLst>
            <c:ext xmlns:c16="http://schemas.microsoft.com/office/drawing/2014/chart" uri="{C3380CC4-5D6E-409C-BE32-E72D297353CC}">
              <c16:uniqueId val="{00000004-A05A-4021-8E41-BD62AFF39EDB}"/>
            </c:ext>
          </c:extLst>
        </c:ser>
        <c:ser>
          <c:idx val="5"/>
          <c:order val="5"/>
          <c:tx>
            <c:strRef>
              <c:f>Sheet1!$B$343</c:f>
              <c:strCache>
                <c:ptCount val="1"/>
                <c:pt idx="0">
                  <c:v>OMT</c:v>
                </c:pt>
              </c:strCache>
            </c:strRef>
          </c:tx>
          <c:spPr>
            <a:ln w="12700">
              <a:solidFill>
                <a:srgbClr val="5A6172"/>
              </a:solidFill>
              <a:prstDash val="dash"/>
            </a:ln>
          </c:spPr>
          <c:marker>
            <c:symbol val="none"/>
          </c:marker>
          <c:xVal>
            <c:numRef>
              <c:f>Sheet1!$A$344:$A$345</c:f>
              <c:numCache>
                <c:formatCode>General</c:formatCode>
                <c:ptCount val="2"/>
                <c:pt idx="0">
                  <c:v>41158</c:v>
                </c:pt>
                <c:pt idx="1">
                  <c:v>41158</c:v>
                </c:pt>
              </c:numCache>
            </c:numRef>
          </c:xVal>
          <c:yVal>
            <c:numRef>
              <c:f>Sheet1!$B$344:$B$345</c:f>
              <c:numCache>
                <c:formatCode>General</c:formatCode>
                <c:ptCount val="2"/>
                <c:pt idx="0">
                  <c:v>-650</c:v>
                </c:pt>
                <c:pt idx="1">
                  <c:v>150</c:v>
                </c:pt>
              </c:numCache>
            </c:numRef>
          </c:yVal>
          <c:smooth val="0"/>
          <c:extLst>
            <c:ext xmlns:c16="http://schemas.microsoft.com/office/drawing/2014/chart" uri="{C3380CC4-5D6E-409C-BE32-E72D297353CC}">
              <c16:uniqueId val="{00000005-A05A-4021-8E41-BD62AFF39EDB}"/>
            </c:ext>
          </c:extLst>
        </c:ser>
        <c:dLbls>
          <c:showLegendKey val="0"/>
          <c:showVal val="0"/>
          <c:showCatName val="0"/>
          <c:showSerName val="0"/>
          <c:showPercent val="0"/>
          <c:showBubbleSize val="0"/>
        </c:dLbls>
        <c:axId val="-2128940872"/>
        <c:axId val="-2129643912"/>
      </c:scatterChart>
      <c:valAx>
        <c:axId val="-2128940872"/>
        <c:scaling>
          <c:orientation val="minMax"/>
          <c:max val="41639"/>
          <c:min val="40179"/>
        </c:scaling>
        <c:delete val="0"/>
        <c:axPos val="b"/>
        <c:numFmt formatCode="yyyy" sourceLinked="0"/>
        <c:majorTickMark val="out"/>
        <c:minorTickMark val="none"/>
        <c:tickLblPos val="low"/>
        <c:spPr>
          <a:ln>
            <a:solidFill>
              <a:srgbClr val="DCE3EF"/>
            </a:solidFill>
          </a:ln>
        </c:spPr>
        <c:txPr>
          <a:bodyPr/>
          <a:lstStyle/>
          <a:p>
            <a:pPr>
              <a:defRPr sz="1100">
                <a:solidFill>
                  <a:srgbClr val="5A6172"/>
                </a:solidFill>
              </a:defRPr>
            </a:pPr>
            <a:endParaRPr lang="en-US"/>
          </a:p>
        </c:txPr>
        <c:crossAx val="-2129643912"/>
        <c:crosses val="autoZero"/>
        <c:crossBetween val="midCat"/>
        <c:majorUnit val="366"/>
      </c:valAx>
      <c:valAx>
        <c:axId val="-2129643912"/>
        <c:scaling>
          <c:orientation val="minMax"/>
          <c:max val="150"/>
          <c:min val="-650"/>
        </c:scaling>
        <c:delete val="0"/>
        <c:axPos val="l"/>
        <c:majorGridlines>
          <c:spPr>
            <a:ln w="7620">
              <a:solidFill>
                <a:srgbClr val="DCE3EF"/>
              </a:solidFill>
            </a:ln>
          </c:spPr>
        </c:majorGridlines>
        <c:numFmt formatCode="0&quot;bp&quot;" sourceLinked="0"/>
        <c:majorTickMark val="out"/>
        <c:minorTickMark val="none"/>
        <c:tickLblPos val="low"/>
        <c:spPr>
          <a:ln>
            <a:noFill/>
          </a:ln>
        </c:spPr>
        <c:txPr>
          <a:bodyPr/>
          <a:lstStyle/>
          <a:p>
            <a:pPr>
              <a:defRPr sz="1100">
                <a:solidFill>
                  <a:srgbClr val="5A6172"/>
                </a:solidFill>
              </a:defRPr>
            </a:pPr>
            <a:endParaRPr lang="en-US"/>
          </a:p>
        </c:txPr>
        <c:crossAx val="-2128940872"/>
        <c:crosses val="autoZero"/>
        <c:crossBetween val="midCat"/>
      </c:valAx>
    </c:plotArea>
    <c:plotVisOnly val="1"/>
    <c:dispBlanksAs val="gap"/>
    <c:showDLblsOverMax val="0"/>
  </c:chart>
  <c:txPr>
    <a:bodyPr/>
    <a:lstStyle/>
    <a:p>
      <a:pPr>
        <a:defRPr sz="1100">
          <a:latin typeface="Garamon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8788" y="720725"/>
            <a:ext cx="6399212" cy="3598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1" y="4560571"/>
            <a:ext cx="5852160" cy="4320540"/>
          </a:xfrm>
          <a:prstGeom prst="rect">
            <a:avLst/>
          </a:prstGeom>
          <a:noFill/>
          <a:ln>
            <a:noFill/>
          </a:ln>
        </p:spPr>
        <p:txBody>
          <a:bodyPr spcFirstLastPara="1" wrap="square" lIns="96634" tIns="96634" rIns="96634" bIns="96634"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365A1-226B-46BD-B757-1F028250CDA7}"/>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B77E36-96D9-48CE-B53A-AB803608821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EA167D0-D05E-40C5-8EEE-085359DA3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60A34-4875-46B8-8389-6D19DF2DA9B9}"/>
              </a:ext>
            </a:extLst>
          </p:cNvPr>
          <p:cNvSpPr>
            <a:spLocks noGrp="1"/>
          </p:cNvSpPr>
          <p:nvPr>
            <p:ph type="sldNum" sz="quarter" idx="12"/>
          </p:nvPr>
        </p:nvSpPr>
        <p:spPr>
          <a:xfrm>
            <a:off x="9120336" y="6356353"/>
            <a:ext cx="2743200" cy="366183"/>
          </a:xfrm>
          <a:prstGeom prst="rect">
            <a:avLst/>
          </a:prstGeom>
        </p:spPr>
        <p:txBody>
          <a:bodyPr/>
          <a:lstStyle>
            <a:lvl1pPr algn="r">
              <a:defRPr sz="1200" b="0">
                <a:solidFill>
                  <a:schemeClr val="bg1">
                    <a:lumMod val="50000"/>
                  </a:schemeClr>
                </a:solidFill>
                <a:latin typeface="Garamond" panose="02020404030301010803" pitchFamily="18" charset="0"/>
              </a:defRPr>
            </a:lvl1pPr>
          </a:lstStyle>
          <a:p>
            <a:fld id="{F6B70E3D-0A47-44A9-8B13-A3D1BC88A914}" type="slidenum">
              <a:rPr lang="en-US" smtClean="0"/>
              <a:pPr/>
              <a:t>‹#›</a:t>
            </a:fld>
            <a:endParaRPr lang="en-US"/>
          </a:p>
        </p:txBody>
      </p:sp>
      <p:sp>
        <p:nvSpPr>
          <p:cNvPr id="7" name="Google Shape;230;p49">
            <a:extLst>
              <a:ext uri="{FF2B5EF4-FFF2-40B4-BE49-F238E27FC236}">
                <a16:creationId xmlns:a16="http://schemas.microsoft.com/office/drawing/2014/main" id="{B0469A88-F3B7-4305-947D-A588CE30906F}"/>
              </a:ext>
            </a:extLst>
          </p:cNvPr>
          <p:cNvSpPr txBox="1"/>
          <p:nvPr userDrawn="1"/>
        </p:nvSpPr>
        <p:spPr>
          <a:xfrm>
            <a:off x="0" y="2"/>
            <a:ext cx="12192000" cy="1536633"/>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8" name="Google Shape;247;p51">
            <a:extLst>
              <a:ext uri="{FF2B5EF4-FFF2-40B4-BE49-F238E27FC236}">
                <a16:creationId xmlns:a16="http://schemas.microsoft.com/office/drawing/2014/main" id="{E07326A5-7DFC-4BBA-9135-BBB829B30C75}"/>
              </a:ext>
            </a:extLst>
          </p:cNvPr>
          <p:cNvPicPr preferRelativeResize="0">
            <a:picLocks noChangeAspect="1"/>
          </p:cNvPicPr>
          <p:nvPr userDrawn="1"/>
        </p:nvPicPr>
        <p:blipFill rotWithShape="1">
          <a:blip r:embed="rId2">
            <a:alphaModFix/>
          </a:blip>
          <a:srcRect b="29873"/>
          <a:stretch/>
        </p:blipFill>
        <p:spPr>
          <a:xfrm>
            <a:off x="328464" y="6112933"/>
            <a:ext cx="1881336" cy="609600"/>
          </a:xfrm>
          <a:prstGeom prst="rect">
            <a:avLst/>
          </a:prstGeom>
          <a:noFill/>
          <a:ln>
            <a:noFill/>
          </a:ln>
        </p:spPr>
      </p:pic>
      <p:sp>
        <p:nvSpPr>
          <p:cNvPr id="2" name="Title 1">
            <a:extLst>
              <a:ext uri="{FF2B5EF4-FFF2-40B4-BE49-F238E27FC236}">
                <a16:creationId xmlns:a16="http://schemas.microsoft.com/office/drawing/2014/main" id="{77F2B64F-7FF0-4CB6-8A6E-04531188379A}"/>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2929906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39A65-672A-4BCB-B034-639C59E8126B}"/>
              </a:ext>
            </a:extLst>
          </p:cNvPr>
          <p:cNvSpPr>
            <a:spLocks noGrp="1"/>
          </p:cNvSpPr>
          <p:nvPr>
            <p:ph sz="half" idx="1"/>
          </p:nvPr>
        </p:nvSpPr>
        <p:spPr>
          <a:xfrm>
            <a:off x="838200" y="1826684"/>
            <a:ext cx="5156200" cy="4349749"/>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47450-FEA2-4344-BB67-8DC866896B8E}"/>
              </a:ext>
            </a:extLst>
          </p:cNvPr>
          <p:cNvSpPr>
            <a:spLocks noGrp="1"/>
          </p:cNvSpPr>
          <p:nvPr>
            <p:ph sz="half" idx="2"/>
          </p:nvPr>
        </p:nvSpPr>
        <p:spPr>
          <a:xfrm>
            <a:off x="6197600" y="1826684"/>
            <a:ext cx="5156200" cy="4349749"/>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4C35F6-4031-4A59-BC20-3CECB76B50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8639087-FBF8-4DD9-A22E-0B8BE15AA851}"/>
              </a:ext>
            </a:extLst>
          </p:cNvPr>
          <p:cNvSpPr>
            <a:spLocks noGrp="1"/>
          </p:cNvSpPr>
          <p:nvPr>
            <p:ph type="ftr" sz="quarter" idx="11"/>
          </p:nvPr>
        </p:nvSpPr>
        <p:spPr/>
        <p:txBody>
          <a:bodyPr/>
          <a:lstStyle/>
          <a:p>
            <a:endParaRPr lang="en-US"/>
          </a:p>
        </p:txBody>
      </p:sp>
      <p:sp>
        <p:nvSpPr>
          <p:cNvPr id="8" name="Google Shape;230;p49">
            <a:extLst>
              <a:ext uri="{FF2B5EF4-FFF2-40B4-BE49-F238E27FC236}">
                <a16:creationId xmlns:a16="http://schemas.microsoft.com/office/drawing/2014/main" id="{B9E27048-10D8-4AF8-83D6-161EC8B2B203}"/>
              </a:ext>
            </a:extLst>
          </p:cNvPr>
          <p:cNvSpPr txBox="1"/>
          <p:nvPr userDrawn="1"/>
        </p:nvSpPr>
        <p:spPr>
          <a:xfrm>
            <a:off x="0" y="2"/>
            <a:ext cx="12192000" cy="1536633"/>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9" name="Google Shape;247;p51">
            <a:extLst>
              <a:ext uri="{FF2B5EF4-FFF2-40B4-BE49-F238E27FC236}">
                <a16:creationId xmlns:a16="http://schemas.microsoft.com/office/drawing/2014/main" id="{112A745B-B640-4AA1-98B2-1E7278E8BA9A}"/>
              </a:ext>
            </a:extLst>
          </p:cNvPr>
          <p:cNvPicPr preferRelativeResize="0">
            <a:picLocks noChangeAspect="1"/>
          </p:cNvPicPr>
          <p:nvPr userDrawn="1"/>
        </p:nvPicPr>
        <p:blipFill rotWithShape="1">
          <a:blip r:embed="rId2">
            <a:alphaModFix/>
          </a:blip>
          <a:srcRect b="29873"/>
          <a:stretch/>
        </p:blipFill>
        <p:spPr>
          <a:xfrm>
            <a:off x="328464" y="6112933"/>
            <a:ext cx="1881336" cy="609600"/>
          </a:xfrm>
          <a:prstGeom prst="rect">
            <a:avLst/>
          </a:prstGeom>
          <a:noFill/>
          <a:ln>
            <a:noFill/>
          </a:ln>
        </p:spPr>
      </p:pic>
      <p:sp>
        <p:nvSpPr>
          <p:cNvPr id="2" name="Title 1">
            <a:extLst>
              <a:ext uri="{FF2B5EF4-FFF2-40B4-BE49-F238E27FC236}">
                <a16:creationId xmlns:a16="http://schemas.microsoft.com/office/drawing/2014/main" id="{D85251CE-303C-4F16-90CA-7AAD7AE42683}"/>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10" name="Slide Number Placeholder 5">
            <a:extLst>
              <a:ext uri="{FF2B5EF4-FFF2-40B4-BE49-F238E27FC236}">
                <a16:creationId xmlns:a16="http://schemas.microsoft.com/office/drawing/2014/main" id="{99477F76-27F3-4527-B3B8-6B079B6F303E}"/>
              </a:ext>
            </a:extLst>
          </p:cNvPr>
          <p:cNvSpPr txBox="1">
            <a:spLocks/>
          </p:cNvSpPr>
          <p:nvPr userDrawn="1"/>
        </p:nvSpPr>
        <p:spPr>
          <a:xfrm>
            <a:off x="9120336" y="6356353"/>
            <a:ext cx="2743200" cy="366183"/>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z="1200" smtClean="0"/>
              <a:pPr/>
              <a:t>‹#›</a:t>
            </a:fld>
            <a:endParaRPr lang="en-US" sz="1200" dirty="0"/>
          </a:p>
        </p:txBody>
      </p:sp>
    </p:spTree>
    <p:extLst>
      <p:ext uri="{BB962C8B-B14F-4D97-AF65-F5344CB8AC3E}">
        <p14:creationId xmlns:p14="http://schemas.microsoft.com/office/powerpoint/2010/main" val="1976872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ADD287-46A8-4594-9600-EB4900177FC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FA11978-2065-4A58-9226-0DEC22DB1662}"/>
              </a:ext>
            </a:extLst>
          </p:cNvPr>
          <p:cNvSpPr>
            <a:spLocks noGrp="1"/>
          </p:cNvSpPr>
          <p:nvPr>
            <p:ph type="ftr" sz="quarter" idx="11"/>
          </p:nvPr>
        </p:nvSpPr>
        <p:spPr/>
        <p:txBody>
          <a:bodyPr/>
          <a:lstStyle/>
          <a:p>
            <a:endParaRPr lang="en-US"/>
          </a:p>
        </p:txBody>
      </p:sp>
      <p:sp>
        <p:nvSpPr>
          <p:cNvPr id="6" name="Google Shape;230;p49">
            <a:extLst>
              <a:ext uri="{FF2B5EF4-FFF2-40B4-BE49-F238E27FC236}">
                <a16:creationId xmlns:a16="http://schemas.microsoft.com/office/drawing/2014/main" id="{4161E6F3-BE0C-43BE-9BD0-937FF3E2E23C}"/>
              </a:ext>
            </a:extLst>
          </p:cNvPr>
          <p:cNvSpPr txBox="1"/>
          <p:nvPr userDrawn="1"/>
        </p:nvSpPr>
        <p:spPr>
          <a:xfrm>
            <a:off x="0" y="2"/>
            <a:ext cx="12192000" cy="1536633"/>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7" name="Google Shape;247;p51">
            <a:extLst>
              <a:ext uri="{FF2B5EF4-FFF2-40B4-BE49-F238E27FC236}">
                <a16:creationId xmlns:a16="http://schemas.microsoft.com/office/drawing/2014/main" id="{ED6D7DB5-7D00-4004-AC78-D58F0A9E0100}"/>
              </a:ext>
            </a:extLst>
          </p:cNvPr>
          <p:cNvPicPr preferRelativeResize="0">
            <a:picLocks noChangeAspect="1"/>
          </p:cNvPicPr>
          <p:nvPr userDrawn="1"/>
        </p:nvPicPr>
        <p:blipFill rotWithShape="1">
          <a:blip r:embed="rId2">
            <a:alphaModFix/>
          </a:blip>
          <a:srcRect b="29873"/>
          <a:stretch/>
        </p:blipFill>
        <p:spPr>
          <a:xfrm>
            <a:off x="328464" y="6112933"/>
            <a:ext cx="1881336" cy="609600"/>
          </a:xfrm>
          <a:prstGeom prst="rect">
            <a:avLst/>
          </a:prstGeom>
          <a:noFill/>
          <a:ln>
            <a:noFill/>
          </a:ln>
        </p:spPr>
      </p:pic>
      <p:sp>
        <p:nvSpPr>
          <p:cNvPr id="2" name="Title 1">
            <a:extLst>
              <a:ext uri="{FF2B5EF4-FFF2-40B4-BE49-F238E27FC236}">
                <a16:creationId xmlns:a16="http://schemas.microsoft.com/office/drawing/2014/main" id="{C455EA06-2999-4182-AA4F-8A1D6954C072}"/>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8" name="Slide Number Placeholder 5">
            <a:extLst>
              <a:ext uri="{FF2B5EF4-FFF2-40B4-BE49-F238E27FC236}">
                <a16:creationId xmlns:a16="http://schemas.microsoft.com/office/drawing/2014/main" id="{3E4F8D54-AD2B-44ED-ABC6-CC705ED874E0}"/>
              </a:ext>
            </a:extLst>
          </p:cNvPr>
          <p:cNvSpPr txBox="1">
            <a:spLocks/>
          </p:cNvSpPr>
          <p:nvPr userDrawn="1"/>
        </p:nvSpPr>
        <p:spPr>
          <a:xfrm>
            <a:off x="9120336" y="6356353"/>
            <a:ext cx="2743200" cy="366183"/>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z="1200" smtClean="0"/>
              <a:pPr/>
              <a:t>‹#›</a:t>
            </a:fld>
            <a:endParaRPr lang="en-US" sz="1200"/>
          </a:p>
        </p:txBody>
      </p:sp>
    </p:spTree>
    <p:extLst>
      <p:ext uri="{BB962C8B-B14F-4D97-AF65-F5344CB8AC3E}">
        <p14:creationId xmlns:p14="http://schemas.microsoft.com/office/powerpoint/2010/main" val="1727956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Google Shape;230;p49">
            <a:extLst>
              <a:ext uri="{FF2B5EF4-FFF2-40B4-BE49-F238E27FC236}">
                <a16:creationId xmlns:a16="http://schemas.microsoft.com/office/drawing/2014/main" id="{72B56A6A-6462-4E40-8C6F-EB86CE4AC215}"/>
              </a:ext>
            </a:extLst>
          </p:cNvPr>
          <p:cNvSpPr txBox="1"/>
          <p:nvPr userDrawn="1"/>
        </p:nvSpPr>
        <p:spPr>
          <a:xfrm>
            <a:off x="0" y="0"/>
            <a:ext cx="12192000" cy="68580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sz="1400" b="1">
              <a:solidFill>
                <a:srgbClr val="FFFFFF"/>
              </a:solidFill>
              <a:latin typeface="Helvetica Neue"/>
              <a:ea typeface="Helvetica Neue"/>
              <a:cs typeface="Helvetica Neue"/>
              <a:sym typeface="Helvetica Neue"/>
            </a:endParaRPr>
          </a:p>
        </p:txBody>
      </p:sp>
      <p:pic>
        <p:nvPicPr>
          <p:cNvPr id="7" name="Google Shape;240;p50">
            <a:extLst>
              <a:ext uri="{FF2B5EF4-FFF2-40B4-BE49-F238E27FC236}">
                <a16:creationId xmlns:a16="http://schemas.microsoft.com/office/drawing/2014/main" id="{3AC6954D-A2DC-4D75-B8CA-81940558E621}"/>
              </a:ext>
            </a:extLst>
          </p:cNvPr>
          <p:cNvPicPr preferRelativeResize="0">
            <a:picLocks noChangeAspect="1"/>
          </p:cNvPicPr>
          <p:nvPr userDrawn="1"/>
        </p:nvPicPr>
        <p:blipFill rotWithShape="1">
          <a:blip r:embed="rId2">
            <a:alphaModFix/>
          </a:blip>
          <a:srcRect b="29873"/>
          <a:stretch/>
        </p:blipFill>
        <p:spPr>
          <a:xfrm>
            <a:off x="322433" y="6071817"/>
            <a:ext cx="1881336" cy="609600"/>
          </a:xfrm>
          <a:prstGeom prst="rect">
            <a:avLst/>
          </a:prstGeom>
          <a:noFill/>
          <a:ln>
            <a:noFill/>
          </a:ln>
        </p:spPr>
      </p:pic>
      <p:sp>
        <p:nvSpPr>
          <p:cNvPr id="9" name="Slide Number Placeholder 5">
            <a:extLst>
              <a:ext uri="{FF2B5EF4-FFF2-40B4-BE49-F238E27FC236}">
                <a16:creationId xmlns:a16="http://schemas.microsoft.com/office/drawing/2014/main" id="{15BA8FDB-4A35-493F-B3BC-6AE97C71BB5D}"/>
              </a:ext>
            </a:extLst>
          </p:cNvPr>
          <p:cNvSpPr txBox="1">
            <a:spLocks/>
          </p:cNvSpPr>
          <p:nvPr userDrawn="1"/>
        </p:nvSpPr>
        <p:spPr>
          <a:xfrm>
            <a:off x="9120336" y="6356353"/>
            <a:ext cx="2743200" cy="366183"/>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z="1200" smtClean="0">
                <a:solidFill>
                  <a:schemeClr val="bg1"/>
                </a:solidFill>
              </a:rPr>
              <a:pPr/>
              <a:t>‹#›</a:t>
            </a:fld>
            <a:endParaRPr lang="en-US" sz="1200" dirty="0">
              <a:solidFill>
                <a:schemeClr val="bg1"/>
              </a:solidFill>
            </a:endParaRPr>
          </a:p>
        </p:txBody>
      </p:sp>
      <p:sp>
        <p:nvSpPr>
          <p:cNvPr id="12" name="Title 1">
            <a:extLst>
              <a:ext uri="{FF2B5EF4-FFF2-40B4-BE49-F238E27FC236}">
                <a16:creationId xmlns:a16="http://schemas.microsoft.com/office/drawing/2014/main" id="{038F3ACB-D9F8-4037-BF81-F3EF23C42FDC}"/>
              </a:ext>
            </a:extLst>
          </p:cNvPr>
          <p:cNvSpPr>
            <a:spLocks noGrp="1"/>
          </p:cNvSpPr>
          <p:nvPr>
            <p:ph type="title"/>
          </p:nvPr>
        </p:nvSpPr>
        <p:spPr>
          <a:xfrm>
            <a:off x="838200" y="366186"/>
            <a:ext cx="10515600" cy="1170449"/>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1165293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01304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62AD0-07E9-40C7-8FA6-7D5A7BE3A7E6}"/>
              </a:ext>
            </a:extLst>
          </p:cNvPr>
          <p:cNvSpPr>
            <a:spLocks noGrp="1"/>
          </p:cNvSpPr>
          <p:nvPr>
            <p:ph type="title"/>
          </p:nvPr>
        </p:nvSpPr>
        <p:spPr>
          <a:xfrm>
            <a:off x="838200" y="366186"/>
            <a:ext cx="10515600" cy="132503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D5C24-4D38-4FA4-A0A3-DAC5E41EEF72}"/>
              </a:ext>
            </a:extLst>
          </p:cNvPr>
          <p:cNvSpPr>
            <a:spLocks noGrp="1"/>
          </p:cNvSpPr>
          <p:nvPr>
            <p:ph type="body" idx="1"/>
          </p:nvPr>
        </p:nvSpPr>
        <p:spPr>
          <a:xfrm>
            <a:off x="838200" y="1826684"/>
            <a:ext cx="10515600" cy="43497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82CD9-BE2A-48C6-BC9C-C83F0CF4FB64}"/>
              </a:ext>
            </a:extLst>
          </p:cNvPr>
          <p:cNvSpPr>
            <a:spLocks noGrp="1"/>
          </p:cNvSpPr>
          <p:nvPr>
            <p:ph type="dt" sz="half" idx="2"/>
          </p:nvPr>
        </p:nvSpPr>
        <p:spPr>
          <a:xfrm>
            <a:off x="838200" y="6356353"/>
            <a:ext cx="2743200" cy="366183"/>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07650A4A-D046-4587-A96A-1A2FB40FCA0B}"/>
              </a:ext>
            </a:extLst>
          </p:cNvPr>
          <p:cNvSpPr>
            <a:spLocks noGrp="1"/>
          </p:cNvSpPr>
          <p:nvPr>
            <p:ph type="ftr" sz="quarter" idx="3"/>
          </p:nvPr>
        </p:nvSpPr>
        <p:spPr>
          <a:xfrm>
            <a:off x="4038600" y="6356353"/>
            <a:ext cx="4114800" cy="36618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808464103"/>
      </p:ext>
    </p:extLst>
  </p:cSld>
  <p:clrMap bg1="lt1" tx1="dk1" bg2="lt2" tx2="dk2" accent1="accent1" accent2="accent2" accent3="accent3" accent4="accent4" accent5="accent5" accent6="accent6" hlink="hlink" folHlink="folHlink"/>
  <p:sldLayoutIdLst>
    <p:sldLayoutId id="2147483697" r:id="rId1"/>
    <p:sldLayoutId id="2147483699" r:id="rId2"/>
    <p:sldLayoutId id="2147483701" r:id="rId3"/>
    <p:sldLayoutId id="2147483708" r:id="rId4"/>
    <p:sldLayoutId id="2147483709"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dark.png"/>
          <p:cNvPicPr>
            <a:picLocks noChangeAspect="1"/>
          </p:cNvPicPr>
          <p:nvPr/>
        </p:nvPicPr>
        <p:blipFill>
          <a:blip r:embed="rId2"/>
          <a:stretch>
            <a:fillRect/>
          </a:stretch>
        </p:blipFill>
        <p:spPr>
          <a:xfrm>
            <a:off x="3855567" y="1691640"/>
            <a:ext cx="4480560" cy="1269794"/>
          </a:xfrm>
          <a:prstGeom prst="rect">
            <a:avLst/>
          </a:prstGeom>
        </p:spPr>
      </p:pic>
      <p:sp>
        <p:nvSpPr>
          <p:cNvPr id="4" name="Rectangle 3"/>
          <p:cNvSpPr/>
          <p:nvPr/>
        </p:nvSpPr>
        <p:spPr>
          <a:xfrm>
            <a:off x="0" y="4572000"/>
            <a:ext cx="12191695" cy="2286000"/>
          </a:xfrm>
          <a:prstGeom prst="rect">
            <a:avLst/>
          </a:prstGeom>
          <a:solidFill>
            <a:srgbClr val="011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4773168"/>
            <a:ext cx="11057839" cy="566928"/>
          </a:xfrm>
          <a:prstGeom prst="rect">
            <a:avLst/>
          </a:prstGeom>
          <a:noFill/>
        </p:spPr>
        <p:txBody>
          <a:bodyPr wrap="square" lIns="0" tIns="0" rIns="0" bIns="0" anchor="t">
            <a:spAutoFit/>
          </a:bodyPr>
          <a:lstStyle/>
          <a:p>
            <a:pPr algn="ctr">
              <a:lnSpc>
                <a:spcPct val="95000"/>
              </a:lnSpc>
              <a:spcAft>
                <a:spcPts val="0"/>
              </a:spcAft>
            </a:pPr>
            <a:r>
              <a:rPr sz="3600" b="0" i="0" u="sng">
                <a:solidFill>
                  <a:srgbClr val="FFFFFF"/>
                </a:solidFill>
                <a:latin typeface="Garamond"/>
              </a:rPr>
              <a:t>French swap spreads</a:t>
            </a:r>
          </a:p>
        </p:txBody>
      </p:sp>
      <p:sp>
        <p:nvSpPr>
          <p:cNvPr id="6" name="TextBox 5"/>
          <p:cNvSpPr txBox="1"/>
          <p:nvPr/>
        </p:nvSpPr>
        <p:spPr>
          <a:xfrm>
            <a:off x="566928" y="5358384"/>
            <a:ext cx="11057839" cy="365760"/>
          </a:xfrm>
          <a:prstGeom prst="rect">
            <a:avLst/>
          </a:prstGeom>
          <a:noFill/>
        </p:spPr>
        <p:txBody>
          <a:bodyPr wrap="square" lIns="0" tIns="0" rIns="0" bIns="0" anchor="t">
            <a:spAutoFit/>
          </a:bodyPr>
          <a:lstStyle/>
          <a:p>
            <a:pPr algn="ctr">
              <a:lnSpc>
                <a:spcPct val="95000"/>
              </a:lnSpc>
              <a:spcAft>
                <a:spcPts val="0"/>
              </a:spcAft>
            </a:pPr>
            <a:r>
              <a:rPr sz="1800" b="0" i="0" u="none">
                <a:solidFill>
                  <a:srgbClr val="FFFFFF"/>
                </a:solidFill>
                <a:latin typeface="Garamond"/>
              </a:rPr>
              <a:t>5-year OAT swap spread with non-recourse financing</a:t>
            </a:r>
          </a:p>
        </p:txBody>
      </p:sp>
      <p:sp>
        <p:nvSpPr>
          <p:cNvPr id="7" name="TextBox 6"/>
          <p:cNvSpPr txBox="1"/>
          <p:nvPr/>
        </p:nvSpPr>
        <p:spPr>
          <a:xfrm>
            <a:off x="566928" y="5760720"/>
            <a:ext cx="11057839" cy="365760"/>
          </a:xfrm>
          <a:prstGeom prst="rect">
            <a:avLst/>
          </a:prstGeom>
          <a:noFill/>
        </p:spPr>
        <p:txBody>
          <a:bodyPr wrap="square" lIns="0" tIns="0" rIns="0" bIns="0" anchor="t">
            <a:spAutoFit/>
          </a:bodyPr>
          <a:lstStyle/>
          <a:p>
            <a:pPr algn="ctr">
              <a:lnSpc>
                <a:spcPct val="95000"/>
              </a:lnSpc>
              <a:spcAft>
                <a:spcPts val="0"/>
              </a:spcAft>
            </a:pPr>
            <a:r>
              <a:rPr sz="2000" b="0" i="0" u="sng">
                <a:solidFill>
                  <a:srgbClr val="FFFFFF"/>
                </a:solidFill>
                <a:latin typeface="Garamond"/>
              </a:rPr>
              <a:t>October 2026</a:t>
            </a:r>
          </a:p>
        </p:txBody>
      </p:sp>
      <p:sp>
        <p:nvSpPr>
          <p:cNvPr id="8" name="TextBox 7"/>
          <p:cNvSpPr txBox="1"/>
          <p:nvPr/>
        </p:nvSpPr>
        <p:spPr>
          <a:xfrm>
            <a:off x="566928" y="6199632"/>
            <a:ext cx="11057839" cy="566928"/>
          </a:xfrm>
          <a:prstGeom prst="rect">
            <a:avLst/>
          </a:prstGeom>
          <a:noFill/>
        </p:spPr>
        <p:txBody>
          <a:bodyPr wrap="square" lIns="0" tIns="0" rIns="0" bIns="0" anchor="t">
            <a:spAutoFit/>
          </a:bodyPr>
          <a:lstStyle/>
          <a:p>
            <a:pPr algn="ctr">
              <a:lnSpc>
                <a:spcPct val="100000"/>
              </a:lnSpc>
              <a:spcAft>
                <a:spcPts val="0"/>
              </a:spcAft>
            </a:pPr>
            <a:r>
              <a:rPr sz="1100" b="0" i="0" u="none">
                <a:solidFill>
                  <a:srgbClr val="FFFFFF"/>
                </a:solidFill>
                <a:latin typeface="Garamond"/>
              </a:rPr>
              <a:t>CONFIDENTIAL AND PROPRIETARY — FOR DISCUSSION ONLY</a:t>
            </a:r>
          </a:p>
          <a:p>
            <a:pPr algn="ctr">
              <a:lnSpc>
                <a:spcPct val="100000"/>
              </a:lnSpc>
              <a:spcAft>
                <a:spcPts val="0"/>
              </a:spcAft>
            </a:pPr>
            <a:r>
              <a:rPr sz="1100" b="0" i="0" u="none">
                <a:solidFill>
                  <a:srgbClr val="FFFFFF"/>
                </a:solidFill>
                <a:latin typeface="Garamond"/>
              </a:rPr>
              <a:t>This presentation contains confidential information and is intended solely for the use of the named recipient(s). Returns shown are scenario illustrations, gross of fees. Please read the important information.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Disclaimer</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2</a:t>
            </a:r>
          </a:p>
        </p:txBody>
      </p:sp>
      <p:sp>
        <p:nvSpPr>
          <p:cNvPr id="5" name="TextBox 4"/>
          <p:cNvSpPr txBox="1"/>
          <p:nvPr/>
        </p:nvSpPr>
        <p:spPr>
          <a:xfrm>
            <a:off x="566928" y="1664207"/>
            <a:ext cx="11057839" cy="4206240"/>
          </a:xfrm>
          <a:prstGeom prst="rect">
            <a:avLst/>
          </a:prstGeom>
          <a:noFill/>
        </p:spPr>
        <p:txBody>
          <a:bodyPr wrap="square" lIns="0" tIns="0" rIns="0" bIns="0" anchor="t">
            <a:spAutoFit/>
          </a:bodyPr>
          <a:lstStyle/>
          <a:p>
            <a:pPr algn="l">
              <a:lnSpc>
                <a:spcPct val="100000"/>
              </a:lnSpc>
              <a:spcAft>
                <a:spcPts val="300"/>
              </a:spcAft>
            </a:pPr>
            <a:r>
              <a:rPr sz="1350" b="1" i="0" u="none">
                <a:solidFill>
                  <a:srgbClr val="011C40"/>
                </a:solidFill>
                <a:latin typeface="Garamond"/>
              </a:rPr>
              <a:t>No offer or solicitation</a:t>
            </a:r>
          </a:p>
          <a:p>
            <a:pPr algn="l">
              <a:lnSpc>
                <a:spcPct val="120000"/>
              </a:lnSpc>
              <a:spcAft>
                <a:spcPts val="1100"/>
              </a:spcAft>
            </a:pPr>
            <a:r>
              <a:rPr sz="1200" b="0" i="0" u="none">
                <a:solidFill>
                  <a:srgbClr val="5A6172"/>
                </a:solidFill>
                <a:latin typeface="Garamond"/>
              </a:rPr>
              <a:t>Nothing herein constitutes or should be construed as an offering of securities or a recommendation to purchase or sell securities or commodity interests. If an offer of securities were to be made in the future, it must be made only through a confidential private placement memorandum (“PPM”) and related subscription documents.</a:t>
            </a:r>
          </a:p>
          <a:p>
            <a:pPr algn="l">
              <a:lnSpc>
                <a:spcPct val="100000"/>
              </a:lnSpc>
              <a:spcAft>
                <a:spcPts val="300"/>
              </a:spcAft>
            </a:pPr>
            <a:r>
              <a:rPr sz="1350" b="1" i="0" u="none">
                <a:solidFill>
                  <a:srgbClr val="011C40"/>
                </a:solidFill>
                <a:latin typeface="Garamond"/>
              </a:rPr>
              <a:t>Eligibility requirements</a:t>
            </a:r>
          </a:p>
          <a:p>
            <a:pPr algn="l">
              <a:lnSpc>
                <a:spcPct val="120000"/>
              </a:lnSpc>
              <a:spcAft>
                <a:spcPts val="1100"/>
              </a:spcAft>
            </a:pPr>
            <a:r>
              <a:rPr sz="1200" b="0" i="0" u="none">
                <a:solidFill>
                  <a:srgbClr val="5A6172"/>
                </a:solidFill>
                <a:latin typeface="Garamond"/>
              </a:rPr>
              <a:t>Potential investors must meet the eligibility requirements set forth in the PPM. The information contained herein is for informational and discussion purposes only, reflects the opinions of the author and no other person, and to the extent factual is accurate only as the date hereof. Liminality Capital does not undertake to update any information that subsequently becomes inaccurate. Past performance is no guarantee of future results.</a:t>
            </a:r>
          </a:p>
          <a:p>
            <a:pPr algn="l">
              <a:lnSpc>
                <a:spcPct val="100000"/>
              </a:lnSpc>
              <a:spcAft>
                <a:spcPts val="300"/>
              </a:spcAft>
            </a:pPr>
            <a:r>
              <a:rPr sz="1350" b="1" i="0" u="none">
                <a:solidFill>
                  <a:srgbClr val="011C40"/>
                </a:solidFill>
                <a:latin typeface="Garamond"/>
              </a:rPr>
              <a:t>Not advice</a:t>
            </a:r>
          </a:p>
          <a:p>
            <a:pPr algn="l">
              <a:lnSpc>
                <a:spcPct val="120000"/>
              </a:lnSpc>
              <a:spcAft>
                <a:spcPts val="1100"/>
              </a:spcAft>
            </a:pPr>
            <a:r>
              <a:rPr sz="1200" b="0" i="0" u="none">
                <a:solidFill>
                  <a:srgbClr val="5A6172"/>
                </a:solidFill>
                <a:latin typeface="Garamond"/>
              </a:rPr>
              <a:t>This material is intended for informational purposes only and should not be construed as legal or tax advice, nor is it intended to replace the advice of a qualified attorney or tax advisor. The recipient should conduct his or her own analysis and consult with professional advisors prior to making any investment decisions.</a:t>
            </a:r>
          </a:p>
          <a:p>
            <a:pPr algn="l">
              <a:lnSpc>
                <a:spcPct val="100000"/>
              </a:lnSpc>
              <a:spcAft>
                <a:spcPts val="300"/>
              </a:spcAft>
            </a:pPr>
            <a:r>
              <a:rPr sz="1350" b="1" i="0" u="none">
                <a:solidFill>
                  <a:srgbClr val="011C40"/>
                </a:solidFill>
                <a:latin typeface="Garamond"/>
              </a:rPr>
              <a:t>Hypothetical Performance Results</a:t>
            </a:r>
          </a:p>
          <a:p>
            <a:pPr algn="l">
              <a:lnSpc>
                <a:spcPct val="120000"/>
              </a:lnSpc>
              <a:spcAft>
                <a:spcPts val="1100"/>
              </a:spcAft>
            </a:pPr>
            <a:r>
              <a:rPr sz="1200" b="0" i="0" u="none">
                <a:solidFill>
                  <a:srgbClr val="5A6172"/>
                </a:solidFill>
                <a:latin typeface="Garamond"/>
              </a:rPr>
              <a:t>Hypothetical performance results in this presentation have certain inherent limitations. Unlike the results shown in an actual performance record, these results do not represent the weighting of the portfolio as actually traded. No representation is being made that any future investment will or is likely to achieve outcomes or profits or losses similar to these being shown. The hypothetical performance results are gross and do not factor in any expenses (fund or otherwise), investment management fees or performance allocations – net performance results will be lower.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Liminality Capital</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3</a:t>
            </a:r>
          </a:p>
        </p:txBody>
      </p:sp>
      <p:sp>
        <p:nvSpPr>
          <p:cNvPr id="5" name="TextBox 4"/>
          <p:cNvSpPr txBox="1"/>
          <p:nvPr/>
        </p:nvSpPr>
        <p:spPr>
          <a:xfrm>
            <a:off x="566928" y="1755648"/>
            <a:ext cx="6675120" cy="1276440"/>
          </a:xfrm>
          <a:prstGeom prst="rect">
            <a:avLst/>
          </a:prstGeom>
          <a:noFill/>
        </p:spPr>
        <p:txBody>
          <a:bodyPr wrap="square" lIns="0" tIns="0" rIns="0" bIns="0" anchor="t">
            <a:spAutoFit/>
          </a:bodyPr>
          <a:lstStyle/>
          <a:p>
            <a:pPr algn="l">
              <a:lnSpc>
                <a:spcPct val="132000"/>
              </a:lnSpc>
              <a:spcAft>
                <a:spcPts val="0"/>
              </a:spcAft>
            </a:pPr>
            <a:r>
              <a:rPr sz="1600" b="0" i="0" u="none">
                <a:solidFill>
                  <a:srgbClr val="5A6172"/>
                </a:solidFill>
                <a:latin typeface="Garamond"/>
              </a:rPr>
              <a:t>Established in 2018, Liminality Capital LP is a private investment firm based in Boston, MA. The firm is registered as a Commodity Pool Operator and Commodity Trading Advisor with the Commodity Futures Trading Commission and is a National Futures Association member.</a:t>
            </a:r>
          </a:p>
        </p:txBody>
      </p:sp>
      <p:sp>
        <p:nvSpPr>
          <p:cNvPr id="6" name="TextBox 5"/>
          <p:cNvSpPr txBox="1"/>
          <p:nvPr/>
        </p:nvSpPr>
        <p:spPr>
          <a:xfrm>
            <a:off x="566928" y="3179612"/>
            <a:ext cx="6675120" cy="1601464"/>
          </a:xfrm>
          <a:prstGeom prst="rect">
            <a:avLst/>
          </a:prstGeom>
          <a:noFill/>
        </p:spPr>
        <p:txBody>
          <a:bodyPr wrap="square" lIns="0" tIns="0" rIns="0" bIns="0" anchor="t">
            <a:spAutoFit/>
          </a:bodyPr>
          <a:lstStyle/>
          <a:p>
            <a:pPr algn="l">
              <a:lnSpc>
                <a:spcPct val="132000"/>
              </a:lnSpc>
              <a:spcAft>
                <a:spcPts val="0"/>
              </a:spcAft>
            </a:pPr>
            <a:r>
              <a:rPr sz="1600" b="0" i="0" u="none">
                <a:solidFill>
                  <a:srgbClr val="5A6172"/>
                </a:solidFill>
                <a:latin typeface="Garamond"/>
              </a:rPr>
              <a:t>The firm’s primary investment vehicle, Liminality Partners LP, launched on June 1, 2019. Potential opportunities are drawn from a wide variety of asset classes, geographies, financial instruments and securities types, but with a particular focus on identifying price dislocations within derivatives markets to deliver asymmetric returns.</a:t>
            </a:r>
          </a:p>
        </p:txBody>
      </p:sp>
      <p:sp>
        <p:nvSpPr>
          <p:cNvPr id="7" name="Rounded Rectangle 6"/>
          <p:cNvSpPr/>
          <p:nvPr/>
        </p:nvSpPr>
        <p:spPr>
          <a:xfrm>
            <a:off x="7498079" y="1755648"/>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19" y="1940540"/>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2018</a:t>
            </a:r>
          </a:p>
        </p:txBody>
      </p:sp>
      <p:sp>
        <p:nvSpPr>
          <p:cNvPr id="9" name="TextBox 8"/>
          <p:cNvSpPr txBox="1"/>
          <p:nvPr/>
        </p:nvSpPr>
        <p:spPr>
          <a:xfrm>
            <a:off x="7589519" y="2414682"/>
            <a:ext cx="3941063" cy="175433"/>
          </a:xfrm>
          <a:prstGeom prst="rect">
            <a:avLst/>
          </a:prstGeom>
          <a:noFill/>
        </p:spPr>
        <p:txBody>
          <a:bodyPr wrap="square" lIns="0" tIns="0" rIns="0" bIns="0" anchor="t">
            <a:spAutoFit/>
          </a:bodyPr>
          <a:lstStyle/>
          <a:p>
            <a:pPr algn="ctr">
              <a:lnSpc>
                <a:spcPct val="95000"/>
              </a:lnSpc>
              <a:spcAft>
                <a:spcPts val="0"/>
              </a:spcAft>
            </a:pPr>
            <a:r>
              <a:rPr sz="1200" b="0" i="0" u="none">
                <a:solidFill>
                  <a:srgbClr val="5A6172"/>
                </a:solidFill>
                <a:latin typeface="Garamond"/>
              </a:rPr>
              <a:t>Firm established</a:t>
            </a:r>
          </a:p>
        </p:txBody>
      </p:sp>
      <p:sp>
        <p:nvSpPr>
          <p:cNvPr id="10" name="Rounded Rectangle 9"/>
          <p:cNvSpPr/>
          <p:nvPr/>
        </p:nvSpPr>
        <p:spPr>
          <a:xfrm>
            <a:off x="7498079" y="2889503"/>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19" y="3074396"/>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Boston, MA</a:t>
            </a:r>
          </a:p>
        </p:txBody>
      </p:sp>
      <p:sp>
        <p:nvSpPr>
          <p:cNvPr id="12" name="TextBox 11"/>
          <p:cNvSpPr txBox="1"/>
          <p:nvPr/>
        </p:nvSpPr>
        <p:spPr>
          <a:xfrm>
            <a:off x="7589519" y="3548538"/>
            <a:ext cx="3941063" cy="175433"/>
          </a:xfrm>
          <a:prstGeom prst="rect">
            <a:avLst/>
          </a:prstGeom>
          <a:noFill/>
        </p:spPr>
        <p:txBody>
          <a:bodyPr wrap="square" lIns="0" tIns="0" rIns="0" bIns="0" anchor="t">
            <a:spAutoFit/>
          </a:bodyPr>
          <a:lstStyle/>
          <a:p>
            <a:pPr algn="ctr">
              <a:lnSpc>
                <a:spcPct val="95000"/>
              </a:lnSpc>
              <a:spcAft>
                <a:spcPts val="0"/>
              </a:spcAft>
            </a:pPr>
            <a:r>
              <a:rPr sz="1200" b="0" i="0" u="none">
                <a:solidFill>
                  <a:srgbClr val="5A6172"/>
                </a:solidFill>
                <a:latin typeface="Garamond"/>
              </a:rPr>
              <a:t>Headquarters</a:t>
            </a:r>
          </a:p>
        </p:txBody>
      </p:sp>
      <p:sp>
        <p:nvSpPr>
          <p:cNvPr id="13" name="Rounded Rectangle 12"/>
          <p:cNvSpPr/>
          <p:nvPr/>
        </p:nvSpPr>
        <p:spPr>
          <a:xfrm>
            <a:off x="7498079" y="4023360"/>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89519" y="4208252"/>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CPO / CTA</a:t>
            </a:r>
          </a:p>
        </p:txBody>
      </p:sp>
      <p:sp>
        <p:nvSpPr>
          <p:cNvPr id="15" name="TextBox 14"/>
          <p:cNvSpPr txBox="1"/>
          <p:nvPr/>
        </p:nvSpPr>
        <p:spPr>
          <a:xfrm>
            <a:off x="7589519" y="4682394"/>
            <a:ext cx="3941063" cy="175433"/>
          </a:xfrm>
          <a:prstGeom prst="rect">
            <a:avLst/>
          </a:prstGeom>
          <a:noFill/>
        </p:spPr>
        <p:txBody>
          <a:bodyPr wrap="square" lIns="0" tIns="0" rIns="0" bIns="0" anchor="t">
            <a:spAutoFit/>
          </a:bodyPr>
          <a:lstStyle/>
          <a:p>
            <a:pPr algn="ctr">
              <a:lnSpc>
                <a:spcPct val="95000"/>
              </a:lnSpc>
              <a:spcAft>
                <a:spcPts val="0"/>
              </a:spcAft>
            </a:pPr>
            <a:r>
              <a:rPr sz="1200" b="0" i="0" u="none">
                <a:solidFill>
                  <a:srgbClr val="5A6172"/>
                </a:solidFill>
                <a:latin typeface="Garamond"/>
              </a:rPr>
              <a:t>Registered with the CFTC; NFA member</a:t>
            </a:r>
          </a:p>
        </p:txBody>
      </p:sp>
      <p:sp>
        <p:nvSpPr>
          <p:cNvPr id="16" name="Rounded Rectangle 15"/>
          <p:cNvSpPr/>
          <p:nvPr/>
        </p:nvSpPr>
        <p:spPr>
          <a:xfrm>
            <a:off x="7498079" y="5157216"/>
            <a:ext cx="4123944" cy="10058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19" y="5342108"/>
            <a:ext cx="3941063" cy="382701"/>
          </a:xfrm>
          <a:prstGeom prst="rect">
            <a:avLst/>
          </a:prstGeom>
          <a:noFill/>
        </p:spPr>
        <p:txBody>
          <a:bodyPr wrap="square" lIns="0" tIns="0" rIns="0" bIns="0" anchor="t">
            <a:spAutoFit/>
          </a:bodyPr>
          <a:lstStyle/>
          <a:p>
            <a:pPr algn="ctr">
              <a:lnSpc>
                <a:spcPct val="95000"/>
              </a:lnSpc>
              <a:spcAft>
                <a:spcPts val="0"/>
              </a:spcAft>
            </a:pPr>
            <a:r>
              <a:rPr sz="2600" b="1" i="0" u="none">
                <a:solidFill>
                  <a:srgbClr val="011C40"/>
                </a:solidFill>
                <a:latin typeface="Garamond"/>
              </a:rPr>
              <a:t>June 2019</a:t>
            </a:r>
          </a:p>
        </p:txBody>
      </p:sp>
      <p:sp>
        <p:nvSpPr>
          <p:cNvPr id="18" name="TextBox 17"/>
          <p:cNvSpPr txBox="1"/>
          <p:nvPr/>
        </p:nvSpPr>
        <p:spPr>
          <a:xfrm>
            <a:off x="7589519" y="5816250"/>
            <a:ext cx="3941063" cy="175433"/>
          </a:xfrm>
          <a:prstGeom prst="rect">
            <a:avLst/>
          </a:prstGeom>
          <a:noFill/>
        </p:spPr>
        <p:txBody>
          <a:bodyPr wrap="square" lIns="0" tIns="0" rIns="0" bIns="0" anchor="t">
            <a:spAutoFit/>
          </a:bodyPr>
          <a:lstStyle/>
          <a:p>
            <a:pPr algn="ctr">
              <a:lnSpc>
                <a:spcPct val="95000"/>
              </a:lnSpc>
              <a:spcAft>
                <a:spcPts val="0"/>
              </a:spcAft>
            </a:pPr>
            <a:r>
              <a:rPr sz="1200" b="0" i="0" u="none">
                <a:solidFill>
                  <a:srgbClr val="5A6172"/>
                </a:solidFill>
                <a:latin typeface="Garamond"/>
              </a:rPr>
              <a:t>First fund launched</a:t>
            </a:r>
          </a:p>
        </p:txBody>
      </p:sp>
    </p:spTree>
    <p:extLst>
      <p:ext uri="{BB962C8B-B14F-4D97-AF65-F5344CB8AC3E}">
        <p14:creationId xmlns:p14="http://schemas.microsoft.com/office/powerpoint/2010/main" val="2510469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Executive summary: the French swap spread opportunity</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4</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450" b="0" i="1" u="none">
                <a:solidFill>
                  <a:srgbClr val="CADCFC"/>
                </a:solidFill>
                <a:latin typeface="Garamond"/>
              </a:rPr>
              <a:t>Buy the French bond–swap spread, financed for 4.4 years with non-recourse leverage</a:t>
            </a:r>
          </a:p>
        </p:txBody>
      </p:sp>
      <p:sp>
        <p:nvSpPr>
          <p:cNvPr id="6" name="TextBox 5"/>
          <p:cNvSpPr txBox="1"/>
          <p:nvPr/>
        </p:nvSpPr>
        <p:spPr>
          <a:xfrm>
            <a:off x="566928" y="1847088"/>
            <a:ext cx="274320" cy="274320"/>
          </a:xfrm>
          <a:prstGeom prst="rect">
            <a:avLst/>
          </a:prstGeom>
          <a:noFill/>
        </p:spPr>
        <p:txBody>
          <a:bodyPr wrap="square" lIns="0" tIns="0" rIns="0" bIns="0" anchor="t">
            <a:spAutoFit/>
          </a:bodyPr>
          <a:lstStyle/>
          <a:p>
            <a:pPr algn="l">
              <a:lnSpc>
                <a:spcPct val="114000"/>
              </a:lnSpc>
              <a:spcAft>
                <a:spcPts val="0"/>
              </a:spcAft>
            </a:pPr>
            <a:r>
              <a:rPr sz="1450" b="1" i="0" u="none">
                <a:solidFill>
                  <a:srgbClr val="011C40"/>
                </a:solidFill>
                <a:latin typeface="Garamond"/>
              </a:rPr>
              <a:t>1.</a:t>
            </a:r>
          </a:p>
        </p:txBody>
      </p:sp>
      <p:sp>
        <p:nvSpPr>
          <p:cNvPr id="7" name="TextBox 6"/>
          <p:cNvSpPr txBox="1"/>
          <p:nvPr/>
        </p:nvSpPr>
        <p:spPr>
          <a:xfrm>
            <a:off x="914400" y="1847088"/>
            <a:ext cx="6419088" cy="274320"/>
          </a:xfrm>
          <a:prstGeom prst="rect">
            <a:avLst/>
          </a:prstGeom>
          <a:noFill/>
        </p:spPr>
        <p:txBody>
          <a:bodyPr wrap="square" lIns="0" tIns="0" rIns="0" bIns="0" anchor="t">
            <a:spAutoFit/>
          </a:bodyPr>
          <a:lstStyle/>
          <a:p>
            <a:pPr algn="l">
              <a:lnSpc>
                <a:spcPct val="114000"/>
              </a:lnSpc>
              <a:spcAft>
                <a:spcPts val="0"/>
              </a:spcAft>
            </a:pPr>
            <a:r>
              <a:rPr sz="1450" b="1" i="0" u="none">
                <a:solidFill>
                  <a:srgbClr val="011C40"/>
                </a:solidFill>
                <a:latin typeface="Garamond"/>
              </a:rPr>
              <a:t>Dislocation</a:t>
            </a:r>
          </a:p>
        </p:txBody>
      </p:sp>
      <p:sp>
        <p:nvSpPr>
          <p:cNvPr id="8" name="Oval 7"/>
          <p:cNvSpPr/>
          <p:nvPr/>
        </p:nvSpPr>
        <p:spPr>
          <a:xfrm>
            <a:off x="1115568" y="2187953"/>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98448" y="2122116"/>
            <a:ext cx="6035040" cy="229621"/>
          </a:xfrm>
          <a:prstGeom prst="rect">
            <a:avLst/>
          </a:prstGeom>
          <a:noFill/>
        </p:spPr>
        <p:txBody>
          <a:bodyPr wrap="square" lIns="0" tIns="0" rIns="0" bIns="0" anchor="t">
            <a:spAutoFit/>
          </a:bodyPr>
          <a:lstStyle/>
          <a:p>
            <a:pPr algn="l">
              <a:lnSpc>
                <a:spcPct val="114000"/>
              </a:lnSpc>
              <a:spcAft>
                <a:spcPts val="0"/>
              </a:spcAft>
            </a:pPr>
            <a:r>
              <a:rPr sz="1400" b="0" i="0" u="none">
                <a:solidFill>
                  <a:srgbClr val="011C40"/>
                </a:solidFill>
                <a:latin typeface="Garamond"/>
              </a:rPr>
              <a:t>OATs have cheapened sharply against swaps in recent weeks.</a:t>
            </a:r>
          </a:p>
        </p:txBody>
      </p:sp>
      <p:sp>
        <p:nvSpPr>
          <p:cNvPr id="10" name="Oval 9"/>
          <p:cNvSpPr/>
          <p:nvPr/>
        </p:nvSpPr>
        <p:spPr>
          <a:xfrm>
            <a:off x="1115568" y="2468374"/>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98448" y="2402537"/>
            <a:ext cx="6035040" cy="229621"/>
          </a:xfrm>
          <a:prstGeom prst="rect">
            <a:avLst/>
          </a:prstGeom>
          <a:noFill/>
        </p:spPr>
        <p:txBody>
          <a:bodyPr wrap="square" lIns="0" tIns="0" rIns="0" bIns="0" anchor="t">
            <a:spAutoFit/>
          </a:bodyPr>
          <a:lstStyle/>
          <a:p>
            <a:pPr algn="l">
              <a:lnSpc>
                <a:spcPct val="114000"/>
              </a:lnSpc>
              <a:spcAft>
                <a:spcPts val="0"/>
              </a:spcAft>
            </a:pPr>
            <a:r>
              <a:rPr sz="1400" b="0" i="0" u="none">
                <a:solidFill>
                  <a:srgbClr val="011C40"/>
                </a:solidFill>
                <a:latin typeface="Garamond"/>
              </a:rPr>
              <a:t>Drivers: budget fights and the April 2027 election.</a:t>
            </a:r>
          </a:p>
        </p:txBody>
      </p:sp>
      <p:sp>
        <p:nvSpPr>
          <p:cNvPr id="12" name="TextBox 11"/>
          <p:cNvSpPr txBox="1"/>
          <p:nvPr/>
        </p:nvSpPr>
        <p:spPr>
          <a:xfrm>
            <a:off x="566928" y="2860758"/>
            <a:ext cx="274320" cy="274320"/>
          </a:xfrm>
          <a:prstGeom prst="rect">
            <a:avLst/>
          </a:prstGeom>
          <a:noFill/>
        </p:spPr>
        <p:txBody>
          <a:bodyPr wrap="square" lIns="0" tIns="0" rIns="0" bIns="0" anchor="t">
            <a:spAutoFit/>
          </a:bodyPr>
          <a:lstStyle/>
          <a:p>
            <a:pPr algn="l">
              <a:lnSpc>
                <a:spcPct val="114000"/>
              </a:lnSpc>
              <a:spcAft>
                <a:spcPts val="0"/>
              </a:spcAft>
            </a:pPr>
            <a:r>
              <a:rPr sz="1450" b="1" i="0" u="none">
                <a:solidFill>
                  <a:srgbClr val="011C40"/>
                </a:solidFill>
                <a:latin typeface="Garamond"/>
              </a:rPr>
              <a:t>2.</a:t>
            </a:r>
          </a:p>
        </p:txBody>
      </p:sp>
      <p:sp>
        <p:nvSpPr>
          <p:cNvPr id="13" name="TextBox 12"/>
          <p:cNvSpPr txBox="1"/>
          <p:nvPr/>
        </p:nvSpPr>
        <p:spPr>
          <a:xfrm>
            <a:off x="914400" y="2860758"/>
            <a:ext cx="6419088" cy="274320"/>
          </a:xfrm>
          <a:prstGeom prst="rect">
            <a:avLst/>
          </a:prstGeom>
          <a:noFill/>
        </p:spPr>
        <p:txBody>
          <a:bodyPr wrap="square" lIns="0" tIns="0" rIns="0" bIns="0" anchor="t">
            <a:spAutoFit/>
          </a:bodyPr>
          <a:lstStyle/>
          <a:p>
            <a:pPr algn="l">
              <a:lnSpc>
                <a:spcPct val="114000"/>
              </a:lnSpc>
              <a:spcAft>
                <a:spcPts val="0"/>
              </a:spcAft>
            </a:pPr>
            <a:r>
              <a:rPr sz="1450" b="1" i="0" u="none">
                <a:solidFill>
                  <a:srgbClr val="011C40"/>
                </a:solidFill>
                <a:latin typeface="Garamond"/>
              </a:rPr>
              <a:t>Non-recourse financing</a:t>
            </a:r>
          </a:p>
        </p:txBody>
      </p:sp>
      <p:sp>
        <p:nvSpPr>
          <p:cNvPr id="14" name="Oval 13"/>
          <p:cNvSpPr/>
          <p:nvPr/>
        </p:nvSpPr>
        <p:spPr>
          <a:xfrm>
            <a:off x="1115568" y="3201624"/>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98448" y="3135787"/>
            <a:ext cx="6035040" cy="229621"/>
          </a:xfrm>
          <a:prstGeom prst="rect">
            <a:avLst/>
          </a:prstGeom>
          <a:noFill/>
        </p:spPr>
        <p:txBody>
          <a:bodyPr wrap="square" lIns="0" tIns="0" rIns="0" bIns="0" anchor="t">
            <a:spAutoFit/>
          </a:bodyPr>
          <a:lstStyle/>
          <a:p>
            <a:pPr algn="l">
              <a:lnSpc>
                <a:spcPct val="114000"/>
              </a:lnSpc>
              <a:spcAft>
                <a:spcPts val="0"/>
              </a:spcAft>
            </a:pPr>
            <a:r>
              <a:rPr sz="1400" b="0" i="0" u="none" dirty="0">
                <a:solidFill>
                  <a:srgbClr val="011C40"/>
                </a:solidFill>
                <a:latin typeface="Garamond"/>
              </a:rPr>
              <a:t>Financed 4.4 years at €STR + 17bp, non-recourse.</a:t>
            </a:r>
          </a:p>
        </p:txBody>
      </p:sp>
      <p:sp>
        <p:nvSpPr>
          <p:cNvPr id="16" name="Oval 15"/>
          <p:cNvSpPr/>
          <p:nvPr/>
        </p:nvSpPr>
        <p:spPr>
          <a:xfrm>
            <a:off x="1115568" y="3482045"/>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98448" y="3416208"/>
            <a:ext cx="6035040" cy="229621"/>
          </a:xfrm>
          <a:prstGeom prst="rect">
            <a:avLst/>
          </a:prstGeom>
          <a:noFill/>
        </p:spPr>
        <p:txBody>
          <a:bodyPr wrap="square" lIns="0" tIns="0" rIns="0" bIns="0" anchor="t">
            <a:spAutoFit/>
          </a:bodyPr>
          <a:lstStyle/>
          <a:p>
            <a:pPr algn="l">
              <a:lnSpc>
                <a:spcPct val="114000"/>
              </a:lnSpc>
              <a:spcAft>
                <a:spcPts val="0"/>
              </a:spcAft>
            </a:pPr>
            <a:r>
              <a:rPr sz="1400" b="0" i="0" u="none">
                <a:solidFill>
                  <a:srgbClr val="011C40"/>
                </a:solidFill>
                <a:latin typeface="Garamond"/>
              </a:rPr>
              <a:t>Floor sits only 30bp out of the money.</a:t>
            </a:r>
          </a:p>
        </p:txBody>
      </p:sp>
      <p:sp>
        <p:nvSpPr>
          <p:cNvPr id="18" name="TextBox 17"/>
          <p:cNvSpPr txBox="1"/>
          <p:nvPr/>
        </p:nvSpPr>
        <p:spPr>
          <a:xfrm>
            <a:off x="566928" y="3874429"/>
            <a:ext cx="274320" cy="274320"/>
          </a:xfrm>
          <a:prstGeom prst="rect">
            <a:avLst/>
          </a:prstGeom>
          <a:noFill/>
        </p:spPr>
        <p:txBody>
          <a:bodyPr wrap="square" lIns="0" tIns="0" rIns="0" bIns="0" anchor="t">
            <a:spAutoFit/>
          </a:bodyPr>
          <a:lstStyle/>
          <a:p>
            <a:pPr algn="l">
              <a:lnSpc>
                <a:spcPct val="114000"/>
              </a:lnSpc>
              <a:spcAft>
                <a:spcPts val="0"/>
              </a:spcAft>
            </a:pPr>
            <a:r>
              <a:rPr sz="1450" b="1" i="0" u="none">
                <a:solidFill>
                  <a:srgbClr val="011C40"/>
                </a:solidFill>
                <a:latin typeface="Garamond"/>
              </a:rPr>
              <a:t>3.</a:t>
            </a:r>
          </a:p>
        </p:txBody>
      </p:sp>
      <p:sp>
        <p:nvSpPr>
          <p:cNvPr id="19" name="TextBox 18"/>
          <p:cNvSpPr txBox="1"/>
          <p:nvPr/>
        </p:nvSpPr>
        <p:spPr>
          <a:xfrm>
            <a:off x="914400" y="3874429"/>
            <a:ext cx="6419088" cy="274320"/>
          </a:xfrm>
          <a:prstGeom prst="rect">
            <a:avLst/>
          </a:prstGeom>
          <a:noFill/>
        </p:spPr>
        <p:txBody>
          <a:bodyPr wrap="square" lIns="0" tIns="0" rIns="0" bIns="0" anchor="t">
            <a:spAutoFit/>
          </a:bodyPr>
          <a:lstStyle/>
          <a:p>
            <a:pPr algn="l">
              <a:lnSpc>
                <a:spcPct val="114000"/>
              </a:lnSpc>
              <a:spcAft>
                <a:spcPts val="0"/>
              </a:spcAft>
            </a:pPr>
            <a:r>
              <a:rPr sz="1450" b="1" i="0" u="none">
                <a:solidFill>
                  <a:srgbClr val="011C40"/>
                </a:solidFill>
                <a:latin typeface="Garamond"/>
              </a:rPr>
              <a:t>Asymmetry and pull to par</a:t>
            </a:r>
          </a:p>
        </p:txBody>
      </p:sp>
      <p:sp>
        <p:nvSpPr>
          <p:cNvPr id="20" name="Oval 19"/>
          <p:cNvSpPr/>
          <p:nvPr/>
        </p:nvSpPr>
        <p:spPr>
          <a:xfrm>
            <a:off x="1115568" y="4215295"/>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98448" y="4149458"/>
            <a:ext cx="6035040" cy="229621"/>
          </a:xfrm>
          <a:prstGeom prst="rect">
            <a:avLst/>
          </a:prstGeom>
          <a:noFill/>
        </p:spPr>
        <p:txBody>
          <a:bodyPr wrap="square" lIns="0" tIns="0" rIns="0" bIns="0" anchor="t">
            <a:spAutoFit/>
          </a:bodyPr>
          <a:lstStyle/>
          <a:p>
            <a:pPr algn="l">
              <a:lnSpc>
                <a:spcPct val="114000"/>
              </a:lnSpc>
              <a:spcAft>
                <a:spcPts val="0"/>
              </a:spcAft>
            </a:pPr>
            <a:r>
              <a:rPr sz="1400" b="0" i="0" u="none">
                <a:solidFill>
                  <a:srgbClr val="011C40"/>
                </a:solidFill>
                <a:latin typeface="Garamond"/>
              </a:rPr>
              <a:t>The bond rolls to the 1-year point, where spreads stay anchored.</a:t>
            </a:r>
          </a:p>
        </p:txBody>
      </p:sp>
      <p:sp>
        <p:nvSpPr>
          <p:cNvPr id="22" name="Oval 21"/>
          <p:cNvSpPr/>
          <p:nvPr/>
        </p:nvSpPr>
        <p:spPr>
          <a:xfrm>
            <a:off x="1115568" y="4495716"/>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98448" y="4429879"/>
            <a:ext cx="6035040" cy="229621"/>
          </a:xfrm>
          <a:prstGeom prst="rect">
            <a:avLst/>
          </a:prstGeom>
          <a:noFill/>
        </p:spPr>
        <p:txBody>
          <a:bodyPr wrap="square" lIns="0" tIns="0" rIns="0" bIns="0" anchor="t">
            <a:spAutoFit/>
          </a:bodyPr>
          <a:lstStyle/>
          <a:p>
            <a:pPr algn="l">
              <a:lnSpc>
                <a:spcPct val="114000"/>
              </a:lnSpc>
              <a:spcAft>
                <a:spcPts val="0"/>
              </a:spcAft>
            </a:pPr>
            <a:r>
              <a:rPr sz="1400" b="0" i="0" u="none">
                <a:solidFill>
                  <a:srgbClr val="011C40"/>
                </a:solidFill>
                <a:latin typeface="Garamond"/>
              </a:rPr>
              <a:t>If nothing changes, the roll returns 42% a year (4.8x).</a:t>
            </a:r>
          </a:p>
        </p:txBody>
      </p:sp>
      <p:sp>
        <p:nvSpPr>
          <p:cNvPr id="24" name="Oval 23"/>
          <p:cNvSpPr/>
          <p:nvPr/>
        </p:nvSpPr>
        <p:spPr>
          <a:xfrm>
            <a:off x="1115568" y="4776137"/>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98448" y="4710300"/>
            <a:ext cx="6035040" cy="229621"/>
          </a:xfrm>
          <a:prstGeom prst="rect">
            <a:avLst/>
          </a:prstGeom>
          <a:noFill/>
        </p:spPr>
        <p:txBody>
          <a:bodyPr wrap="square" lIns="0" tIns="0" rIns="0" bIns="0" anchor="t">
            <a:spAutoFit/>
          </a:bodyPr>
          <a:lstStyle/>
          <a:p>
            <a:pPr algn="l">
              <a:lnSpc>
                <a:spcPct val="114000"/>
              </a:lnSpc>
              <a:spcAft>
                <a:spcPts val="0"/>
              </a:spcAft>
            </a:pPr>
            <a:r>
              <a:rPr sz="1400" b="0" i="0" u="none">
                <a:solidFill>
                  <a:srgbClr val="011C40"/>
                </a:solidFill>
                <a:latin typeface="Garamond"/>
              </a:rPr>
              <a:t>Break-even: 1-year spread at −445bp or higher at expiry.</a:t>
            </a:r>
          </a:p>
        </p:txBody>
      </p:sp>
      <p:sp>
        <p:nvSpPr>
          <p:cNvPr id="26" name="Oval 25"/>
          <p:cNvSpPr/>
          <p:nvPr/>
        </p:nvSpPr>
        <p:spPr>
          <a:xfrm>
            <a:off x="1115568" y="5056558"/>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98448" y="4990721"/>
            <a:ext cx="6035040" cy="229621"/>
          </a:xfrm>
          <a:prstGeom prst="rect">
            <a:avLst/>
          </a:prstGeom>
          <a:noFill/>
        </p:spPr>
        <p:txBody>
          <a:bodyPr wrap="square" lIns="0" tIns="0" rIns="0" bIns="0" anchor="t">
            <a:spAutoFit/>
          </a:bodyPr>
          <a:lstStyle/>
          <a:p>
            <a:pPr algn="l">
              <a:lnSpc>
                <a:spcPct val="114000"/>
              </a:lnSpc>
              <a:spcAft>
                <a:spcPts val="0"/>
              </a:spcAft>
            </a:pPr>
            <a:r>
              <a:rPr sz="1400" b="0" i="0" u="none">
                <a:solidFill>
                  <a:srgbClr val="011C40"/>
                </a:solidFill>
                <a:latin typeface="Garamond"/>
              </a:rPr>
              <a:t>Spain never breached that; Italy only briefly, in Nov 2011.</a:t>
            </a:r>
          </a:p>
        </p:txBody>
      </p:sp>
      <p:sp>
        <p:nvSpPr>
          <p:cNvPr id="28" name="Rounded Rectangle 27"/>
          <p:cNvSpPr/>
          <p:nvPr/>
        </p:nvSpPr>
        <p:spPr>
          <a:xfrm>
            <a:off x="7680960" y="1847088"/>
            <a:ext cx="3941063" cy="352044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82128" y="2011680"/>
            <a:ext cx="3538727" cy="274320"/>
          </a:xfrm>
          <a:prstGeom prst="rect">
            <a:avLst/>
          </a:prstGeom>
          <a:noFill/>
        </p:spPr>
        <p:txBody>
          <a:bodyPr wrap="square" lIns="0" tIns="0" rIns="0" bIns="0" anchor="t">
            <a:spAutoFit/>
          </a:bodyPr>
          <a:lstStyle/>
          <a:p>
            <a:pPr algn="l">
              <a:lnSpc>
                <a:spcPct val="95000"/>
              </a:lnSpc>
              <a:spcAft>
                <a:spcPts val="0"/>
              </a:spcAft>
            </a:pPr>
            <a:r>
              <a:rPr sz="1450" b="1" i="0" u="none">
                <a:solidFill>
                  <a:srgbClr val="011C40"/>
                </a:solidFill>
                <a:latin typeface="Garamond"/>
              </a:rPr>
              <a:t>The trade</a:t>
            </a:r>
          </a:p>
        </p:txBody>
      </p:sp>
      <p:sp>
        <p:nvSpPr>
          <p:cNvPr id="30" name="TextBox 29"/>
          <p:cNvSpPr txBox="1"/>
          <p:nvPr/>
        </p:nvSpPr>
        <p:spPr>
          <a:xfrm>
            <a:off x="7882128" y="2322576"/>
            <a:ext cx="3538727" cy="274320"/>
          </a:xfrm>
          <a:prstGeom prst="rect">
            <a:avLst/>
          </a:prstGeom>
          <a:noFill/>
        </p:spPr>
        <p:txBody>
          <a:bodyPr wrap="square" lIns="0" tIns="0" rIns="0" bIns="0" anchor="t">
            <a:spAutoFit/>
          </a:bodyPr>
          <a:lstStyle/>
          <a:p>
            <a:pPr algn="l">
              <a:lnSpc>
                <a:spcPct val="95000"/>
              </a:lnSpc>
              <a:spcAft>
                <a:spcPts val="0"/>
              </a:spcAft>
            </a:pPr>
            <a:r>
              <a:rPr sz="1200" b="0" i="1" u="none">
                <a:solidFill>
                  <a:srgbClr val="5A6172"/>
                </a:solidFill>
                <a:latin typeface="Garamond"/>
              </a:rPr>
              <a:t>Long 5.4y France vs. Euribor, non-recourse</a:t>
            </a:r>
          </a:p>
        </p:txBody>
      </p:sp>
      <p:sp>
        <p:nvSpPr>
          <p:cNvPr id="31" name="TextBox 30"/>
          <p:cNvSpPr txBox="1"/>
          <p:nvPr/>
        </p:nvSpPr>
        <p:spPr>
          <a:xfrm>
            <a:off x="7882128" y="2706624"/>
            <a:ext cx="914400" cy="237744"/>
          </a:xfrm>
          <a:prstGeom prst="rect">
            <a:avLst/>
          </a:prstGeom>
          <a:noFill/>
        </p:spPr>
        <p:txBody>
          <a:bodyPr wrap="square" lIns="0" tIns="0" rIns="0" bIns="0" anchor="t">
            <a:spAutoFit/>
          </a:bodyPr>
          <a:lstStyle/>
          <a:p>
            <a:pPr algn="l">
              <a:lnSpc>
                <a:spcPct val="100000"/>
              </a:lnSpc>
              <a:spcAft>
                <a:spcPts val="0"/>
              </a:spcAft>
            </a:pPr>
            <a:r>
              <a:rPr sz="1200" b="1" i="0" u="none">
                <a:solidFill>
                  <a:srgbClr val="011C40"/>
                </a:solidFill>
                <a:latin typeface="Garamond"/>
              </a:rPr>
              <a:t>Bond</a:t>
            </a:r>
          </a:p>
        </p:txBody>
      </p:sp>
      <p:sp>
        <p:nvSpPr>
          <p:cNvPr id="32" name="TextBox 31"/>
          <p:cNvSpPr txBox="1"/>
          <p:nvPr/>
        </p:nvSpPr>
        <p:spPr>
          <a:xfrm>
            <a:off x="8796528" y="2706624"/>
            <a:ext cx="2624327" cy="237744"/>
          </a:xfrm>
          <a:prstGeom prst="rect">
            <a:avLst/>
          </a:prstGeom>
          <a:noFill/>
        </p:spPr>
        <p:txBody>
          <a:bodyPr wrap="square" lIns="0" tIns="0" rIns="0" bIns="0" anchor="t">
            <a:spAutoFit/>
          </a:bodyPr>
          <a:lstStyle/>
          <a:p>
            <a:pPr algn="l">
              <a:lnSpc>
                <a:spcPct val="100000"/>
              </a:lnSpc>
              <a:spcAft>
                <a:spcPts val="0"/>
              </a:spcAft>
            </a:pPr>
            <a:r>
              <a:rPr sz="1200" b="0" i="0" u="none">
                <a:solidFill>
                  <a:srgbClr val="011C40"/>
                </a:solidFill>
                <a:latin typeface="Garamond"/>
              </a:rPr>
              <a:t>FRTR 3¼ 2/32 at 94.91</a:t>
            </a:r>
          </a:p>
        </p:txBody>
      </p:sp>
      <p:sp>
        <p:nvSpPr>
          <p:cNvPr id="33" name="TextBox 32"/>
          <p:cNvSpPr txBox="1"/>
          <p:nvPr/>
        </p:nvSpPr>
        <p:spPr>
          <a:xfrm>
            <a:off x="7882128" y="3035808"/>
            <a:ext cx="914400" cy="237744"/>
          </a:xfrm>
          <a:prstGeom prst="rect">
            <a:avLst/>
          </a:prstGeom>
          <a:noFill/>
        </p:spPr>
        <p:txBody>
          <a:bodyPr wrap="square" lIns="0" tIns="0" rIns="0" bIns="0" anchor="t">
            <a:spAutoFit/>
          </a:bodyPr>
          <a:lstStyle/>
          <a:p>
            <a:pPr algn="l">
              <a:lnSpc>
                <a:spcPct val="100000"/>
              </a:lnSpc>
              <a:spcAft>
                <a:spcPts val="0"/>
              </a:spcAft>
            </a:pPr>
            <a:r>
              <a:rPr sz="1200" b="1" i="0" u="none">
                <a:solidFill>
                  <a:srgbClr val="011C40"/>
                </a:solidFill>
                <a:latin typeface="Garamond"/>
              </a:rPr>
              <a:t>Swap</a:t>
            </a:r>
          </a:p>
        </p:txBody>
      </p:sp>
      <p:sp>
        <p:nvSpPr>
          <p:cNvPr id="34" name="TextBox 33"/>
          <p:cNvSpPr txBox="1"/>
          <p:nvPr/>
        </p:nvSpPr>
        <p:spPr>
          <a:xfrm>
            <a:off x="8796528" y="3035808"/>
            <a:ext cx="2624327" cy="237744"/>
          </a:xfrm>
          <a:prstGeom prst="rect">
            <a:avLst/>
          </a:prstGeom>
          <a:noFill/>
        </p:spPr>
        <p:txBody>
          <a:bodyPr wrap="square" lIns="0" tIns="0" rIns="0" bIns="0" anchor="t">
            <a:spAutoFit/>
          </a:bodyPr>
          <a:lstStyle/>
          <a:p>
            <a:pPr algn="l">
              <a:lnSpc>
                <a:spcPct val="100000"/>
              </a:lnSpc>
              <a:spcAft>
                <a:spcPts val="0"/>
              </a:spcAft>
            </a:pPr>
            <a:r>
              <a:rPr sz="1200" b="0" i="0" u="none">
                <a:solidFill>
                  <a:srgbClr val="011C40"/>
                </a:solidFill>
                <a:latin typeface="Garamond"/>
              </a:rPr>
              <a:t>Pay fixed vs. 6m Euribor, DV01-neutral</a:t>
            </a:r>
          </a:p>
        </p:txBody>
      </p:sp>
      <p:sp>
        <p:nvSpPr>
          <p:cNvPr id="35" name="TextBox 34"/>
          <p:cNvSpPr txBox="1"/>
          <p:nvPr/>
        </p:nvSpPr>
        <p:spPr>
          <a:xfrm>
            <a:off x="7882128" y="3364991"/>
            <a:ext cx="914400" cy="237744"/>
          </a:xfrm>
          <a:prstGeom prst="rect">
            <a:avLst/>
          </a:prstGeom>
          <a:noFill/>
        </p:spPr>
        <p:txBody>
          <a:bodyPr wrap="square" lIns="0" tIns="0" rIns="0" bIns="0" anchor="t">
            <a:spAutoFit/>
          </a:bodyPr>
          <a:lstStyle/>
          <a:p>
            <a:pPr algn="l">
              <a:lnSpc>
                <a:spcPct val="100000"/>
              </a:lnSpc>
              <a:spcAft>
                <a:spcPts val="0"/>
              </a:spcAft>
            </a:pPr>
            <a:r>
              <a:rPr sz="1200" b="1" i="0" u="none">
                <a:solidFill>
                  <a:srgbClr val="011C40"/>
                </a:solidFill>
                <a:latin typeface="Garamond"/>
              </a:rPr>
              <a:t>Spread</a:t>
            </a:r>
          </a:p>
        </p:txBody>
      </p:sp>
      <p:sp>
        <p:nvSpPr>
          <p:cNvPr id="36" name="TextBox 35"/>
          <p:cNvSpPr txBox="1"/>
          <p:nvPr/>
        </p:nvSpPr>
        <p:spPr>
          <a:xfrm>
            <a:off x="8796528" y="3364991"/>
            <a:ext cx="2624327" cy="237744"/>
          </a:xfrm>
          <a:prstGeom prst="rect">
            <a:avLst/>
          </a:prstGeom>
          <a:noFill/>
        </p:spPr>
        <p:txBody>
          <a:bodyPr wrap="square" lIns="0" tIns="0" rIns="0" bIns="0" anchor="t">
            <a:spAutoFit/>
          </a:bodyPr>
          <a:lstStyle/>
          <a:p>
            <a:pPr algn="l">
              <a:lnSpc>
                <a:spcPct val="100000"/>
              </a:lnSpc>
              <a:spcAft>
                <a:spcPts val="0"/>
              </a:spcAft>
            </a:pPr>
            <a:r>
              <a:rPr sz="1200" b="0" i="0" u="none">
                <a:solidFill>
                  <a:srgbClr val="011C40"/>
                </a:solidFill>
                <a:latin typeface="Garamond"/>
              </a:rPr>
              <a:t>−83bp, the cheapest since 2010</a:t>
            </a:r>
          </a:p>
        </p:txBody>
      </p:sp>
      <p:sp>
        <p:nvSpPr>
          <p:cNvPr id="37" name="TextBox 36"/>
          <p:cNvSpPr txBox="1"/>
          <p:nvPr/>
        </p:nvSpPr>
        <p:spPr>
          <a:xfrm>
            <a:off x="7882128" y="3694176"/>
            <a:ext cx="914400" cy="237744"/>
          </a:xfrm>
          <a:prstGeom prst="rect">
            <a:avLst/>
          </a:prstGeom>
          <a:noFill/>
        </p:spPr>
        <p:txBody>
          <a:bodyPr wrap="square" lIns="0" tIns="0" rIns="0" bIns="0" anchor="t">
            <a:spAutoFit/>
          </a:bodyPr>
          <a:lstStyle/>
          <a:p>
            <a:pPr algn="l">
              <a:lnSpc>
                <a:spcPct val="100000"/>
              </a:lnSpc>
              <a:spcAft>
                <a:spcPts val="0"/>
              </a:spcAft>
            </a:pPr>
            <a:r>
              <a:rPr sz="1200" b="1" i="0" u="none">
                <a:solidFill>
                  <a:srgbClr val="011C40"/>
                </a:solidFill>
                <a:latin typeface="Garamond"/>
              </a:rPr>
              <a:t>Floor</a:t>
            </a:r>
          </a:p>
        </p:txBody>
      </p:sp>
      <p:sp>
        <p:nvSpPr>
          <p:cNvPr id="38" name="TextBox 37"/>
          <p:cNvSpPr txBox="1"/>
          <p:nvPr/>
        </p:nvSpPr>
        <p:spPr>
          <a:xfrm>
            <a:off x="8796528" y="3694176"/>
            <a:ext cx="2624327" cy="176972"/>
          </a:xfrm>
          <a:prstGeom prst="rect">
            <a:avLst/>
          </a:prstGeom>
          <a:noFill/>
        </p:spPr>
        <p:txBody>
          <a:bodyPr wrap="square" lIns="0" tIns="0" rIns="0" bIns="0" anchor="t">
            <a:spAutoFit/>
          </a:bodyPr>
          <a:lstStyle/>
          <a:p>
            <a:pPr algn="l">
              <a:lnSpc>
                <a:spcPct val="100000"/>
              </a:lnSpc>
              <a:spcAft>
                <a:spcPts val="0"/>
              </a:spcAft>
            </a:pPr>
            <a:r>
              <a:rPr sz="1200" b="0" i="0" u="none" dirty="0">
                <a:solidFill>
                  <a:srgbClr val="011C40"/>
                </a:solidFill>
                <a:latin typeface="Garamond"/>
              </a:rPr>
              <a:t>ATMF – 30bp, </a:t>
            </a:r>
            <a:r>
              <a:rPr lang="en-US" sz="1200" b="0" i="0" u="none" dirty="0">
                <a:solidFill>
                  <a:srgbClr val="011C40"/>
                </a:solidFill>
                <a:latin typeface="Garamond"/>
              </a:rPr>
              <a:t>option </a:t>
            </a:r>
            <a:r>
              <a:rPr sz="1200" b="0" i="0" u="none" dirty="0">
                <a:solidFill>
                  <a:srgbClr val="011C40"/>
                </a:solidFill>
                <a:latin typeface="Garamond"/>
              </a:rPr>
              <a:t>costs 0.84%</a:t>
            </a:r>
            <a:r>
              <a:rPr lang="en-US" sz="1200" b="0" i="0" u="none" dirty="0">
                <a:solidFill>
                  <a:srgbClr val="011C40"/>
                </a:solidFill>
                <a:latin typeface="Garamond"/>
              </a:rPr>
              <a:t> (a)</a:t>
            </a:r>
            <a:endParaRPr sz="1150" b="0" i="0" u="none" dirty="0">
              <a:solidFill>
                <a:srgbClr val="011C40"/>
              </a:solidFill>
              <a:latin typeface="Garamond"/>
            </a:endParaRPr>
          </a:p>
        </p:txBody>
      </p:sp>
      <p:sp>
        <p:nvSpPr>
          <p:cNvPr id="39" name="TextBox 38"/>
          <p:cNvSpPr txBox="1"/>
          <p:nvPr/>
        </p:nvSpPr>
        <p:spPr>
          <a:xfrm>
            <a:off x="7882128" y="4023359"/>
            <a:ext cx="914400" cy="176972"/>
          </a:xfrm>
          <a:prstGeom prst="rect">
            <a:avLst/>
          </a:prstGeom>
          <a:noFill/>
        </p:spPr>
        <p:txBody>
          <a:bodyPr wrap="square" lIns="0" tIns="0" rIns="0" bIns="0" anchor="t">
            <a:spAutoFit/>
          </a:bodyPr>
          <a:lstStyle/>
          <a:p>
            <a:pPr algn="l">
              <a:lnSpc>
                <a:spcPct val="100000"/>
              </a:lnSpc>
              <a:spcAft>
                <a:spcPts val="0"/>
              </a:spcAft>
            </a:pPr>
            <a:r>
              <a:rPr lang="en-US" sz="1200" b="1" i="0" u="none" dirty="0">
                <a:solidFill>
                  <a:srgbClr val="011C40"/>
                </a:solidFill>
                <a:latin typeface="Garamond"/>
              </a:rPr>
              <a:t>Max loss</a:t>
            </a:r>
            <a:endParaRPr sz="1150" b="1" i="0" u="none" dirty="0">
              <a:solidFill>
                <a:srgbClr val="011C40"/>
              </a:solidFill>
              <a:latin typeface="Garamond"/>
            </a:endParaRPr>
          </a:p>
        </p:txBody>
      </p:sp>
      <p:sp>
        <p:nvSpPr>
          <p:cNvPr id="40" name="TextBox 39"/>
          <p:cNvSpPr txBox="1"/>
          <p:nvPr/>
        </p:nvSpPr>
        <p:spPr>
          <a:xfrm>
            <a:off x="8796528" y="4023359"/>
            <a:ext cx="2624327" cy="176972"/>
          </a:xfrm>
          <a:prstGeom prst="rect">
            <a:avLst/>
          </a:prstGeom>
          <a:noFill/>
        </p:spPr>
        <p:txBody>
          <a:bodyPr wrap="square" lIns="0" tIns="0" rIns="0" bIns="0" anchor="t">
            <a:spAutoFit/>
          </a:bodyPr>
          <a:lstStyle/>
          <a:p>
            <a:pPr algn="l">
              <a:lnSpc>
                <a:spcPct val="100000"/>
              </a:lnSpc>
              <a:spcAft>
                <a:spcPts val="0"/>
              </a:spcAft>
            </a:pPr>
            <a:r>
              <a:rPr sz="1200" b="0" i="0" u="none" dirty="0">
                <a:solidFill>
                  <a:srgbClr val="011C40"/>
                </a:solidFill>
                <a:latin typeface="Garamond"/>
              </a:rPr>
              <a:t>0.247%</a:t>
            </a:r>
            <a:r>
              <a:rPr lang="en-US" sz="1200" b="0" i="0" u="none" dirty="0">
                <a:solidFill>
                  <a:srgbClr val="011C40"/>
                </a:solidFill>
                <a:latin typeface="Garamond"/>
              </a:rPr>
              <a:t> (b)</a:t>
            </a:r>
            <a:endParaRPr sz="1150" b="0" i="0" u="none" dirty="0">
              <a:solidFill>
                <a:srgbClr val="011C40"/>
              </a:solidFill>
              <a:latin typeface="Garamond"/>
            </a:endParaRPr>
          </a:p>
        </p:txBody>
      </p:sp>
      <p:sp>
        <p:nvSpPr>
          <p:cNvPr id="41" name="TextBox 40"/>
          <p:cNvSpPr txBox="1"/>
          <p:nvPr/>
        </p:nvSpPr>
        <p:spPr>
          <a:xfrm>
            <a:off x="7882128" y="4352544"/>
            <a:ext cx="914400" cy="353943"/>
          </a:xfrm>
          <a:prstGeom prst="rect">
            <a:avLst/>
          </a:prstGeom>
          <a:noFill/>
        </p:spPr>
        <p:txBody>
          <a:bodyPr wrap="square" lIns="0" tIns="0" rIns="0" bIns="0" anchor="t">
            <a:spAutoFit/>
          </a:bodyPr>
          <a:lstStyle/>
          <a:p>
            <a:pPr algn="l">
              <a:lnSpc>
                <a:spcPct val="100000"/>
              </a:lnSpc>
              <a:spcAft>
                <a:spcPts val="0"/>
              </a:spcAft>
            </a:pPr>
            <a:r>
              <a:rPr lang="en-US" sz="1200" b="1" i="0" u="none" dirty="0">
                <a:solidFill>
                  <a:srgbClr val="011C40"/>
                </a:solidFill>
                <a:latin typeface="Garamond"/>
              </a:rPr>
              <a:t>Total </a:t>
            </a:r>
            <a:r>
              <a:rPr sz="1200" b="1" i="0" u="none" dirty="0">
                <a:solidFill>
                  <a:srgbClr val="011C40"/>
                </a:solidFill>
                <a:latin typeface="Garamond"/>
              </a:rPr>
              <a:t>Capital</a:t>
            </a:r>
            <a:br>
              <a:rPr lang="en-US" sz="1200" b="1" i="0" u="none" dirty="0">
                <a:solidFill>
                  <a:srgbClr val="011C40"/>
                </a:solidFill>
                <a:latin typeface="Garamond"/>
              </a:rPr>
            </a:br>
            <a:endParaRPr sz="1150" b="1" i="0" u="none" dirty="0">
              <a:solidFill>
                <a:srgbClr val="011C40"/>
              </a:solidFill>
              <a:latin typeface="Garamond"/>
            </a:endParaRPr>
          </a:p>
        </p:txBody>
      </p:sp>
      <p:sp>
        <p:nvSpPr>
          <p:cNvPr id="42" name="TextBox 41"/>
          <p:cNvSpPr txBox="1"/>
          <p:nvPr/>
        </p:nvSpPr>
        <p:spPr>
          <a:xfrm>
            <a:off x="8796528" y="4352544"/>
            <a:ext cx="2624327" cy="176972"/>
          </a:xfrm>
          <a:prstGeom prst="rect">
            <a:avLst/>
          </a:prstGeom>
          <a:noFill/>
        </p:spPr>
        <p:txBody>
          <a:bodyPr wrap="square" lIns="0" tIns="0" rIns="0" bIns="0" anchor="t">
            <a:spAutoFit/>
          </a:bodyPr>
          <a:lstStyle/>
          <a:p>
            <a:pPr algn="l">
              <a:lnSpc>
                <a:spcPct val="100000"/>
              </a:lnSpc>
              <a:spcAft>
                <a:spcPts val="0"/>
              </a:spcAft>
            </a:pPr>
            <a:r>
              <a:rPr sz="1200" b="0" i="0" u="none" dirty="0">
                <a:solidFill>
                  <a:srgbClr val="011C40"/>
                </a:solidFill>
                <a:latin typeface="Garamond"/>
              </a:rPr>
              <a:t>1.09% at risk</a:t>
            </a:r>
            <a:r>
              <a:rPr lang="en-US" sz="1200" b="0" i="0" u="none" dirty="0">
                <a:solidFill>
                  <a:srgbClr val="011C40"/>
                </a:solidFill>
                <a:latin typeface="Garamond"/>
              </a:rPr>
              <a:t> (a) + (b)</a:t>
            </a:r>
            <a:endParaRPr sz="1150" b="0" i="0" u="none" dirty="0">
              <a:solidFill>
                <a:srgbClr val="011C40"/>
              </a:solidFill>
              <a:latin typeface="Garamond"/>
            </a:endParaRPr>
          </a:p>
        </p:txBody>
      </p:sp>
      <p:sp>
        <p:nvSpPr>
          <p:cNvPr id="43" name="TextBox 42"/>
          <p:cNvSpPr txBox="1"/>
          <p:nvPr/>
        </p:nvSpPr>
        <p:spPr>
          <a:xfrm>
            <a:off x="7882128" y="4773168"/>
            <a:ext cx="3538727" cy="274320"/>
          </a:xfrm>
          <a:prstGeom prst="rect">
            <a:avLst/>
          </a:prstGeom>
          <a:noFill/>
        </p:spPr>
        <p:txBody>
          <a:bodyPr wrap="square" lIns="0" tIns="0" rIns="0" bIns="0" anchor="t">
            <a:spAutoFit/>
          </a:bodyPr>
          <a:lstStyle/>
          <a:p>
            <a:pPr algn="l">
              <a:lnSpc>
                <a:spcPct val="95000"/>
              </a:lnSpc>
              <a:spcAft>
                <a:spcPts val="0"/>
              </a:spcAft>
            </a:pPr>
            <a:r>
              <a:rPr sz="1350" b="1" i="0" u="none" dirty="0">
                <a:solidFill>
                  <a:srgbClr val="011C40"/>
                </a:solidFill>
                <a:latin typeface="Garamond"/>
              </a:rPr>
              <a:t>1.1m buys 100m of exposure</a:t>
            </a:r>
          </a:p>
        </p:txBody>
      </p:sp>
      <p:sp>
        <p:nvSpPr>
          <p:cNvPr id="44" name="TextBox 43"/>
          <p:cNvSpPr txBox="1"/>
          <p:nvPr/>
        </p:nvSpPr>
        <p:spPr>
          <a:xfrm>
            <a:off x="2487168" y="6319052"/>
            <a:ext cx="7818120" cy="301203"/>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Italy's 1-year spread was below −445bp on 5 trading days, 11/8/2011 to 11/29/2011. Spreads are the swap rate less the bond yield versus the 6m Euribor swap. Source: Bloomberg, Liminality calculations.</a:t>
            </a:r>
          </a:p>
        </p:txBody>
      </p:sp>
    </p:spTree>
    <p:extLst>
      <p:ext uri="{BB962C8B-B14F-4D97-AF65-F5344CB8AC3E}">
        <p14:creationId xmlns:p14="http://schemas.microsoft.com/office/powerpoint/2010/main" val="3974580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What is a swap spread?</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5</a:t>
            </a:r>
          </a:p>
        </p:txBody>
      </p:sp>
      <p:sp>
        <p:nvSpPr>
          <p:cNvPr id="5" name="Oval 4"/>
          <p:cNvSpPr/>
          <p:nvPr/>
        </p:nvSpPr>
        <p:spPr>
          <a:xfrm>
            <a:off x="566928" y="1730044"/>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664207"/>
            <a:ext cx="5163159" cy="221564"/>
          </a:xfrm>
          <a:prstGeom prst="rect">
            <a:avLst/>
          </a:prstGeom>
          <a:noFill/>
        </p:spPr>
        <p:txBody>
          <a:bodyPr wrap="square" lIns="0" tIns="0" rIns="0" bIns="0" anchor="t">
            <a:spAutoFit/>
          </a:bodyPr>
          <a:lstStyle/>
          <a:p>
            <a:pPr algn="l">
              <a:lnSpc>
                <a:spcPct val="110000"/>
              </a:lnSpc>
              <a:spcAft>
                <a:spcPts val="0"/>
              </a:spcAft>
            </a:pPr>
            <a:r>
              <a:rPr sz="1400" b="0" i="0" u="none">
                <a:solidFill>
                  <a:srgbClr val="011C40"/>
                </a:solidFill>
                <a:latin typeface="Garamond"/>
              </a:rPr>
              <a:t>Bond yield vs. same-maturity swap rate.</a:t>
            </a:r>
          </a:p>
        </p:txBody>
      </p:sp>
      <p:sp>
        <p:nvSpPr>
          <p:cNvPr id="7" name="Oval 6"/>
          <p:cNvSpPr/>
          <p:nvPr/>
        </p:nvSpPr>
        <p:spPr>
          <a:xfrm>
            <a:off x="566928" y="2015109"/>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949272"/>
            <a:ext cx="5163159" cy="221564"/>
          </a:xfrm>
          <a:prstGeom prst="rect">
            <a:avLst/>
          </a:prstGeom>
          <a:noFill/>
        </p:spPr>
        <p:txBody>
          <a:bodyPr wrap="square" lIns="0" tIns="0" rIns="0" bIns="0" anchor="t">
            <a:spAutoFit/>
          </a:bodyPr>
          <a:lstStyle/>
          <a:p>
            <a:pPr algn="l">
              <a:lnSpc>
                <a:spcPct val="110000"/>
              </a:lnSpc>
              <a:spcAft>
                <a:spcPts val="0"/>
              </a:spcAft>
            </a:pPr>
            <a:r>
              <a:rPr sz="1400" b="0" i="0" u="none">
                <a:solidFill>
                  <a:srgbClr val="011C40"/>
                </a:solidFill>
                <a:latin typeface="Garamond"/>
              </a:rPr>
              <a:t>Buy the OAT, pay fixed on the swap.</a:t>
            </a:r>
          </a:p>
        </p:txBody>
      </p:sp>
      <p:sp>
        <p:nvSpPr>
          <p:cNvPr id="9" name="Oval 8"/>
          <p:cNvSpPr/>
          <p:nvPr/>
        </p:nvSpPr>
        <p:spPr>
          <a:xfrm>
            <a:off x="566928" y="2300173"/>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234336"/>
            <a:ext cx="5163159" cy="221564"/>
          </a:xfrm>
          <a:prstGeom prst="rect">
            <a:avLst/>
          </a:prstGeom>
          <a:noFill/>
        </p:spPr>
        <p:txBody>
          <a:bodyPr wrap="square" lIns="0" tIns="0" rIns="0" bIns="0" anchor="t">
            <a:spAutoFit/>
          </a:bodyPr>
          <a:lstStyle/>
          <a:p>
            <a:pPr algn="l">
              <a:lnSpc>
                <a:spcPct val="110000"/>
              </a:lnSpc>
              <a:spcAft>
                <a:spcPts val="0"/>
              </a:spcAft>
            </a:pPr>
            <a:r>
              <a:rPr sz="1400" b="0" i="0" u="none">
                <a:solidFill>
                  <a:srgbClr val="011C40"/>
                </a:solidFill>
                <a:latin typeface="Garamond"/>
              </a:rPr>
              <a:t>Can think of it as transforming the fixed rate bond into floating.</a:t>
            </a:r>
          </a:p>
        </p:txBody>
      </p:sp>
      <p:sp>
        <p:nvSpPr>
          <p:cNvPr id="11" name="Oval 10"/>
          <p:cNvSpPr/>
          <p:nvPr/>
        </p:nvSpPr>
        <p:spPr>
          <a:xfrm>
            <a:off x="6278727" y="1730044"/>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1607" y="1664207"/>
            <a:ext cx="5163159" cy="228139"/>
          </a:xfrm>
          <a:prstGeom prst="rect">
            <a:avLst/>
          </a:prstGeom>
          <a:noFill/>
        </p:spPr>
        <p:txBody>
          <a:bodyPr wrap="square" lIns="0" tIns="0" rIns="0" bIns="0" anchor="t">
            <a:spAutoFit/>
          </a:bodyPr>
          <a:lstStyle/>
          <a:p>
            <a:pPr algn="l">
              <a:lnSpc>
                <a:spcPct val="110000"/>
              </a:lnSpc>
              <a:spcAft>
                <a:spcPts val="0"/>
              </a:spcAft>
            </a:pPr>
            <a:r>
              <a:rPr lang="en-US" sz="1400" b="0" i="0" u="none" dirty="0">
                <a:solidFill>
                  <a:srgbClr val="011C40"/>
                </a:solidFill>
                <a:latin typeface="Garamond"/>
              </a:rPr>
              <a:t>T</a:t>
            </a:r>
            <a:r>
              <a:rPr lang="en-US" dirty="0">
                <a:solidFill>
                  <a:srgbClr val="011C40"/>
                </a:solidFill>
                <a:latin typeface="Garamond"/>
              </a:rPr>
              <a:t>he “spread” is the </a:t>
            </a:r>
            <a:r>
              <a:rPr sz="1400" b="0" i="0" u="none" dirty="0">
                <a:solidFill>
                  <a:srgbClr val="011C40"/>
                </a:solidFill>
                <a:latin typeface="Garamond"/>
              </a:rPr>
              <a:t>swap rate minus bond yield.</a:t>
            </a:r>
          </a:p>
        </p:txBody>
      </p:sp>
      <p:sp>
        <p:nvSpPr>
          <p:cNvPr id="13" name="Oval 12"/>
          <p:cNvSpPr/>
          <p:nvPr/>
        </p:nvSpPr>
        <p:spPr>
          <a:xfrm>
            <a:off x="6278727" y="2015109"/>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1607" y="1949272"/>
            <a:ext cx="5163159" cy="221564"/>
          </a:xfrm>
          <a:prstGeom prst="rect">
            <a:avLst/>
          </a:prstGeom>
          <a:noFill/>
        </p:spPr>
        <p:txBody>
          <a:bodyPr wrap="square" lIns="0" tIns="0" rIns="0" bIns="0" anchor="t">
            <a:spAutoFit/>
          </a:bodyPr>
          <a:lstStyle/>
          <a:p>
            <a:pPr algn="l">
              <a:lnSpc>
                <a:spcPct val="110000"/>
              </a:lnSpc>
              <a:spcAft>
                <a:spcPts val="0"/>
              </a:spcAft>
            </a:pPr>
            <a:r>
              <a:rPr sz="1400" b="0" i="0" u="none">
                <a:solidFill>
                  <a:srgbClr val="011C40"/>
                </a:solidFill>
                <a:latin typeface="Garamond"/>
              </a:rPr>
              <a:t>A bond cheap to swaps shows a negative spread.</a:t>
            </a:r>
          </a:p>
        </p:txBody>
      </p:sp>
      <p:sp>
        <p:nvSpPr>
          <p:cNvPr id="15" name="TextBox 14"/>
          <p:cNvSpPr txBox="1"/>
          <p:nvPr/>
        </p:nvSpPr>
        <p:spPr>
          <a:xfrm>
            <a:off x="566928" y="2761488"/>
            <a:ext cx="5346039" cy="256032"/>
          </a:xfrm>
          <a:prstGeom prst="rect">
            <a:avLst/>
          </a:prstGeom>
          <a:noFill/>
        </p:spPr>
        <p:txBody>
          <a:bodyPr wrap="square" lIns="0" tIns="0" rIns="0" bIns="0" anchor="t">
            <a:spAutoFit/>
          </a:bodyPr>
          <a:lstStyle/>
          <a:p>
            <a:pPr algn="l">
              <a:lnSpc>
                <a:spcPct val="95000"/>
              </a:lnSpc>
              <a:spcAft>
                <a:spcPts val="600"/>
              </a:spcAft>
            </a:pPr>
            <a:r>
              <a:rPr sz="1200" b="1" i="0" u="none">
                <a:solidFill>
                  <a:srgbClr val="011C40"/>
                </a:solidFill>
                <a:latin typeface="Garamond"/>
              </a:rPr>
              <a:t>French yield curves, 10/2/2026</a:t>
            </a:r>
          </a:p>
        </p:txBody>
      </p:sp>
      <p:graphicFrame>
        <p:nvGraphicFramePr>
          <p:cNvPr id="16" name="Chart 15"/>
          <p:cNvGraphicFramePr>
            <a:graphicFrameLocks noGrp="1"/>
          </p:cNvGraphicFramePr>
          <p:nvPr/>
        </p:nvGraphicFramePr>
        <p:xfrm>
          <a:off x="566928" y="3035808"/>
          <a:ext cx="5346039"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6278727" y="2761488"/>
            <a:ext cx="5346039" cy="256032"/>
          </a:xfrm>
          <a:prstGeom prst="rect">
            <a:avLst/>
          </a:prstGeom>
          <a:noFill/>
        </p:spPr>
        <p:txBody>
          <a:bodyPr wrap="square" lIns="0" tIns="0" rIns="0" bIns="0" anchor="t">
            <a:spAutoFit/>
          </a:bodyPr>
          <a:lstStyle/>
          <a:p>
            <a:pPr algn="l">
              <a:lnSpc>
                <a:spcPct val="95000"/>
              </a:lnSpc>
              <a:spcAft>
                <a:spcPts val="600"/>
              </a:spcAft>
            </a:pPr>
            <a:r>
              <a:rPr sz="1200" b="1" i="0" u="none">
                <a:solidFill>
                  <a:srgbClr val="011C40"/>
                </a:solidFill>
                <a:latin typeface="Garamond"/>
              </a:rPr>
              <a:t>Swap spread at each point of the curve (swap less OAT)</a:t>
            </a:r>
          </a:p>
        </p:txBody>
      </p:sp>
      <p:graphicFrame>
        <p:nvGraphicFramePr>
          <p:cNvPr id="18" name="Chart 17"/>
          <p:cNvGraphicFramePr>
            <a:graphicFrameLocks noGrp="1"/>
          </p:cNvGraphicFramePr>
          <p:nvPr/>
        </p:nvGraphicFramePr>
        <p:xfrm>
          <a:off x="6278727" y="3035808"/>
          <a:ext cx="5346039"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As of 10/2/2026. Source: Bloomberg, Liminality calculations.</a:t>
            </a:r>
          </a:p>
        </p:txBody>
      </p:sp>
    </p:spTree>
    <p:extLst>
      <p:ext uri="{BB962C8B-B14F-4D97-AF65-F5344CB8AC3E}">
        <p14:creationId xmlns:p14="http://schemas.microsoft.com/office/powerpoint/2010/main" val="1924810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The current dislocation</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6</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France swap spreads versus the 6m Euribor swap, weekly, since 2010</a:t>
            </a:r>
          </a:p>
        </p:txBody>
      </p:sp>
      <p:graphicFrame>
        <p:nvGraphicFramePr>
          <p:cNvPr id="6" name="Chart 5"/>
          <p:cNvGraphicFramePr>
            <a:graphicFrameLocks noGrp="1"/>
          </p:cNvGraphicFramePr>
          <p:nvPr>
            <p:extLst>
              <p:ext uri="{D42A27DB-BD31-4B8C-83A1-F6EECF244321}">
                <p14:modId xmlns:p14="http://schemas.microsoft.com/office/powerpoint/2010/main" val="3502388280"/>
              </p:ext>
            </p:extLst>
          </p:nvPr>
        </p:nvGraphicFramePr>
        <p:xfrm>
          <a:off x="566928" y="1783080"/>
          <a:ext cx="11057839" cy="420624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2487168" y="6469654"/>
            <a:ext cx="7818120" cy="144655"/>
          </a:xfrm>
          <a:prstGeom prst="rect">
            <a:avLst/>
          </a:prstGeom>
          <a:noFill/>
        </p:spPr>
        <p:txBody>
          <a:bodyPr wrap="square" lIns="0" tIns="0" rIns="0" bIns="0" anchor="t">
            <a:spAutoFit/>
          </a:bodyPr>
          <a:lstStyle/>
          <a:p>
            <a:pPr algn="l">
              <a:lnSpc>
                <a:spcPct val="108000"/>
              </a:lnSpc>
              <a:spcAft>
                <a:spcPts val="0"/>
              </a:spcAft>
            </a:pPr>
            <a:r>
              <a:rPr sz="900" b="0" i="0" u="none" dirty="0">
                <a:solidFill>
                  <a:srgbClr val="9AA1B2"/>
                </a:solidFill>
                <a:latin typeface="Garamond"/>
              </a:rPr>
              <a:t>As of 10/2/2026. Source: Bloomberg, Liminality calculations.</a:t>
            </a:r>
          </a:p>
        </p:txBody>
      </p:sp>
    </p:spTree>
    <p:extLst>
      <p:ext uri="{BB962C8B-B14F-4D97-AF65-F5344CB8AC3E}">
        <p14:creationId xmlns:p14="http://schemas.microsoft.com/office/powerpoint/2010/main" val="1663502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Why is there a dislocation?</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7</a:t>
            </a:r>
          </a:p>
        </p:txBody>
      </p:sp>
      <p:sp>
        <p:nvSpPr>
          <p:cNvPr id="5" name="Rounded Rectangle 4"/>
          <p:cNvSpPr/>
          <p:nvPr/>
        </p:nvSpPr>
        <p:spPr>
          <a:xfrm>
            <a:off x="566928" y="1783080"/>
            <a:ext cx="5346039" cy="434340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78727" y="1783080"/>
            <a:ext cx="5346039" cy="434340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956816"/>
            <a:ext cx="4833975" cy="365760"/>
          </a:xfrm>
          <a:prstGeom prst="rect">
            <a:avLst/>
          </a:prstGeom>
          <a:noFill/>
        </p:spPr>
        <p:txBody>
          <a:bodyPr wrap="square" lIns="0" tIns="0" rIns="0" bIns="0" anchor="t">
            <a:spAutoFit/>
          </a:bodyPr>
          <a:lstStyle/>
          <a:p>
            <a:pPr algn="l">
              <a:lnSpc>
                <a:spcPct val="95000"/>
              </a:lnSpc>
              <a:spcAft>
                <a:spcPts val="600"/>
              </a:spcAft>
            </a:pPr>
            <a:r>
              <a:rPr sz="1700" b="1" i="0" u="none">
                <a:solidFill>
                  <a:srgbClr val="011C40"/>
                </a:solidFill>
                <a:latin typeface="Garamond"/>
              </a:rPr>
              <a:t>Long-term factors</a:t>
            </a:r>
          </a:p>
        </p:txBody>
      </p:sp>
      <p:sp>
        <p:nvSpPr>
          <p:cNvPr id="8" name="TextBox 7"/>
          <p:cNvSpPr txBox="1"/>
          <p:nvPr/>
        </p:nvSpPr>
        <p:spPr>
          <a:xfrm>
            <a:off x="6534759" y="1956816"/>
            <a:ext cx="4833975" cy="365760"/>
          </a:xfrm>
          <a:prstGeom prst="rect">
            <a:avLst/>
          </a:prstGeom>
          <a:noFill/>
        </p:spPr>
        <p:txBody>
          <a:bodyPr wrap="square" lIns="0" tIns="0" rIns="0" bIns="0" anchor="t">
            <a:spAutoFit/>
          </a:bodyPr>
          <a:lstStyle/>
          <a:p>
            <a:pPr algn="l">
              <a:lnSpc>
                <a:spcPct val="95000"/>
              </a:lnSpc>
              <a:spcAft>
                <a:spcPts val="600"/>
              </a:spcAft>
            </a:pPr>
            <a:r>
              <a:rPr sz="1700" b="1" i="0" u="none">
                <a:solidFill>
                  <a:srgbClr val="011C40"/>
                </a:solidFill>
                <a:latin typeface="Garamond"/>
              </a:rPr>
              <a:t>Short-term factors</a:t>
            </a:r>
          </a:p>
        </p:txBody>
      </p:sp>
      <p:sp>
        <p:nvSpPr>
          <p:cNvPr id="9" name="Oval 8"/>
          <p:cNvSpPr/>
          <p:nvPr/>
        </p:nvSpPr>
        <p:spPr>
          <a:xfrm>
            <a:off x="822960" y="2534716"/>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468879"/>
            <a:ext cx="4651095" cy="239681"/>
          </a:xfrm>
          <a:prstGeom prst="rect">
            <a:avLst/>
          </a:prstGeom>
          <a:noFill/>
        </p:spPr>
        <p:txBody>
          <a:bodyPr wrap="square" lIns="0" tIns="0" rIns="0" bIns="0" anchor="t">
            <a:spAutoFit/>
          </a:bodyPr>
          <a:lstStyle/>
          <a:p>
            <a:pPr algn="l">
              <a:lnSpc>
                <a:spcPct val="112000"/>
              </a:lnSpc>
              <a:spcAft>
                <a:spcPts val="0"/>
              </a:spcAft>
            </a:pPr>
            <a:r>
              <a:rPr sz="1450" b="0" i="0" u="none">
                <a:solidFill>
                  <a:srgbClr val="011C40"/>
                </a:solidFill>
                <a:latin typeface="Garamond"/>
              </a:rPr>
              <a:t>Fiscal: deficit 5.4% and debt 119% of GDP in 2026.</a:t>
            </a:r>
          </a:p>
        </p:txBody>
      </p:sp>
      <p:sp>
        <p:nvSpPr>
          <p:cNvPr id="11" name="Oval 10"/>
          <p:cNvSpPr/>
          <p:nvPr/>
        </p:nvSpPr>
        <p:spPr>
          <a:xfrm>
            <a:off x="822960" y="2887309"/>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821472"/>
            <a:ext cx="4651095" cy="239681"/>
          </a:xfrm>
          <a:prstGeom prst="rect">
            <a:avLst/>
          </a:prstGeom>
          <a:noFill/>
        </p:spPr>
        <p:txBody>
          <a:bodyPr wrap="square" lIns="0" tIns="0" rIns="0" bIns="0" anchor="t">
            <a:spAutoFit/>
          </a:bodyPr>
          <a:lstStyle/>
          <a:p>
            <a:pPr algn="l">
              <a:lnSpc>
                <a:spcPct val="112000"/>
              </a:lnSpc>
              <a:spcAft>
                <a:spcPts val="0"/>
              </a:spcAft>
            </a:pPr>
            <a:r>
              <a:rPr sz="1450" b="0" i="0" u="none">
                <a:solidFill>
                  <a:srgbClr val="011C40"/>
                </a:solidFill>
                <a:latin typeface="Garamond"/>
              </a:rPr>
              <a:t>Politics: no majority since 2024 and no fix before 2027.</a:t>
            </a:r>
          </a:p>
        </p:txBody>
      </p:sp>
      <p:sp>
        <p:nvSpPr>
          <p:cNvPr id="13" name="Oval 12"/>
          <p:cNvSpPr/>
          <p:nvPr/>
        </p:nvSpPr>
        <p:spPr>
          <a:xfrm>
            <a:off x="822960" y="3239902"/>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174065"/>
            <a:ext cx="4651095" cy="239681"/>
          </a:xfrm>
          <a:prstGeom prst="rect">
            <a:avLst/>
          </a:prstGeom>
          <a:noFill/>
        </p:spPr>
        <p:txBody>
          <a:bodyPr wrap="square" lIns="0" tIns="0" rIns="0" bIns="0" anchor="t">
            <a:spAutoFit/>
          </a:bodyPr>
          <a:lstStyle/>
          <a:p>
            <a:pPr algn="l">
              <a:lnSpc>
                <a:spcPct val="112000"/>
              </a:lnSpc>
              <a:spcAft>
                <a:spcPts val="0"/>
              </a:spcAft>
            </a:pPr>
            <a:r>
              <a:rPr sz="1450" b="0" i="0" u="none">
                <a:solidFill>
                  <a:srgbClr val="011C40"/>
                </a:solidFill>
                <a:latin typeface="Garamond"/>
              </a:rPr>
              <a:t>Feedback loop: higher yields widen the deficit further.</a:t>
            </a:r>
          </a:p>
        </p:txBody>
      </p:sp>
      <p:sp>
        <p:nvSpPr>
          <p:cNvPr id="15" name="Oval 14"/>
          <p:cNvSpPr/>
          <p:nvPr/>
        </p:nvSpPr>
        <p:spPr>
          <a:xfrm>
            <a:off x="6534759" y="2534716"/>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17639" y="2468879"/>
            <a:ext cx="4651095" cy="489621"/>
          </a:xfrm>
          <a:prstGeom prst="rect">
            <a:avLst/>
          </a:prstGeom>
          <a:noFill/>
        </p:spPr>
        <p:txBody>
          <a:bodyPr wrap="square" lIns="0" tIns="0" rIns="0" bIns="0" anchor="t">
            <a:spAutoFit/>
          </a:bodyPr>
          <a:lstStyle/>
          <a:p>
            <a:pPr algn="l">
              <a:lnSpc>
                <a:spcPct val="112000"/>
              </a:lnSpc>
              <a:spcAft>
                <a:spcPts val="0"/>
              </a:spcAft>
            </a:pPr>
            <a:r>
              <a:rPr sz="1450" b="0" i="0" u="none" dirty="0">
                <a:solidFill>
                  <a:srgbClr val="011C40"/>
                </a:solidFill>
                <a:latin typeface="Garamond"/>
              </a:rPr>
              <a:t>Levered unwinds: 5y spread</a:t>
            </a:r>
            <a:r>
              <a:rPr lang="en-US" sz="1450" b="0" i="0" u="none" dirty="0">
                <a:solidFill>
                  <a:srgbClr val="011C40"/>
                </a:solidFill>
                <a:latin typeface="Garamond"/>
              </a:rPr>
              <a:t> fell </a:t>
            </a:r>
            <a:r>
              <a:rPr sz="1450" b="0" i="0" u="none" dirty="0">
                <a:solidFill>
                  <a:srgbClr val="011C40"/>
                </a:solidFill>
                <a:latin typeface="Garamond"/>
              </a:rPr>
              <a:t>34bp in 10 days on a deficit miss and downgrade</a:t>
            </a:r>
          </a:p>
        </p:txBody>
      </p:sp>
      <p:sp>
        <p:nvSpPr>
          <p:cNvPr id="17" name="Oval 16"/>
          <p:cNvSpPr/>
          <p:nvPr/>
        </p:nvSpPr>
        <p:spPr>
          <a:xfrm>
            <a:off x="6534759" y="3112902"/>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17639" y="3047065"/>
            <a:ext cx="4651095" cy="239681"/>
          </a:xfrm>
          <a:prstGeom prst="rect">
            <a:avLst/>
          </a:prstGeom>
          <a:noFill/>
        </p:spPr>
        <p:txBody>
          <a:bodyPr wrap="square" lIns="0" tIns="0" rIns="0" bIns="0" anchor="t">
            <a:spAutoFit/>
          </a:bodyPr>
          <a:lstStyle/>
          <a:p>
            <a:pPr algn="l">
              <a:lnSpc>
                <a:spcPct val="112000"/>
              </a:lnSpc>
              <a:spcAft>
                <a:spcPts val="0"/>
              </a:spcAft>
            </a:pPr>
            <a:r>
              <a:rPr sz="1450" b="0" i="0" u="none">
                <a:solidFill>
                  <a:srgbClr val="011C40"/>
                </a:solidFill>
                <a:latin typeface="Garamond"/>
              </a:rPr>
              <a:t>Rates: 5y euro swap at 3.50%, up from 2.36% a year ago.</a:t>
            </a:r>
          </a:p>
        </p:txBody>
      </p:sp>
      <p:sp>
        <p:nvSpPr>
          <p:cNvPr id="19" name="Oval 18"/>
          <p:cNvSpPr/>
          <p:nvPr/>
        </p:nvSpPr>
        <p:spPr>
          <a:xfrm>
            <a:off x="6534759" y="3465494"/>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17639" y="3399657"/>
            <a:ext cx="4651095" cy="239681"/>
          </a:xfrm>
          <a:prstGeom prst="rect">
            <a:avLst/>
          </a:prstGeom>
          <a:noFill/>
        </p:spPr>
        <p:txBody>
          <a:bodyPr wrap="square" lIns="0" tIns="0" rIns="0" bIns="0" anchor="t">
            <a:spAutoFit/>
          </a:bodyPr>
          <a:lstStyle/>
          <a:p>
            <a:pPr algn="l">
              <a:lnSpc>
                <a:spcPct val="112000"/>
              </a:lnSpc>
              <a:spcAft>
                <a:spcPts val="0"/>
              </a:spcAft>
            </a:pPr>
            <a:r>
              <a:rPr sz="1450" b="0" i="0" u="none">
                <a:solidFill>
                  <a:srgbClr val="011C40"/>
                </a:solidFill>
                <a:latin typeface="Garamond"/>
              </a:rPr>
              <a:t>Elections: far right and far left lead 2027 polls.</a:t>
            </a:r>
          </a:p>
        </p:txBody>
      </p:sp>
      <p:sp>
        <p:nvSpPr>
          <p:cNvPr id="21" name="Oval 20"/>
          <p:cNvSpPr/>
          <p:nvPr/>
        </p:nvSpPr>
        <p:spPr>
          <a:xfrm>
            <a:off x="6534759" y="3818087"/>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17639" y="3752250"/>
            <a:ext cx="4651095" cy="239681"/>
          </a:xfrm>
          <a:prstGeom prst="rect">
            <a:avLst/>
          </a:prstGeom>
          <a:noFill/>
        </p:spPr>
        <p:txBody>
          <a:bodyPr wrap="square" lIns="0" tIns="0" rIns="0" bIns="0" anchor="t">
            <a:spAutoFit/>
          </a:bodyPr>
          <a:lstStyle/>
          <a:p>
            <a:pPr algn="l">
              <a:lnSpc>
                <a:spcPct val="112000"/>
              </a:lnSpc>
              <a:spcAft>
                <a:spcPts val="0"/>
              </a:spcAft>
            </a:pPr>
            <a:r>
              <a:rPr sz="1450" b="0" i="0" u="none">
                <a:solidFill>
                  <a:srgbClr val="011C40"/>
                </a:solidFill>
                <a:latin typeface="Garamond"/>
              </a:rPr>
              <a:t>Mélenchon: proposed cancelling debt held by the central bank.</a:t>
            </a:r>
          </a:p>
        </p:txBody>
      </p:sp>
      <p:sp>
        <p:nvSpPr>
          <p:cNvPr id="25" name="TextBox 24"/>
          <p:cNvSpPr txBox="1"/>
          <p:nvPr/>
        </p:nvSpPr>
        <p:spPr>
          <a:xfrm>
            <a:off x="2487168" y="6168450"/>
            <a:ext cx="7818120" cy="451805"/>
          </a:xfrm>
          <a:prstGeom prst="rect">
            <a:avLst/>
          </a:prstGeom>
          <a:noFill/>
        </p:spPr>
        <p:txBody>
          <a:bodyPr wrap="square" lIns="0" tIns="0" rIns="0" bIns="0" anchor="t">
            <a:spAutoFit/>
          </a:bodyPr>
          <a:lstStyle/>
          <a:p>
            <a:pPr algn="l">
              <a:lnSpc>
                <a:spcPct val="108000"/>
              </a:lnSpc>
              <a:spcAft>
                <a:spcPts val="0"/>
              </a:spcAft>
            </a:pPr>
            <a:r>
              <a:rPr sz="900" b="0" i="0" u="none" dirty="0">
                <a:solidFill>
                  <a:srgbClr val="9AA1B2"/>
                </a:solidFill>
                <a:latin typeface="Garamond"/>
              </a:rPr>
              <a:t>Fiscal figures: Political Alpha Research, 10/5/2026 (2026 estimates). Spread and swap moves: Bloomberg, to 10/2/2026. The attribution of the recent move to levered unwinds is Liminality's judgement, consistent with the Wall Street Journal's account of forced selling (October 2026). Source: Bloomberg, Political Alpha, Wall Street Journal, Liminality calculations.</a:t>
            </a:r>
          </a:p>
        </p:txBody>
      </p:sp>
    </p:spTree>
    <p:extLst>
      <p:ext uri="{BB962C8B-B14F-4D97-AF65-F5344CB8AC3E}">
        <p14:creationId xmlns:p14="http://schemas.microsoft.com/office/powerpoint/2010/main" val="1325077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Where the return comes from</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8</a:t>
            </a:r>
          </a:p>
        </p:txBody>
      </p:sp>
      <p:sp>
        <p:nvSpPr>
          <p:cNvPr id="6" name="Rounded Rectangle 5"/>
          <p:cNvSpPr/>
          <p:nvPr/>
        </p:nvSpPr>
        <p:spPr>
          <a:xfrm>
            <a:off x="566928" y="1847088"/>
            <a:ext cx="3503066" cy="26974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029968"/>
            <a:ext cx="3100730" cy="310896"/>
          </a:xfrm>
          <a:prstGeom prst="rect">
            <a:avLst/>
          </a:prstGeom>
          <a:noFill/>
        </p:spPr>
        <p:txBody>
          <a:bodyPr wrap="square" lIns="0" tIns="0" rIns="0" bIns="0" anchor="t">
            <a:spAutoFit/>
          </a:bodyPr>
          <a:lstStyle/>
          <a:p>
            <a:pPr algn="l">
              <a:lnSpc>
                <a:spcPct val="95000"/>
              </a:lnSpc>
              <a:spcAft>
                <a:spcPts val="600"/>
              </a:spcAft>
            </a:pPr>
            <a:r>
              <a:rPr sz="1400" b="1" i="0" u="none">
                <a:solidFill>
                  <a:srgbClr val="011C40"/>
                </a:solidFill>
                <a:latin typeface="Garamond"/>
              </a:rPr>
              <a:t>1  Carry on the spread</a:t>
            </a:r>
          </a:p>
        </p:txBody>
      </p:sp>
      <p:sp>
        <p:nvSpPr>
          <p:cNvPr id="8" name="TextBox 7"/>
          <p:cNvSpPr txBox="1"/>
          <p:nvPr/>
        </p:nvSpPr>
        <p:spPr>
          <a:xfrm>
            <a:off x="768096" y="2414016"/>
            <a:ext cx="3100730" cy="350865"/>
          </a:xfrm>
          <a:prstGeom prst="rect">
            <a:avLst/>
          </a:prstGeom>
          <a:noFill/>
        </p:spPr>
        <p:txBody>
          <a:bodyPr wrap="square" lIns="0" tIns="0" rIns="0" bIns="0" anchor="t">
            <a:spAutoFit/>
          </a:bodyPr>
          <a:lstStyle/>
          <a:p>
            <a:pPr algn="l">
              <a:lnSpc>
                <a:spcPct val="95000"/>
              </a:lnSpc>
              <a:spcAft>
                <a:spcPts val="600"/>
              </a:spcAft>
            </a:pPr>
            <a:r>
              <a:rPr lang="en-US" sz="2400" b="1" i="0" u="none" dirty="0">
                <a:solidFill>
                  <a:srgbClr val="2C7A5A"/>
                </a:solidFill>
                <a:latin typeface="Garamond"/>
              </a:rPr>
              <a:t>+99</a:t>
            </a:r>
            <a:r>
              <a:rPr sz="2400" b="1" i="0" u="none" dirty="0">
                <a:solidFill>
                  <a:srgbClr val="2C7A5A"/>
                </a:solidFill>
                <a:latin typeface="Garamond"/>
              </a:rPr>
              <a:t>bp</a:t>
            </a:r>
            <a:r>
              <a:rPr lang="en-US" sz="2400" b="1" i="0" u="none" dirty="0">
                <a:solidFill>
                  <a:srgbClr val="2C7A5A"/>
                </a:solidFill>
                <a:latin typeface="Garamond"/>
              </a:rPr>
              <a:t> per year</a:t>
            </a:r>
            <a:endParaRPr sz="2400" b="1" i="0" u="none" dirty="0">
              <a:solidFill>
                <a:srgbClr val="2C7A5A"/>
              </a:solidFill>
              <a:latin typeface="Garamond"/>
            </a:endParaRPr>
          </a:p>
        </p:txBody>
      </p:sp>
      <p:sp>
        <p:nvSpPr>
          <p:cNvPr id="15" name="Rounded Rectangle 14"/>
          <p:cNvSpPr/>
          <p:nvPr/>
        </p:nvSpPr>
        <p:spPr>
          <a:xfrm>
            <a:off x="4344314" y="1847088"/>
            <a:ext cx="3503066" cy="2697480"/>
          </a:xfrm>
          <a:prstGeom prst="roundRect">
            <a:avLst>
              <a:gd name="adj" fmla="val 4000"/>
            </a:avLst>
          </a:prstGeom>
          <a:solidFill>
            <a:srgbClr val="FFFFFF"/>
          </a:solidFill>
          <a:ln w="9525">
            <a:solidFill>
              <a:srgbClr val="DC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45482" y="2029968"/>
            <a:ext cx="3100730" cy="204671"/>
          </a:xfrm>
          <a:prstGeom prst="rect">
            <a:avLst/>
          </a:prstGeom>
          <a:noFill/>
        </p:spPr>
        <p:txBody>
          <a:bodyPr wrap="square" lIns="0" tIns="0" rIns="0" bIns="0" anchor="t">
            <a:spAutoFit/>
          </a:bodyPr>
          <a:lstStyle/>
          <a:p>
            <a:pPr algn="l">
              <a:lnSpc>
                <a:spcPct val="95000"/>
              </a:lnSpc>
              <a:spcAft>
                <a:spcPts val="600"/>
              </a:spcAft>
            </a:pPr>
            <a:r>
              <a:rPr sz="1400" b="1" i="0" u="none" dirty="0">
                <a:solidFill>
                  <a:srgbClr val="011C40"/>
                </a:solidFill>
                <a:latin typeface="Garamond"/>
              </a:rPr>
              <a:t>2  </a:t>
            </a:r>
            <a:r>
              <a:rPr lang="en-US" sz="1400" b="1" i="0" u="none" dirty="0">
                <a:solidFill>
                  <a:srgbClr val="011C40"/>
                </a:solidFill>
                <a:latin typeface="Garamond"/>
              </a:rPr>
              <a:t>Roll-down</a:t>
            </a:r>
            <a:endParaRPr sz="1400" b="1" i="0" u="none" dirty="0">
              <a:solidFill>
                <a:srgbClr val="011C40"/>
              </a:solidFill>
              <a:latin typeface="Garamond"/>
            </a:endParaRPr>
          </a:p>
        </p:txBody>
      </p:sp>
      <p:sp>
        <p:nvSpPr>
          <p:cNvPr id="17" name="TextBox 16"/>
          <p:cNvSpPr txBox="1"/>
          <p:nvPr/>
        </p:nvSpPr>
        <p:spPr>
          <a:xfrm>
            <a:off x="4545482" y="2414016"/>
            <a:ext cx="3100730" cy="350865"/>
          </a:xfrm>
          <a:prstGeom prst="rect">
            <a:avLst/>
          </a:prstGeom>
          <a:noFill/>
        </p:spPr>
        <p:txBody>
          <a:bodyPr wrap="square" lIns="0" tIns="0" rIns="0" bIns="0" anchor="t">
            <a:spAutoFit/>
          </a:bodyPr>
          <a:lstStyle/>
          <a:p>
            <a:pPr>
              <a:lnSpc>
                <a:spcPct val="95000"/>
              </a:lnSpc>
              <a:spcAft>
                <a:spcPts val="600"/>
              </a:spcAft>
            </a:pPr>
            <a:r>
              <a:rPr lang="en-US" sz="2400" b="1" dirty="0">
                <a:solidFill>
                  <a:srgbClr val="011C40"/>
                </a:solidFill>
                <a:latin typeface="Garamond"/>
              </a:rPr>
              <a:t>+82bp over the life</a:t>
            </a:r>
          </a:p>
        </p:txBody>
      </p:sp>
      <p:sp>
        <p:nvSpPr>
          <p:cNvPr id="24" name="Rounded Rectangle 23"/>
          <p:cNvSpPr/>
          <p:nvPr/>
        </p:nvSpPr>
        <p:spPr>
          <a:xfrm>
            <a:off x="8121700" y="1847088"/>
            <a:ext cx="3503066" cy="2697480"/>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2868" y="2029968"/>
            <a:ext cx="3100730" cy="204671"/>
          </a:xfrm>
          <a:prstGeom prst="rect">
            <a:avLst/>
          </a:prstGeom>
          <a:noFill/>
        </p:spPr>
        <p:txBody>
          <a:bodyPr wrap="square" lIns="0" tIns="0" rIns="0" bIns="0" anchor="t">
            <a:spAutoFit/>
          </a:bodyPr>
          <a:lstStyle/>
          <a:p>
            <a:pPr algn="l">
              <a:lnSpc>
                <a:spcPct val="95000"/>
              </a:lnSpc>
              <a:spcAft>
                <a:spcPts val="600"/>
              </a:spcAft>
            </a:pPr>
            <a:r>
              <a:rPr sz="1400" b="1" i="0" u="none" dirty="0">
                <a:solidFill>
                  <a:srgbClr val="011C40"/>
                </a:solidFill>
                <a:latin typeface="Garamond"/>
              </a:rPr>
              <a:t>3  </a:t>
            </a:r>
            <a:r>
              <a:rPr lang="en-US" sz="1400" b="1" i="0" u="none" dirty="0">
                <a:solidFill>
                  <a:srgbClr val="011C40"/>
                </a:solidFill>
                <a:latin typeface="Garamond"/>
              </a:rPr>
              <a:t>Option Premium</a:t>
            </a:r>
            <a:endParaRPr sz="1400" b="1" i="0" u="none" dirty="0">
              <a:solidFill>
                <a:srgbClr val="011C40"/>
              </a:solidFill>
              <a:latin typeface="Garamond"/>
            </a:endParaRPr>
          </a:p>
        </p:txBody>
      </p:sp>
      <p:sp>
        <p:nvSpPr>
          <p:cNvPr id="26" name="TextBox 25"/>
          <p:cNvSpPr txBox="1"/>
          <p:nvPr/>
        </p:nvSpPr>
        <p:spPr>
          <a:xfrm>
            <a:off x="8322868" y="2414016"/>
            <a:ext cx="3100730" cy="350865"/>
          </a:xfrm>
          <a:prstGeom prst="rect">
            <a:avLst/>
          </a:prstGeom>
          <a:noFill/>
        </p:spPr>
        <p:txBody>
          <a:bodyPr wrap="square" lIns="0" tIns="0" rIns="0" bIns="0" anchor="t">
            <a:spAutoFit/>
          </a:bodyPr>
          <a:lstStyle/>
          <a:p>
            <a:pPr algn="l">
              <a:lnSpc>
                <a:spcPct val="95000"/>
              </a:lnSpc>
              <a:spcAft>
                <a:spcPts val="600"/>
              </a:spcAft>
            </a:pPr>
            <a:r>
              <a:rPr lang="en-US" sz="2400" b="1" dirty="0">
                <a:solidFill>
                  <a:srgbClr val="011C40"/>
                </a:solidFill>
                <a:latin typeface="Garamond"/>
              </a:rPr>
              <a:t>-</a:t>
            </a:r>
            <a:r>
              <a:rPr sz="2400" b="1" i="0" u="none" dirty="0">
                <a:solidFill>
                  <a:srgbClr val="011C40"/>
                </a:solidFill>
                <a:latin typeface="Garamond"/>
              </a:rPr>
              <a:t>8</a:t>
            </a:r>
            <a:r>
              <a:rPr lang="en-US" sz="2400" b="1" i="0" u="none" dirty="0">
                <a:solidFill>
                  <a:srgbClr val="011C40"/>
                </a:solidFill>
                <a:latin typeface="Garamond"/>
              </a:rPr>
              <a:t>4</a:t>
            </a:r>
            <a:r>
              <a:rPr sz="2400" b="1" i="0" u="none" dirty="0">
                <a:solidFill>
                  <a:srgbClr val="011C40"/>
                </a:solidFill>
                <a:latin typeface="Garamond"/>
              </a:rPr>
              <a:t>bp</a:t>
            </a:r>
            <a:r>
              <a:rPr lang="en-US" sz="2400" b="1" i="0" u="none" dirty="0">
                <a:solidFill>
                  <a:srgbClr val="011C40"/>
                </a:solidFill>
                <a:latin typeface="Garamond"/>
              </a:rPr>
              <a:t> up front</a:t>
            </a:r>
            <a:endParaRPr sz="2400" b="1" i="0" u="none" dirty="0">
              <a:solidFill>
                <a:srgbClr val="011C40"/>
              </a:solidFill>
              <a:latin typeface="Garamond"/>
            </a:endParaRPr>
          </a:p>
        </p:txBody>
      </p:sp>
      <p:sp>
        <p:nvSpPr>
          <p:cNvPr id="41" name="TextBox 40"/>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Source: Bloomberg, Liminality calculations.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dirty="0">
                <a:solidFill>
                  <a:srgbClr val="FFFFFF"/>
                </a:solidFill>
                <a:latin typeface="Garamond"/>
              </a:rPr>
              <a:t>Where does the return come from</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sz="1050" b="0" i="0" u="none">
                <a:solidFill>
                  <a:srgbClr val="5A6172"/>
                </a:solidFill>
                <a:latin typeface="Garamond"/>
              </a:rPr>
              <a:t>9</a:t>
            </a: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The forward price assumes −586bp at expiry; the return is beating that; per 100m notional</a:t>
            </a:r>
          </a:p>
        </p:txBody>
      </p:sp>
      <p:graphicFrame>
        <p:nvGraphicFramePr>
          <p:cNvPr id="6" name="Table 5"/>
          <p:cNvGraphicFramePr>
            <a:graphicFrameLocks noGrp="1"/>
          </p:cNvGraphicFramePr>
          <p:nvPr>
            <p:extLst>
              <p:ext uri="{D42A27DB-BD31-4B8C-83A1-F6EECF244321}">
                <p14:modId xmlns:p14="http://schemas.microsoft.com/office/powerpoint/2010/main" val="4290838603"/>
              </p:ext>
            </p:extLst>
          </p:nvPr>
        </p:nvGraphicFramePr>
        <p:xfrm>
          <a:off x="566928" y="1847088"/>
          <a:ext cx="5084062" cy="2048252"/>
        </p:xfrm>
        <a:graphic>
          <a:graphicData uri="http://schemas.openxmlformats.org/drawingml/2006/table">
            <a:tbl>
              <a:tblPr firstRow="1">
                <a:tableStyleId>{5C22544A-7EE6-4342-B048-85BDC9FD1C3A}</a:tableStyleId>
              </a:tblPr>
              <a:tblGrid>
                <a:gridCol w="1243584">
                  <a:extLst>
                    <a:ext uri="{9D8B030D-6E8A-4147-A177-3AD203B41FA5}">
                      <a16:colId xmlns:a16="http://schemas.microsoft.com/office/drawing/2014/main" val="20000"/>
                    </a:ext>
                  </a:extLst>
                </a:gridCol>
                <a:gridCol w="1920239">
                  <a:extLst>
                    <a:ext uri="{9D8B030D-6E8A-4147-A177-3AD203B41FA5}">
                      <a16:colId xmlns:a16="http://schemas.microsoft.com/office/drawing/2014/main" val="20001"/>
                    </a:ext>
                  </a:extLst>
                </a:gridCol>
                <a:gridCol w="1920239">
                  <a:extLst>
                    <a:ext uri="{9D8B030D-6E8A-4147-A177-3AD203B41FA5}">
                      <a16:colId xmlns:a16="http://schemas.microsoft.com/office/drawing/2014/main" val="20002"/>
                    </a:ext>
                  </a:extLst>
                </a:gridCol>
              </a:tblGrid>
              <a:tr h="365760">
                <a:tc>
                  <a:txBody>
                    <a:bodyPr/>
                    <a:lstStyle/>
                    <a:p>
                      <a:pPr algn="l"/>
                      <a:endParaRPr/>
                    </a:p>
                  </a:txBody>
                  <a:tcPr marL="64008" marR="64008" marT="9144" marB="9144" anchor="ctr">
                    <a:solidFill>
                      <a:srgbClr val="011C40"/>
                    </a:solidFill>
                  </a:tcPr>
                </a:tc>
                <a:tc>
                  <a:txBody>
                    <a:bodyPr/>
                    <a:lstStyle/>
                    <a:p>
                      <a:pPr algn="r"/>
                      <a:r>
                        <a:rPr sz="1250" b="1">
                          <a:solidFill>
                            <a:srgbClr val="FFFFFF"/>
                          </a:solidFill>
                          <a:latin typeface="Garamond"/>
                        </a:rPr>
                        <a:t>Today, 10/2/2026</a:t>
                      </a:r>
                    </a:p>
                  </a:txBody>
                  <a:tcPr marL="64008" marR="64008" marT="9144" marB="9144" anchor="ctr">
                    <a:solidFill>
                      <a:srgbClr val="011C40"/>
                    </a:solidFill>
                  </a:tcPr>
                </a:tc>
                <a:tc>
                  <a:txBody>
                    <a:bodyPr/>
                    <a:lstStyle/>
                    <a:p>
                      <a:pPr algn="r"/>
                      <a:r>
                        <a:rPr sz="1250" b="1">
                          <a:solidFill>
                            <a:srgbClr val="FFFFFF"/>
                          </a:solidFill>
                          <a:latin typeface="Garamond"/>
                        </a:rPr>
                        <a:t>Forward, 2/25/2031</a:t>
                      </a:r>
                    </a:p>
                  </a:txBody>
                  <a:tcPr marL="64008" marR="64008" marT="9144" marB="9144" anchor="ctr">
                    <a:solidFill>
                      <a:srgbClr val="011C40"/>
                    </a:solidFill>
                  </a:tcPr>
                </a:tc>
                <a:extLst>
                  <a:ext uri="{0D108BD9-81ED-4DB2-BD59-A6C34878D82A}">
                    <a16:rowId xmlns:a16="http://schemas.microsoft.com/office/drawing/2014/main" val="10000"/>
                  </a:ext>
                </a:extLst>
              </a:tr>
              <a:tr h="420623">
                <a:tc>
                  <a:txBody>
                    <a:bodyPr/>
                    <a:lstStyle/>
                    <a:p>
                      <a:pPr algn="l"/>
                      <a:r>
                        <a:rPr sz="1250" b="0">
                          <a:solidFill>
                            <a:srgbClr val="011C40"/>
                          </a:solidFill>
                          <a:latin typeface="Garamond"/>
                        </a:rPr>
                        <a:t>OAT price</a:t>
                      </a:r>
                    </a:p>
                  </a:txBody>
                  <a:tcPr marL="64008" marR="64008" marT="9144" marB="9144" anchor="ctr">
                    <a:solidFill>
                      <a:srgbClr val="FFFFFF"/>
                    </a:solidFill>
                  </a:tcPr>
                </a:tc>
                <a:tc>
                  <a:txBody>
                    <a:bodyPr/>
                    <a:lstStyle/>
                    <a:p>
                      <a:pPr algn="r"/>
                      <a:r>
                        <a:rPr sz="1250" b="0">
                          <a:solidFill>
                            <a:srgbClr val="011C40"/>
                          </a:solidFill>
                          <a:latin typeface="Garamond"/>
                        </a:rPr>
                        <a:t>94.91</a:t>
                      </a:r>
                    </a:p>
                  </a:txBody>
                  <a:tcPr marL="64008" marR="64008" marT="9144" marB="9144" anchor="ctr">
                    <a:solidFill>
                      <a:srgbClr val="FFFFFF"/>
                    </a:solidFill>
                  </a:tcPr>
                </a:tc>
                <a:tc>
                  <a:txBody>
                    <a:bodyPr/>
                    <a:lstStyle/>
                    <a:p>
                      <a:pPr algn="r"/>
                      <a:r>
                        <a:rPr sz="1250" b="0">
                          <a:solidFill>
                            <a:srgbClr val="011C40"/>
                          </a:solidFill>
                          <a:latin typeface="Garamond"/>
                        </a:rPr>
                        <a:t>94.39</a:t>
                      </a:r>
                    </a:p>
                  </a:txBody>
                  <a:tcPr marL="64008" marR="64008" marT="9144" marB="9144" anchor="ctr">
                    <a:solidFill>
                      <a:srgbClr val="FFFFFF"/>
                    </a:solidFill>
                  </a:tcPr>
                </a:tc>
                <a:extLst>
                  <a:ext uri="{0D108BD9-81ED-4DB2-BD59-A6C34878D82A}">
                    <a16:rowId xmlns:a16="http://schemas.microsoft.com/office/drawing/2014/main" val="10001"/>
                  </a:ext>
                </a:extLst>
              </a:tr>
              <a:tr h="420623">
                <a:tc>
                  <a:txBody>
                    <a:bodyPr/>
                    <a:lstStyle/>
                    <a:p>
                      <a:pPr algn="l"/>
                      <a:r>
                        <a:rPr sz="1250" b="0">
                          <a:solidFill>
                            <a:srgbClr val="011C40"/>
                          </a:solidFill>
                          <a:latin typeface="Garamond"/>
                        </a:rPr>
                        <a:t>OAT yield</a:t>
                      </a:r>
                    </a:p>
                  </a:txBody>
                  <a:tcPr marL="64008" marR="64008" marT="9144" marB="9144" anchor="ctr">
                    <a:solidFill>
                      <a:srgbClr val="EEF4FD"/>
                    </a:solidFill>
                  </a:tcPr>
                </a:tc>
                <a:tc>
                  <a:txBody>
                    <a:bodyPr/>
                    <a:lstStyle/>
                    <a:p>
                      <a:pPr algn="r"/>
                      <a:r>
                        <a:rPr sz="1250" b="0">
                          <a:solidFill>
                            <a:srgbClr val="011C40"/>
                          </a:solidFill>
                          <a:latin typeface="Garamond"/>
                        </a:rPr>
                        <a:t>4.33%</a:t>
                      </a:r>
                    </a:p>
                  </a:txBody>
                  <a:tcPr marL="64008" marR="64008" marT="9144" marB="9144" anchor="ctr">
                    <a:solidFill>
                      <a:srgbClr val="EEF4FD"/>
                    </a:solidFill>
                  </a:tcPr>
                </a:tc>
                <a:tc>
                  <a:txBody>
                    <a:bodyPr/>
                    <a:lstStyle/>
                    <a:p>
                      <a:pPr algn="r"/>
                      <a:r>
                        <a:rPr sz="1250" b="0">
                          <a:solidFill>
                            <a:srgbClr val="011C40"/>
                          </a:solidFill>
                          <a:latin typeface="Garamond"/>
                        </a:rPr>
                        <a:t>9.38%</a:t>
                      </a:r>
                    </a:p>
                  </a:txBody>
                  <a:tcPr marL="64008" marR="64008" marT="9144" marB="9144" anchor="ctr">
                    <a:solidFill>
                      <a:srgbClr val="EEF4FD"/>
                    </a:solidFill>
                  </a:tcPr>
                </a:tc>
                <a:extLst>
                  <a:ext uri="{0D108BD9-81ED-4DB2-BD59-A6C34878D82A}">
                    <a16:rowId xmlns:a16="http://schemas.microsoft.com/office/drawing/2014/main" val="10002"/>
                  </a:ext>
                </a:extLst>
              </a:tr>
              <a:tr h="420623">
                <a:tc>
                  <a:txBody>
                    <a:bodyPr/>
                    <a:lstStyle/>
                    <a:p>
                      <a:pPr algn="l"/>
                      <a:r>
                        <a:rPr sz="1250" b="0">
                          <a:solidFill>
                            <a:srgbClr val="011C40"/>
                          </a:solidFill>
                          <a:latin typeface="Garamond"/>
                        </a:rPr>
                        <a:t>Swap rate</a:t>
                      </a:r>
                    </a:p>
                  </a:txBody>
                  <a:tcPr marL="64008" marR="64008" marT="9144" marB="9144" anchor="ctr">
                    <a:solidFill>
                      <a:srgbClr val="FFFFFF"/>
                    </a:solidFill>
                  </a:tcPr>
                </a:tc>
                <a:tc>
                  <a:txBody>
                    <a:bodyPr/>
                    <a:lstStyle/>
                    <a:p>
                      <a:pPr algn="r"/>
                      <a:r>
                        <a:rPr sz="1250" b="0">
                          <a:solidFill>
                            <a:srgbClr val="011C40"/>
                          </a:solidFill>
                          <a:latin typeface="Garamond"/>
                        </a:rPr>
                        <a:t>5.4y  3.50%</a:t>
                      </a:r>
                    </a:p>
                  </a:txBody>
                  <a:tcPr marL="64008" marR="64008" marT="9144" marB="9144" anchor="ctr">
                    <a:solidFill>
                      <a:srgbClr val="FFFFFF"/>
                    </a:solidFill>
                  </a:tcPr>
                </a:tc>
                <a:tc>
                  <a:txBody>
                    <a:bodyPr/>
                    <a:lstStyle/>
                    <a:p>
                      <a:pPr algn="r"/>
                      <a:r>
                        <a:rPr sz="1250" b="0">
                          <a:solidFill>
                            <a:srgbClr val="011C40"/>
                          </a:solidFill>
                          <a:latin typeface="Garamond"/>
                        </a:rPr>
                        <a:t>4.4y1y  3.52%</a:t>
                      </a:r>
                    </a:p>
                  </a:txBody>
                  <a:tcPr marL="64008" marR="64008" marT="9144" marB="9144" anchor="ctr">
                    <a:solidFill>
                      <a:srgbClr val="FFFFFF"/>
                    </a:solidFill>
                  </a:tcPr>
                </a:tc>
                <a:extLst>
                  <a:ext uri="{0D108BD9-81ED-4DB2-BD59-A6C34878D82A}">
                    <a16:rowId xmlns:a16="http://schemas.microsoft.com/office/drawing/2014/main" val="10003"/>
                  </a:ext>
                </a:extLst>
              </a:tr>
              <a:tr h="420623">
                <a:tc>
                  <a:txBody>
                    <a:bodyPr/>
                    <a:lstStyle/>
                    <a:p>
                      <a:pPr algn="l"/>
                      <a:r>
                        <a:rPr sz="1250" b="0">
                          <a:solidFill>
                            <a:srgbClr val="B3332E"/>
                          </a:solidFill>
                          <a:latin typeface="Garamond"/>
                        </a:rPr>
                        <a:t>Spread</a:t>
                      </a:r>
                    </a:p>
                  </a:txBody>
                  <a:tcPr marL="64008" marR="64008" marT="9144" marB="9144" anchor="ctr">
                    <a:solidFill>
                      <a:srgbClr val="EEF4FD"/>
                    </a:solidFill>
                  </a:tcPr>
                </a:tc>
                <a:tc>
                  <a:txBody>
                    <a:bodyPr/>
                    <a:lstStyle/>
                    <a:p>
                      <a:pPr algn="r"/>
                      <a:r>
                        <a:rPr sz="1250" b="0">
                          <a:solidFill>
                            <a:srgbClr val="B3332E"/>
                          </a:solidFill>
                          <a:latin typeface="Garamond"/>
                        </a:rPr>
                        <a:t>−83bp</a:t>
                      </a:r>
                    </a:p>
                  </a:txBody>
                  <a:tcPr marL="64008" marR="64008" marT="9144" marB="9144" anchor="ctr">
                    <a:solidFill>
                      <a:srgbClr val="EEF4FD"/>
                    </a:solidFill>
                  </a:tcPr>
                </a:tc>
                <a:tc>
                  <a:txBody>
                    <a:bodyPr/>
                    <a:lstStyle/>
                    <a:p>
                      <a:pPr algn="r"/>
                      <a:r>
                        <a:rPr sz="1250" b="0">
                          <a:solidFill>
                            <a:srgbClr val="B3332E"/>
                          </a:solidFill>
                          <a:latin typeface="Garamond"/>
                        </a:rPr>
                        <a:t>−586bp</a:t>
                      </a:r>
                    </a:p>
                  </a:txBody>
                  <a:tcPr marL="64008" marR="64008" marT="9144" marB="9144" anchor="ctr">
                    <a:solidFill>
                      <a:srgbClr val="EEF4FD"/>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566928" y="4169664"/>
            <a:ext cx="5084064" cy="1203665"/>
          </a:xfrm>
          <a:prstGeom prst="roundRect">
            <a:avLst>
              <a:gd name="adj" fmla="val 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4352544"/>
            <a:ext cx="4718303" cy="944297"/>
          </a:xfrm>
          <a:prstGeom prst="rect">
            <a:avLst/>
          </a:prstGeom>
          <a:noFill/>
        </p:spPr>
        <p:txBody>
          <a:bodyPr wrap="square" lIns="0" tIns="0" rIns="0" bIns="0" anchor="t">
            <a:spAutoFit/>
          </a:bodyPr>
          <a:lstStyle/>
          <a:p>
            <a:pPr algn="l">
              <a:lnSpc>
                <a:spcPct val="114000"/>
              </a:lnSpc>
              <a:spcAft>
                <a:spcPts val="200"/>
              </a:spcAft>
            </a:pPr>
            <a:r>
              <a:rPr lang="en-US" sz="1250" b="1" i="0" u="none" dirty="0">
                <a:solidFill>
                  <a:srgbClr val="011C40"/>
                </a:solidFill>
                <a:latin typeface="Garamond"/>
              </a:rPr>
              <a:t>How the return builds</a:t>
            </a:r>
          </a:p>
          <a:p>
            <a:pPr marL="171450" indent="-171450" algn="l">
              <a:lnSpc>
                <a:spcPct val="114000"/>
              </a:lnSpc>
              <a:spcAft>
                <a:spcPts val="200"/>
              </a:spcAft>
              <a:buClr>
                <a:srgbClr val="5A6172"/>
              </a:buClr>
              <a:buFont typeface="Arial"/>
              <a:buChar char="•"/>
            </a:pPr>
            <a:r>
              <a:rPr lang="en-US" sz="1250" b="0" i="0" u="none" dirty="0">
                <a:solidFill>
                  <a:srgbClr val="5A6172"/>
                </a:solidFill>
                <a:latin typeface="Garamond"/>
              </a:rPr>
              <a:t>The swap barely moves: 3.50% today, 3.52% forward.</a:t>
            </a:r>
          </a:p>
          <a:p>
            <a:pPr marL="171450" indent="-171450" algn="l">
              <a:lnSpc>
                <a:spcPct val="114000"/>
              </a:lnSpc>
              <a:spcAft>
                <a:spcPts val="200"/>
              </a:spcAft>
              <a:buClr>
                <a:srgbClr val="5A6172"/>
              </a:buClr>
              <a:buFont typeface="Arial"/>
              <a:buChar char="•"/>
            </a:pPr>
            <a:r>
              <a:rPr lang="en-US" sz="1250" b="0" i="0" u="none" dirty="0">
                <a:solidFill>
                  <a:srgbClr val="5A6172"/>
                </a:solidFill>
                <a:latin typeface="Garamond"/>
              </a:rPr>
              <a:t>The bond does the work: the forward of 94.39 implies −586bp.</a:t>
            </a:r>
          </a:p>
          <a:p>
            <a:pPr marL="171450" indent="-171450" algn="l">
              <a:lnSpc>
                <a:spcPct val="114000"/>
              </a:lnSpc>
              <a:spcAft>
                <a:spcPts val="200"/>
              </a:spcAft>
              <a:buClr>
                <a:srgbClr val="5A6172"/>
              </a:buClr>
              <a:buFont typeface="Arial"/>
              <a:buChar char="•"/>
            </a:pPr>
            <a:r>
              <a:rPr lang="en-US" sz="1250" b="0" i="0" u="none" dirty="0">
                <a:solidFill>
                  <a:srgbClr val="5A6172"/>
                </a:solidFill>
                <a:latin typeface="Garamond"/>
              </a:rPr>
              <a:t>Full impairment at −572bp: the bond at 94.71 returns 0x.</a:t>
            </a:r>
          </a:p>
        </p:txBody>
      </p:sp>
      <p:graphicFrame>
        <p:nvGraphicFramePr>
          <p:cNvPr id="10" name="Chart 9"/>
          <p:cNvGraphicFramePr>
            <a:graphicFrameLocks noGrp="1"/>
          </p:cNvGraphicFramePr>
          <p:nvPr/>
        </p:nvGraphicFramePr>
        <p:xfrm>
          <a:off x="6035040" y="1905000"/>
          <a:ext cx="5596128" cy="36195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2487168" y="5816600"/>
            <a:ext cx="7818120" cy="443839"/>
          </a:xfrm>
          <a:prstGeom prst="rect">
            <a:avLst/>
          </a:prstGeom>
          <a:noFill/>
        </p:spPr>
        <p:txBody>
          <a:bodyPr wrap="square" lIns="0" tIns="0" rIns="0" bIns="0" anchor="t">
            <a:spAutoFit/>
          </a:bodyPr>
          <a:lstStyle/>
          <a:p>
            <a:pPr algn="l">
              <a:lnSpc>
                <a:spcPct val="108000"/>
              </a:lnSpc>
              <a:spcAft>
                <a:spcPts val="0"/>
              </a:spcAft>
            </a:pPr>
            <a:r>
              <a:rPr lang="en-US" sz="900" b="0" i="0" u="none" baseline="30000" dirty="0">
                <a:solidFill>
                  <a:srgbClr val="9AA1B2"/>
                </a:solidFill>
                <a:latin typeface="Garamond"/>
              </a:rPr>
              <a:t>1</a:t>
            </a:r>
            <a:r>
              <a:rPr lang="en-US" sz="900" b="0" i="0" u="none" dirty="0">
                <a:solidFill>
                  <a:srgbClr val="9AA1B2"/>
                </a:solidFill>
                <a:latin typeface="Garamond"/>
              </a:rPr>
              <a:t> Italy 2011: the 5th percentile of Italy's 1-year spread from 2010 to 2013, −350bp.</a:t>
            </a:r>
          </a:p>
          <a:p>
            <a:pPr algn="l">
              <a:lnSpc>
                <a:spcPct val="108000"/>
              </a:lnSpc>
              <a:spcAft>
                <a:spcPts val="0"/>
              </a:spcAft>
            </a:pPr>
            <a:r>
              <a:rPr lang="en-US" sz="900" b="0" i="0" u="none" dirty="0">
                <a:solidFill>
                  <a:srgbClr val="9AA1B2"/>
                </a:solidFill>
                <a:latin typeface="Garamond"/>
              </a:rPr>
              <a:t>Please see the disclosures page regarding the hypothetical performance results listed above. Levels on 10/2/2026. Forward price: the bond financed at €STR + 17bp (3.30%, the OIS curve interpolated to expiry) compounded to 2/25/2031. The forward row uses the 4.4y1y forward swap, 3.52%. Source: Bloomberg, Liminality calculations.</a:t>
            </a:r>
          </a:p>
        </p:txBody>
      </p:sp>
      <p:sp>
        <p:nvSpPr>
          <p:cNvPr id="200" name="Bar label 1"/>
          <p:cNvSpPr txBox="1"/>
          <p:nvPr/>
        </p:nvSpPr>
        <p:spPr>
          <a:xfrm>
            <a:off x="6144514" y="5130800"/>
            <a:ext cx="896112" cy="558800"/>
          </a:xfrm>
          <a:prstGeom prst="rect">
            <a:avLst/>
          </a:prstGeom>
          <a:noFill/>
        </p:spPr>
        <p:txBody>
          <a:bodyPr wrap="square" lIns="0" tIns="0" rIns="0" bIns="0" rtlCol="0" anchor="t">
            <a:noAutofit/>
          </a:bodyPr>
          <a:lstStyle/>
          <a:p>
            <a:pPr algn="ctr">
              <a:spcAft>
                <a:spcPts val="0"/>
              </a:spcAft>
            </a:pPr>
            <a:r>
              <a:rPr lang="en-US" sz="1050" b="0" dirty="0">
                <a:solidFill>
                  <a:srgbClr val="5A6172"/>
                </a:solidFill>
                <a:latin typeface="Garamond"/>
              </a:rPr>
              <a:t>Full impairment</a:t>
            </a:r>
          </a:p>
          <a:p>
            <a:pPr algn="ctr">
              <a:spcAft>
                <a:spcPts val="0"/>
              </a:spcAft>
            </a:pPr>
            <a:r>
              <a:rPr lang="en-US" sz="1050" b="0" dirty="0">
                <a:solidFill>
                  <a:srgbClr val="5A6172"/>
                </a:solidFill>
                <a:latin typeface="Garamond"/>
              </a:rPr>
              <a:t>−572bp</a:t>
            </a:r>
          </a:p>
          <a:p>
            <a:pPr algn="ctr">
              <a:spcAft>
                <a:spcPts val="0"/>
              </a:spcAft>
            </a:pPr>
            <a:r>
              <a:rPr lang="en-US" sz="1050" b="1" dirty="0">
                <a:solidFill>
                  <a:srgbClr val="011C40"/>
                </a:solidFill>
                <a:latin typeface="Garamond"/>
              </a:rPr>
              <a:t>94.71</a:t>
            </a:r>
          </a:p>
        </p:txBody>
      </p:sp>
      <p:sp>
        <p:nvSpPr>
          <p:cNvPr id="201" name="Bar label 2"/>
          <p:cNvSpPr txBox="1"/>
          <p:nvPr/>
        </p:nvSpPr>
        <p:spPr>
          <a:xfrm>
            <a:off x="7040626" y="5130800"/>
            <a:ext cx="896112" cy="558800"/>
          </a:xfrm>
          <a:prstGeom prst="rect">
            <a:avLst/>
          </a:prstGeom>
          <a:noFill/>
        </p:spPr>
        <p:txBody>
          <a:bodyPr wrap="square" lIns="0" tIns="0" rIns="0" bIns="0" rtlCol="0" anchor="t">
            <a:noAutofit/>
          </a:bodyPr>
          <a:lstStyle/>
          <a:p>
            <a:pPr algn="ctr">
              <a:spcAft>
                <a:spcPts val="0"/>
              </a:spcAft>
            </a:pPr>
            <a:r>
              <a:rPr lang="en-US" sz="1050" b="0" dirty="0">
                <a:solidFill>
                  <a:srgbClr val="5A6172"/>
                </a:solidFill>
                <a:latin typeface="Garamond"/>
              </a:rPr>
              <a:t>Break-even</a:t>
            </a:r>
          </a:p>
          <a:p>
            <a:pPr algn="ctr">
              <a:spcAft>
                <a:spcPts val="0"/>
              </a:spcAft>
            </a:pPr>
            <a:r>
              <a:rPr lang="en-US" sz="1050" b="0" dirty="0">
                <a:solidFill>
                  <a:srgbClr val="5A6172"/>
                </a:solidFill>
                <a:latin typeface="Garamond"/>
              </a:rPr>
              <a:t>−445bp</a:t>
            </a:r>
          </a:p>
          <a:p>
            <a:pPr algn="ctr">
              <a:spcAft>
                <a:spcPts val="0"/>
              </a:spcAft>
            </a:pPr>
            <a:r>
              <a:rPr lang="en-US" sz="1050" b="1" dirty="0">
                <a:solidFill>
                  <a:srgbClr val="011C40"/>
                </a:solidFill>
                <a:latin typeface="Garamond"/>
              </a:rPr>
              <a:t>95.82</a:t>
            </a:r>
          </a:p>
        </p:txBody>
      </p:sp>
      <p:sp>
        <p:nvSpPr>
          <p:cNvPr id="202" name="Bar label 3"/>
          <p:cNvSpPr txBox="1"/>
          <p:nvPr/>
        </p:nvSpPr>
        <p:spPr>
          <a:xfrm>
            <a:off x="7936738" y="5130800"/>
            <a:ext cx="896112" cy="558800"/>
          </a:xfrm>
          <a:prstGeom prst="rect">
            <a:avLst/>
          </a:prstGeom>
          <a:noFill/>
        </p:spPr>
        <p:txBody>
          <a:bodyPr wrap="square" lIns="0" tIns="0" rIns="0" bIns="0" rtlCol="0" anchor="t">
            <a:noAutofit/>
          </a:bodyPr>
          <a:lstStyle/>
          <a:p>
            <a:pPr algn="ctr">
              <a:spcAft>
                <a:spcPts val="0"/>
              </a:spcAft>
            </a:pPr>
            <a:r>
              <a:rPr lang="en-US" sz="1050" b="0" dirty="0">
                <a:solidFill>
                  <a:srgbClr val="5A6172"/>
                </a:solidFill>
                <a:latin typeface="Garamond"/>
              </a:rPr>
              <a:t>Italy 2011</a:t>
            </a:r>
            <a:r>
              <a:rPr lang="en-US" sz="1050" b="0" baseline="30000" dirty="0">
                <a:solidFill>
                  <a:srgbClr val="5A6172"/>
                </a:solidFill>
                <a:latin typeface="Garamond"/>
              </a:rPr>
              <a:t>1</a:t>
            </a:r>
          </a:p>
          <a:p>
            <a:pPr algn="ctr">
              <a:spcAft>
                <a:spcPts val="0"/>
              </a:spcAft>
            </a:pPr>
            <a:r>
              <a:rPr lang="en-US" sz="1050" b="0" dirty="0">
                <a:solidFill>
                  <a:srgbClr val="5A6172"/>
                </a:solidFill>
                <a:latin typeface="Garamond"/>
              </a:rPr>
              <a:t>−350bp</a:t>
            </a:r>
          </a:p>
          <a:p>
            <a:pPr algn="ctr">
              <a:spcAft>
                <a:spcPts val="0"/>
              </a:spcAft>
            </a:pPr>
            <a:r>
              <a:rPr lang="en-US" sz="1050" b="1" dirty="0">
                <a:solidFill>
                  <a:srgbClr val="011C40"/>
                </a:solidFill>
                <a:latin typeface="Garamond"/>
              </a:rPr>
              <a:t>96.68</a:t>
            </a:r>
          </a:p>
        </p:txBody>
      </p:sp>
      <p:sp>
        <p:nvSpPr>
          <p:cNvPr id="203" name="Bar label 4"/>
          <p:cNvSpPr txBox="1"/>
          <p:nvPr/>
        </p:nvSpPr>
        <p:spPr>
          <a:xfrm>
            <a:off x="8832850" y="5130800"/>
            <a:ext cx="896112" cy="558800"/>
          </a:xfrm>
          <a:prstGeom prst="rect">
            <a:avLst/>
          </a:prstGeom>
          <a:noFill/>
        </p:spPr>
        <p:txBody>
          <a:bodyPr wrap="square" lIns="0" tIns="0" rIns="0" bIns="0" rtlCol="0" anchor="t">
            <a:noAutofit/>
          </a:bodyPr>
          <a:lstStyle/>
          <a:p>
            <a:pPr algn="ctr">
              <a:spcAft>
                <a:spcPts val="0"/>
              </a:spcAft>
            </a:pPr>
            <a:r>
              <a:rPr lang="en-US" sz="1050" b="0" dirty="0">
                <a:solidFill>
                  <a:srgbClr val="5A6172"/>
                </a:solidFill>
                <a:latin typeface="Garamond"/>
              </a:rPr>
              <a:t>No roll</a:t>
            </a:r>
          </a:p>
          <a:p>
            <a:pPr algn="ctr">
              <a:spcAft>
                <a:spcPts val="0"/>
              </a:spcAft>
            </a:pPr>
            <a:r>
              <a:rPr lang="en-US" sz="1050" b="0" dirty="0">
                <a:solidFill>
                  <a:srgbClr val="5A6172"/>
                </a:solidFill>
                <a:latin typeface="Garamond"/>
              </a:rPr>
              <a:t>−83bp</a:t>
            </a:r>
          </a:p>
          <a:p>
            <a:pPr algn="ctr">
              <a:spcAft>
                <a:spcPts val="0"/>
              </a:spcAft>
            </a:pPr>
            <a:r>
              <a:rPr lang="en-US" sz="1050" b="1" dirty="0">
                <a:solidFill>
                  <a:srgbClr val="011C40"/>
                </a:solidFill>
                <a:latin typeface="Garamond"/>
              </a:rPr>
              <a:t>99.15</a:t>
            </a:r>
          </a:p>
        </p:txBody>
      </p:sp>
      <p:sp>
        <p:nvSpPr>
          <p:cNvPr id="204" name="Bar label 5"/>
          <p:cNvSpPr txBox="1"/>
          <p:nvPr/>
        </p:nvSpPr>
        <p:spPr>
          <a:xfrm>
            <a:off x="9728962" y="5130800"/>
            <a:ext cx="896112" cy="558800"/>
          </a:xfrm>
          <a:prstGeom prst="rect">
            <a:avLst/>
          </a:prstGeom>
          <a:noFill/>
        </p:spPr>
        <p:txBody>
          <a:bodyPr wrap="square" lIns="0" tIns="0" rIns="0" bIns="0" rtlCol="0" anchor="t">
            <a:noAutofit/>
          </a:bodyPr>
          <a:lstStyle/>
          <a:p>
            <a:pPr algn="ctr">
              <a:spcAft>
                <a:spcPts val="0"/>
              </a:spcAft>
            </a:pPr>
            <a:r>
              <a:rPr lang="en-US" sz="1050" b="0" dirty="0">
                <a:solidFill>
                  <a:srgbClr val="5A6172"/>
                </a:solidFill>
                <a:latin typeface="Garamond"/>
              </a:rPr>
              <a:t>Roll to spot</a:t>
            </a:r>
          </a:p>
          <a:p>
            <a:pPr algn="ctr">
              <a:spcAft>
                <a:spcPts val="0"/>
              </a:spcAft>
            </a:pPr>
            <a:r>
              <a:rPr lang="en-US" sz="1050" b="0" dirty="0">
                <a:solidFill>
                  <a:srgbClr val="5A6172"/>
                </a:solidFill>
                <a:latin typeface="Garamond"/>
              </a:rPr>
              <a:t>−1.3bp</a:t>
            </a:r>
          </a:p>
          <a:p>
            <a:pPr algn="ctr">
              <a:spcAft>
                <a:spcPts val="0"/>
              </a:spcAft>
            </a:pPr>
            <a:r>
              <a:rPr lang="en-US" sz="1050" b="1" dirty="0">
                <a:solidFill>
                  <a:srgbClr val="011C40"/>
                </a:solidFill>
                <a:latin typeface="Garamond"/>
              </a:rPr>
              <a:t>99.94</a:t>
            </a:r>
          </a:p>
        </p:txBody>
      </p:sp>
      <p:sp>
        <p:nvSpPr>
          <p:cNvPr id="205" name="Bar label 6"/>
          <p:cNvSpPr txBox="1"/>
          <p:nvPr/>
        </p:nvSpPr>
        <p:spPr>
          <a:xfrm>
            <a:off x="10625074" y="5130800"/>
            <a:ext cx="896112" cy="558800"/>
          </a:xfrm>
          <a:prstGeom prst="rect">
            <a:avLst/>
          </a:prstGeom>
          <a:noFill/>
        </p:spPr>
        <p:txBody>
          <a:bodyPr wrap="square" lIns="0" tIns="0" rIns="0" bIns="0" rtlCol="0" anchor="t">
            <a:noAutofit/>
          </a:bodyPr>
          <a:lstStyle/>
          <a:p>
            <a:pPr algn="ctr">
              <a:spcAft>
                <a:spcPts val="0"/>
              </a:spcAft>
            </a:pPr>
            <a:r>
              <a:rPr lang="en-US" sz="1050" b="0" dirty="0">
                <a:solidFill>
                  <a:srgbClr val="5A6172"/>
                </a:solidFill>
                <a:latin typeface="Garamond"/>
              </a:rPr>
              <a:t>Median</a:t>
            </a:r>
          </a:p>
          <a:p>
            <a:pPr algn="ctr">
              <a:spcAft>
                <a:spcPts val="0"/>
              </a:spcAft>
            </a:pPr>
            <a:r>
              <a:rPr lang="en-US" sz="1050" b="0" dirty="0">
                <a:solidFill>
                  <a:srgbClr val="5A6172"/>
                </a:solidFill>
                <a:latin typeface="Garamond"/>
              </a:rPr>
              <a:t>28bp</a:t>
            </a:r>
          </a:p>
          <a:p>
            <a:pPr algn="ctr">
              <a:spcAft>
                <a:spcPts val="0"/>
              </a:spcAft>
            </a:pPr>
            <a:r>
              <a:rPr lang="en-US" sz="1050" b="1" dirty="0">
                <a:solidFill>
                  <a:srgbClr val="011C40"/>
                </a:solidFill>
                <a:latin typeface="Garamond"/>
              </a:rPr>
              <a:t>100.22</a:t>
            </a:r>
          </a:p>
        </p:txBody>
      </p:sp>
    </p:spTree>
    <p:extLst>
      <p:ext uri="{BB962C8B-B14F-4D97-AF65-F5344CB8AC3E}">
        <p14:creationId xmlns:p14="http://schemas.microsoft.com/office/powerpoint/2010/main" val="1702190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Scenario analysis: 4.4-year IRR and multiple of capital at expiry</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lang="en-US" sz="1050" b="0" i="0" u="none">
                <a:solidFill>
                  <a:srgbClr val="5A6172"/>
                </a:solidFill>
                <a:latin typeface="Garamond"/>
              </a:rPr>
              <a:t>10</a:t>
            </a:r>
            <a:endParaRPr sz="1050" b="0" i="0" u="none">
              <a:solidFill>
                <a:srgbClr val="5A6172"/>
              </a:solidFill>
              <a:latin typeface="Garamond"/>
            </a:endParaRP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Returns depend on the 1-year spread at expiry; dashed lines mark each scenario's multiple</a:t>
            </a:r>
          </a:p>
        </p:txBody>
      </p:sp>
      <p:graphicFrame>
        <p:nvGraphicFramePr>
          <p:cNvPr id="6" name="Chart 5"/>
          <p:cNvGraphicFramePr>
            <a:graphicFrameLocks noGrp="1"/>
          </p:cNvGraphicFramePr>
          <p:nvPr/>
        </p:nvGraphicFramePr>
        <p:xfrm>
          <a:off x="566928" y="1847088"/>
          <a:ext cx="5074920" cy="4160520"/>
        </p:xfrm>
        <a:graphic>
          <a:graphicData uri="http://schemas.openxmlformats.org/drawingml/2006/chart">
            <c:chart xmlns:c="http://schemas.openxmlformats.org/drawingml/2006/chart" xmlns:r="http://schemas.openxmlformats.org/officeDocument/2006/relationships" r:id="rId2"/>
          </a:graphicData>
        </a:graphic>
      </p:graphicFrame>
      <p:cxnSp>
        <p:nvCxnSpPr>
          <p:cNvPr id="7" name="Connector 6"/>
          <p:cNvCxnSpPr/>
          <p:nvPr/>
        </p:nvCxnSpPr>
        <p:spPr>
          <a:xfrm>
            <a:off x="4728362" y="2523900"/>
            <a:ext cx="182880" cy="0"/>
          </a:xfrm>
          <a:prstGeom prst="line">
            <a:avLst/>
          </a:prstGeom>
          <a:ln w="9525">
            <a:solidFill>
              <a:srgbClr val="2C7A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947818" y="2369976"/>
            <a:ext cx="660400" cy="215900"/>
          </a:xfrm>
          <a:prstGeom prst="rect">
            <a:avLst/>
          </a:prstGeom>
          <a:noFill/>
        </p:spPr>
        <p:txBody>
          <a:bodyPr wrap="square" lIns="0" tIns="0" rIns="0" bIns="0" anchor="t">
            <a:spAutoFit/>
          </a:bodyPr>
          <a:lstStyle/>
          <a:p>
            <a:pPr algn="l">
              <a:lnSpc>
                <a:spcPct val="100000"/>
              </a:lnSpc>
              <a:spcAft>
                <a:spcPts val="0"/>
              </a:spcAft>
            </a:pPr>
            <a:r>
              <a:rPr sz="1200" b="1" i="0" u="none">
                <a:solidFill>
                  <a:srgbClr val="2C7A5A"/>
                </a:solidFill>
                <a:latin typeface="Garamond"/>
              </a:rPr>
              <a:t>5.0x</a:t>
            </a:r>
          </a:p>
        </p:txBody>
      </p:sp>
      <p:cxnSp>
        <p:nvCxnSpPr>
          <p:cNvPr id="9" name="Connector 8"/>
          <p:cNvCxnSpPr/>
          <p:nvPr/>
        </p:nvCxnSpPr>
        <p:spPr>
          <a:xfrm>
            <a:off x="4728362" y="2656470"/>
            <a:ext cx="182880" cy="41166"/>
          </a:xfrm>
          <a:prstGeom prst="line">
            <a:avLst/>
          </a:prstGeom>
          <a:ln w="9525">
            <a:solidFill>
              <a:srgbClr val="3C8DB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947818" y="2619912"/>
            <a:ext cx="660400" cy="215900"/>
          </a:xfrm>
          <a:prstGeom prst="rect">
            <a:avLst/>
          </a:prstGeom>
          <a:noFill/>
        </p:spPr>
        <p:txBody>
          <a:bodyPr wrap="square" lIns="0" tIns="0" rIns="0" bIns="0" anchor="t">
            <a:spAutoFit/>
          </a:bodyPr>
          <a:lstStyle/>
          <a:p>
            <a:pPr algn="l">
              <a:lnSpc>
                <a:spcPct val="100000"/>
              </a:lnSpc>
              <a:spcAft>
                <a:spcPts val="0"/>
              </a:spcAft>
            </a:pPr>
            <a:r>
              <a:rPr sz="1200" b="1" i="0" u="none">
                <a:solidFill>
                  <a:srgbClr val="3C8DBC"/>
                </a:solidFill>
                <a:latin typeface="Garamond"/>
              </a:rPr>
              <a:t>4.8x</a:t>
            </a:r>
          </a:p>
        </p:txBody>
      </p:sp>
      <p:cxnSp>
        <p:nvCxnSpPr>
          <p:cNvPr id="11" name="Connector 10"/>
          <p:cNvCxnSpPr/>
          <p:nvPr/>
        </p:nvCxnSpPr>
        <p:spPr>
          <a:xfrm>
            <a:off x="4728362" y="3026127"/>
            <a:ext cx="182880" cy="0"/>
          </a:xfrm>
          <a:prstGeom prst="line">
            <a:avLst/>
          </a:prstGeom>
          <a:ln w="9525">
            <a:solidFill>
              <a:srgbClr val="011C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47818" y="2910303"/>
            <a:ext cx="660400" cy="215900"/>
          </a:xfrm>
          <a:prstGeom prst="rect">
            <a:avLst/>
          </a:prstGeom>
          <a:noFill/>
        </p:spPr>
        <p:txBody>
          <a:bodyPr wrap="square" lIns="0" tIns="0" rIns="0" bIns="0" anchor="t">
            <a:spAutoFit/>
          </a:bodyPr>
          <a:lstStyle/>
          <a:p>
            <a:pPr algn="l">
              <a:lnSpc>
                <a:spcPct val="100000"/>
              </a:lnSpc>
              <a:spcAft>
                <a:spcPts val="0"/>
              </a:spcAft>
            </a:pPr>
            <a:r>
              <a:rPr sz="1200" b="1" i="0" u="none">
                <a:solidFill>
                  <a:srgbClr val="011C40"/>
                </a:solidFill>
                <a:latin typeface="Garamond"/>
              </a:rPr>
              <a:t>4.0x</a:t>
            </a:r>
          </a:p>
        </p:txBody>
      </p:sp>
      <p:cxnSp>
        <p:nvCxnSpPr>
          <p:cNvPr id="13" name="Connector 12"/>
          <p:cNvCxnSpPr/>
          <p:nvPr/>
        </p:nvCxnSpPr>
        <p:spPr>
          <a:xfrm>
            <a:off x="4728362" y="4234186"/>
            <a:ext cx="182880" cy="0"/>
          </a:xfrm>
          <a:prstGeom prst="line">
            <a:avLst/>
          </a:prstGeom>
          <a:ln w="9525">
            <a:solidFill>
              <a:srgbClr val="6A4C9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47818" y="4118362"/>
            <a:ext cx="660400" cy="215900"/>
          </a:xfrm>
          <a:prstGeom prst="rect">
            <a:avLst/>
          </a:prstGeom>
          <a:noFill/>
        </p:spPr>
        <p:txBody>
          <a:bodyPr wrap="square" lIns="0" tIns="0" rIns="0" bIns="0" anchor="t">
            <a:spAutoFit/>
          </a:bodyPr>
          <a:lstStyle/>
          <a:p>
            <a:pPr algn="l">
              <a:lnSpc>
                <a:spcPct val="100000"/>
              </a:lnSpc>
              <a:spcAft>
                <a:spcPts val="0"/>
              </a:spcAft>
            </a:pPr>
            <a:r>
              <a:rPr sz="1200" b="1" i="0" u="none">
                <a:solidFill>
                  <a:srgbClr val="6A4C93"/>
                </a:solidFill>
                <a:latin typeface="Garamond"/>
              </a:rPr>
              <a:t>1.8x</a:t>
            </a:r>
          </a:p>
        </p:txBody>
      </p:sp>
      <p:cxnSp>
        <p:nvCxnSpPr>
          <p:cNvPr id="15" name="Connector 14"/>
          <p:cNvCxnSpPr/>
          <p:nvPr/>
        </p:nvCxnSpPr>
        <p:spPr>
          <a:xfrm>
            <a:off x="4728362" y="4664020"/>
            <a:ext cx="182880" cy="0"/>
          </a:xfrm>
          <a:prstGeom prst="line">
            <a:avLst/>
          </a:prstGeom>
          <a:ln w="9525">
            <a:solidFill>
              <a:srgbClr val="5A617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47818" y="4548196"/>
            <a:ext cx="660400" cy="215900"/>
          </a:xfrm>
          <a:prstGeom prst="rect">
            <a:avLst/>
          </a:prstGeom>
          <a:noFill/>
        </p:spPr>
        <p:txBody>
          <a:bodyPr wrap="square" lIns="0" tIns="0" rIns="0" bIns="0" anchor="t">
            <a:spAutoFit/>
          </a:bodyPr>
          <a:lstStyle/>
          <a:p>
            <a:pPr algn="l">
              <a:lnSpc>
                <a:spcPct val="100000"/>
              </a:lnSpc>
              <a:spcAft>
                <a:spcPts val="0"/>
              </a:spcAft>
            </a:pPr>
            <a:r>
              <a:rPr sz="1200" b="1" i="0" u="none">
                <a:solidFill>
                  <a:srgbClr val="5A6172"/>
                </a:solidFill>
                <a:latin typeface="Garamond"/>
              </a:rPr>
              <a:t>1.0x</a:t>
            </a:r>
          </a:p>
        </p:txBody>
      </p:sp>
      <p:cxnSp>
        <p:nvCxnSpPr>
          <p:cNvPr id="17" name="Connector 16"/>
          <p:cNvCxnSpPr/>
          <p:nvPr/>
        </p:nvCxnSpPr>
        <p:spPr>
          <a:xfrm>
            <a:off x="4728362" y="5238639"/>
            <a:ext cx="182880" cy="0"/>
          </a:xfrm>
          <a:prstGeom prst="line">
            <a:avLst/>
          </a:prstGeom>
          <a:ln w="9525">
            <a:solidFill>
              <a:srgbClr val="B3332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947818" y="5122815"/>
            <a:ext cx="660400" cy="215900"/>
          </a:xfrm>
          <a:prstGeom prst="rect">
            <a:avLst/>
          </a:prstGeom>
          <a:noFill/>
        </p:spPr>
        <p:txBody>
          <a:bodyPr wrap="square" lIns="0" tIns="0" rIns="0" bIns="0" anchor="t">
            <a:spAutoFit/>
          </a:bodyPr>
          <a:lstStyle/>
          <a:p>
            <a:pPr algn="l">
              <a:lnSpc>
                <a:spcPct val="100000"/>
              </a:lnSpc>
              <a:spcAft>
                <a:spcPts val="0"/>
              </a:spcAft>
            </a:pPr>
            <a:r>
              <a:rPr sz="1200" b="1" i="0" u="none">
                <a:solidFill>
                  <a:srgbClr val="B3332E"/>
                </a:solidFill>
                <a:latin typeface="Garamond"/>
              </a:rPr>
              <a:t>0x</a:t>
            </a:r>
          </a:p>
        </p:txBody>
      </p:sp>
      <p:cxnSp>
        <p:nvCxnSpPr>
          <p:cNvPr id="19" name="Connector 18"/>
          <p:cNvCxnSpPr/>
          <p:nvPr/>
        </p:nvCxnSpPr>
        <p:spPr>
          <a:xfrm>
            <a:off x="4728362" y="5433196"/>
            <a:ext cx="182880" cy="0"/>
          </a:xfrm>
          <a:prstGeom prst="line">
            <a:avLst/>
          </a:prstGeom>
          <a:ln w="9525">
            <a:solidFill>
              <a:srgbClr val="B3332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47818" y="5317372"/>
            <a:ext cx="660400" cy="215900"/>
          </a:xfrm>
          <a:prstGeom prst="rect">
            <a:avLst/>
          </a:prstGeom>
          <a:noFill/>
        </p:spPr>
        <p:txBody>
          <a:bodyPr wrap="square" lIns="0" tIns="0" rIns="0" bIns="0" anchor="t">
            <a:spAutoFit/>
          </a:bodyPr>
          <a:lstStyle/>
          <a:p>
            <a:pPr algn="l">
              <a:lnSpc>
                <a:spcPct val="100000"/>
              </a:lnSpc>
              <a:spcAft>
                <a:spcPts val="0"/>
              </a:spcAft>
            </a:pPr>
            <a:r>
              <a:rPr sz="1200" b="1" i="0" u="none">
                <a:solidFill>
                  <a:srgbClr val="B3332E"/>
                </a:solidFill>
                <a:latin typeface="Garamond"/>
              </a:rPr>
              <a:t>0x</a:t>
            </a:r>
          </a:p>
        </p:txBody>
      </p:sp>
      <p:sp>
        <p:nvSpPr>
          <p:cNvPr id="21" name="TextBox 20"/>
          <p:cNvSpPr txBox="1"/>
          <p:nvPr/>
        </p:nvSpPr>
        <p:spPr>
          <a:xfrm>
            <a:off x="6413500" y="2040538"/>
            <a:ext cx="762000" cy="254000"/>
          </a:xfrm>
          <a:prstGeom prst="rect">
            <a:avLst/>
          </a:prstGeom>
          <a:noFill/>
        </p:spPr>
        <p:txBody>
          <a:bodyPr wrap="square" lIns="0" tIns="0" rIns="0" bIns="0" anchor="t">
            <a:spAutoFit/>
          </a:bodyPr>
          <a:lstStyle/>
          <a:p>
            <a:pPr algn="r">
              <a:lnSpc>
                <a:spcPct val="100000"/>
              </a:lnSpc>
              <a:spcAft>
                <a:spcPts val="0"/>
              </a:spcAft>
            </a:pPr>
            <a:r>
              <a:rPr sz="1300" b="1" i="0" u="none">
                <a:solidFill>
                  <a:srgbClr val="011C40"/>
                </a:solidFill>
                <a:latin typeface="Garamond"/>
              </a:rPr>
              <a:t>Spread</a:t>
            </a:r>
          </a:p>
        </p:txBody>
      </p:sp>
      <p:sp>
        <p:nvSpPr>
          <p:cNvPr id="22" name="TextBox 21"/>
          <p:cNvSpPr txBox="1"/>
          <p:nvPr/>
        </p:nvSpPr>
        <p:spPr>
          <a:xfrm>
            <a:off x="7226300" y="2040538"/>
            <a:ext cx="812800" cy="254000"/>
          </a:xfrm>
          <a:prstGeom prst="rect">
            <a:avLst/>
          </a:prstGeom>
          <a:noFill/>
        </p:spPr>
        <p:txBody>
          <a:bodyPr wrap="square" lIns="0" tIns="0" rIns="0" bIns="0" anchor="t">
            <a:spAutoFit/>
          </a:bodyPr>
          <a:lstStyle/>
          <a:p>
            <a:pPr algn="r">
              <a:lnSpc>
                <a:spcPct val="100000"/>
              </a:lnSpc>
              <a:spcAft>
                <a:spcPts val="0"/>
              </a:spcAft>
            </a:pPr>
            <a:r>
              <a:rPr sz="1300" b="1" i="0" u="none">
                <a:solidFill>
                  <a:srgbClr val="011C40"/>
                </a:solidFill>
                <a:latin typeface="Garamond"/>
              </a:rPr>
              <a:t>IRR</a:t>
            </a:r>
          </a:p>
        </p:txBody>
      </p:sp>
      <p:sp>
        <p:nvSpPr>
          <p:cNvPr id="23" name="TextBox 22"/>
          <p:cNvSpPr txBox="1"/>
          <p:nvPr/>
        </p:nvSpPr>
        <p:spPr>
          <a:xfrm>
            <a:off x="8318500" y="2040538"/>
            <a:ext cx="3302000" cy="254000"/>
          </a:xfrm>
          <a:prstGeom prst="rect">
            <a:avLst/>
          </a:prstGeom>
          <a:noFill/>
        </p:spPr>
        <p:txBody>
          <a:bodyPr wrap="square" lIns="0" tIns="0" rIns="0" bIns="0" anchor="t">
            <a:spAutoFit/>
          </a:bodyPr>
          <a:lstStyle/>
          <a:p>
            <a:pPr algn="l">
              <a:lnSpc>
                <a:spcPct val="100000"/>
              </a:lnSpc>
              <a:spcAft>
                <a:spcPts val="0"/>
              </a:spcAft>
            </a:pPr>
            <a:r>
              <a:rPr sz="1300" b="1" i="0" u="none">
                <a:solidFill>
                  <a:srgbClr val="011C40"/>
                </a:solidFill>
                <a:latin typeface="Garamond"/>
              </a:rPr>
              <a:t>Scenario: 1-year spread at expiry</a:t>
            </a:r>
          </a:p>
        </p:txBody>
      </p:sp>
      <p:cxnSp>
        <p:nvCxnSpPr>
          <p:cNvPr id="24" name="Connector 23"/>
          <p:cNvCxnSpPr/>
          <p:nvPr/>
        </p:nvCxnSpPr>
        <p:spPr>
          <a:xfrm>
            <a:off x="6144768" y="2322732"/>
            <a:ext cx="5477256" cy="0"/>
          </a:xfrm>
          <a:prstGeom prst="line">
            <a:avLst/>
          </a:prstGeom>
          <a:ln w="12700">
            <a:solidFill>
              <a:srgbClr val="011C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217920" y="2450748"/>
            <a:ext cx="118872" cy="118872"/>
          </a:xfrm>
          <a:prstGeom prst="ellipse">
            <a:avLst/>
          </a:prstGeom>
          <a:solidFill>
            <a:srgbClr val="2C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13500" y="2369722"/>
            <a:ext cx="7620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28bp</a:t>
            </a:r>
          </a:p>
        </p:txBody>
      </p:sp>
      <p:sp>
        <p:nvSpPr>
          <p:cNvPr id="27" name="TextBox 26"/>
          <p:cNvSpPr txBox="1"/>
          <p:nvPr/>
        </p:nvSpPr>
        <p:spPr>
          <a:xfrm>
            <a:off x="7226300" y="2369722"/>
            <a:ext cx="8128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44.0%</a:t>
            </a:r>
          </a:p>
        </p:txBody>
      </p:sp>
      <p:sp>
        <p:nvSpPr>
          <p:cNvPr id="28" name="TextBox 27"/>
          <p:cNvSpPr txBox="1"/>
          <p:nvPr/>
        </p:nvSpPr>
        <p:spPr>
          <a:xfrm>
            <a:off x="8318500" y="2369722"/>
            <a:ext cx="3302000" cy="254000"/>
          </a:xfrm>
          <a:prstGeom prst="rect">
            <a:avLst/>
          </a:prstGeom>
          <a:noFill/>
        </p:spPr>
        <p:txBody>
          <a:bodyPr wrap="square" lIns="0" tIns="0" rIns="0" bIns="0" anchor="t">
            <a:spAutoFit/>
          </a:bodyPr>
          <a:lstStyle/>
          <a:p>
            <a:pPr algn="l">
              <a:lnSpc>
                <a:spcPct val="100000"/>
              </a:lnSpc>
              <a:spcAft>
                <a:spcPts val="0"/>
              </a:spcAft>
            </a:pPr>
            <a:r>
              <a:rPr sz="1300" b="0" i="0" u="none">
                <a:solidFill>
                  <a:srgbClr val="011C40"/>
                </a:solidFill>
                <a:latin typeface="Garamond"/>
              </a:rPr>
              <a:t>Median since 2010</a:t>
            </a:r>
          </a:p>
        </p:txBody>
      </p:sp>
      <p:sp>
        <p:nvSpPr>
          <p:cNvPr id="29" name="Oval 28"/>
          <p:cNvSpPr/>
          <p:nvPr/>
        </p:nvSpPr>
        <p:spPr>
          <a:xfrm>
            <a:off x="6217920" y="2697636"/>
            <a:ext cx="118872" cy="118872"/>
          </a:xfrm>
          <a:prstGeom prst="ellipse">
            <a:avLst/>
          </a:prstGeom>
          <a:solidFill>
            <a:srgbClr val="3C8D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3500" y="2616610"/>
            <a:ext cx="7620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−1.3bp</a:t>
            </a:r>
          </a:p>
        </p:txBody>
      </p:sp>
      <p:sp>
        <p:nvSpPr>
          <p:cNvPr id="31" name="TextBox 30"/>
          <p:cNvSpPr txBox="1"/>
          <p:nvPr/>
        </p:nvSpPr>
        <p:spPr>
          <a:xfrm>
            <a:off x="7226300" y="2616610"/>
            <a:ext cx="8128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42.3%</a:t>
            </a:r>
          </a:p>
        </p:txBody>
      </p:sp>
      <p:sp>
        <p:nvSpPr>
          <p:cNvPr id="32" name="TextBox 31"/>
          <p:cNvSpPr txBox="1"/>
          <p:nvPr/>
        </p:nvSpPr>
        <p:spPr>
          <a:xfrm>
            <a:off x="8318500" y="2616610"/>
            <a:ext cx="3302000" cy="254000"/>
          </a:xfrm>
          <a:prstGeom prst="rect">
            <a:avLst/>
          </a:prstGeom>
          <a:noFill/>
        </p:spPr>
        <p:txBody>
          <a:bodyPr wrap="square" lIns="0" tIns="0" rIns="0" bIns="0" anchor="t">
            <a:spAutoFit/>
          </a:bodyPr>
          <a:lstStyle/>
          <a:p>
            <a:pPr algn="l">
              <a:lnSpc>
                <a:spcPct val="100000"/>
              </a:lnSpc>
              <a:spcAft>
                <a:spcPts val="0"/>
              </a:spcAft>
            </a:pPr>
            <a:r>
              <a:rPr sz="1300" b="0" i="0" u="none">
                <a:solidFill>
                  <a:srgbClr val="011C40"/>
                </a:solidFill>
                <a:latin typeface="Garamond"/>
              </a:rPr>
              <a:t>Roll to spot: curve unchanged</a:t>
            </a:r>
          </a:p>
        </p:txBody>
      </p:sp>
      <p:sp>
        <p:nvSpPr>
          <p:cNvPr id="33" name="Oval 32"/>
          <p:cNvSpPr/>
          <p:nvPr/>
        </p:nvSpPr>
        <p:spPr>
          <a:xfrm>
            <a:off x="6217920" y="2952975"/>
            <a:ext cx="118872" cy="118872"/>
          </a:xfrm>
          <a:prstGeom prst="ellipse">
            <a:avLst/>
          </a:prstGeom>
          <a:solidFill>
            <a:srgbClr val="011C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13500" y="2871949"/>
            <a:ext cx="7620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−83bp</a:t>
            </a:r>
          </a:p>
        </p:txBody>
      </p:sp>
      <p:sp>
        <p:nvSpPr>
          <p:cNvPr id="35" name="TextBox 34"/>
          <p:cNvSpPr txBox="1"/>
          <p:nvPr/>
        </p:nvSpPr>
        <p:spPr>
          <a:xfrm>
            <a:off x="7226300" y="2871949"/>
            <a:ext cx="8128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37.2%</a:t>
            </a:r>
          </a:p>
        </p:txBody>
      </p:sp>
      <p:sp>
        <p:nvSpPr>
          <p:cNvPr id="36" name="TextBox 35"/>
          <p:cNvSpPr txBox="1"/>
          <p:nvPr/>
        </p:nvSpPr>
        <p:spPr>
          <a:xfrm>
            <a:off x="8318500" y="2871949"/>
            <a:ext cx="3302000" cy="254000"/>
          </a:xfrm>
          <a:prstGeom prst="rect">
            <a:avLst/>
          </a:prstGeom>
          <a:noFill/>
        </p:spPr>
        <p:txBody>
          <a:bodyPr wrap="square" lIns="0" tIns="0" rIns="0" bIns="0" anchor="t">
            <a:spAutoFit/>
          </a:bodyPr>
          <a:lstStyle/>
          <a:p>
            <a:pPr algn="l">
              <a:lnSpc>
                <a:spcPct val="100000"/>
              </a:lnSpc>
              <a:spcAft>
                <a:spcPts val="0"/>
              </a:spcAft>
            </a:pPr>
            <a:r>
              <a:rPr sz="1300" b="0" i="0" u="none">
                <a:solidFill>
                  <a:srgbClr val="011C40"/>
                </a:solidFill>
                <a:latin typeface="Garamond"/>
              </a:rPr>
              <a:t>No roll: spread unchanged</a:t>
            </a:r>
          </a:p>
        </p:txBody>
      </p:sp>
      <p:sp>
        <p:nvSpPr>
          <p:cNvPr id="37" name="Oval 36"/>
          <p:cNvSpPr/>
          <p:nvPr/>
        </p:nvSpPr>
        <p:spPr>
          <a:xfrm>
            <a:off x="6217920" y="4161034"/>
            <a:ext cx="118872" cy="118872"/>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13500" y="4080008"/>
            <a:ext cx="7620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−350bp</a:t>
            </a:r>
          </a:p>
        </p:txBody>
      </p:sp>
      <p:sp>
        <p:nvSpPr>
          <p:cNvPr id="39" name="TextBox 38"/>
          <p:cNvSpPr txBox="1"/>
          <p:nvPr/>
        </p:nvSpPr>
        <p:spPr>
          <a:xfrm>
            <a:off x="7226300" y="4080008"/>
            <a:ext cx="8128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14.5%</a:t>
            </a:r>
          </a:p>
        </p:txBody>
      </p:sp>
      <p:sp>
        <p:nvSpPr>
          <p:cNvPr id="40" name="TextBox 39"/>
          <p:cNvSpPr txBox="1"/>
          <p:nvPr/>
        </p:nvSpPr>
        <p:spPr>
          <a:xfrm>
            <a:off x="8318500" y="4080008"/>
            <a:ext cx="3302000" cy="254000"/>
          </a:xfrm>
          <a:prstGeom prst="rect">
            <a:avLst/>
          </a:prstGeom>
          <a:noFill/>
        </p:spPr>
        <p:txBody>
          <a:bodyPr wrap="square" lIns="0" tIns="0" rIns="0" bIns="0" anchor="t">
            <a:spAutoFit/>
          </a:bodyPr>
          <a:lstStyle/>
          <a:p>
            <a:pPr algn="l">
              <a:lnSpc>
                <a:spcPct val="100000"/>
              </a:lnSpc>
              <a:spcAft>
                <a:spcPts val="0"/>
              </a:spcAft>
            </a:pPr>
            <a:r>
              <a:rPr sz="1300" b="0" i="0" u="none">
                <a:solidFill>
                  <a:srgbClr val="011C40"/>
                </a:solidFill>
                <a:latin typeface="Garamond"/>
              </a:rPr>
              <a:t>Italy's 2011 crisis level</a:t>
            </a:r>
          </a:p>
        </p:txBody>
      </p:sp>
      <p:sp>
        <p:nvSpPr>
          <p:cNvPr id="41" name="Oval 40"/>
          <p:cNvSpPr/>
          <p:nvPr/>
        </p:nvSpPr>
        <p:spPr>
          <a:xfrm>
            <a:off x="6217920" y="4590868"/>
            <a:ext cx="118872" cy="118872"/>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13500" y="4509842"/>
            <a:ext cx="7620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−445bp</a:t>
            </a:r>
          </a:p>
        </p:txBody>
      </p:sp>
      <p:sp>
        <p:nvSpPr>
          <p:cNvPr id="43" name="TextBox 42"/>
          <p:cNvSpPr txBox="1"/>
          <p:nvPr/>
        </p:nvSpPr>
        <p:spPr>
          <a:xfrm>
            <a:off x="7226300" y="4509842"/>
            <a:ext cx="8128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0.0%</a:t>
            </a:r>
          </a:p>
        </p:txBody>
      </p:sp>
      <p:sp>
        <p:nvSpPr>
          <p:cNvPr id="44" name="TextBox 43"/>
          <p:cNvSpPr txBox="1"/>
          <p:nvPr/>
        </p:nvSpPr>
        <p:spPr>
          <a:xfrm>
            <a:off x="8318500" y="4509842"/>
            <a:ext cx="3302000" cy="254000"/>
          </a:xfrm>
          <a:prstGeom prst="rect">
            <a:avLst/>
          </a:prstGeom>
          <a:noFill/>
        </p:spPr>
        <p:txBody>
          <a:bodyPr wrap="square" lIns="0" tIns="0" rIns="0" bIns="0" anchor="t">
            <a:spAutoFit/>
          </a:bodyPr>
          <a:lstStyle/>
          <a:p>
            <a:pPr algn="l">
              <a:lnSpc>
                <a:spcPct val="100000"/>
              </a:lnSpc>
              <a:spcAft>
                <a:spcPts val="0"/>
              </a:spcAft>
            </a:pPr>
            <a:r>
              <a:rPr sz="1300" b="0" i="0" u="none">
                <a:solidFill>
                  <a:srgbClr val="011C40"/>
                </a:solidFill>
                <a:latin typeface="Garamond"/>
              </a:rPr>
              <a:t>Investment break-even</a:t>
            </a:r>
          </a:p>
        </p:txBody>
      </p:sp>
      <p:sp>
        <p:nvSpPr>
          <p:cNvPr id="45" name="Oval 44"/>
          <p:cNvSpPr/>
          <p:nvPr/>
        </p:nvSpPr>
        <p:spPr>
          <a:xfrm>
            <a:off x="6217920" y="5165487"/>
            <a:ext cx="118872" cy="118872"/>
          </a:xfrm>
          <a:prstGeom prst="ellipse">
            <a:avLst/>
          </a:prstGeom>
          <a:solidFill>
            <a:srgbClr val="B3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13500" y="5084461"/>
            <a:ext cx="7620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−572bp</a:t>
            </a:r>
          </a:p>
        </p:txBody>
      </p:sp>
      <p:sp>
        <p:nvSpPr>
          <p:cNvPr id="47" name="TextBox 46"/>
          <p:cNvSpPr txBox="1"/>
          <p:nvPr/>
        </p:nvSpPr>
        <p:spPr>
          <a:xfrm>
            <a:off x="7226300" y="5084461"/>
            <a:ext cx="8128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total loss</a:t>
            </a:r>
          </a:p>
        </p:txBody>
      </p:sp>
      <p:sp>
        <p:nvSpPr>
          <p:cNvPr id="48" name="TextBox 47"/>
          <p:cNvSpPr txBox="1"/>
          <p:nvPr/>
        </p:nvSpPr>
        <p:spPr>
          <a:xfrm>
            <a:off x="8318500" y="5084461"/>
            <a:ext cx="3302000" cy="254000"/>
          </a:xfrm>
          <a:prstGeom prst="rect">
            <a:avLst/>
          </a:prstGeom>
          <a:noFill/>
        </p:spPr>
        <p:txBody>
          <a:bodyPr wrap="square" lIns="0" tIns="0" rIns="0" bIns="0" anchor="t">
            <a:spAutoFit/>
          </a:bodyPr>
          <a:lstStyle/>
          <a:p>
            <a:pPr algn="l">
              <a:lnSpc>
                <a:spcPct val="100000"/>
              </a:lnSpc>
              <a:spcAft>
                <a:spcPts val="0"/>
              </a:spcAft>
            </a:pPr>
            <a:r>
              <a:rPr sz="1300" b="0" i="0" u="none">
                <a:solidFill>
                  <a:srgbClr val="011C40"/>
                </a:solidFill>
                <a:latin typeface="Garamond"/>
              </a:rPr>
              <a:t>Full impairment at expiry</a:t>
            </a:r>
          </a:p>
        </p:txBody>
      </p:sp>
      <p:sp>
        <p:nvSpPr>
          <p:cNvPr id="49" name="Oval 48"/>
          <p:cNvSpPr/>
          <p:nvPr/>
        </p:nvSpPr>
        <p:spPr>
          <a:xfrm>
            <a:off x="6217920" y="5412375"/>
            <a:ext cx="118872" cy="118872"/>
          </a:xfrm>
          <a:prstGeom prst="ellipse">
            <a:avLst/>
          </a:prstGeom>
          <a:solidFill>
            <a:srgbClr val="B3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13500" y="5331349"/>
            <a:ext cx="7620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−615bp</a:t>
            </a:r>
          </a:p>
        </p:txBody>
      </p:sp>
      <p:sp>
        <p:nvSpPr>
          <p:cNvPr id="51" name="TextBox 50"/>
          <p:cNvSpPr txBox="1"/>
          <p:nvPr/>
        </p:nvSpPr>
        <p:spPr>
          <a:xfrm>
            <a:off x="7226300" y="5331349"/>
            <a:ext cx="812800" cy="254000"/>
          </a:xfrm>
          <a:prstGeom prst="rect">
            <a:avLst/>
          </a:prstGeom>
          <a:noFill/>
        </p:spPr>
        <p:txBody>
          <a:bodyPr wrap="square" lIns="0" tIns="0" rIns="0" bIns="0" anchor="t">
            <a:spAutoFit/>
          </a:bodyPr>
          <a:lstStyle/>
          <a:p>
            <a:pPr algn="r">
              <a:lnSpc>
                <a:spcPct val="100000"/>
              </a:lnSpc>
              <a:spcAft>
                <a:spcPts val="0"/>
              </a:spcAft>
            </a:pPr>
            <a:r>
              <a:rPr sz="1300" b="0" i="0" u="none">
                <a:solidFill>
                  <a:srgbClr val="011C40"/>
                </a:solidFill>
                <a:latin typeface="Garamond"/>
              </a:rPr>
              <a:t>total loss</a:t>
            </a:r>
          </a:p>
        </p:txBody>
      </p:sp>
      <p:sp>
        <p:nvSpPr>
          <p:cNvPr id="52" name="TextBox 51"/>
          <p:cNvSpPr txBox="1"/>
          <p:nvPr/>
        </p:nvSpPr>
        <p:spPr>
          <a:xfrm>
            <a:off x="8318500" y="5331349"/>
            <a:ext cx="3302000" cy="254000"/>
          </a:xfrm>
          <a:prstGeom prst="rect">
            <a:avLst/>
          </a:prstGeom>
          <a:noFill/>
        </p:spPr>
        <p:txBody>
          <a:bodyPr wrap="square" lIns="0" tIns="0" rIns="0" bIns="0" anchor="t">
            <a:spAutoFit/>
          </a:bodyPr>
          <a:lstStyle/>
          <a:p>
            <a:pPr algn="l">
              <a:lnSpc>
                <a:spcPct val="100000"/>
              </a:lnSpc>
              <a:spcAft>
                <a:spcPts val="0"/>
              </a:spcAft>
            </a:pPr>
            <a:r>
              <a:rPr sz="1300" b="0" i="0" u="none">
                <a:solidFill>
                  <a:srgbClr val="011C40"/>
                </a:solidFill>
                <a:latin typeface="Garamond"/>
              </a:rPr>
              <a:t>Italy's euro-crisis low, 11/9/2011</a:t>
            </a:r>
          </a:p>
        </p:txBody>
      </p:sp>
      <p:sp>
        <p:nvSpPr>
          <p:cNvPr id="53" name="TextBox 52"/>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Please see the disclosures page regarding the hypothetical performance results listed above. Entry spread −82.9bp. Source: Bloomberg, Liminality calculations.</a:t>
            </a:r>
          </a:p>
        </p:txBody>
      </p:sp>
    </p:spTree>
    <p:extLst>
      <p:ext uri="{BB962C8B-B14F-4D97-AF65-F5344CB8AC3E}">
        <p14:creationId xmlns:p14="http://schemas.microsoft.com/office/powerpoint/2010/main" val="2315271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274320"/>
            <a:ext cx="11057839" cy="713232"/>
          </a:xfrm>
        </p:spPr>
        <p:txBody>
          <a:bodyPr wrap="square" lIns="0" rIns="0" anchor="ctr"/>
          <a:lstStyle/>
          <a:p>
            <a:pPr algn="l"/>
            <a:r>
              <a:rPr sz="2800" b="0">
                <a:solidFill>
                  <a:srgbClr val="FFFFFF"/>
                </a:solidFill>
                <a:latin typeface="Garamond"/>
              </a:rPr>
              <a:t>Risk: Italy and Spain during the euro crisis</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lang="en-US" sz="1050" b="0" i="0" u="none">
                <a:solidFill>
                  <a:srgbClr val="5A6172"/>
                </a:solidFill>
                <a:latin typeface="Garamond"/>
              </a:rPr>
              <a:t>11</a:t>
            </a:r>
            <a:endParaRPr sz="1050" b="0" i="0" u="none">
              <a:solidFill>
                <a:srgbClr val="5A6172"/>
              </a:solidFill>
              <a:latin typeface="Garamond"/>
            </a:endParaRPr>
          </a:p>
        </p:txBody>
      </p:sp>
      <p:sp>
        <p:nvSpPr>
          <p:cNvPr id="5" name="TextBox 4"/>
          <p:cNvSpPr txBox="1"/>
          <p:nvPr/>
        </p:nvSpPr>
        <p:spPr>
          <a:xfrm>
            <a:off x="566928" y="1005840"/>
            <a:ext cx="11057839" cy="457200"/>
          </a:xfrm>
          <a:prstGeom prst="rect">
            <a:avLst/>
          </a:prstGeom>
          <a:noFill/>
        </p:spPr>
        <p:txBody>
          <a:bodyPr wrap="square" lIns="0" tIns="0" rIns="0" bIns="0" anchor="t">
            <a:spAutoFit/>
          </a:bodyPr>
          <a:lstStyle/>
          <a:p>
            <a:pPr algn="l">
              <a:lnSpc>
                <a:spcPct val="100000"/>
              </a:lnSpc>
              <a:spcAft>
                <a:spcPts val="0"/>
              </a:spcAft>
            </a:pPr>
            <a:r>
              <a:rPr sz="1350" b="0" i="1" u="none">
                <a:solidFill>
                  <a:srgbClr val="CADCFC"/>
                </a:solidFill>
                <a:latin typeface="Garamond"/>
              </a:rPr>
              <a:t>Our structure rolls into a 1-year swap spread at expiry</a:t>
            </a:r>
          </a:p>
        </p:txBody>
      </p:sp>
      <p:sp>
        <p:nvSpPr>
          <p:cNvPr id="6" name="TextBox 5"/>
          <p:cNvSpPr txBox="1"/>
          <p:nvPr/>
        </p:nvSpPr>
        <p:spPr>
          <a:xfrm>
            <a:off x="566928" y="1755648"/>
            <a:ext cx="11057839" cy="274320"/>
          </a:xfrm>
          <a:prstGeom prst="rect">
            <a:avLst/>
          </a:prstGeom>
          <a:noFill/>
        </p:spPr>
        <p:txBody>
          <a:bodyPr wrap="square" lIns="0" tIns="0" rIns="0" bIns="0" anchor="t">
            <a:spAutoFit/>
          </a:bodyPr>
          <a:lstStyle/>
          <a:p>
            <a:pPr algn="ctr">
              <a:lnSpc>
                <a:spcPct val="95000"/>
              </a:lnSpc>
              <a:spcAft>
                <a:spcPts val="600"/>
              </a:spcAft>
            </a:pPr>
            <a:r>
              <a:rPr sz="1200" b="1" i="0" u="none">
                <a:solidFill>
                  <a:srgbClr val="011C40"/>
                </a:solidFill>
                <a:latin typeface="Garamond"/>
              </a:rPr>
              <a:t>1-year swap spreads versus 6m Euribor, weekly, 2010 to 2013</a:t>
            </a:r>
          </a:p>
        </p:txBody>
      </p:sp>
      <p:graphicFrame>
        <p:nvGraphicFramePr>
          <p:cNvPr id="7" name="Chart 6"/>
          <p:cNvGraphicFramePr>
            <a:graphicFrameLocks noGrp="1"/>
          </p:cNvGraphicFramePr>
          <p:nvPr/>
        </p:nvGraphicFramePr>
        <p:xfrm>
          <a:off x="1389888" y="2048256"/>
          <a:ext cx="9411919" cy="402336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2487168" y="6469654"/>
            <a:ext cx="7818120" cy="150601"/>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Italy's 1-year spread bottomed at −615bp on 11/9/2011. Source: Bloomberg, Liminality calculations.</a:t>
            </a:r>
          </a:p>
        </p:txBody>
      </p:sp>
    </p:spTree>
    <p:extLst>
      <p:ext uri="{BB962C8B-B14F-4D97-AF65-F5344CB8AC3E}">
        <p14:creationId xmlns:p14="http://schemas.microsoft.com/office/powerpoint/2010/main" val="345467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10367" y="6419088"/>
            <a:ext cx="914400" cy="153504"/>
          </a:xfrm>
          <a:prstGeom prst="rect">
            <a:avLst/>
          </a:prstGeom>
          <a:noFill/>
        </p:spPr>
        <p:txBody>
          <a:bodyPr wrap="square" lIns="0" tIns="0" rIns="0" bIns="0" anchor="t">
            <a:spAutoFit/>
          </a:bodyPr>
          <a:lstStyle/>
          <a:p>
            <a:pPr algn="r">
              <a:lnSpc>
                <a:spcPct val="95000"/>
              </a:lnSpc>
              <a:spcAft>
                <a:spcPts val="0"/>
              </a:spcAft>
            </a:pPr>
            <a:r>
              <a:rPr sz="1050" b="0" i="0">
                <a:solidFill>
                  <a:srgbClr val="5A6172"/>
                </a:solidFill>
                <a:latin typeface="Garamond"/>
              </a:rPr>
              <a:t>12</a:t>
            </a:r>
          </a:p>
        </p:txBody>
      </p:sp>
      <p:sp>
        <p:nvSpPr>
          <p:cNvPr id="6" name="TextBox 5"/>
          <p:cNvSpPr txBox="1"/>
          <p:nvPr/>
        </p:nvSpPr>
        <p:spPr>
          <a:xfrm>
            <a:off x="566928" y="1005840"/>
            <a:ext cx="11057839" cy="207749"/>
          </a:xfrm>
          <a:prstGeom prst="rect">
            <a:avLst/>
          </a:prstGeom>
          <a:noFill/>
        </p:spPr>
        <p:txBody>
          <a:bodyPr wrap="square" lIns="0" tIns="0" rIns="0" bIns="0" anchor="t">
            <a:spAutoFit/>
          </a:bodyPr>
          <a:lstStyle/>
          <a:p>
            <a:pPr algn="l">
              <a:lnSpc>
                <a:spcPct val="100000"/>
              </a:lnSpc>
              <a:spcAft>
                <a:spcPts val="0"/>
              </a:spcAft>
            </a:pPr>
            <a:r>
              <a:rPr sz="1350" b="0" i="1">
                <a:solidFill>
                  <a:srgbClr val="CADCFC"/>
                </a:solidFill>
                <a:latin typeface="Garamond"/>
              </a:rPr>
              <a:t>Italy and Spain 1-year swap spreads versus 6m Euribor, weekly, 2010 to 2013, with the interventions marked</a:t>
            </a:r>
          </a:p>
        </p:txBody>
      </p:sp>
      <p:graphicFrame>
        <p:nvGraphicFramePr>
          <p:cNvPr id="7" name="Chart 6"/>
          <p:cNvGraphicFramePr>
            <a:graphicFrameLocks noGrp="1"/>
          </p:cNvGraphicFramePr>
          <p:nvPr/>
        </p:nvGraphicFramePr>
        <p:xfrm>
          <a:off x="566928" y="1798320"/>
          <a:ext cx="6903720" cy="3977639"/>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1291167" y="1816608"/>
            <a:ext cx="1005840" cy="146194"/>
          </a:xfrm>
          <a:prstGeom prst="rect">
            <a:avLst/>
          </a:prstGeom>
          <a:noFill/>
        </p:spPr>
        <p:txBody>
          <a:bodyPr wrap="square" lIns="0" tIns="0" rIns="0" bIns="0" anchor="t">
            <a:spAutoFit/>
          </a:bodyPr>
          <a:lstStyle/>
          <a:p>
            <a:pPr algn="ctr">
              <a:lnSpc>
                <a:spcPct val="95000"/>
              </a:lnSpc>
              <a:spcAft>
                <a:spcPts val="0"/>
              </a:spcAft>
            </a:pPr>
            <a:r>
              <a:rPr sz="1000" b="1" i="0">
                <a:solidFill>
                  <a:srgbClr val="5A6172"/>
                </a:solidFill>
                <a:latin typeface="Garamond"/>
              </a:rPr>
              <a:t>SMP</a:t>
            </a:r>
          </a:p>
        </p:txBody>
      </p:sp>
      <p:sp>
        <p:nvSpPr>
          <p:cNvPr id="9" name="TextBox 8"/>
          <p:cNvSpPr txBox="1"/>
          <p:nvPr/>
        </p:nvSpPr>
        <p:spPr>
          <a:xfrm>
            <a:off x="3692149" y="2017776"/>
            <a:ext cx="1005840" cy="146194"/>
          </a:xfrm>
          <a:prstGeom prst="rect">
            <a:avLst/>
          </a:prstGeom>
          <a:noFill/>
        </p:spPr>
        <p:txBody>
          <a:bodyPr wrap="square" lIns="0" tIns="0" rIns="0" bIns="0" anchor="t">
            <a:spAutoFit/>
          </a:bodyPr>
          <a:lstStyle/>
          <a:p>
            <a:pPr algn="ctr">
              <a:lnSpc>
                <a:spcPct val="95000"/>
              </a:lnSpc>
              <a:spcAft>
                <a:spcPts val="0"/>
              </a:spcAft>
            </a:pPr>
            <a:r>
              <a:rPr sz="1000" b="1" i="0">
                <a:solidFill>
                  <a:srgbClr val="5A6172"/>
                </a:solidFill>
                <a:latin typeface="Garamond"/>
              </a:rPr>
              <a:t>3-year LTRO</a:t>
            </a:r>
          </a:p>
        </p:txBody>
      </p:sp>
      <p:sp>
        <p:nvSpPr>
          <p:cNvPr id="10" name="TextBox 9"/>
          <p:cNvSpPr txBox="1"/>
          <p:nvPr/>
        </p:nvSpPr>
        <p:spPr>
          <a:xfrm>
            <a:off x="4267293" y="1816608"/>
            <a:ext cx="1778000" cy="292388"/>
          </a:xfrm>
          <a:prstGeom prst="rect">
            <a:avLst/>
          </a:prstGeom>
          <a:noFill/>
        </p:spPr>
        <p:txBody>
          <a:bodyPr wrap="none" lIns="0" tIns="0" rIns="0" bIns="0" anchor="t">
            <a:spAutoFit/>
          </a:bodyPr>
          <a:lstStyle/>
          <a:p>
            <a:pPr algn="ctr">
              <a:lnSpc>
                <a:spcPct val="95000"/>
              </a:lnSpc>
              <a:spcAft>
                <a:spcPts val="0"/>
              </a:spcAft>
            </a:pPr>
            <a:r>
              <a:rPr sz="1000" b="1" i="0">
                <a:solidFill>
                  <a:srgbClr val="5A6172"/>
                </a:solidFill>
                <a:latin typeface="Garamond"/>
              </a:rPr>
              <a:t>“whatever it takes”</a:t>
            </a:r>
          </a:p>
        </p:txBody>
      </p:sp>
      <p:sp>
        <p:nvSpPr>
          <p:cNvPr id="11" name="TextBox 10"/>
          <p:cNvSpPr txBox="1"/>
          <p:nvPr/>
        </p:nvSpPr>
        <p:spPr>
          <a:xfrm>
            <a:off x="4828142" y="2017776"/>
            <a:ext cx="1005840" cy="146194"/>
          </a:xfrm>
          <a:prstGeom prst="rect">
            <a:avLst/>
          </a:prstGeom>
          <a:noFill/>
        </p:spPr>
        <p:txBody>
          <a:bodyPr wrap="square" lIns="0" tIns="0" rIns="0" bIns="0" anchor="t">
            <a:spAutoFit/>
          </a:bodyPr>
          <a:lstStyle/>
          <a:p>
            <a:pPr algn="ctr">
              <a:lnSpc>
                <a:spcPct val="95000"/>
              </a:lnSpc>
              <a:spcAft>
                <a:spcPts val="0"/>
              </a:spcAft>
            </a:pPr>
            <a:r>
              <a:rPr sz="1000" b="1" i="0">
                <a:solidFill>
                  <a:srgbClr val="5A6172"/>
                </a:solidFill>
                <a:latin typeface="Garamond"/>
              </a:rPr>
              <a:t>OMT</a:t>
            </a:r>
          </a:p>
        </p:txBody>
      </p:sp>
      <p:sp>
        <p:nvSpPr>
          <p:cNvPr id="12" name="TextBox 11"/>
          <p:cNvSpPr txBox="1"/>
          <p:nvPr/>
        </p:nvSpPr>
        <p:spPr>
          <a:xfrm>
            <a:off x="566928" y="5821679"/>
            <a:ext cx="6903720" cy="160813"/>
          </a:xfrm>
          <a:prstGeom prst="rect">
            <a:avLst/>
          </a:prstGeom>
          <a:noFill/>
        </p:spPr>
        <p:txBody>
          <a:bodyPr wrap="square" lIns="0" tIns="0" rIns="0" bIns="0" anchor="t">
            <a:spAutoFit/>
          </a:bodyPr>
          <a:lstStyle/>
          <a:p>
            <a:pPr algn="l">
              <a:lnSpc>
                <a:spcPct val="95000"/>
              </a:lnSpc>
              <a:spcAft>
                <a:spcPts val="600"/>
              </a:spcAft>
            </a:pPr>
            <a:r>
              <a:rPr sz="1100" b="0" i="0">
                <a:solidFill>
                  <a:srgbClr val="5A6172"/>
                </a:solidFill>
                <a:latin typeface="Garamond"/>
              </a:rPr>
              <a:t>Italy in red, Spain in teal; dashed lines mark the announcements</a:t>
            </a:r>
          </a:p>
        </p:txBody>
      </p:sp>
      <p:graphicFrame>
        <p:nvGraphicFramePr>
          <p:cNvPr id="13" name="Table 12"/>
          <p:cNvGraphicFramePr>
            <a:graphicFrameLocks noGrp="1"/>
          </p:cNvGraphicFramePr>
          <p:nvPr/>
        </p:nvGraphicFramePr>
        <p:xfrm>
          <a:off x="7818120" y="1798320"/>
          <a:ext cx="3803904" cy="2852928"/>
        </p:xfrm>
        <a:graphic>
          <a:graphicData uri="http://schemas.openxmlformats.org/drawingml/2006/table">
            <a:tbl>
              <a:tblPr firstRow="1">
                <a:tableStyleId>{5C22544A-7EE6-4342-B048-85BDC9FD1C3A}</a:tableStyleId>
              </a:tblPr>
              <a:tblGrid>
                <a:gridCol w="731520">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pPr algn="l"/>
                      <a:r>
                        <a:rPr sz="1050" b="1">
                          <a:solidFill>
                            <a:srgbClr val="FFFFFF"/>
                          </a:solidFill>
                          <a:latin typeface="Garamond"/>
                        </a:rPr>
                        <a:t>When</a:t>
                      </a:r>
                    </a:p>
                  </a:txBody>
                  <a:tcPr marL="64008" marR="64008" marT="9144" marB="9144" anchor="ctr">
                    <a:solidFill>
                      <a:srgbClr val="011C40"/>
                    </a:solidFill>
                  </a:tcPr>
                </a:tc>
                <a:tc>
                  <a:txBody>
                    <a:bodyPr/>
                    <a:lstStyle/>
                    <a:p>
                      <a:pPr algn="l"/>
                      <a:r>
                        <a:rPr sz="1050" b="1">
                          <a:solidFill>
                            <a:srgbClr val="FFFFFF"/>
                          </a:solidFill>
                          <a:latin typeface="Garamond"/>
                        </a:rPr>
                        <a:t>What</a:t>
                      </a:r>
                    </a:p>
                  </a:txBody>
                  <a:tcPr marL="64008" marR="64008" marT="9144" marB="9144" anchor="ctr">
                    <a:solidFill>
                      <a:srgbClr val="011C40"/>
                    </a:solidFill>
                  </a:tcPr>
                </a:tc>
                <a:tc>
                  <a:txBody>
                    <a:bodyPr/>
                    <a:lstStyle/>
                    <a:p>
                      <a:pPr algn="l"/>
                      <a:r>
                        <a:rPr sz="1050" b="1">
                          <a:solidFill>
                            <a:srgbClr val="FFFFFF"/>
                          </a:solidFill>
                          <a:latin typeface="Garamond"/>
                        </a:rPr>
                        <a:t>Effect</a:t>
                      </a:r>
                    </a:p>
                  </a:txBody>
                  <a:tcPr marL="64008" marR="64008" marT="9144" marB="9144" anchor="ctr">
                    <a:solidFill>
                      <a:srgbClr val="011C40"/>
                    </a:solidFill>
                  </a:tcPr>
                </a:tc>
                <a:extLst>
                  <a:ext uri="{0D108BD9-81ED-4DB2-BD59-A6C34878D82A}">
                    <a16:rowId xmlns:a16="http://schemas.microsoft.com/office/drawing/2014/main" val="10000"/>
                  </a:ext>
                </a:extLst>
              </a:tr>
              <a:tr h="365760">
                <a:tc>
                  <a:txBody>
                    <a:bodyPr/>
                    <a:lstStyle/>
                    <a:p>
                      <a:pPr algn="l"/>
                      <a:r>
                        <a:rPr sz="1050" b="0">
                          <a:solidFill>
                            <a:srgbClr val="011C40"/>
                          </a:solidFill>
                          <a:latin typeface="Garamond"/>
                        </a:rPr>
                        <a:t>May 2010</a:t>
                      </a:r>
                    </a:p>
                  </a:txBody>
                  <a:tcPr marL="64008" marR="64008" marT="9144" marB="9144" anchor="ctr">
                    <a:solidFill>
                      <a:srgbClr val="FFFFFF"/>
                    </a:solidFill>
                  </a:tcPr>
                </a:tc>
                <a:tc>
                  <a:txBody>
                    <a:bodyPr/>
                    <a:lstStyle/>
                    <a:p>
                      <a:pPr algn="l"/>
                      <a:r>
                        <a:rPr sz="1050" b="0">
                          <a:solidFill>
                            <a:srgbClr val="011C40"/>
                          </a:solidFill>
                          <a:latin typeface="Garamond"/>
                        </a:rPr>
                        <a:t>SMP: ECB buys peripheral bonds</a:t>
                      </a:r>
                    </a:p>
                  </a:txBody>
                  <a:tcPr marL="64008" marR="64008" marT="9144" marB="9144" anchor="ctr">
                    <a:solidFill>
                      <a:srgbClr val="FFFFFF"/>
                    </a:solidFill>
                  </a:tcPr>
                </a:tc>
                <a:tc>
                  <a:txBody>
                    <a:bodyPr/>
                    <a:lstStyle/>
                    <a:p>
                      <a:pPr algn="l"/>
                      <a:r>
                        <a:rPr sz="1050" b="0">
                          <a:solidFill>
                            <a:srgbClr val="011C40"/>
                          </a:solidFill>
                          <a:latin typeface="Garamond"/>
                        </a:rPr>
                        <a:t>bought time, not trust</a:t>
                      </a:r>
                    </a:p>
                  </a:txBody>
                  <a:tcPr marL="64008" marR="64008" marT="9144" marB="9144" anchor="ctr">
                    <a:solidFill>
                      <a:srgbClr val="FFFFFF"/>
                    </a:solidFill>
                  </a:tcPr>
                </a:tc>
                <a:extLst>
                  <a:ext uri="{0D108BD9-81ED-4DB2-BD59-A6C34878D82A}">
                    <a16:rowId xmlns:a16="http://schemas.microsoft.com/office/drawing/2014/main" val="10001"/>
                  </a:ext>
                </a:extLst>
              </a:tr>
              <a:tr h="365760">
                <a:tc>
                  <a:txBody>
                    <a:bodyPr/>
                    <a:lstStyle/>
                    <a:p>
                      <a:pPr algn="l"/>
                      <a:r>
                        <a:rPr sz="1050" b="0">
                          <a:solidFill>
                            <a:srgbClr val="011C40"/>
                          </a:solidFill>
                          <a:latin typeface="Garamond"/>
                        </a:rPr>
                        <a:t>Dec 2011</a:t>
                      </a:r>
                    </a:p>
                  </a:txBody>
                  <a:tcPr marL="64008" marR="64008" marT="9144" marB="9144" anchor="ctr">
                    <a:solidFill>
                      <a:srgbClr val="EEF4FD"/>
                    </a:solidFill>
                  </a:tcPr>
                </a:tc>
                <a:tc>
                  <a:txBody>
                    <a:bodyPr/>
                    <a:lstStyle/>
                    <a:p>
                      <a:pPr algn="l"/>
                      <a:r>
                        <a:rPr sz="1050" b="0">
                          <a:solidFill>
                            <a:srgbClr val="011C40"/>
                          </a:solidFill>
                          <a:latin typeface="Garamond"/>
                        </a:rPr>
                        <a:t>3-year LTROs, €1tn to banks</a:t>
                      </a:r>
                    </a:p>
                  </a:txBody>
                  <a:tcPr marL="64008" marR="64008" marT="9144" marB="9144" anchor="ctr">
                    <a:solidFill>
                      <a:srgbClr val="EEF4FD"/>
                    </a:solidFill>
                  </a:tcPr>
                </a:tc>
                <a:tc>
                  <a:txBody>
                    <a:bodyPr/>
                    <a:lstStyle/>
                    <a:p>
                      <a:pPr algn="l"/>
                      <a:r>
                        <a:rPr sz="1050" b="0">
                          <a:solidFill>
                            <a:srgbClr val="011C40"/>
                          </a:solidFill>
                          <a:latin typeface="Garamond"/>
                        </a:rPr>
                        <a:t>banks bought their sovereigns</a:t>
                      </a:r>
                    </a:p>
                  </a:txBody>
                  <a:tcPr marL="64008" marR="64008" marT="9144" marB="9144" anchor="ctr">
                    <a:solidFill>
                      <a:srgbClr val="EEF4FD"/>
                    </a:solidFill>
                  </a:tcPr>
                </a:tc>
                <a:extLst>
                  <a:ext uri="{0D108BD9-81ED-4DB2-BD59-A6C34878D82A}">
                    <a16:rowId xmlns:a16="http://schemas.microsoft.com/office/drawing/2014/main" val="10002"/>
                  </a:ext>
                </a:extLst>
              </a:tr>
              <a:tr h="365760">
                <a:tc>
                  <a:txBody>
                    <a:bodyPr/>
                    <a:lstStyle/>
                    <a:p>
                      <a:pPr algn="l"/>
                      <a:r>
                        <a:rPr sz="1050" b="0">
                          <a:solidFill>
                            <a:srgbClr val="011C40"/>
                          </a:solidFill>
                          <a:latin typeface="Garamond"/>
                        </a:rPr>
                        <a:t>Jul 2012</a:t>
                      </a:r>
                    </a:p>
                  </a:txBody>
                  <a:tcPr marL="64008" marR="64008" marT="9144" marB="9144" anchor="ctr">
                    <a:solidFill>
                      <a:srgbClr val="FFFFFF"/>
                    </a:solidFill>
                  </a:tcPr>
                </a:tc>
                <a:tc>
                  <a:txBody>
                    <a:bodyPr/>
                    <a:lstStyle/>
                    <a:p>
                      <a:pPr algn="l"/>
                      <a:r>
                        <a:rPr sz="1050" b="0">
                          <a:solidFill>
                            <a:srgbClr val="011C40"/>
                          </a:solidFill>
                          <a:latin typeface="Garamond"/>
                        </a:rPr>
                        <a:t>“Whatever it takes”</a:t>
                      </a:r>
                    </a:p>
                  </a:txBody>
                  <a:tcPr marL="64008" marR="64008" marT="9144" marB="9144" anchor="ctr">
                    <a:solidFill>
                      <a:srgbClr val="FFFFFF"/>
                    </a:solidFill>
                  </a:tcPr>
                </a:tc>
                <a:tc>
                  <a:txBody>
                    <a:bodyPr/>
                    <a:lstStyle/>
                    <a:p>
                      <a:pPr algn="l"/>
                      <a:r>
                        <a:rPr sz="1050" b="0">
                          <a:solidFill>
                            <a:srgbClr val="011C40"/>
                          </a:solidFill>
                          <a:latin typeface="Garamond"/>
                        </a:rPr>
                        <a:t>the turn</a:t>
                      </a:r>
                    </a:p>
                  </a:txBody>
                  <a:tcPr marL="64008" marR="64008" marT="9144" marB="9144" anchor="ctr">
                    <a:solidFill>
                      <a:srgbClr val="FFFFFF"/>
                    </a:solidFill>
                  </a:tcPr>
                </a:tc>
                <a:extLst>
                  <a:ext uri="{0D108BD9-81ED-4DB2-BD59-A6C34878D82A}">
                    <a16:rowId xmlns:a16="http://schemas.microsoft.com/office/drawing/2014/main" val="10003"/>
                  </a:ext>
                </a:extLst>
              </a:tr>
              <a:tr h="365760">
                <a:tc>
                  <a:txBody>
                    <a:bodyPr/>
                    <a:lstStyle/>
                    <a:p>
                      <a:pPr algn="l"/>
                      <a:r>
                        <a:rPr sz="1050" b="0">
                          <a:solidFill>
                            <a:srgbClr val="011C40"/>
                          </a:solidFill>
                          <a:latin typeface="Garamond"/>
                        </a:rPr>
                        <a:t>Sep 2012</a:t>
                      </a:r>
                    </a:p>
                  </a:txBody>
                  <a:tcPr marL="64008" marR="64008" marT="9144" marB="9144" anchor="ctr">
                    <a:solidFill>
                      <a:srgbClr val="EEF4FD"/>
                    </a:solidFill>
                  </a:tcPr>
                </a:tc>
                <a:tc>
                  <a:txBody>
                    <a:bodyPr/>
                    <a:lstStyle/>
                    <a:p>
                      <a:pPr algn="l"/>
                      <a:r>
                        <a:rPr sz="1050" b="0">
                          <a:solidFill>
                            <a:srgbClr val="011C40"/>
                          </a:solidFill>
                          <a:latin typeface="Garamond"/>
                        </a:rPr>
                        <a:t>OMT: unlimited, conditional</a:t>
                      </a:r>
                    </a:p>
                  </a:txBody>
                  <a:tcPr marL="64008" marR="64008" marT="9144" marB="9144" anchor="ctr">
                    <a:solidFill>
                      <a:srgbClr val="EEF4FD"/>
                    </a:solidFill>
                  </a:tcPr>
                </a:tc>
                <a:tc>
                  <a:txBody>
                    <a:bodyPr/>
                    <a:lstStyle/>
                    <a:p>
                      <a:pPr algn="l"/>
                      <a:r>
                        <a:rPr sz="1050" b="0">
                          <a:solidFill>
                            <a:srgbClr val="011C40"/>
                          </a:solidFill>
                          <a:latin typeface="Garamond"/>
                        </a:rPr>
                        <a:t>never used, never needed</a:t>
                      </a:r>
                    </a:p>
                  </a:txBody>
                  <a:tcPr marL="64008" marR="64008" marT="9144" marB="9144" anchor="ctr">
                    <a:solidFill>
                      <a:srgbClr val="EEF4FD"/>
                    </a:solidFill>
                  </a:tcPr>
                </a:tc>
                <a:extLst>
                  <a:ext uri="{0D108BD9-81ED-4DB2-BD59-A6C34878D82A}">
                    <a16:rowId xmlns:a16="http://schemas.microsoft.com/office/drawing/2014/main" val="10004"/>
                  </a:ext>
                </a:extLst>
              </a:tr>
              <a:tr h="365760">
                <a:tc>
                  <a:txBody>
                    <a:bodyPr/>
                    <a:lstStyle/>
                    <a:p>
                      <a:pPr algn="l"/>
                      <a:r>
                        <a:rPr sz="1050" b="0">
                          <a:solidFill>
                            <a:srgbClr val="011C40"/>
                          </a:solidFill>
                          <a:latin typeface="Garamond"/>
                        </a:rPr>
                        <a:t>Mar 2015</a:t>
                      </a:r>
                    </a:p>
                  </a:txBody>
                  <a:tcPr marL="64008" marR="64008" marT="9144" marB="9144" anchor="ctr">
                    <a:solidFill>
                      <a:srgbClr val="FFFFFF"/>
                    </a:solidFill>
                  </a:tcPr>
                </a:tc>
                <a:tc>
                  <a:txBody>
                    <a:bodyPr/>
                    <a:lstStyle/>
                    <a:p>
                      <a:pPr algn="l"/>
                      <a:r>
                        <a:rPr sz="1050" b="0">
                          <a:solidFill>
                            <a:srgbClr val="011C40"/>
                          </a:solidFill>
                          <a:latin typeface="Garamond"/>
                        </a:rPr>
                        <a:t>APP: QE across the area</a:t>
                      </a:r>
                    </a:p>
                  </a:txBody>
                  <a:tcPr marL="64008" marR="64008" marT="9144" marB="9144" anchor="ctr">
                    <a:solidFill>
                      <a:srgbClr val="FFFFFF"/>
                    </a:solidFill>
                  </a:tcPr>
                </a:tc>
                <a:tc>
                  <a:txBody>
                    <a:bodyPr/>
                    <a:lstStyle/>
                    <a:p>
                      <a:pPr algn="l"/>
                      <a:r>
                        <a:rPr sz="1050" b="0">
                          <a:solidFill>
                            <a:srgbClr val="011C40"/>
                          </a:solidFill>
                          <a:latin typeface="Garamond"/>
                        </a:rPr>
                        <a:t>ECB the largest holder</a:t>
                      </a:r>
                    </a:p>
                  </a:txBody>
                  <a:tcPr marL="64008" marR="64008" marT="9144" marB="9144" anchor="ctr">
                    <a:solidFill>
                      <a:srgbClr val="FFFFFF"/>
                    </a:solidFill>
                  </a:tcPr>
                </a:tc>
                <a:extLst>
                  <a:ext uri="{0D108BD9-81ED-4DB2-BD59-A6C34878D82A}">
                    <a16:rowId xmlns:a16="http://schemas.microsoft.com/office/drawing/2014/main" val="10005"/>
                  </a:ext>
                </a:extLst>
              </a:tr>
              <a:tr h="365760">
                <a:tc>
                  <a:txBody>
                    <a:bodyPr/>
                    <a:lstStyle/>
                    <a:p>
                      <a:pPr algn="l"/>
                      <a:r>
                        <a:rPr sz="1050" b="0">
                          <a:solidFill>
                            <a:srgbClr val="011C40"/>
                          </a:solidFill>
                          <a:latin typeface="Garamond"/>
                        </a:rPr>
                        <a:t>Mar 2020</a:t>
                      </a:r>
                    </a:p>
                  </a:txBody>
                  <a:tcPr marL="64008" marR="64008" marT="9144" marB="9144" anchor="ctr">
                    <a:solidFill>
                      <a:srgbClr val="EEF4FD"/>
                    </a:solidFill>
                  </a:tcPr>
                </a:tc>
                <a:tc>
                  <a:txBody>
                    <a:bodyPr/>
                    <a:lstStyle/>
                    <a:p>
                      <a:pPr algn="l"/>
                      <a:r>
                        <a:rPr sz="1050" b="0">
                          <a:solidFill>
                            <a:srgbClr val="011C40"/>
                          </a:solidFill>
                          <a:latin typeface="Garamond"/>
                        </a:rPr>
                        <a:t>PEPP; then NGEU joint debt</a:t>
                      </a:r>
                    </a:p>
                  </a:txBody>
                  <a:tcPr marL="64008" marR="64008" marT="9144" marB="9144" anchor="ctr">
                    <a:solidFill>
                      <a:srgbClr val="EEF4FD"/>
                    </a:solidFill>
                  </a:tcPr>
                </a:tc>
                <a:tc>
                  <a:txBody>
                    <a:bodyPr/>
                    <a:lstStyle/>
                    <a:p>
                      <a:pPr algn="l"/>
                      <a:r>
                        <a:rPr sz="1050" b="0">
                          <a:solidFill>
                            <a:srgbClr val="011C40"/>
                          </a:solidFill>
                          <a:latin typeface="Garamond"/>
                        </a:rPr>
                        <a:t>pandemic spreads capped</a:t>
                      </a:r>
                    </a:p>
                  </a:txBody>
                  <a:tcPr marL="64008" marR="64008" marT="9144" marB="9144" anchor="ctr">
                    <a:solidFill>
                      <a:srgbClr val="EEF4FD"/>
                    </a:solidFill>
                  </a:tcPr>
                </a:tc>
                <a:extLst>
                  <a:ext uri="{0D108BD9-81ED-4DB2-BD59-A6C34878D82A}">
                    <a16:rowId xmlns:a16="http://schemas.microsoft.com/office/drawing/2014/main" val="10006"/>
                  </a:ext>
                </a:extLst>
              </a:tr>
              <a:tr h="365760">
                <a:tc>
                  <a:txBody>
                    <a:bodyPr/>
                    <a:lstStyle/>
                    <a:p>
                      <a:pPr algn="l"/>
                      <a:r>
                        <a:rPr sz="1050" b="0">
                          <a:solidFill>
                            <a:srgbClr val="011C40"/>
                          </a:solidFill>
                          <a:latin typeface="Garamond"/>
                        </a:rPr>
                        <a:t>Jul 2022</a:t>
                      </a:r>
                    </a:p>
                  </a:txBody>
                  <a:tcPr marL="64008" marR="64008" marT="9144" marB="9144" anchor="ctr">
                    <a:solidFill>
                      <a:srgbClr val="FFFFFF"/>
                    </a:solidFill>
                  </a:tcPr>
                </a:tc>
                <a:tc>
                  <a:txBody>
                    <a:bodyPr/>
                    <a:lstStyle/>
                    <a:p>
                      <a:pPr algn="l"/>
                      <a:r>
                        <a:rPr sz="1050" b="0">
                          <a:solidFill>
                            <a:srgbClr val="011C40"/>
                          </a:solidFill>
                          <a:latin typeface="Garamond"/>
                        </a:rPr>
                        <a:t>TPI: buy on unwarranted widening</a:t>
                      </a:r>
                    </a:p>
                  </a:txBody>
                  <a:tcPr marL="64008" marR="64008" marT="9144" marB="9144" anchor="ctr">
                    <a:solidFill>
                      <a:srgbClr val="FFFFFF"/>
                    </a:solidFill>
                  </a:tcPr>
                </a:tc>
                <a:tc>
                  <a:txBody>
                    <a:bodyPr/>
                    <a:lstStyle/>
                    <a:p>
                      <a:pPr algn="l"/>
                      <a:r>
                        <a:rPr sz="1050" b="0">
                          <a:solidFill>
                            <a:srgbClr val="011C40"/>
                          </a:solidFill>
                          <a:latin typeface="Garamond"/>
                        </a:rPr>
                        <a:t>announced before use</a:t>
                      </a:r>
                    </a:p>
                  </a:txBody>
                  <a:tcPr marL="64008" marR="64008" marT="9144" marB="9144" anchor="ctr">
                    <a:solidFill>
                      <a:srgbClr val="FFFFFF"/>
                    </a:solidFill>
                  </a:tcPr>
                </a:tc>
                <a:extLst>
                  <a:ext uri="{0D108BD9-81ED-4DB2-BD59-A6C34878D82A}">
                    <a16:rowId xmlns:a16="http://schemas.microsoft.com/office/drawing/2014/main" val="10007"/>
                  </a:ext>
                </a:extLst>
              </a:tr>
            </a:tbl>
          </a:graphicData>
        </a:graphic>
      </p:graphicFrame>
      <p:sp>
        <p:nvSpPr>
          <p:cNvPr id="14" name="TextBox 13"/>
          <p:cNvSpPr txBox="1"/>
          <p:nvPr/>
        </p:nvSpPr>
        <p:spPr>
          <a:xfrm>
            <a:off x="7818120" y="4907280"/>
            <a:ext cx="3803904" cy="632353"/>
          </a:xfrm>
          <a:prstGeom prst="rect">
            <a:avLst/>
          </a:prstGeom>
          <a:noFill/>
        </p:spPr>
        <p:txBody>
          <a:bodyPr wrap="square" lIns="0" tIns="0" rIns="0" bIns="0" anchor="t">
            <a:spAutoFit/>
          </a:bodyPr>
          <a:lstStyle/>
          <a:p>
            <a:pPr algn="l">
              <a:lnSpc>
                <a:spcPct val="116000"/>
              </a:lnSpc>
              <a:spcAft>
                <a:spcPts val="600"/>
              </a:spcAft>
            </a:pPr>
            <a:r>
              <a:rPr sz="1200" b="0" i="0" dirty="0">
                <a:solidFill>
                  <a:srgbClr val="5A6172"/>
                </a:solidFill>
                <a:latin typeface="Garamond"/>
              </a:rPr>
              <a:t>Each time the periphery's spreads blew out, the ECB or the EU added a tool, and each tool was larger and earlier than the last. The 2011 lows were made before the tools existed.</a:t>
            </a:r>
          </a:p>
        </p:txBody>
      </p:sp>
      <p:sp>
        <p:nvSpPr>
          <p:cNvPr id="15" name="TextBox 14"/>
          <p:cNvSpPr txBox="1"/>
          <p:nvPr/>
        </p:nvSpPr>
        <p:spPr>
          <a:xfrm>
            <a:off x="2487168" y="6324600"/>
            <a:ext cx="7818120" cy="301203"/>
          </a:xfrm>
          <a:prstGeom prst="rect">
            <a:avLst/>
          </a:prstGeom>
          <a:noFill/>
        </p:spPr>
        <p:txBody>
          <a:bodyPr wrap="square" lIns="0" tIns="0" rIns="0" bIns="0" anchor="t">
            <a:spAutoFit/>
          </a:bodyPr>
          <a:lstStyle/>
          <a:p>
            <a:pPr algn="l">
              <a:lnSpc>
                <a:spcPct val="108000"/>
              </a:lnSpc>
              <a:spcAft>
                <a:spcPts val="0"/>
              </a:spcAft>
            </a:pPr>
            <a:r>
              <a:rPr sz="900" b="0" i="0">
                <a:solidFill>
                  <a:srgbClr val="9AA1B2"/>
                </a:solidFill>
                <a:latin typeface="Garamond"/>
              </a:rPr>
              <a:t>Spreads: swap rate less bond yield versus the 6m Euribor swap, Bloomberg generic 1-year benchmarks (Spain from October 2011). Announcement dates from the ECB. Source: Bloomberg, ECB, Liminality calculations.</a:t>
            </a:r>
          </a:p>
        </p:txBody>
      </p:sp>
      <p:sp>
        <p:nvSpPr>
          <p:cNvPr id="16" name="Title 15">
            <a:extLst>
              <a:ext uri="{FF2B5EF4-FFF2-40B4-BE49-F238E27FC236}">
                <a16:creationId xmlns:a16="http://schemas.microsoft.com/office/drawing/2014/main" id="{C515E43C-BA6F-6DA7-7BFE-0DF3C0D38D86}"/>
              </a:ext>
            </a:extLst>
          </p:cNvPr>
          <p:cNvSpPr>
            <a:spLocks noGrp="1"/>
          </p:cNvSpPr>
          <p:nvPr>
            <p:ph type="title"/>
          </p:nvPr>
        </p:nvSpPr>
        <p:spPr>
          <a:xfrm>
            <a:off x="566928" y="274320"/>
            <a:ext cx="11057839" cy="713232"/>
          </a:xfrm>
        </p:spPr>
        <p:txBody>
          <a:bodyPr wrap="square" lIns="0" rIns="0" anchor="ctr"/>
          <a:lstStyle/>
          <a:p>
            <a:pPr algn="l"/>
            <a:r>
              <a:rPr lang="en-US" sz="2800" b="0" dirty="0">
                <a:solidFill>
                  <a:srgbClr val="FFFFFF"/>
                </a:solidFill>
                <a:latin typeface="Garamond"/>
              </a:rPr>
              <a:t>The ECB and the EU as stabilisers of bond prices</a:t>
            </a:r>
          </a:p>
        </p:txBody>
      </p:sp>
    </p:spTree>
    <p:extLst>
      <p:ext uri="{BB962C8B-B14F-4D97-AF65-F5344CB8AC3E}">
        <p14:creationId xmlns:p14="http://schemas.microsoft.com/office/powerpoint/2010/main" val="1951508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Risks</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lang="en-US" sz="1050" b="0" i="0" u="none">
                <a:solidFill>
                  <a:srgbClr val="5A6172"/>
                </a:solidFill>
                <a:latin typeface="Garamond"/>
              </a:rPr>
              <a:t>13</a:t>
            </a:r>
            <a:endParaRPr sz="1050" b="0" i="0" u="none">
              <a:solidFill>
                <a:srgbClr val="5A6172"/>
              </a:solidFill>
              <a:latin typeface="Garamond"/>
            </a:endParaRPr>
          </a:p>
        </p:txBody>
      </p:sp>
      <p:sp>
        <p:nvSpPr>
          <p:cNvPr id="5" name="Oval 4"/>
          <p:cNvSpPr/>
          <p:nvPr/>
        </p:nvSpPr>
        <p:spPr>
          <a:xfrm>
            <a:off x="566928" y="19431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41500"/>
            <a:ext cx="10874959" cy="260712"/>
          </a:xfrm>
          <a:prstGeom prst="rect">
            <a:avLst/>
          </a:prstGeom>
          <a:noFill/>
        </p:spPr>
        <p:txBody>
          <a:bodyPr wrap="square" lIns="0" tIns="0" rIns="0" bIns="0" anchor="t">
            <a:spAutoFit/>
          </a:bodyPr>
          <a:lstStyle/>
          <a:p>
            <a:pPr algn="l">
              <a:lnSpc>
                <a:spcPct val="110000"/>
              </a:lnSpc>
              <a:spcAft>
                <a:spcPts val="0"/>
              </a:spcAft>
            </a:pPr>
            <a:r>
              <a:rPr sz="1600" b="1" i="0" u="none">
                <a:solidFill>
                  <a:srgbClr val="011C40"/>
                </a:solidFill>
                <a:latin typeface="Garamond"/>
              </a:rPr>
              <a:t>Near-term mark to market</a:t>
            </a:r>
          </a:p>
        </p:txBody>
      </p:sp>
      <p:sp>
        <p:nvSpPr>
          <p:cNvPr id="7" name="Oval 6"/>
          <p:cNvSpPr/>
          <p:nvPr/>
        </p:nvSpPr>
        <p:spPr>
          <a:xfrm>
            <a:off x="566928" y="25781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476500"/>
            <a:ext cx="10874959" cy="260712"/>
          </a:xfrm>
          <a:prstGeom prst="rect">
            <a:avLst/>
          </a:prstGeom>
          <a:noFill/>
        </p:spPr>
        <p:txBody>
          <a:bodyPr wrap="square" lIns="0" tIns="0" rIns="0" bIns="0" anchor="t">
            <a:spAutoFit/>
          </a:bodyPr>
          <a:lstStyle/>
          <a:p>
            <a:pPr algn="l">
              <a:lnSpc>
                <a:spcPct val="110000"/>
              </a:lnSpc>
              <a:spcAft>
                <a:spcPts val="0"/>
              </a:spcAft>
            </a:pPr>
            <a:r>
              <a:rPr sz="1600" b="1" i="0" u="none">
                <a:solidFill>
                  <a:srgbClr val="011C40"/>
                </a:solidFill>
                <a:latin typeface="Garamond"/>
              </a:rPr>
              <a:t>At expiry: a dislocation to Italy's 2011 levels on 2/25/2031</a:t>
            </a:r>
          </a:p>
        </p:txBody>
      </p:sp>
      <p:sp>
        <p:nvSpPr>
          <p:cNvPr id="9" name="Oval 8"/>
          <p:cNvSpPr/>
          <p:nvPr/>
        </p:nvSpPr>
        <p:spPr>
          <a:xfrm>
            <a:off x="566928" y="32131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3111500"/>
            <a:ext cx="10874959" cy="260712"/>
          </a:xfrm>
          <a:prstGeom prst="rect">
            <a:avLst/>
          </a:prstGeom>
          <a:noFill/>
        </p:spPr>
        <p:txBody>
          <a:bodyPr wrap="square" lIns="0" tIns="0" rIns="0" bIns="0" anchor="t">
            <a:spAutoFit/>
          </a:bodyPr>
          <a:lstStyle/>
          <a:p>
            <a:pPr algn="l">
              <a:lnSpc>
                <a:spcPct val="110000"/>
              </a:lnSpc>
              <a:spcAft>
                <a:spcPts val="0"/>
              </a:spcAft>
            </a:pPr>
            <a:r>
              <a:rPr sz="1600" b="1" i="0" u="none">
                <a:solidFill>
                  <a:srgbClr val="011C40"/>
                </a:solidFill>
                <a:latin typeface="Garamond"/>
              </a:rPr>
              <a:t>Before expiry: a crisis that leads to exit from the euro, or default</a:t>
            </a:r>
          </a:p>
        </p:txBody>
      </p:sp>
    </p:spTree>
    <p:extLst>
      <p:ext uri="{BB962C8B-B14F-4D97-AF65-F5344CB8AC3E}">
        <p14:creationId xmlns:p14="http://schemas.microsoft.com/office/powerpoint/2010/main" val="1252661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0"/>
            <a:ext cx="11057839" cy="1536192"/>
          </a:xfrm>
        </p:spPr>
        <p:txBody>
          <a:bodyPr wrap="square" lIns="0" rIns="0" anchor="ctr"/>
          <a:lstStyle/>
          <a:p>
            <a:pPr algn="l"/>
            <a:r>
              <a:rPr sz="2800" b="0">
                <a:solidFill>
                  <a:srgbClr val="FFFFFF"/>
                </a:solidFill>
                <a:latin typeface="Garamond"/>
              </a:rPr>
              <a:t>Why we don't think France will exit the EUR or default</a:t>
            </a:r>
          </a:p>
        </p:txBody>
      </p:sp>
      <p:sp>
        <p:nvSpPr>
          <p:cNvPr id="4" name="TextBox 3"/>
          <p:cNvSpPr txBox="1"/>
          <p:nvPr/>
        </p:nvSpPr>
        <p:spPr>
          <a:xfrm>
            <a:off x="10710367" y="6419088"/>
            <a:ext cx="914400" cy="237744"/>
          </a:xfrm>
          <a:prstGeom prst="rect">
            <a:avLst/>
          </a:prstGeom>
          <a:noFill/>
        </p:spPr>
        <p:txBody>
          <a:bodyPr wrap="square" lIns="0" tIns="0" rIns="0" bIns="0" anchor="t">
            <a:spAutoFit/>
          </a:bodyPr>
          <a:lstStyle/>
          <a:p>
            <a:pPr algn="r">
              <a:lnSpc>
                <a:spcPct val="95000"/>
              </a:lnSpc>
              <a:spcAft>
                <a:spcPts val="0"/>
              </a:spcAft>
            </a:pPr>
            <a:r>
              <a:rPr lang="en-US" sz="1050" b="0" i="0" u="none">
                <a:solidFill>
                  <a:srgbClr val="5A6172"/>
                </a:solidFill>
                <a:latin typeface="Garamond"/>
              </a:rPr>
              <a:t>14</a:t>
            </a:r>
            <a:endParaRPr sz="1050" b="0" i="0" u="none">
              <a:solidFill>
                <a:srgbClr val="5A6172"/>
              </a:solidFill>
              <a:latin typeface="Garamond"/>
            </a:endParaRPr>
          </a:p>
        </p:txBody>
      </p:sp>
      <p:sp>
        <p:nvSpPr>
          <p:cNvPr id="5" name="Oval 4"/>
          <p:cNvSpPr/>
          <p:nvPr/>
        </p:nvSpPr>
        <p:spPr>
          <a:xfrm>
            <a:off x="566928" y="19431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41500"/>
            <a:ext cx="5074920" cy="268150"/>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France’s fiscal problems are solvable; the gap is political will.</a:t>
            </a:r>
          </a:p>
        </p:txBody>
      </p:sp>
      <p:sp>
        <p:nvSpPr>
          <p:cNvPr id="7" name="Oval 6"/>
          <p:cNvSpPr/>
          <p:nvPr/>
        </p:nvSpPr>
        <p:spPr>
          <a:xfrm>
            <a:off x="566928" y="25781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476500"/>
            <a:ext cx="5074920" cy="268150"/>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Acute pain will force a choice of “disease” over “death”.</a:t>
            </a:r>
          </a:p>
        </p:txBody>
      </p:sp>
      <p:sp>
        <p:nvSpPr>
          <p:cNvPr id="9" name="Oval 8"/>
          <p:cNvSpPr/>
          <p:nvPr/>
        </p:nvSpPr>
        <p:spPr>
          <a:xfrm>
            <a:off x="566928" y="32131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3111500"/>
            <a:ext cx="5074920" cy="268150"/>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What forces the change?</a:t>
            </a:r>
          </a:p>
        </p:txBody>
      </p:sp>
      <p:sp>
        <p:nvSpPr>
          <p:cNvPr id="11" name="Oval 10"/>
          <p:cNvSpPr/>
          <p:nvPr/>
        </p:nvSpPr>
        <p:spPr>
          <a:xfrm>
            <a:off x="886968" y="384175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9848" y="3746500"/>
            <a:ext cx="4754880" cy="251415"/>
          </a:xfrm>
          <a:prstGeom prst="rect">
            <a:avLst/>
          </a:prstGeom>
          <a:noFill/>
        </p:spPr>
        <p:txBody>
          <a:bodyPr wrap="square" lIns="0" tIns="0" rIns="0" bIns="0" anchor="t">
            <a:spAutoFit/>
          </a:bodyPr>
          <a:lstStyle/>
          <a:p>
            <a:pPr algn="l">
              <a:lnSpc>
                <a:spcPct val="114000"/>
              </a:lnSpc>
              <a:spcAft>
                <a:spcPts val="0"/>
              </a:spcAft>
            </a:pPr>
            <a:r>
              <a:rPr sz="1500" b="0" i="0" u="none">
                <a:solidFill>
                  <a:srgbClr val="011C40"/>
                </a:solidFill>
                <a:latin typeface="Garamond"/>
              </a:rPr>
              <a:t>A rate spike: the “Liz Truss moment”.</a:t>
            </a:r>
          </a:p>
        </p:txBody>
      </p:sp>
      <p:sp>
        <p:nvSpPr>
          <p:cNvPr id="13" name="Oval 12"/>
          <p:cNvSpPr/>
          <p:nvPr/>
        </p:nvSpPr>
        <p:spPr>
          <a:xfrm>
            <a:off x="886968" y="447675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9848" y="4381500"/>
            <a:ext cx="4754880" cy="251415"/>
          </a:xfrm>
          <a:prstGeom prst="rect">
            <a:avLst/>
          </a:prstGeom>
          <a:noFill/>
        </p:spPr>
        <p:txBody>
          <a:bodyPr wrap="square" lIns="0" tIns="0" rIns="0" bIns="0" anchor="t">
            <a:spAutoFit/>
          </a:bodyPr>
          <a:lstStyle/>
          <a:p>
            <a:pPr algn="l">
              <a:lnSpc>
                <a:spcPct val="114000"/>
              </a:lnSpc>
              <a:spcAft>
                <a:spcPts val="0"/>
              </a:spcAft>
            </a:pPr>
            <a:r>
              <a:rPr sz="1500" b="0" i="0" u="none">
                <a:solidFill>
                  <a:srgbClr val="011C40"/>
                </a:solidFill>
                <a:latin typeface="Garamond"/>
              </a:rPr>
              <a:t>Stress on French banks.</a:t>
            </a:r>
          </a:p>
        </p:txBody>
      </p:sp>
      <p:sp>
        <p:nvSpPr>
          <p:cNvPr id="15" name="Oval 14"/>
          <p:cNvSpPr/>
          <p:nvPr/>
        </p:nvSpPr>
        <p:spPr>
          <a:xfrm>
            <a:off x="6236208" y="1943100"/>
            <a:ext cx="65836" cy="65836"/>
          </a:xfrm>
          <a:prstGeom prst="ellipse">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1841500"/>
            <a:ext cx="5205679" cy="268150"/>
          </a:xfrm>
          <a:prstGeom prst="rect">
            <a:avLst/>
          </a:prstGeom>
          <a:noFill/>
        </p:spPr>
        <p:txBody>
          <a:bodyPr wrap="square" lIns="0" tIns="0" rIns="0" bIns="0" anchor="t">
            <a:spAutoFit/>
          </a:bodyPr>
          <a:lstStyle/>
          <a:p>
            <a:pPr algn="l">
              <a:lnSpc>
                <a:spcPct val="114000"/>
              </a:lnSpc>
              <a:spcAft>
                <a:spcPts val="0"/>
              </a:spcAft>
            </a:pPr>
            <a:r>
              <a:rPr sz="1600" b="0" i="0" u="none">
                <a:solidFill>
                  <a:srgbClr val="011C40"/>
                </a:solidFill>
                <a:latin typeface="Garamond"/>
              </a:rPr>
              <a:t>In a crisis, we expect the ECB to step in.</a:t>
            </a:r>
          </a:p>
        </p:txBody>
      </p:sp>
      <p:sp>
        <p:nvSpPr>
          <p:cNvPr id="17" name="Oval 16"/>
          <p:cNvSpPr/>
          <p:nvPr/>
        </p:nvSpPr>
        <p:spPr>
          <a:xfrm>
            <a:off x="6556248" y="257175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39128" y="2476500"/>
            <a:ext cx="4885639" cy="251415"/>
          </a:xfrm>
          <a:prstGeom prst="rect">
            <a:avLst/>
          </a:prstGeom>
          <a:noFill/>
        </p:spPr>
        <p:txBody>
          <a:bodyPr wrap="square" lIns="0" tIns="0" rIns="0" bIns="0" anchor="t">
            <a:spAutoFit/>
          </a:bodyPr>
          <a:lstStyle/>
          <a:p>
            <a:pPr algn="l">
              <a:lnSpc>
                <a:spcPct val="114000"/>
              </a:lnSpc>
              <a:spcAft>
                <a:spcPts val="0"/>
              </a:spcAft>
            </a:pPr>
            <a:r>
              <a:rPr sz="1500" b="0" i="0" u="none">
                <a:solidFill>
                  <a:srgbClr val="011C40"/>
                </a:solidFill>
                <a:latin typeface="Garamond"/>
              </a:rPr>
              <a:t>EU mutualized debt in 2012; the stakes are higher now.</a:t>
            </a:r>
          </a:p>
        </p:txBody>
      </p:sp>
      <p:sp>
        <p:nvSpPr>
          <p:cNvPr id="19" name="Oval 18"/>
          <p:cNvSpPr/>
          <p:nvPr/>
        </p:nvSpPr>
        <p:spPr>
          <a:xfrm>
            <a:off x="6556248" y="320675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39128" y="3111500"/>
            <a:ext cx="4885639" cy="251415"/>
          </a:xfrm>
          <a:prstGeom prst="rect">
            <a:avLst/>
          </a:prstGeom>
          <a:noFill/>
        </p:spPr>
        <p:txBody>
          <a:bodyPr wrap="square" lIns="0" tIns="0" rIns="0" bIns="0" anchor="t">
            <a:spAutoFit/>
          </a:bodyPr>
          <a:lstStyle/>
          <a:p>
            <a:pPr>
              <a:lnSpc>
                <a:spcPct val="114000"/>
              </a:lnSpc>
            </a:pPr>
            <a:r>
              <a:rPr sz="1500" b="0" i="0" u="none" dirty="0">
                <a:solidFill>
                  <a:srgbClr val="011C40"/>
                </a:solidFill>
                <a:latin typeface="Garamond"/>
              </a:rPr>
              <a:t>Too big to fail: 19% of euro-area output.</a:t>
            </a:r>
            <a:r>
              <a:rPr lang="en-US" sz="1500" b="0" i="0" u="none" dirty="0">
                <a:solidFill>
                  <a:srgbClr val="011C40"/>
                </a:solidFill>
                <a:latin typeface="Garamond"/>
              </a:rPr>
              <a:t>  Over </a:t>
            </a:r>
            <a:r>
              <a:rPr lang="en-US" sz="1500" dirty="0">
                <a:solidFill>
                  <a:srgbClr val="011C40"/>
                </a:solidFill>
                <a:latin typeface="Garamond"/>
              </a:rPr>
              <a:t>€</a:t>
            </a:r>
            <a:r>
              <a:rPr lang="en-US" sz="1500" b="0" i="0" u="none" dirty="0">
                <a:solidFill>
                  <a:srgbClr val="011C40"/>
                </a:solidFill>
                <a:latin typeface="Garamond"/>
              </a:rPr>
              <a:t>10T in assets.</a:t>
            </a:r>
            <a:endParaRPr sz="1500" b="0" i="0" u="none" dirty="0">
              <a:solidFill>
                <a:srgbClr val="011C40"/>
              </a:solidFill>
              <a:latin typeface="Garamond"/>
            </a:endParaRPr>
          </a:p>
        </p:txBody>
      </p:sp>
      <p:sp>
        <p:nvSpPr>
          <p:cNvPr id="21" name="Oval 20"/>
          <p:cNvSpPr/>
          <p:nvPr/>
        </p:nvSpPr>
        <p:spPr>
          <a:xfrm>
            <a:off x="6556248" y="384175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39128" y="3746500"/>
            <a:ext cx="4885639" cy="251415"/>
          </a:xfrm>
          <a:prstGeom prst="rect">
            <a:avLst/>
          </a:prstGeom>
          <a:noFill/>
        </p:spPr>
        <p:txBody>
          <a:bodyPr wrap="square" lIns="0" tIns="0" rIns="0" bIns="0" anchor="t">
            <a:spAutoFit/>
          </a:bodyPr>
          <a:lstStyle/>
          <a:p>
            <a:pPr algn="l">
              <a:lnSpc>
                <a:spcPct val="114000"/>
              </a:lnSpc>
              <a:spcAft>
                <a:spcPts val="0"/>
              </a:spcAft>
            </a:pPr>
            <a:r>
              <a:rPr sz="1500" b="0" i="0" u="none">
                <a:solidFill>
                  <a:srgbClr val="011C40"/>
                </a:solidFill>
                <a:latin typeface="Garamond"/>
              </a:rPr>
              <a:t>Backstops exist: ESM, OMT and TPI (2022).</a:t>
            </a:r>
          </a:p>
        </p:txBody>
      </p:sp>
      <p:sp>
        <p:nvSpPr>
          <p:cNvPr id="23" name="Oval 22"/>
          <p:cNvSpPr/>
          <p:nvPr/>
        </p:nvSpPr>
        <p:spPr>
          <a:xfrm>
            <a:off x="6556248" y="4476750"/>
            <a:ext cx="65836" cy="65836"/>
          </a:xfrm>
          <a:prstGeom prst="ellipse">
            <a:avLst/>
          </a:prstGeom>
          <a:solidFill>
            <a:srgbClr val="5A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39128" y="4381500"/>
            <a:ext cx="4885639" cy="251415"/>
          </a:xfrm>
          <a:prstGeom prst="rect">
            <a:avLst/>
          </a:prstGeom>
          <a:noFill/>
        </p:spPr>
        <p:txBody>
          <a:bodyPr wrap="square" lIns="0" tIns="0" rIns="0" bIns="0" anchor="t">
            <a:spAutoFit/>
          </a:bodyPr>
          <a:lstStyle/>
          <a:p>
            <a:pPr algn="l">
              <a:lnSpc>
                <a:spcPct val="114000"/>
              </a:lnSpc>
              <a:spcAft>
                <a:spcPts val="0"/>
              </a:spcAft>
            </a:pPr>
            <a:r>
              <a:rPr sz="1500" b="0" i="0" u="none">
                <a:solidFill>
                  <a:srgbClr val="011C40"/>
                </a:solidFill>
                <a:latin typeface="Garamond"/>
              </a:rPr>
              <a:t>Euro exit means leaving the EU; no major party backs it.</a:t>
            </a:r>
          </a:p>
        </p:txBody>
      </p:sp>
      <p:sp>
        <p:nvSpPr>
          <p:cNvPr id="25" name="TextBox 24"/>
          <p:cNvSpPr txBox="1"/>
          <p:nvPr/>
        </p:nvSpPr>
        <p:spPr>
          <a:xfrm>
            <a:off x="2487168" y="6319052"/>
            <a:ext cx="7818120" cy="301203"/>
          </a:xfrm>
          <a:prstGeom prst="rect">
            <a:avLst/>
          </a:prstGeom>
          <a:noFill/>
        </p:spPr>
        <p:txBody>
          <a:bodyPr wrap="square" lIns="0" tIns="0" rIns="0" bIns="0" anchor="t">
            <a:spAutoFit/>
          </a:bodyPr>
          <a:lstStyle/>
          <a:p>
            <a:pPr algn="l">
              <a:lnSpc>
                <a:spcPct val="108000"/>
              </a:lnSpc>
              <a:spcAft>
                <a:spcPts val="0"/>
              </a:spcAft>
            </a:pPr>
            <a:r>
              <a:rPr sz="900" b="0" i="0" u="none">
                <a:solidFill>
                  <a:srgbClr val="9AA1B2"/>
                </a:solidFill>
                <a:latin typeface="Garamond"/>
              </a:rPr>
              <a:t>Output share: Eurostat nominal GDP 2025 via Bloomberg. ESM treaty in force 9/27/2012; OMT announced 9/6/2012; TPI 7/21/2022. Source: Eurostat, ECB, ESM, Liminality.</a:t>
            </a:r>
          </a:p>
        </p:txBody>
      </p:sp>
    </p:spTree>
    <p:extLst>
      <p:ext uri="{BB962C8B-B14F-4D97-AF65-F5344CB8AC3E}">
        <p14:creationId xmlns:p14="http://schemas.microsoft.com/office/powerpoint/2010/main" val="266194223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vidends_v2" id="{56D19956-A5E6-4E61-B296-8A0BAA4F67C7}" vid="{BBA9B4DC-5569-4260-A357-39FE9E7D175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E3B7708-103C-4AB3-BD83-0C3A963F1603}">
  <we:reference id="WA200010001" version="1.0.0.1" store="Omex" storeType="OMEX"/>
  <we:alternateReferences>
    <we:reference id="WA200010001" version="1.0.0.1" store="WA200010001" storeType="OMEX"/>
  </we:alternateReferences>
  <we:properties>
    <we:property name="claude.fileId" value="&quot;feb735f2-bf62-4664-b1d7-59656c52649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C65B0F106080448CC440CD0B47B642" ma:contentTypeVersion="15" ma:contentTypeDescription="Create a new document." ma:contentTypeScope="" ma:versionID="23b60c0138c00645af4788556affe79e">
  <xsd:schema xmlns:xsd="http://www.w3.org/2001/XMLSchema" xmlns:xs="http://www.w3.org/2001/XMLSchema" xmlns:p="http://schemas.microsoft.com/office/2006/metadata/properties" xmlns:ns2="ee892943-9abb-4ecc-84c4-6c4ebc2a981f" xmlns:ns3="c0b1cd37-714f-4ee7-8d09-352e1c2211e5" targetNamespace="http://schemas.microsoft.com/office/2006/metadata/properties" ma:root="true" ma:fieldsID="c477f695ed6b55cbc0570e427ce9046c" ns2:_="" ns3:_="">
    <xsd:import namespace="ee892943-9abb-4ecc-84c4-6c4ebc2a981f"/>
    <xsd:import namespace="c0b1cd37-714f-4ee7-8d09-352e1c2211e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892943-9abb-4ecc-84c4-6c4ebc2a98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931d2bf-6c71-4737-8a02-ebc0833cf04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description="" ma:hidden="true" ma:indexed="true" ma:internalName="MediaServiceObjectDetectorVersions" ma:readOnly="true">
      <xsd:simpleType>
        <xsd:restriction base="dms:Text"/>
      </xsd:simple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ServiceLocation" ma:index="20" nillable="true" ma:displayName="Location" ma:descrip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0b1cd37-714f-4ee7-8d09-352e1c2211e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58845c6b-5f9d-4c18-b6fe-ad977bf02bbd}" ma:internalName="TaxCatchAll" ma:showField="CatchAllData" ma:web="c0b1cd37-714f-4ee7-8d09-352e1c2211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0b1cd37-714f-4ee7-8d09-352e1c2211e5" xsi:nil="true"/>
    <lcf76f155ced4ddcb4097134ff3c332f xmlns="ee892943-9abb-4ecc-84c4-6c4ebc2a981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06E7466-A0AC-4A00-9673-E73941EEB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892943-9abb-4ecc-84c4-6c4ebc2a981f"/>
    <ds:schemaRef ds:uri="c0b1cd37-714f-4ee7-8d09-352e1c2211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3386CA3-872E-4B23-960A-B564860DA50A}">
  <ds:schemaRefs>
    <ds:schemaRef ds:uri="http://schemas.microsoft.com/sharepoint/v3/contenttype/forms"/>
  </ds:schemaRefs>
</ds:datastoreItem>
</file>

<file path=customXml/itemProps3.xml><?xml version="1.0" encoding="utf-8"?>
<ds:datastoreItem xmlns:ds="http://schemas.openxmlformats.org/officeDocument/2006/customXml" ds:itemID="{9D238523-C039-4774-8025-800A7A57634C}">
  <ds:schemaRefs>
    <ds:schemaRef ds:uri="http://www.w3.org/XML/1998/namespace"/>
    <ds:schemaRef ds:uri="ee892943-9abb-4ecc-84c4-6c4ebc2a981f"/>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c0b1cd37-714f-4ee7-8d09-352e1c2211e5"/>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62719</TotalTime>
  <Words>1846</Words>
  <Application>Microsoft Office PowerPoint</Application>
  <PresentationFormat>Widescreen</PresentationFormat>
  <Paragraphs>231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 Light</vt:lpstr>
      <vt:lpstr>Garamond</vt:lpstr>
      <vt:lpstr>Arial</vt:lpstr>
      <vt:lpstr>Helvetica Neue</vt:lpstr>
      <vt:lpstr>Calibri</vt:lpstr>
      <vt:lpstr>Custom Design</vt:lpstr>
      <vt:lpstr>PowerPoint Presentation</vt:lpstr>
      <vt:lpstr>Disclaimer</vt:lpstr>
      <vt:lpstr>Liminality Capital</vt:lpstr>
      <vt:lpstr>Executive summary: the French swap spread opportunity</vt:lpstr>
      <vt:lpstr>What is a swap spread?</vt:lpstr>
      <vt:lpstr>The current dislocation</vt:lpstr>
      <vt:lpstr>Why is there a dislocation?</vt:lpstr>
      <vt:lpstr>Where the return comes from</vt:lpstr>
      <vt:lpstr>Where does the return come from</vt:lpstr>
      <vt:lpstr>Scenario analysis: 4.4-year IRR and multiple of capital at expiry</vt:lpstr>
      <vt:lpstr>Risk: Italy and Spain during the euro crisis</vt:lpstr>
      <vt:lpstr>The ECB and the EU as stabilisers of bond prices</vt:lpstr>
      <vt:lpstr>Risks</vt:lpstr>
      <vt:lpstr>Why we don't think France will exit the EUR or default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 Derr</dc:creator>
  <cp:lastModifiedBy>Charlie Ledley</cp:lastModifiedBy>
  <cp:revision>108</cp:revision>
  <cp:lastPrinted>2025-06-25T14:55:21Z</cp:lastPrinted>
  <dcterms:modified xsi:type="dcterms:W3CDTF">2026-10-08T18:16:05Z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0x01010076C65B0F106080448CC440CD0B47B642</vt:lpwstr>
  </property>
  <property fmtid="{D5CDD505-2E9C-101B-9397-08002B2CF9AE}" pid="3" name="MediaServiceImageTags">
    <vt:lpwstr/>
  </property>
</Properties>
</file>