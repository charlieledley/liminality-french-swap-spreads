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8"/>
  </p:notesMasterIdLst>
  <p:sldIdLst>
    <p:sldId id="644" r:id="rId5"/>
    <p:sldId id="680" r:id="rId6"/>
    <p:sldId id="681" r:id="rId7"/>
    <p:sldId id="674" r:id="rId8"/>
    <p:sldId id="676" r:id="rId9"/>
    <p:sldId id="677" r:id="rId10"/>
    <p:sldId id="262" r:id="rId11"/>
    <p:sldId id="263" r:id="rId12"/>
    <p:sldId id="264" r:id="rId13"/>
    <p:sldId id="690" r:id="rId14"/>
    <p:sldId id="679" r:id="rId15"/>
    <p:sldId id="682" r:id="rId16"/>
    <p:sldId id="691" r:id="rId17"/>
  </p:sldIdLst>
  <p:sldSz cx="9144000" cy="5143500" type="screen16x9"/>
  <p:notesSz cx="7315200" cy="9601200"/>
  <p:embeddedFontLst>
    <p:embeddedFont>
      <p:font typeface="Cambria" panose="02040503050406030204" pitchFamily="18" charset="0"/>
      <p:regular r:id="rId19"/>
      <p:bold r:id="rId20"/>
      <p:italic r:id="rId21"/>
      <p:boldItalic r:id="rId22"/>
    </p:embeddedFont>
    <p:embeddedFont>
      <p:font typeface="Garamond" panose="02020404030301010803" pitchFamily="18" charset="0"/>
      <p:regular r:id="rId23"/>
      <p:bold r:id="rId24"/>
      <p:italic r:id="rId25"/>
    </p:embeddedFont>
    <p:embeddedFont>
      <p:font typeface="Helvetica Neue"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8786C-3D30-4066-A76E-8985913C5E59}" v="4" dt="2026-10-07T10:32:19.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59" autoAdjust="0"/>
    <p:restoredTop sz="94404" autoAdjust="0"/>
  </p:normalViewPr>
  <p:slideViewPr>
    <p:cSldViewPr snapToGrid="0">
      <p:cViewPr>
        <p:scale>
          <a:sx n="110" d="100"/>
          <a:sy n="110" d="100"/>
        </p:scale>
        <p:origin x="148" y="-3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Begley" userId="564f9d2a-7ee5-456c-b7e6-c2bc7973e706" providerId="ADAL" clId="{8A4155C2-D434-4B57-874E-5A12940C5C46}"/>
    <pc:docChg chg="modSld">
      <pc:chgData name="Jeffrey Begley" userId="564f9d2a-7ee5-456c-b7e6-c2bc7973e706" providerId="ADAL" clId="{8A4155C2-D434-4B57-874E-5A12940C5C46}" dt="2026-10-07T10:32:18.317" v="2"/>
      <pc:docMkLst>
        <pc:docMk/>
      </pc:docMkLst>
      <pc:sldChg chg="modSp">
        <pc:chgData name="Jeffrey Begley" userId="564f9d2a-7ee5-456c-b7e6-c2bc7973e706" providerId="ADAL" clId="{8A4155C2-D434-4B57-874E-5A12940C5C46}" dt="2026-10-07T10:32:18.317" v="2"/>
        <pc:sldMkLst>
          <pc:docMk/>
          <pc:sldMk cId="2115922203" sldId="675"/>
        </pc:sldMkLst>
        <pc:spChg chg="mod">
          <ac:chgData name="Jeffrey Begley" userId="564f9d2a-7ee5-456c-b7e6-c2bc7973e706" providerId="ADAL" clId="{8A4155C2-D434-4B57-874E-5A12940C5C46}" dt="2026-10-07T10:32:18.317" v="2"/>
          <ac:spMkLst>
            <pc:docMk/>
            <pc:sldMk cId="2115922203" sldId="675"/>
            <ac:spMk id="3" creationId="{71732438-1678-8ACE-8939-3F8415D0B689}"/>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OAT yield</c:v>
                </c:pt>
              </c:strCache>
            </c:strRef>
          </c:tx>
          <c:spPr>
            <a:ln w="20320">
              <a:solidFill>
                <a:srgbClr val="011C40"/>
              </a:solidFill>
            </a:ln>
          </c:spPr>
          <c:marker>
            <c:symbol val="circle"/>
            <c:size val="3"/>
            <c:spPr>
              <a:solidFill>
                <a:srgbClr val="011C4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3.3</c:v>
                </c:pt>
                <c:pt idx="1">
                  <c:v>3.7227000000000001</c:v>
                </c:pt>
                <c:pt idx="2">
                  <c:v>3.9298999999999999</c:v>
                </c:pt>
                <c:pt idx="3">
                  <c:v>4.1136999999999997</c:v>
                </c:pt>
                <c:pt idx="4">
                  <c:v>4.3259999999999996</c:v>
                </c:pt>
                <c:pt idx="5">
                  <c:v>4.4177</c:v>
                </c:pt>
                <c:pt idx="6">
                  <c:v>4.5434000000000001</c:v>
                </c:pt>
                <c:pt idx="7">
                  <c:v>4.6585999999999999</c:v>
                </c:pt>
                <c:pt idx="8">
                  <c:v>4.7630999999999997</c:v>
                </c:pt>
                <c:pt idx="9">
                  <c:v>4.867</c:v>
                </c:pt>
                <c:pt idx="10">
                  <c:v>5.1856</c:v>
                </c:pt>
                <c:pt idx="11">
                  <c:v>5.2824999999999998</c:v>
                </c:pt>
                <c:pt idx="12">
                  <c:v>5.2896999999999998</c:v>
                </c:pt>
                <c:pt idx="13">
                  <c:v>5.4263000000000003</c:v>
                </c:pt>
              </c:numCache>
            </c:numRef>
          </c:yVal>
          <c:smooth val="0"/>
          <c:extLst>
            <c:ext xmlns:c16="http://schemas.microsoft.com/office/drawing/2014/chart" uri="{C3380CC4-5D6E-409C-BE32-E72D297353CC}">
              <c16:uniqueId val="{00000000-7E7A-4B6E-9FC1-93DA317941C5}"/>
            </c:ext>
          </c:extLst>
        </c:ser>
        <c:ser>
          <c:idx val="1"/>
          <c:order val="1"/>
          <c:tx>
            <c:strRef>
              <c:f>Sheet1!$B$17</c:f>
              <c:strCache>
                <c:ptCount val="1"/>
                <c:pt idx="0">
                  <c:v>6m Euribor swap rate</c:v>
                </c:pt>
              </c:strCache>
            </c:strRef>
          </c:tx>
          <c:spPr>
            <a:ln w="20320">
              <a:solidFill>
                <a:srgbClr val="0047BB"/>
              </a:solidFill>
            </a:ln>
          </c:spPr>
          <c:marker>
            <c:symbol val="circle"/>
            <c:size val="3"/>
            <c:spPr>
              <a:solidFill>
                <a:srgbClr val="0047BB"/>
              </a:solidFill>
              <a:ln>
                <a:noFill/>
              </a:ln>
            </c:spPr>
          </c:marker>
          <c:xVal>
            <c:numRef>
              <c:f>Sheet1!$A$18:$A$31</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Sheet1!$B$18:$B$31</c:f>
              <c:numCache>
                <c:formatCode>General</c:formatCode>
                <c:ptCount val="14"/>
                <c:pt idx="0">
                  <c:v>3.3006000000000002</c:v>
                </c:pt>
                <c:pt idx="1">
                  <c:v>3.4529999999999998</c:v>
                </c:pt>
                <c:pt idx="2">
                  <c:v>3.4899</c:v>
                </c:pt>
                <c:pt idx="3">
                  <c:v>3.4992000000000001</c:v>
                </c:pt>
                <c:pt idx="4">
                  <c:v>3.5009999999999999</c:v>
                </c:pt>
                <c:pt idx="5">
                  <c:v>3.5110999999999999</c:v>
                </c:pt>
                <c:pt idx="6">
                  <c:v>3.5261999999999998</c:v>
                </c:pt>
                <c:pt idx="7">
                  <c:v>3.548</c:v>
                </c:pt>
                <c:pt idx="8">
                  <c:v>3.5625</c:v>
                </c:pt>
                <c:pt idx="9">
                  <c:v>3.5830000000000002</c:v>
                </c:pt>
                <c:pt idx="10">
                  <c:v>3.6423000000000001</c:v>
                </c:pt>
                <c:pt idx="11">
                  <c:v>3.6093000000000002</c:v>
                </c:pt>
                <c:pt idx="12">
                  <c:v>3.5251999999999999</c:v>
                </c:pt>
                <c:pt idx="13">
                  <c:v>3.4348000000000001</c:v>
                </c:pt>
              </c:numCache>
            </c:numRef>
          </c:yVal>
          <c:smooth val="0"/>
          <c:extLst>
            <c:ext xmlns:c16="http://schemas.microsoft.com/office/drawing/2014/chart" uri="{C3380CC4-5D6E-409C-BE32-E72D297353CC}">
              <c16:uniqueId val="{00000001-7E7A-4B6E-9FC1-93DA317941C5}"/>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9D9D9"/>
            </a:solidFill>
          </a:ln>
        </c:spPr>
        <c:txPr>
          <a:bodyPr/>
          <a:lstStyle/>
          <a:p>
            <a:pPr>
              <a:defRPr sz="700">
                <a:solidFill>
                  <a:srgbClr val="595959"/>
                </a:solidFill>
                <a:latin typeface="Garamond"/>
              </a:defRPr>
            </a:pPr>
            <a:endParaRPr lang="en-US"/>
          </a:p>
        </c:txPr>
        <c:crossAx val="-2129643912"/>
        <c:crosses val="autoZero"/>
        <c:crossBetween val="midCat"/>
        <c:majorUnit val="5"/>
      </c:valAx>
      <c:valAx>
        <c:axId val="-2129643912"/>
        <c:scaling>
          <c:orientation val="minMax"/>
          <c:max val="5.5"/>
          <c:min val="3"/>
        </c:scaling>
        <c:delete val="0"/>
        <c:axPos val="l"/>
        <c:majorGridlines>
          <c:spPr>
            <a:ln w="6096">
              <a:solidFill>
                <a:srgbClr val="D9D9D9"/>
              </a:solidFill>
            </a:ln>
          </c:spPr>
        </c:majorGridlines>
        <c:numFmt formatCode="0.0&quot;%&quot;" sourceLinked="0"/>
        <c:majorTickMark val="out"/>
        <c:minorTickMark val="none"/>
        <c:tickLblPos val="low"/>
        <c:spPr>
          <a:ln>
            <a:noFill/>
          </a:ln>
        </c:spPr>
        <c:txPr>
          <a:bodyPr/>
          <a:lstStyle/>
          <a:p>
            <a:pPr>
              <a:defRPr sz="700">
                <a:solidFill>
                  <a:srgbClr val="595959"/>
                </a:solidFill>
                <a:latin typeface="Garamond"/>
              </a:defRPr>
            </a:pPr>
            <a:endParaRPr lang="en-US"/>
          </a:p>
        </c:txPr>
        <c:crossAx val="-2128940872"/>
        <c:crosses val="autoZero"/>
        <c:crossBetween val="midCat"/>
      </c:valAx>
    </c:plotArea>
    <c:legend>
      <c:legendPos val="t"/>
      <c:overlay val="0"/>
      <c:txPr>
        <a:bodyPr/>
        <a:lstStyle/>
        <a:p>
          <a:pPr>
            <a:defRPr sz="800">
              <a:solidFill>
                <a:srgbClr val="595959"/>
              </a:solidFill>
              <a:latin typeface="Garamond"/>
            </a:defRPr>
          </a:pPr>
          <a:endParaRPr lang="en-US"/>
        </a:p>
      </c:txPr>
    </c:legend>
    <c:plotVisOnly val="1"/>
    <c:dispBlanksAs val="gap"/>
    <c:showDLblsOverMax val="0"/>
  </c:chart>
  <c:txPr>
    <a:bodyPr/>
    <a:lstStyle/>
    <a:p>
      <a:pPr>
        <a:defRPr sz="700">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Swap spread</c:v>
                </c:pt>
              </c:strCache>
            </c:strRef>
          </c:tx>
          <c:spPr>
            <a:ln w="20320">
              <a:solidFill>
                <a:srgbClr val="C00000"/>
              </a:solidFill>
            </a:ln>
          </c:spPr>
          <c:marker>
            <c:symbol val="circle"/>
            <c:size val="3"/>
            <c:spPr>
              <a:solidFill>
                <a:srgbClr val="C0000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0.06</c:v>
                </c:pt>
                <c:pt idx="1">
                  <c:v>-26.97</c:v>
                </c:pt>
                <c:pt idx="2">
                  <c:v>-44</c:v>
                </c:pt>
                <c:pt idx="3">
                  <c:v>-61.45</c:v>
                </c:pt>
                <c:pt idx="4">
                  <c:v>-82.5</c:v>
                </c:pt>
                <c:pt idx="5">
                  <c:v>-90.66</c:v>
                </c:pt>
                <c:pt idx="6">
                  <c:v>-101.72</c:v>
                </c:pt>
                <c:pt idx="7">
                  <c:v>-111.06</c:v>
                </c:pt>
                <c:pt idx="8">
                  <c:v>-120.06</c:v>
                </c:pt>
                <c:pt idx="9">
                  <c:v>-128.4</c:v>
                </c:pt>
                <c:pt idx="10">
                  <c:v>-154.33000000000001</c:v>
                </c:pt>
                <c:pt idx="11">
                  <c:v>-167.32</c:v>
                </c:pt>
                <c:pt idx="12">
                  <c:v>-176.45</c:v>
                </c:pt>
                <c:pt idx="13">
                  <c:v>-199.15</c:v>
                </c:pt>
              </c:numCache>
            </c:numRef>
          </c:yVal>
          <c:smooth val="0"/>
          <c:extLst>
            <c:ext xmlns:c16="http://schemas.microsoft.com/office/drawing/2014/chart" uri="{C3380CC4-5D6E-409C-BE32-E72D297353CC}">
              <c16:uniqueId val="{00000000-91A5-4702-93AA-874E37720094}"/>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9D9D9"/>
            </a:solidFill>
          </a:ln>
        </c:spPr>
        <c:txPr>
          <a:bodyPr/>
          <a:lstStyle/>
          <a:p>
            <a:pPr>
              <a:defRPr sz="700">
                <a:solidFill>
                  <a:srgbClr val="595959"/>
                </a:solidFill>
                <a:latin typeface="Garamond"/>
              </a:defRPr>
            </a:pPr>
            <a:endParaRPr lang="en-US"/>
          </a:p>
        </c:txPr>
        <c:crossAx val="-2129643912"/>
        <c:crosses val="autoZero"/>
        <c:crossBetween val="midCat"/>
        <c:majorUnit val="5"/>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00">
                <a:solidFill>
                  <a:srgbClr val="595959"/>
                </a:solidFill>
                <a:latin typeface="Garamond"/>
              </a:defRPr>
            </a:pPr>
            <a:endParaRPr lang="en-US"/>
          </a:p>
        </c:txPr>
        <c:crossAx val="-2128940872"/>
        <c:crosses val="autoZero"/>
        <c:crossBetween val="midCat"/>
      </c:valAx>
    </c:plotArea>
    <c:plotVisOnly val="1"/>
    <c:dispBlanksAs val="gap"/>
    <c:showDLblsOverMax val="0"/>
  </c:chart>
  <c:txPr>
    <a:bodyPr/>
    <a:lstStyle/>
    <a:p>
      <a:pPr>
        <a:defRPr sz="700">
          <a:latin typeface="Garamo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5-year</c:v>
                </c:pt>
              </c:strCache>
            </c:strRef>
          </c:tx>
          <c:spPr>
            <a:ln w="20320">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0-42DF-4A77-AD0A-6CB14C660CCB}"/>
            </c:ext>
          </c:extLst>
        </c:ser>
        <c:ser>
          <c:idx val="1"/>
          <c:order val="1"/>
          <c:tx>
            <c:strRef>
              <c:f>Sheet1!$B$878</c:f>
              <c:strCache>
                <c:ptCount val="1"/>
                <c:pt idx="0">
                  <c:v>1-year</c:v>
                </c:pt>
              </c:strCache>
            </c:strRef>
          </c:tx>
          <c:spPr>
            <a:ln w="20320">
              <a:solidFill>
                <a:srgbClr val="0047BB"/>
              </a:solidFill>
            </a:ln>
          </c:spPr>
          <c:marker>
            <c:symbol val="none"/>
          </c:marker>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1-42DF-4A77-AD0A-6CB14C660CCB}"/>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9D9D9"/>
            </a:solidFill>
          </a:ln>
        </c:spPr>
        <c:txPr>
          <a:bodyPr/>
          <a:lstStyle/>
          <a:p>
            <a:pPr>
              <a:defRPr sz="750">
                <a:solidFill>
                  <a:srgbClr val="595959"/>
                </a:solidFill>
                <a:latin typeface="Garamond"/>
              </a:defRPr>
            </a:pPr>
            <a:endParaRPr lang="en-US"/>
          </a:p>
        </c:txPr>
        <c:crossAx val="-2129643912"/>
        <c:crosses val="autoZero"/>
        <c:crossBetween val="midCat"/>
        <c:majorUnit val="730"/>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50">
                <a:solidFill>
                  <a:srgbClr val="595959"/>
                </a:solidFill>
                <a:latin typeface="Garamond"/>
              </a:defRPr>
            </a:pPr>
            <a:endParaRPr lang="en-US"/>
          </a:p>
        </c:txPr>
        <c:crossAx val="-2128940872"/>
        <c:crosses val="autoZero"/>
        <c:crossBetween val="midCat"/>
      </c:valAx>
    </c:plotArea>
    <c:legend>
      <c:legendPos val="t"/>
      <c:overlay val="0"/>
      <c:txPr>
        <a:bodyPr/>
        <a:lstStyle/>
        <a:p>
          <a:pPr>
            <a:defRPr sz="850">
              <a:solidFill>
                <a:srgbClr val="595959"/>
              </a:solidFill>
              <a:latin typeface="Garamond"/>
            </a:defRPr>
          </a:pPr>
          <a:endParaRPr lang="en-US"/>
        </a:p>
      </c:txPr>
    </c:legend>
    <c:plotVisOnly val="1"/>
    <c:dispBlanksAs val="gap"/>
    <c:showDLblsOverMax val="0"/>
  </c:chart>
  <c:txPr>
    <a:bodyPr/>
    <a:lstStyle/>
    <a:p>
      <a:pPr>
        <a:defRPr sz="750">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1"/>
          <c:y val="0.04"/>
          <c:w val="0.72"/>
          <c:h val="0.86"/>
        </c:manualLayout>
      </c:layout>
      <c:scatterChart>
        <c:scatterStyle val="lineMarker"/>
        <c:varyColors val="0"/>
        <c:ser>
          <c:idx val="0"/>
          <c:order val="0"/>
          <c:tx>
            <c:strRef>
              <c:f>Sheet1!$B$1</c:f>
              <c:strCache>
                <c:ptCount val="1"/>
                <c:pt idx="0">
                  <c:v>1-year France spread</c:v>
                </c:pt>
              </c:strCache>
            </c:strRef>
          </c:tx>
          <c:spPr>
            <a:ln w="17780">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0-6FC9-4797-B664-902F7BC63E96}"/>
            </c:ext>
          </c:extLst>
        </c:ser>
        <c:ser>
          <c:idx val="1"/>
          <c:order val="1"/>
          <c:tx>
            <c:strRef>
              <c:f>Sheet1!$B$878</c:f>
              <c:strCache>
                <c:ptCount val="1"/>
                <c:pt idx="0">
                  <c:v>S1</c:v>
                </c:pt>
              </c:strCache>
            </c:strRef>
          </c:tx>
          <c:spPr>
            <a:ln w="15240">
              <a:solidFill>
                <a:srgbClr val="2C7A5A"/>
              </a:solidFill>
              <a:prstDash val="dash"/>
            </a:ln>
          </c:spPr>
          <c:marker>
            <c:symbol val="none"/>
          </c:marker>
          <c:xVal>
            <c:numRef>
              <c:f>Sheet1!$A$879:$A$880</c:f>
              <c:numCache>
                <c:formatCode>General</c:formatCode>
                <c:ptCount val="2"/>
                <c:pt idx="0">
                  <c:v>40179</c:v>
                </c:pt>
                <c:pt idx="1">
                  <c:v>46297</c:v>
                </c:pt>
              </c:numCache>
            </c:numRef>
          </c:xVal>
          <c:yVal>
            <c:numRef>
              <c:f>Sheet1!$B$879:$B$880</c:f>
              <c:numCache>
                <c:formatCode>General</c:formatCode>
                <c:ptCount val="2"/>
                <c:pt idx="0">
                  <c:v>28</c:v>
                </c:pt>
                <c:pt idx="1">
                  <c:v>28</c:v>
                </c:pt>
              </c:numCache>
            </c:numRef>
          </c:yVal>
          <c:smooth val="0"/>
          <c:extLst>
            <c:ext xmlns:c16="http://schemas.microsoft.com/office/drawing/2014/chart" uri="{C3380CC4-5D6E-409C-BE32-E72D297353CC}">
              <c16:uniqueId val="{00000001-6FC9-4797-B664-902F7BC63E96}"/>
            </c:ext>
          </c:extLst>
        </c:ser>
        <c:ser>
          <c:idx val="3"/>
          <c:order val="2"/>
          <c:tx>
            <c:strRef>
              <c:f>Sheet1!$B$886</c:f>
              <c:strCache>
                <c:ptCount val="1"/>
                <c:pt idx="0">
                  <c:v>S3</c:v>
                </c:pt>
              </c:strCache>
            </c:strRef>
          </c:tx>
          <c:spPr>
            <a:ln w="15240">
              <a:solidFill>
                <a:srgbClr val="0047BB"/>
              </a:solidFill>
              <a:prstDash val="dash"/>
            </a:ln>
          </c:spPr>
          <c:marker>
            <c:symbol val="none"/>
          </c:marker>
          <c:xVal>
            <c:numRef>
              <c:f>Sheet1!$A$887:$A$888</c:f>
              <c:numCache>
                <c:formatCode>General</c:formatCode>
                <c:ptCount val="2"/>
                <c:pt idx="0">
                  <c:v>40179</c:v>
                </c:pt>
                <c:pt idx="1">
                  <c:v>46297</c:v>
                </c:pt>
              </c:numCache>
            </c:numRef>
          </c:xVal>
          <c:yVal>
            <c:numRef>
              <c:f>Sheet1!$B$887:$B$888</c:f>
              <c:numCache>
                <c:formatCode>General</c:formatCode>
                <c:ptCount val="2"/>
                <c:pt idx="0">
                  <c:v>-1.3</c:v>
                </c:pt>
                <c:pt idx="1">
                  <c:v>-1.3</c:v>
                </c:pt>
              </c:numCache>
            </c:numRef>
          </c:yVal>
          <c:smooth val="0"/>
          <c:extLst>
            <c:ext xmlns:c16="http://schemas.microsoft.com/office/drawing/2014/chart" uri="{C3380CC4-5D6E-409C-BE32-E72D297353CC}">
              <c16:uniqueId val="{00000003-6FC9-4797-B664-902F7BC63E96}"/>
            </c:ext>
          </c:extLst>
        </c:ser>
        <c:ser>
          <c:idx val="4"/>
          <c:order val="3"/>
          <c:tx>
            <c:strRef>
              <c:f>Sheet1!$B$890</c:f>
              <c:strCache>
                <c:ptCount val="1"/>
                <c:pt idx="0">
                  <c:v>S4</c:v>
                </c:pt>
              </c:strCache>
            </c:strRef>
          </c:tx>
          <c:spPr>
            <a:ln w="15240">
              <a:solidFill>
                <a:srgbClr val="011C40"/>
              </a:solidFill>
              <a:prstDash val="dash"/>
            </a:ln>
          </c:spPr>
          <c:marker>
            <c:symbol val="none"/>
          </c:marker>
          <c:xVal>
            <c:numRef>
              <c:f>Sheet1!$A$891:$A$892</c:f>
              <c:numCache>
                <c:formatCode>General</c:formatCode>
                <c:ptCount val="2"/>
                <c:pt idx="0">
                  <c:v>40179</c:v>
                </c:pt>
                <c:pt idx="1">
                  <c:v>46297</c:v>
                </c:pt>
              </c:numCache>
            </c:numRef>
          </c:xVal>
          <c:yVal>
            <c:numRef>
              <c:f>Sheet1!$B$891:$B$892</c:f>
              <c:numCache>
                <c:formatCode>General</c:formatCode>
                <c:ptCount val="2"/>
                <c:pt idx="0">
                  <c:v>-83</c:v>
                </c:pt>
                <c:pt idx="1">
                  <c:v>-83</c:v>
                </c:pt>
              </c:numCache>
            </c:numRef>
          </c:yVal>
          <c:smooth val="0"/>
          <c:extLst>
            <c:ext xmlns:c16="http://schemas.microsoft.com/office/drawing/2014/chart" uri="{C3380CC4-5D6E-409C-BE32-E72D297353CC}">
              <c16:uniqueId val="{00000004-6FC9-4797-B664-902F7BC63E96}"/>
            </c:ext>
          </c:extLst>
        </c:ser>
        <c:ser>
          <c:idx val="5"/>
          <c:order val="4"/>
          <c:tx>
            <c:strRef>
              <c:f>Sheet1!$B$894</c:f>
              <c:strCache>
                <c:ptCount val="1"/>
                <c:pt idx="0">
                  <c:v>S5</c:v>
                </c:pt>
              </c:strCache>
            </c:strRef>
          </c:tx>
          <c:spPr>
            <a:ln w="15240">
              <a:solidFill>
                <a:srgbClr val="7030A0"/>
              </a:solidFill>
              <a:prstDash val="dash"/>
            </a:ln>
          </c:spPr>
          <c:marker>
            <c:symbol val="none"/>
          </c:marker>
          <c:xVal>
            <c:numRef>
              <c:f>Sheet1!$A$895:$A$896</c:f>
              <c:numCache>
                <c:formatCode>General</c:formatCode>
                <c:ptCount val="2"/>
                <c:pt idx="0">
                  <c:v>40179</c:v>
                </c:pt>
                <c:pt idx="1">
                  <c:v>46297</c:v>
                </c:pt>
              </c:numCache>
            </c:numRef>
          </c:xVal>
          <c:yVal>
            <c:numRef>
              <c:f>Sheet1!$B$895:$B$896</c:f>
              <c:numCache>
                <c:formatCode>General</c:formatCode>
                <c:ptCount val="2"/>
                <c:pt idx="0">
                  <c:v>-350</c:v>
                </c:pt>
                <c:pt idx="1">
                  <c:v>-350</c:v>
                </c:pt>
              </c:numCache>
            </c:numRef>
          </c:yVal>
          <c:smooth val="0"/>
          <c:extLst>
            <c:ext xmlns:c16="http://schemas.microsoft.com/office/drawing/2014/chart" uri="{C3380CC4-5D6E-409C-BE32-E72D297353CC}">
              <c16:uniqueId val="{00000005-6FC9-4797-B664-902F7BC63E96}"/>
            </c:ext>
          </c:extLst>
        </c:ser>
        <c:ser>
          <c:idx val="6"/>
          <c:order val="5"/>
          <c:tx>
            <c:strRef>
              <c:f>Sheet1!$B$898</c:f>
              <c:strCache>
                <c:ptCount val="1"/>
                <c:pt idx="0">
                  <c:v>BE</c:v>
                </c:pt>
              </c:strCache>
            </c:strRef>
          </c:tx>
          <c:spPr>
            <a:ln w="15240">
              <a:solidFill>
                <a:srgbClr val="595959"/>
              </a:solidFill>
              <a:prstDash val="dash"/>
            </a:ln>
          </c:spPr>
          <c:marker>
            <c:symbol val="none"/>
          </c:marker>
          <c:xVal>
            <c:numRef>
              <c:f>Sheet1!$A$899:$A$900</c:f>
              <c:numCache>
                <c:formatCode>General</c:formatCode>
                <c:ptCount val="2"/>
                <c:pt idx="0">
                  <c:v>40179</c:v>
                </c:pt>
                <c:pt idx="1">
                  <c:v>46297</c:v>
                </c:pt>
              </c:numCache>
            </c:numRef>
          </c:xVal>
          <c:yVal>
            <c:numRef>
              <c:f>Sheet1!$B$899:$B$900</c:f>
              <c:numCache>
                <c:formatCode>General</c:formatCode>
                <c:ptCount val="2"/>
                <c:pt idx="0">
                  <c:v>-445</c:v>
                </c:pt>
                <c:pt idx="1">
                  <c:v>-445</c:v>
                </c:pt>
              </c:numCache>
            </c:numRef>
          </c:yVal>
          <c:smooth val="0"/>
          <c:extLst>
            <c:ext xmlns:c16="http://schemas.microsoft.com/office/drawing/2014/chart" uri="{C3380CC4-5D6E-409C-BE32-E72D297353CC}">
              <c16:uniqueId val="{00000006-6FC9-4797-B664-902F7BC63E96}"/>
            </c:ext>
          </c:extLst>
        </c:ser>
        <c:ser>
          <c:idx val="7"/>
          <c:order val="6"/>
          <c:tx>
            <c:strRef>
              <c:f>Sheet1!$B$902</c:f>
              <c:strCache>
                <c:ptCount val="1"/>
                <c:pt idx="0">
                  <c:v>IMP</c:v>
                </c:pt>
              </c:strCache>
            </c:strRef>
          </c:tx>
          <c:spPr>
            <a:ln w="15240">
              <a:solidFill>
                <a:srgbClr val="C00000"/>
              </a:solidFill>
              <a:prstDash val="dash"/>
            </a:ln>
          </c:spPr>
          <c:marker>
            <c:symbol val="none"/>
          </c:marker>
          <c:xVal>
            <c:numRef>
              <c:f>Sheet1!$A$903:$A$904</c:f>
              <c:numCache>
                <c:formatCode>General</c:formatCode>
                <c:ptCount val="2"/>
                <c:pt idx="0">
                  <c:v>40179</c:v>
                </c:pt>
                <c:pt idx="1">
                  <c:v>46297</c:v>
                </c:pt>
              </c:numCache>
            </c:numRef>
          </c:xVal>
          <c:yVal>
            <c:numRef>
              <c:f>Sheet1!$B$903:$B$904</c:f>
              <c:numCache>
                <c:formatCode>General</c:formatCode>
                <c:ptCount val="2"/>
                <c:pt idx="0">
                  <c:v>-572</c:v>
                </c:pt>
                <c:pt idx="1">
                  <c:v>-572</c:v>
                </c:pt>
              </c:numCache>
            </c:numRef>
          </c:yVal>
          <c:smooth val="0"/>
          <c:extLst>
            <c:ext xmlns:c16="http://schemas.microsoft.com/office/drawing/2014/chart" uri="{C3380CC4-5D6E-409C-BE32-E72D297353CC}">
              <c16:uniqueId val="{00000007-6FC9-4797-B664-902F7BC63E96}"/>
            </c:ext>
          </c:extLst>
        </c:ser>
        <c:ser>
          <c:idx val="8"/>
          <c:order val="7"/>
          <c:tx>
            <c:strRef>
              <c:f>Sheet1!$B$906</c:f>
              <c:strCache>
                <c:ptCount val="1"/>
                <c:pt idx="0">
                  <c:v>S6</c:v>
                </c:pt>
              </c:strCache>
            </c:strRef>
          </c:tx>
          <c:spPr>
            <a:ln w="15240">
              <a:solidFill>
                <a:srgbClr val="C00000"/>
              </a:solidFill>
              <a:prstDash val="dash"/>
            </a:ln>
          </c:spPr>
          <c:marker>
            <c:symbol val="none"/>
          </c:marker>
          <c:xVal>
            <c:numRef>
              <c:f>Sheet1!$A$907:$A$908</c:f>
              <c:numCache>
                <c:formatCode>General</c:formatCode>
                <c:ptCount val="2"/>
                <c:pt idx="0">
                  <c:v>40179</c:v>
                </c:pt>
                <c:pt idx="1">
                  <c:v>46297</c:v>
                </c:pt>
              </c:numCache>
            </c:numRef>
          </c:xVal>
          <c:yVal>
            <c:numRef>
              <c:f>Sheet1!$B$907:$B$908</c:f>
              <c:numCache>
                <c:formatCode>General</c:formatCode>
                <c:ptCount val="2"/>
                <c:pt idx="0">
                  <c:v>-615</c:v>
                </c:pt>
                <c:pt idx="1">
                  <c:v>-615</c:v>
                </c:pt>
              </c:numCache>
            </c:numRef>
          </c:yVal>
          <c:smooth val="0"/>
          <c:extLst>
            <c:ext xmlns:c16="http://schemas.microsoft.com/office/drawing/2014/chart" uri="{C3380CC4-5D6E-409C-BE32-E72D297353CC}">
              <c16:uniqueId val="{00000008-6FC9-4797-B664-902F7BC63E96}"/>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9D9D9"/>
            </a:solidFill>
          </a:ln>
        </c:spPr>
        <c:txPr>
          <a:bodyPr/>
          <a:lstStyle/>
          <a:p>
            <a:pPr>
              <a:defRPr sz="800">
                <a:solidFill>
                  <a:srgbClr val="595959"/>
                </a:solidFill>
                <a:latin typeface="Garamond"/>
              </a:defRPr>
            </a:pPr>
            <a:endParaRPr lang="en-US"/>
          </a:p>
        </c:txPr>
        <c:crossAx val="-2129643912"/>
        <c:crosses val="autoZero"/>
        <c:crossBetween val="midCat"/>
        <c:majorUnit val="1461"/>
      </c:valAx>
      <c:valAx>
        <c:axId val="-2129643912"/>
        <c:scaling>
          <c:orientation val="minMax"/>
          <c:max val="150"/>
          <c:min val="-650"/>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800">
                <a:solidFill>
                  <a:srgbClr val="595959"/>
                </a:solidFill>
                <a:latin typeface="Garamond"/>
              </a:defRPr>
            </a:pPr>
            <a:endParaRPr lang="en-US"/>
          </a:p>
        </c:txPr>
        <c:crossAx val="-2128940872"/>
        <c:crosses val="autoZero"/>
        <c:crossBetween val="midCat"/>
      </c:valAx>
    </c:plotArea>
    <c:plotVisOnly val="1"/>
    <c:dispBlanksAs val="gap"/>
    <c:showDLblsOverMax val="0"/>
  </c:chart>
  <c:txPr>
    <a:bodyPr/>
    <a:lstStyle/>
    <a:p>
      <a:pPr>
        <a:defRPr sz="800">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Italy</c:v>
                </c:pt>
              </c:strCache>
            </c:strRef>
          </c:tx>
          <c:spPr>
            <a:ln w="22860">
              <a:solidFill>
                <a:srgbClr val="C00000"/>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1076-4456-9BC5-CFC8A14E3158}"/>
            </c:ext>
          </c:extLst>
        </c:ser>
        <c:ser>
          <c:idx val="1"/>
          <c:order val="1"/>
          <c:tx>
            <c:strRef>
              <c:f>Sheet1!$B$212</c:f>
              <c:strCache>
                <c:ptCount val="1"/>
                <c:pt idx="0">
                  <c:v>Spain</c:v>
                </c:pt>
              </c:strCache>
            </c:strRef>
          </c:tx>
          <c:spPr>
            <a:ln w="2032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1076-4456-9BC5-CFC8A14E3158}"/>
            </c:ext>
          </c:extLst>
        </c:ser>
        <c:ser>
          <c:idx val="2"/>
          <c:order val="2"/>
          <c:tx>
            <c:strRef>
              <c:f>Sheet1!$B$331</c:f>
              <c:strCache>
                <c:ptCount val="1"/>
                <c:pt idx="0">
                  <c:v>France</c:v>
                </c:pt>
              </c:strCache>
            </c:strRef>
          </c:tx>
          <c:spPr>
            <a:ln w="20320">
              <a:solidFill>
                <a:srgbClr val="011C40"/>
              </a:solidFill>
            </a:ln>
          </c:spPr>
          <c:marker>
            <c:symbol val="none"/>
          </c:marker>
          <c:xVal>
            <c:numRef>
              <c:f>Sheet1!$A$332:$A$540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Sheet1!$B$332:$B$540</c:f>
              <c:numCache>
                <c:formatCode>General</c:formatCode>
                <c:ptCount val="209"/>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numCache>
            </c:numRef>
          </c:yVal>
          <c:smooth val="0"/>
          <c:extLst>
            <c:ext xmlns:c16="http://schemas.microsoft.com/office/drawing/2014/chart" uri="{C3380CC4-5D6E-409C-BE32-E72D297353CC}">
              <c16:uniqueId val="{00000002-1076-4456-9BC5-CFC8A14E3158}"/>
            </c:ext>
          </c:extLst>
        </c:ser>
        <c:ser>
          <c:idx val="3"/>
          <c:order val="3"/>
          <c:tx>
            <c:strRef>
              <c:f>Sheet1!$B$542</c:f>
              <c:strCache>
                <c:ptCount val="1"/>
                <c:pt idx="0">
                  <c:v>Break-even</c:v>
                </c:pt>
              </c:strCache>
            </c:strRef>
          </c:tx>
          <c:spPr>
            <a:ln w="15240">
              <a:solidFill>
                <a:srgbClr val="595959"/>
              </a:solidFill>
              <a:prstDash val="dash"/>
            </a:ln>
          </c:spPr>
          <c:marker>
            <c:symbol val="none"/>
          </c:marker>
          <c:dLbls>
            <c:dLbl>
              <c:idx val="1"/>
              <c:layout>
                <c:manualLayout>
                  <c:x val="-2.3241114299800128E-3"/>
                  <c:y val="-1.606611105023343E-16"/>
                </c:manualLayout>
              </c:layout>
              <c:tx>
                <c:rich>
                  <a:bodyPr/>
                  <a:lstStyle/>
                  <a:p>
                    <a:r>
                      <a:rPr lang="en-US" sz="700" b="1">
                        <a:solidFill>
                          <a:srgbClr val="595959"/>
                        </a:solidFill>
                        <a:latin typeface="Garamond"/>
                      </a:rPr>
                      <a:t>break-even −445bp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076-4456-9BC5-CFC8A14E31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Sheet1!$A$543:$A$544</c:f>
              <c:numCache>
                <c:formatCode>General</c:formatCode>
                <c:ptCount val="2"/>
                <c:pt idx="0">
                  <c:v>40179</c:v>
                </c:pt>
                <c:pt idx="1">
                  <c:v>41639</c:v>
                </c:pt>
              </c:numCache>
            </c:numRef>
          </c:xVal>
          <c:yVal>
            <c:numRef>
              <c:f>Sheet1!$B$543:$B$544</c:f>
              <c:numCache>
                <c:formatCode>General</c:formatCode>
                <c:ptCount val="2"/>
                <c:pt idx="0">
                  <c:v>-445</c:v>
                </c:pt>
                <c:pt idx="1">
                  <c:v>-445</c:v>
                </c:pt>
              </c:numCache>
            </c:numRef>
          </c:yVal>
          <c:smooth val="0"/>
          <c:extLst>
            <c:ext xmlns:c16="http://schemas.microsoft.com/office/drawing/2014/chart" uri="{C3380CC4-5D6E-409C-BE32-E72D297353CC}">
              <c16:uniqueId val="{00000004-1076-4456-9BC5-CFC8A14E3158}"/>
            </c:ext>
          </c:extLst>
        </c:ser>
        <c:dLbls>
          <c:showLegendKey val="0"/>
          <c:showVal val="0"/>
          <c:showCatName val="0"/>
          <c:showSerName val="0"/>
          <c:showPercent val="0"/>
          <c:showBubbleSize val="0"/>
        </c:dLbls>
        <c:axId val="-2128940872"/>
        <c:axId val="-2129643912"/>
      </c:scatterChart>
      <c:valAx>
        <c:axId val="-2128940872"/>
        <c:scaling>
          <c:orientation val="minMax"/>
          <c:max val="41820"/>
          <c:min val="40179"/>
        </c:scaling>
        <c:delete val="0"/>
        <c:axPos val="b"/>
        <c:numFmt formatCode="yyyy" sourceLinked="0"/>
        <c:majorTickMark val="out"/>
        <c:minorTickMark val="none"/>
        <c:tickLblPos val="low"/>
        <c:spPr>
          <a:ln>
            <a:solidFill>
              <a:srgbClr val="D9D9D9"/>
            </a:solidFill>
          </a:ln>
        </c:spPr>
        <c:txPr>
          <a:bodyPr/>
          <a:lstStyle/>
          <a:p>
            <a:pPr>
              <a:defRPr sz="750">
                <a:solidFill>
                  <a:srgbClr val="595959"/>
                </a:solidFill>
                <a:latin typeface="Garamond"/>
              </a:defRPr>
            </a:pPr>
            <a:endParaRPr lang="en-US"/>
          </a:p>
        </c:txPr>
        <c:crossAx val="-2129643912"/>
        <c:crosses val="autoZero"/>
        <c:crossBetween val="midCat"/>
        <c:majorUnit val="366"/>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50">
                <a:solidFill>
                  <a:srgbClr val="595959"/>
                </a:solidFill>
                <a:latin typeface="Garamond"/>
              </a:defRPr>
            </a:pPr>
            <a:endParaRPr lang="en-US"/>
          </a:p>
        </c:txPr>
        <c:crossAx val="-2128940872"/>
        <c:crosses val="autoZero"/>
        <c:crossBetween val="midCat"/>
      </c:valAx>
    </c:plotArea>
    <c:legend>
      <c:legendPos val="t"/>
      <c:overlay val="0"/>
      <c:txPr>
        <a:bodyPr/>
        <a:lstStyle/>
        <a:p>
          <a:pPr>
            <a:defRPr sz="850">
              <a:solidFill>
                <a:srgbClr val="595959"/>
              </a:solidFill>
              <a:latin typeface="Garamond"/>
            </a:defRPr>
          </a:pPr>
          <a:endParaRPr lang="en-US"/>
        </a:p>
      </c:txPr>
    </c:legend>
    <c:plotVisOnly val="1"/>
    <c:dispBlanksAs val="gap"/>
    <c:showDLblsOverMax val="0"/>
  </c:chart>
  <c:txPr>
    <a:bodyPr/>
    <a:lstStyle/>
    <a:p>
      <a:pPr>
        <a:defRPr sz="750">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1056C9C8-1A5D-568D-E27B-8BCE89AED0A0}"/>
            </a:ext>
          </a:extLst>
        </p:cNvPr>
        <p:cNvGrpSpPr/>
        <p:nvPr/>
      </p:nvGrpSpPr>
      <p:grpSpPr>
        <a:xfrm>
          <a:off x="0" y="0"/>
          <a:ext cx="0" cy="0"/>
          <a:chOff x="0" y="0"/>
          <a:chExt cx="0" cy="0"/>
        </a:xfrm>
      </p:grpSpPr>
      <p:sp>
        <p:nvSpPr>
          <p:cNvPr id="226" name="Google Shape;226;gc919bf614c_0_135:notes">
            <a:extLst>
              <a:ext uri="{FF2B5EF4-FFF2-40B4-BE49-F238E27FC236}">
                <a16:creationId xmlns:a16="http://schemas.microsoft.com/office/drawing/2014/main" id="{516903AB-B3CA-3C10-4530-2896CD436E4B}"/>
              </a:ext>
            </a:extLst>
          </p:cNvPr>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dirty="0"/>
          </a:p>
        </p:txBody>
      </p:sp>
      <p:sp>
        <p:nvSpPr>
          <p:cNvPr id="227" name="Google Shape;227;gc919bf614c_0_135:notes">
            <a:extLst>
              <a:ext uri="{FF2B5EF4-FFF2-40B4-BE49-F238E27FC236}">
                <a16:creationId xmlns:a16="http://schemas.microsoft.com/office/drawing/2014/main" id="{7371CAFA-3294-3283-366E-3B945931B4FF}"/>
              </a:ext>
            </a:extLst>
          </p:cNvPr>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227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25711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66"/>
        <p:cNvGrpSpPr/>
        <p:nvPr/>
      </p:nvGrpSpPr>
      <p:grpSpPr>
        <a:xfrm>
          <a:off x="0" y="0"/>
          <a:ext cx="0" cy="0"/>
          <a:chOff x="0" y="0"/>
          <a:chExt cx="0" cy="0"/>
        </a:xfrm>
      </p:grpSpPr>
      <p:sp>
        <p:nvSpPr>
          <p:cNvPr id="69" name="Google Shape;6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0" name="Google Shape;7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1" name="Google Shape;71;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GB"/>
              <a:t>‹#›</a:t>
            </a:fld>
            <a:endParaRPr/>
          </a:p>
        </p:txBody>
      </p:sp>
      <p:sp>
        <p:nvSpPr>
          <p:cNvPr id="7" name="Google Shape;230;p49">
            <a:extLst>
              <a:ext uri="{FF2B5EF4-FFF2-40B4-BE49-F238E27FC236}">
                <a16:creationId xmlns:a16="http://schemas.microsoft.com/office/drawing/2014/main" id="{EF4A757B-D908-41E5-90B4-184938037426}"/>
              </a:ext>
            </a:extLst>
          </p:cNvPr>
          <p:cNvSpPr txBox="1"/>
          <p:nvPr userDrawn="1"/>
        </p:nvSpPr>
        <p:spPr>
          <a:xfrm>
            <a:off x="0" y="2722242"/>
            <a:ext cx="9144000" cy="2441972"/>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68" name="Google Shape;68;p16"/>
          <p:cNvSpPr txBox="1">
            <a:spLocks noGrp="1"/>
          </p:cNvSpPr>
          <p:nvPr>
            <p:ph type="subTitle" idx="1"/>
          </p:nvPr>
        </p:nvSpPr>
        <p:spPr>
          <a:xfrm>
            <a:off x="1143000" y="3660974"/>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solidFill>
                  <a:schemeClr val="bg1"/>
                </a:solidFill>
                <a:latin typeface="Garamond" panose="02020404030301010803" pitchFamily="18" charset="0"/>
                <a:ea typeface="Cambria"/>
                <a:cs typeface="Garamond" panose="02020404030301010803" pitchFamily="18" charset="0"/>
                <a:sym typeface="Cambria"/>
              </a:defRPr>
            </a:lvl1pPr>
            <a:lvl2pPr lvl="1" algn="ctr" rtl="0">
              <a:lnSpc>
                <a:spcPct val="90000"/>
              </a:lnSpc>
              <a:spcBef>
                <a:spcPts val="1200"/>
              </a:spcBef>
              <a:spcAft>
                <a:spcPts val="0"/>
              </a:spcAft>
              <a:buClr>
                <a:schemeClr val="dk1"/>
              </a:buClr>
              <a:buSzPts val="1500"/>
              <a:buNone/>
              <a:defRPr sz="1500"/>
            </a:lvl2pPr>
            <a:lvl3pPr lvl="2" algn="ctr" rtl="0">
              <a:lnSpc>
                <a:spcPct val="90000"/>
              </a:lnSpc>
              <a:spcBef>
                <a:spcPts val="1200"/>
              </a:spcBef>
              <a:spcAft>
                <a:spcPts val="0"/>
              </a:spcAft>
              <a:buClr>
                <a:schemeClr val="dk1"/>
              </a:buClr>
              <a:buSzPts val="1400"/>
              <a:buNone/>
              <a:defRPr sz="1400"/>
            </a:lvl3pPr>
            <a:lvl4pPr lvl="3" algn="ctr" rtl="0">
              <a:lnSpc>
                <a:spcPct val="90000"/>
              </a:lnSpc>
              <a:spcBef>
                <a:spcPts val="1200"/>
              </a:spcBef>
              <a:spcAft>
                <a:spcPts val="0"/>
              </a:spcAft>
              <a:buClr>
                <a:schemeClr val="dk1"/>
              </a:buClr>
              <a:buSzPts val="1200"/>
              <a:buNone/>
              <a:defRPr sz="1200"/>
            </a:lvl4pPr>
            <a:lvl5pPr lvl="4" algn="ctr" rtl="0">
              <a:lnSpc>
                <a:spcPct val="90000"/>
              </a:lnSpc>
              <a:spcBef>
                <a:spcPts val="1200"/>
              </a:spcBef>
              <a:spcAft>
                <a:spcPts val="0"/>
              </a:spcAft>
              <a:buClr>
                <a:schemeClr val="dk1"/>
              </a:buClr>
              <a:buSzPts val="1200"/>
              <a:buNone/>
              <a:defRPr sz="1200"/>
            </a:lvl5pPr>
            <a:lvl6pPr lvl="5" algn="ctr" rtl="0">
              <a:lnSpc>
                <a:spcPct val="90000"/>
              </a:lnSpc>
              <a:spcBef>
                <a:spcPts val="1200"/>
              </a:spcBef>
              <a:spcAft>
                <a:spcPts val="0"/>
              </a:spcAft>
              <a:buClr>
                <a:schemeClr val="dk1"/>
              </a:buClr>
              <a:buSzPts val="1200"/>
              <a:buNone/>
              <a:defRPr sz="1200"/>
            </a:lvl6pPr>
            <a:lvl7pPr lvl="6" algn="ctr" rtl="0">
              <a:lnSpc>
                <a:spcPct val="90000"/>
              </a:lnSpc>
              <a:spcBef>
                <a:spcPts val="1200"/>
              </a:spcBef>
              <a:spcAft>
                <a:spcPts val="0"/>
              </a:spcAft>
              <a:buClr>
                <a:schemeClr val="dk1"/>
              </a:buClr>
              <a:buSzPts val="1200"/>
              <a:buNone/>
              <a:defRPr sz="1200"/>
            </a:lvl7pPr>
            <a:lvl8pPr lvl="7" algn="ctr" rtl="0">
              <a:lnSpc>
                <a:spcPct val="90000"/>
              </a:lnSpc>
              <a:spcBef>
                <a:spcPts val="1200"/>
              </a:spcBef>
              <a:spcAft>
                <a:spcPts val="0"/>
              </a:spcAft>
              <a:buClr>
                <a:schemeClr val="dk1"/>
              </a:buClr>
              <a:buSzPts val="1200"/>
              <a:buNone/>
              <a:defRPr sz="1200"/>
            </a:lvl8pPr>
            <a:lvl9pPr lvl="8" algn="ctr" rtl="0">
              <a:lnSpc>
                <a:spcPct val="90000"/>
              </a:lnSpc>
              <a:spcBef>
                <a:spcPts val="1200"/>
              </a:spcBef>
              <a:spcAft>
                <a:spcPts val="1200"/>
              </a:spcAft>
              <a:buClr>
                <a:schemeClr val="dk1"/>
              </a:buClr>
              <a:buSzPts val="1200"/>
              <a:buNone/>
              <a:defRPr sz="1200"/>
            </a:lvl9pPr>
          </a:lstStyle>
          <a:p>
            <a:endParaRPr dirty="0"/>
          </a:p>
        </p:txBody>
      </p:sp>
      <p:sp>
        <p:nvSpPr>
          <p:cNvPr id="67" name="Google Shape;67;p16"/>
          <p:cNvSpPr txBox="1">
            <a:spLocks noGrp="1"/>
          </p:cNvSpPr>
          <p:nvPr>
            <p:ph type="ctrTitle"/>
          </p:nvPr>
        </p:nvSpPr>
        <p:spPr>
          <a:xfrm>
            <a:off x="1143000" y="2722242"/>
            <a:ext cx="6858000" cy="938732"/>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Cambria"/>
              <a:buNone/>
              <a:defRPr sz="3600">
                <a:solidFill>
                  <a:schemeClr val="bg1"/>
                </a:solidFill>
                <a:latin typeface="Garamond" panose="02020404030301010803" pitchFamily="18" charset="0"/>
                <a:ea typeface="Cambria"/>
                <a:cs typeface="Garamond" panose="02020404030301010803" pitchFamily="18" charset="0"/>
                <a:sym typeface="Cambria"/>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dirty="0"/>
          </a:p>
        </p:txBody>
      </p:sp>
      <p:pic>
        <p:nvPicPr>
          <p:cNvPr id="8" name="Google Shape;229;p49">
            <a:extLst>
              <a:ext uri="{FF2B5EF4-FFF2-40B4-BE49-F238E27FC236}">
                <a16:creationId xmlns:a16="http://schemas.microsoft.com/office/drawing/2014/main" id="{574181C8-A327-4C9B-9151-2476059E1AD4}"/>
              </a:ext>
            </a:extLst>
          </p:cNvPr>
          <p:cNvPicPr preferRelativeResize="0"/>
          <p:nvPr userDrawn="1"/>
        </p:nvPicPr>
        <p:blipFill rotWithShape="1">
          <a:blip r:embed="rId2">
            <a:alphaModFix/>
          </a:blip>
          <a:srcRect r="3072" b="29873"/>
          <a:stretch/>
        </p:blipFill>
        <p:spPr>
          <a:xfrm>
            <a:off x="2909150" y="1274057"/>
            <a:ext cx="3431500" cy="1147201"/>
          </a:xfrm>
          <a:prstGeom prst="rect">
            <a:avLst/>
          </a:prstGeom>
          <a:noFill/>
          <a:ln>
            <a:noFill/>
          </a:ln>
        </p:spPr>
      </p:pic>
    </p:spTree>
    <p:extLst>
      <p:ext uri="{BB962C8B-B14F-4D97-AF65-F5344CB8AC3E}">
        <p14:creationId xmlns:p14="http://schemas.microsoft.com/office/powerpoint/2010/main" val="1501723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6840252" y="4767263"/>
            <a:ext cx="2057400" cy="274637"/>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62865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464820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dirty="0"/>
          </a:p>
        </p:txBody>
      </p:sp>
    </p:spTree>
    <p:extLst>
      <p:ext uri="{BB962C8B-B14F-4D97-AF65-F5344CB8AC3E}">
        <p14:creationId xmlns:p14="http://schemas.microsoft.com/office/powerpoint/2010/main" val="1976872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a:p>
        </p:txBody>
      </p:sp>
    </p:spTree>
    <p:extLst>
      <p:ext uri="{BB962C8B-B14F-4D97-AF65-F5344CB8AC3E}">
        <p14:creationId xmlns:p14="http://schemas.microsoft.com/office/powerpoint/2010/main" val="172795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9144000" cy="5143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241825" y="4553863"/>
            <a:ext cx="1411002" cy="4572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solidFill>
                  <a:schemeClr val="bg1"/>
                </a:solidFill>
              </a:rPr>
              <a:pPr/>
              <a:t>‹#›</a:t>
            </a:fld>
            <a:endParaRPr lang="en-US"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52943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707" r:id="rId1"/>
    <p:sldLayoutId id="2147483697" r:id="rId2"/>
    <p:sldLayoutId id="2147483699" r:id="rId3"/>
    <p:sldLayoutId id="2147483701" r:id="rId4"/>
    <p:sldLayoutId id="2147483708" r:id="rId5"/>
    <p:sldLayoutId id="2147483709"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786ED503-1668-B3D7-F831-DA58BAE39ACB}"/>
            </a:ext>
          </a:extLst>
        </p:cNvPr>
        <p:cNvGrpSpPr/>
        <p:nvPr/>
      </p:nvGrpSpPr>
      <p:grpSpPr>
        <a:xfrm>
          <a:off x="0" y="0"/>
          <a:ext cx="0" cy="0"/>
          <a:chOff x="0" y="0"/>
          <a:chExt cx="0" cy="0"/>
        </a:xfrm>
      </p:grpSpPr>
      <p:sp>
        <p:nvSpPr>
          <p:cNvPr id="230" name="Google Shape;230;p49">
            <a:extLst>
              <a:ext uri="{FF2B5EF4-FFF2-40B4-BE49-F238E27FC236}">
                <a16:creationId xmlns:a16="http://schemas.microsoft.com/office/drawing/2014/main" id="{F6039163-6987-995C-19B7-BD0C499729CE}"/>
              </a:ext>
            </a:extLst>
          </p:cNvPr>
          <p:cNvSpPr txBox="1"/>
          <p:nvPr/>
        </p:nvSpPr>
        <p:spPr>
          <a:xfrm>
            <a:off x="75" y="3441900"/>
            <a:ext cx="9144000" cy="1714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3" name="Subtitle 2">
            <a:extLst>
              <a:ext uri="{FF2B5EF4-FFF2-40B4-BE49-F238E27FC236}">
                <a16:creationId xmlns:a16="http://schemas.microsoft.com/office/drawing/2014/main" id="{DE3DD0C8-5ACA-8019-C6E0-3E58058A2047}"/>
              </a:ext>
            </a:extLst>
          </p:cNvPr>
          <p:cNvSpPr>
            <a:spLocks noGrp="1"/>
          </p:cNvSpPr>
          <p:nvPr>
            <p:ph type="subTitle" idx="1"/>
          </p:nvPr>
        </p:nvSpPr>
        <p:spPr>
          <a:xfrm>
            <a:off x="1143000" y="3831412"/>
            <a:ext cx="6858000" cy="1071262"/>
          </a:xfrm>
        </p:spPr>
        <p:txBody>
          <a:bodyPr>
            <a:normAutofit/>
          </a:bodyPr>
          <a:lstStyle/>
          <a:p>
            <a:r>
              <a:rPr lang="en-US" sz="2000" u="sng" dirty="0">
                <a:latin typeface="Garamond"/>
              </a:rPr>
              <a:t>October 2026</a:t>
            </a:r>
          </a:p>
        </p:txBody>
      </p:sp>
      <p:sp>
        <p:nvSpPr>
          <p:cNvPr id="2" name="Title 1">
            <a:extLst>
              <a:ext uri="{FF2B5EF4-FFF2-40B4-BE49-F238E27FC236}">
                <a16:creationId xmlns:a16="http://schemas.microsoft.com/office/drawing/2014/main" id="{63933AAB-AAEF-91EF-F6ED-35236D3305E4}"/>
              </a:ext>
            </a:extLst>
          </p:cNvPr>
          <p:cNvSpPr>
            <a:spLocks noGrp="1"/>
          </p:cNvSpPr>
          <p:nvPr>
            <p:ph type="ctrTitle"/>
          </p:nvPr>
        </p:nvSpPr>
        <p:spPr>
          <a:xfrm>
            <a:off x="217170" y="2722241"/>
            <a:ext cx="8801100" cy="1071261"/>
          </a:xfrm>
        </p:spPr>
        <p:txBody>
          <a:bodyPr>
            <a:noAutofit/>
          </a:bodyPr>
          <a:lstStyle/>
          <a:p>
            <a:r>
              <a:rPr lang="en-US" sz="2800" u="sng" dirty="0"/>
              <a:t>French swap spreads</a:t>
            </a:r>
          </a:p>
          <a:p>
            <a:r>
              <a:rPr lang="en-US" sz="1400" dirty="0"/>
              <a:t>5-year OAT swap spread with non-recourse financing</a:t>
            </a:r>
          </a:p>
        </p:txBody>
      </p:sp>
      <p:sp>
        <p:nvSpPr>
          <p:cNvPr id="5" name="Slide Number Placeholder 4">
            <a:extLst>
              <a:ext uri="{FF2B5EF4-FFF2-40B4-BE49-F238E27FC236}">
                <a16:creationId xmlns:a16="http://schemas.microsoft.com/office/drawing/2014/main" id="{D0A0C77C-546A-6D98-0CE5-E261ABD0B9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sp>
        <p:nvSpPr>
          <p:cNvPr id="6" name="Footer Placeholder 4">
            <a:extLst>
              <a:ext uri="{FF2B5EF4-FFF2-40B4-BE49-F238E27FC236}">
                <a16:creationId xmlns:a16="http://schemas.microsoft.com/office/drawing/2014/main" id="{E5CF4597-62F2-5687-A38D-325DEC8EF183}"/>
              </a:ext>
            </a:extLst>
          </p:cNvPr>
          <p:cNvSpPr>
            <a:spLocks noGrp="1"/>
          </p:cNvSpPr>
          <p:nvPr>
            <p:ph type="ftr" sz="quarter" idx="11"/>
          </p:nvPr>
        </p:nvSpPr>
        <p:spPr>
          <a:xfrm>
            <a:off x="152568" y="4480560"/>
            <a:ext cx="8839200" cy="420000"/>
          </a:xfrm>
        </p:spPr>
        <p:txBody>
          <a:bodyPr/>
          <a:lstStyle/>
          <a:p>
            <a:r>
              <a:rPr lang="en-US" dirty="0">
                <a:solidFill>
                  <a:schemeClr val="bg1"/>
                </a:solidFill>
                <a:latin typeface="Garamond" panose="02020404030301010803" pitchFamily="18" charset="0"/>
              </a:rPr>
              <a:t>CONFIDENTIAL AND PROPRIETARY — FOR DISCUSSION ONLY</a:t>
            </a:r>
            <a:br>
              <a:rPr lang="en-US" dirty="0">
                <a:solidFill>
                  <a:schemeClr val="bg1"/>
                </a:solidFill>
                <a:latin typeface="Garamond" panose="02020404030301010803" pitchFamily="18" charset="0"/>
              </a:rPr>
            </a:br>
            <a:r>
              <a:rPr lang="en-US" dirty="0">
                <a:solidFill>
                  <a:schemeClr val="bg1"/>
                </a:solidFill>
                <a:latin typeface="Garamond" panose="02020404030301010803" pitchFamily="18" charset="0"/>
              </a:rPr>
              <a:t>This presentation contains confidential information and is intended solely for the use of the named recipient(s). Returns shown are scenario illustrations, gross of fees. Please read the important information.</a:t>
            </a:r>
          </a:p>
        </p:txBody>
      </p:sp>
    </p:spTree>
    <p:extLst>
      <p:ext uri="{BB962C8B-B14F-4D97-AF65-F5344CB8AC3E}">
        <p14:creationId xmlns:p14="http://schemas.microsoft.com/office/powerpoint/2010/main" val="144182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Disclaimer</a:t>
            </a:r>
          </a:p>
        </p:txBody>
      </p:sp>
      <p:sp>
        <p:nvSpPr>
          <p:cNvPr id="202" name="TextBox 5"/>
          <p:cNvSpPr txBox="1"/>
          <p:nvPr/>
        </p:nvSpPr>
        <p:spPr>
          <a:xfrm>
            <a:off x="594360" y="1494336"/>
            <a:ext cx="7961644" cy="3284745"/>
          </a:xfrm>
          <a:prstGeom prst="rect">
            <a:avLst/>
          </a:prstGeom>
          <a:noFill/>
        </p:spPr>
        <p:txBody>
          <a:bodyPr wrap="square" lIns="0" tIns="0" rIns="0" bIns="0" anchor="t">
            <a:spAutoFit/>
          </a:bodyPr>
          <a:lstStyle/>
          <a:p>
            <a:pPr algn="l">
              <a:lnSpc>
                <a:spcPct val="100000"/>
              </a:lnSpc>
              <a:spcAft>
                <a:spcPts val="330"/>
              </a:spcAft>
            </a:pPr>
            <a:r>
              <a:rPr sz="950" b="1" i="0" dirty="0">
                <a:solidFill>
                  <a:srgbClr val="011C40"/>
                </a:solidFill>
                <a:latin typeface="Garamond"/>
              </a:rPr>
              <a:t>No offer or solicitation</a:t>
            </a:r>
          </a:p>
          <a:p>
            <a:pPr algn="l">
              <a:lnSpc>
                <a:spcPct val="132000"/>
              </a:lnSpc>
              <a:spcAft>
                <a:spcPts val="1452"/>
              </a:spcAft>
            </a:pPr>
            <a:r>
              <a:rPr sz="850" b="0" i="0" dirty="0">
                <a:solidFill>
                  <a:srgbClr val="595959"/>
                </a:solidFill>
                <a:latin typeface="Garamond"/>
              </a:rPr>
              <a:t>Nothing herein constitutes or should be construed as an offering of securities or a recommendation to purchase or sell securities or commodity interests. If an offer of securities were to be made in the future, it must be made only through a confidential private placement memorandum (“PPM”) and related subscription documents.</a:t>
            </a:r>
          </a:p>
          <a:p>
            <a:pPr algn="l">
              <a:lnSpc>
                <a:spcPct val="100000"/>
              </a:lnSpc>
              <a:spcAft>
                <a:spcPts val="330"/>
              </a:spcAft>
            </a:pPr>
            <a:r>
              <a:rPr sz="950" b="1" i="0" dirty="0">
                <a:solidFill>
                  <a:srgbClr val="011C40"/>
                </a:solidFill>
                <a:latin typeface="Garamond"/>
              </a:rPr>
              <a:t>Eligibility requirements</a:t>
            </a:r>
          </a:p>
          <a:p>
            <a:pPr algn="l">
              <a:lnSpc>
                <a:spcPct val="132000"/>
              </a:lnSpc>
              <a:spcAft>
                <a:spcPts val="1452"/>
              </a:spcAft>
            </a:pPr>
            <a:r>
              <a:rPr sz="850" b="0" i="0" dirty="0">
                <a:solidFill>
                  <a:srgbClr val="595959"/>
                </a:solidFill>
                <a:latin typeface="Garamond"/>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p>
          <a:p>
            <a:pPr algn="l">
              <a:lnSpc>
                <a:spcPct val="100000"/>
              </a:lnSpc>
              <a:spcAft>
                <a:spcPts val="330"/>
              </a:spcAft>
            </a:pPr>
            <a:r>
              <a:rPr sz="950" b="1" i="0" dirty="0">
                <a:solidFill>
                  <a:srgbClr val="011C40"/>
                </a:solidFill>
                <a:latin typeface="Garamond"/>
              </a:rPr>
              <a:t>Not advice</a:t>
            </a:r>
          </a:p>
          <a:p>
            <a:pPr algn="l">
              <a:lnSpc>
                <a:spcPct val="132000"/>
              </a:lnSpc>
              <a:spcAft>
                <a:spcPts val="1452"/>
              </a:spcAft>
            </a:pPr>
            <a:r>
              <a:rPr sz="850" b="0" i="0" dirty="0">
                <a:solidFill>
                  <a:srgbClr val="595959"/>
                </a:solidFill>
                <a:latin typeface="Garamond"/>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endParaRPr lang="en-US" sz="850" b="0" i="0" dirty="0">
              <a:solidFill>
                <a:srgbClr val="595959"/>
              </a:solidFill>
              <a:latin typeface="Garamond"/>
            </a:endParaRPr>
          </a:p>
          <a:p>
            <a:pPr>
              <a:spcAft>
                <a:spcPts val="600"/>
              </a:spcAft>
            </a:pPr>
            <a:r>
              <a:rPr lang="en-US" sz="950" b="1" dirty="0">
                <a:solidFill>
                  <a:srgbClr val="011C40"/>
                </a:solidFill>
                <a:latin typeface="Garamond"/>
              </a:rPr>
              <a:t>Hypothetical Performance Results</a:t>
            </a:r>
          </a:p>
          <a:p>
            <a:r>
              <a:rPr lang="en-US" sz="900" dirty="0">
                <a:solidFill>
                  <a:srgbClr val="5A6172"/>
                </a:solidFill>
                <a:latin typeface="Calibri"/>
              </a:rPr>
              <a:t>Hypothetical performance results in this presentation have certain inherent limitations. Unlike the results shown in an actual performance record, these results do not represent the weighting of the portfolio as actually traded. No representation is being made that any future investment will or is likely to achieve outcomes or profits or losses similar to these being shown. The hypothetical performance results are gross and do not factor in any expenses (fund or otherwise), investment management fees or performance allocations – net performance results will be lower.</a:t>
            </a:r>
          </a:p>
          <a:p>
            <a:pPr algn="l">
              <a:lnSpc>
                <a:spcPct val="132000"/>
              </a:lnSpc>
              <a:spcAft>
                <a:spcPts val="1452"/>
              </a:spcAft>
            </a:pPr>
            <a:endParaRPr sz="850" b="0" i="0" dirty="0">
              <a:solidFill>
                <a:srgbClr val="595959"/>
              </a:solidFill>
              <a:latin typeface="Garamond"/>
            </a:endParaRPr>
          </a:p>
        </p:txBody>
      </p:sp>
      <p:sp>
        <p:nvSpPr>
          <p:cNvPr id="203" name="Slide Number Placeholder"/>
          <p:cNvSpPr>
            <a:spLocks noGrp="1"/>
          </p:cNvSpPr>
          <p:nvPr>
            <p:ph type="sldNum" sz="quarter" idx="12"/>
          </p:nvPr>
        </p:nvSpPr>
        <p:spPr/>
        <p:txBody>
          <a:bodyPr/>
          <a:lstStyle/>
          <a:p>
            <a:fld id="{F6B70E3D-0A47-44A9-8B13-A3D1BC88A914}" type="slidenum">
              <a:rPr lang="en-US"/>
              <a:t>2</a:t>
            </a:fld>
            <a:endParaRPr lang="en-US"/>
          </a:p>
        </p:txBody>
      </p:sp>
    </p:spTree>
    <p:extLst>
      <p:ext uri="{BB962C8B-B14F-4D97-AF65-F5344CB8AC3E}">
        <p14:creationId xmlns:p14="http://schemas.microsoft.com/office/powerpoint/2010/main" val="3643241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Liminality Capital</a:t>
            </a:r>
          </a:p>
        </p:txBody>
      </p:sp>
      <p:sp>
        <p:nvSpPr>
          <p:cNvPr id="202" name="TextBox 5"/>
          <p:cNvSpPr txBox="1"/>
          <p:nvPr/>
        </p:nvSpPr>
        <p:spPr>
          <a:xfrm>
            <a:off x="594360" y="1475584"/>
            <a:ext cx="4806086" cy="813688"/>
          </a:xfrm>
          <a:prstGeom prst="rect">
            <a:avLst/>
          </a:prstGeom>
          <a:noFill/>
        </p:spPr>
        <p:txBody>
          <a:bodyPr wrap="square" lIns="0" tIns="0" rIns="0" bIns="0" anchor="t">
            <a:spAutoFit/>
          </a:bodyPr>
          <a:lstStyle/>
          <a:p>
            <a:pPr algn="l">
              <a:lnSpc>
                <a:spcPct val="132000"/>
              </a:lnSpc>
              <a:spcAft>
                <a:spcPts val="0"/>
              </a:spcAft>
            </a:pPr>
            <a:r>
              <a:rPr sz="950" b="0" i="0">
                <a:solidFill>
                  <a:srgbClr val="595959"/>
                </a:solidFill>
                <a:latin typeface="Garamond"/>
              </a:rPr>
              <a:t>Established in 2018, Liminality Capital LP is a private investment firm based in Boston, MA. The firm is registered as a Commodity Pool Operator and Commodity Trading Advisor with the Commodity Futures Trading Commission and is a National Futures Association member.</a:t>
            </a:r>
          </a:p>
        </p:txBody>
      </p:sp>
      <p:sp>
        <p:nvSpPr>
          <p:cNvPr id="203" name="TextBox 6"/>
          <p:cNvSpPr txBox="1"/>
          <p:nvPr/>
        </p:nvSpPr>
        <p:spPr>
          <a:xfrm>
            <a:off x="594360" y="2452353"/>
            <a:ext cx="4806086" cy="813688"/>
          </a:xfrm>
          <a:prstGeom prst="rect">
            <a:avLst/>
          </a:prstGeom>
          <a:noFill/>
        </p:spPr>
        <p:txBody>
          <a:bodyPr wrap="square" lIns="0" tIns="0" rIns="0" bIns="0" anchor="t">
            <a:spAutoFit/>
          </a:bodyPr>
          <a:lstStyle/>
          <a:p>
            <a:pPr algn="l">
              <a:lnSpc>
                <a:spcPct val="132000"/>
              </a:lnSpc>
              <a:spcAft>
                <a:spcPts val="0"/>
              </a:spcAft>
            </a:pPr>
            <a:r>
              <a:rPr sz="950" b="0" i="0">
                <a:solidFill>
                  <a:srgbClr val="595959"/>
                </a:solidFill>
                <a:latin typeface="Garamond"/>
              </a:rPr>
              <a:t>The firm’s primary investment vehicle, Liminality Partners LP, launched on June 1, 2019. Potential opportunities are drawn from a wide variety of asset classes, geographies, financial instruments and securities types, but with a particular focus on identifying price dislocations within derivatives markets to deliver asymmetric returns.</a:t>
            </a:r>
          </a:p>
        </p:txBody>
      </p:sp>
      <p:sp>
        <p:nvSpPr>
          <p:cNvPr id="204" name="Rounded Rectangle 7"/>
          <p:cNvSpPr/>
          <p:nvPr/>
        </p:nvSpPr>
        <p:spPr>
          <a:xfrm>
            <a:off x="5584788" y="1475584"/>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05" name="TextBox 8"/>
          <p:cNvSpPr txBox="1"/>
          <p:nvPr/>
        </p:nvSpPr>
        <p:spPr>
          <a:xfrm>
            <a:off x="5650625" y="1602411"/>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2018</a:t>
            </a:r>
          </a:p>
        </p:txBody>
      </p:sp>
      <p:sp>
        <p:nvSpPr>
          <p:cNvPr id="206" name="TextBox 9"/>
          <p:cNvSpPr txBox="1"/>
          <p:nvPr/>
        </p:nvSpPr>
        <p:spPr>
          <a:xfrm>
            <a:off x="5650625" y="1927649"/>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Firm established</a:t>
            </a:r>
          </a:p>
        </p:txBody>
      </p:sp>
      <p:sp>
        <p:nvSpPr>
          <p:cNvPr id="207" name="Rounded Rectangle 10"/>
          <p:cNvSpPr/>
          <p:nvPr/>
        </p:nvSpPr>
        <p:spPr>
          <a:xfrm>
            <a:off x="5584788" y="2253353"/>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08" name="TextBox 11"/>
          <p:cNvSpPr txBox="1"/>
          <p:nvPr/>
        </p:nvSpPr>
        <p:spPr>
          <a:xfrm>
            <a:off x="5650625" y="2380180"/>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Boston, MA</a:t>
            </a:r>
          </a:p>
        </p:txBody>
      </p:sp>
      <p:sp>
        <p:nvSpPr>
          <p:cNvPr id="209" name="TextBox 12"/>
          <p:cNvSpPr txBox="1"/>
          <p:nvPr/>
        </p:nvSpPr>
        <p:spPr>
          <a:xfrm>
            <a:off x="5650625" y="2705418"/>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Headquarters</a:t>
            </a:r>
          </a:p>
        </p:txBody>
      </p:sp>
      <p:sp>
        <p:nvSpPr>
          <p:cNvPr id="210" name="Rounded Rectangle 13"/>
          <p:cNvSpPr/>
          <p:nvPr/>
        </p:nvSpPr>
        <p:spPr>
          <a:xfrm>
            <a:off x="5584788" y="3031122"/>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11" name="TextBox 14"/>
          <p:cNvSpPr txBox="1"/>
          <p:nvPr/>
        </p:nvSpPr>
        <p:spPr>
          <a:xfrm>
            <a:off x="5650625" y="3157949"/>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CPO / CTA</a:t>
            </a:r>
          </a:p>
        </p:txBody>
      </p:sp>
      <p:sp>
        <p:nvSpPr>
          <p:cNvPr id="212" name="TextBox 15"/>
          <p:cNvSpPr txBox="1"/>
          <p:nvPr/>
        </p:nvSpPr>
        <p:spPr>
          <a:xfrm>
            <a:off x="5650625" y="3483187"/>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Registered with the CFTC; NFA member</a:t>
            </a:r>
          </a:p>
        </p:txBody>
      </p:sp>
      <p:sp>
        <p:nvSpPr>
          <p:cNvPr id="213" name="Rounded Rectangle 16"/>
          <p:cNvSpPr/>
          <p:nvPr/>
        </p:nvSpPr>
        <p:spPr>
          <a:xfrm>
            <a:off x="5584788" y="3808891"/>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14" name="TextBox 17"/>
          <p:cNvSpPr txBox="1"/>
          <p:nvPr/>
        </p:nvSpPr>
        <p:spPr>
          <a:xfrm>
            <a:off x="5650625" y="3935718"/>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June 2019</a:t>
            </a:r>
          </a:p>
        </p:txBody>
      </p:sp>
      <p:sp>
        <p:nvSpPr>
          <p:cNvPr id="215" name="TextBox 18"/>
          <p:cNvSpPr txBox="1"/>
          <p:nvPr/>
        </p:nvSpPr>
        <p:spPr>
          <a:xfrm>
            <a:off x="5650625" y="4260956"/>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First fund launched</a:t>
            </a:r>
          </a:p>
        </p:txBody>
      </p:sp>
      <p:sp>
        <p:nvSpPr>
          <p:cNvPr id="216" name="Slide Number Placeholder"/>
          <p:cNvSpPr>
            <a:spLocks noGrp="1"/>
          </p:cNvSpPr>
          <p:nvPr>
            <p:ph type="sldNum" sz="quarter" idx="12"/>
          </p:nvPr>
        </p:nvSpPr>
        <p:spPr/>
        <p:txBody>
          <a:bodyPr/>
          <a:lstStyle/>
          <a:p>
            <a:fld id="{F6B70E3D-0A47-44A9-8B13-A3D1BC88A914}" type="slidenum">
              <a:rPr lang="en-US"/>
              <a:t>3</a:t>
            </a:fld>
            <a:endParaRPr lang="en-US"/>
          </a:p>
        </p:txBody>
      </p:sp>
    </p:spTree>
    <p:extLst>
      <p:ext uri="{BB962C8B-B14F-4D97-AF65-F5344CB8AC3E}">
        <p14:creationId xmlns:p14="http://schemas.microsoft.com/office/powerpoint/2010/main" val="363312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Executive Summary: French Swap Spread Opportunity</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Trade Recommendation: Buy a 4.4-year option on the spread between a French government bond and the euro swap curve</a:t>
            </a:r>
          </a:p>
        </p:txBody>
      </p:sp>
      <p:sp>
        <p:nvSpPr>
          <p:cNvPr id="206" name="TextBox 9"/>
          <p:cNvSpPr txBox="1"/>
          <p:nvPr/>
        </p:nvSpPr>
        <p:spPr>
          <a:xfrm>
            <a:off x="968599" y="1564677"/>
            <a:ext cx="5162571" cy="3363741"/>
          </a:xfrm>
          <a:prstGeom prst="rect">
            <a:avLst/>
          </a:prstGeom>
          <a:noFill/>
        </p:spPr>
        <p:txBody>
          <a:bodyPr wrap="square" lIns="0" tIns="0" rIns="0" bIns="0" anchor="t">
            <a:spAutoFit/>
          </a:bodyPr>
          <a:lstStyle/>
          <a:p>
            <a:pPr marL="228600" indent="-228600" algn="l">
              <a:lnSpc>
                <a:spcPct val="112000"/>
              </a:lnSpc>
              <a:spcAft>
                <a:spcPts val="0"/>
              </a:spcAft>
              <a:buAutoNum type="arabicPeriod"/>
            </a:pPr>
            <a:r>
              <a:rPr lang="en-US" sz="1100" b="1" i="0" dirty="0">
                <a:solidFill>
                  <a:srgbClr val="011C40"/>
                </a:solidFill>
                <a:latin typeface="Garamond"/>
              </a:rPr>
              <a:t>Dislocation</a:t>
            </a:r>
            <a:r>
              <a:rPr lang="en-US" sz="1100" b="0" i="0" dirty="0">
                <a:solidFill>
                  <a:srgbClr val="011C40"/>
                </a:solidFill>
                <a:latin typeface="Garamond"/>
              </a:rPr>
              <a:t>: </a:t>
            </a:r>
            <a:r>
              <a:rPr sz="1100" b="0" i="0" dirty="0">
                <a:solidFill>
                  <a:srgbClr val="011C40"/>
                </a:solidFill>
                <a:latin typeface="Garamond"/>
              </a:rPr>
              <a:t>French government bonds (“OATs”) have dislocated against swaps in recent weeks</a:t>
            </a:r>
            <a:r>
              <a:rPr lang="en-US" sz="1100" b="0" i="0" dirty="0">
                <a:solidFill>
                  <a:srgbClr val="011C40"/>
                </a:solidFill>
                <a:latin typeface="Garamond"/>
              </a:rPr>
              <a:t> as </a:t>
            </a:r>
            <a:r>
              <a:rPr sz="1100" b="0" i="0" dirty="0">
                <a:solidFill>
                  <a:srgbClr val="011C40"/>
                </a:solidFill>
                <a:latin typeface="Garamond"/>
              </a:rPr>
              <a:t>the market has grown nervous about French public finances amid increasing political uncertainty around budget negotiations</a:t>
            </a:r>
            <a:r>
              <a:rPr lang="en-US" sz="1100" b="0" i="0" dirty="0">
                <a:solidFill>
                  <a:srgbClr val="011C40"/>
                </a:solidFill>
                <a:latin typeface="Garamond"/>
              </a:rPr>
              <a:t> and the increased probability of a populist government, left or right, in the upcoming April 2027 Presidential elections.</a:t>
            </a:r>
            <a:endParaRPr lang="en-US" sz="1100" dirty="0">
              <a:solidFill>
                <a:srgbClr val="011C40"/>
              </a:solidFill>
              <a:latin typeface="Garamond"/>
            </a:endParaRPr>
          </a:p>
          <a:p>
            <a:pPr marL="228600" indent="-228600" algn="l">
              <a:lnSpc>
                <a:spcPct val="112000"/>
              </a:lnSpc>
              <a:spcAft>
                <a:spcPts val="0"/>
              </a:spcAft>
              <a:buAutoNum type="arabicPeriod"/>
            </a:pPr>
            <a:endParaRPr lang="en-US" sz="1100" dirty="0">
              <a:solidFill>
                <a:srgbClr val="011C40"/>
              </a:solidFill>
              <a:latin typeface="Garamond"/>
            </a:endParaRPr>
          </a:p>
          <a:p>
            <a:pPr marL="228600" indent="-228600">
              <a:lnSpc>
                <a:spcPct val="112000"/>
              </a:lnSpc>
              <a:buFont typeface="Arial"/>
              <a:buAutoNum type="arabicPeriod"/>
            </a:pPr>
            <a:r>
              <a:rPr lang="en-US" sz="1100" b="1" dirty="0">
                <a:solidFill>
                  <a:srgbClr val="011C40"/>
                </a:solidFill>
                <a:latin typeface="Garamond"/>
              </a:rPr>
              <a:t>Non-Recourse Structuring</a:t>
            </a:r>
            <a:r>
              <a:rPr lang="en-US" sz="1100" dirty="0">
                <a:solidFill>
                  <a:srgbClr val="011C40"/>
                </a:solidFill>
                <a:latin typeface="Garamond"/>
              </a:rPr>
              <a:t>: The attractiveness of the opportunity is heavily dependent on a proprietary financing structure: our position is financed for 4.4 years – within a year of maturity – with non-recourse leverage at €STR + 17bp, and a floor only 30bp out of the money.</a:t>
            </a:r>
          </a:p>
          <a:p>
            <a:pPr marL="228600" indent="-228600">
              <a:lnSpc>
                <a:spcPct val="112000"/>
              </a:lnSpc>
              <a:buFont typeface="Arial"/>
              <a:buAutoNum type="arabicPeriod"/>
            </a:pPr>
            <a:endParaRPr lang="en-US" sz="1100" dirty="0">
              <a:solidFill>
                <a:srgbClr val="011C40"/>
              </a:solidFill>
              <a:latin typeface="Garamond"/>
            </a:endParaRPr>
          </a:p>
          <a:p>
            <a:pPr marL="228600" indent="-228600">
              <a:lnSpc>
                <a:spcPct val="112000"/>
              </a:lnSpc>
              <a:buFont typeface="Arial"/>
              <a:buAutoNum type="arabicPeriod"/>
            </a:pPr>
            <a:r>
              <a:rPr lang="en-US" sz="1100" b="1" dirty="0">
                <a:solidFill>
                  <a:srgbClr val="011C40"/>
                </a:solidFill>
                <a:latin typeface="Garamond"/>
              </a:rPr>
              <a:t>Asymmetry and Pull to Par</a:t>
            </a:r>
            <a:r>
              <a:rPr lang="en-US" sz="1100" dirty="0">
                <a:solidFill>
                  <a:srgbClr val="011C40"/>
                </a:solidFill>
                <a:latin typeface="Garamond"/>
              </a:rPr>
              <a:t>: Over the life of investment, the bond rolls from the 5.4-year point of the curve to the 1-year point, where a “pull to par” dynamic generally keeps spreads well anchored – in the case of France even through the euro sovereign crisis. If nothing changes, the roll alone returns 42% a year (4.8x). To break even, the 1-year spread at expiry just needs to be at −445bp or higher, a level even Spain never breached, and Italy breached only briefly, in November 2011.</a:t>
            </a:r>
          </a:p>
          <a:p>
            <a:pPr marL="228600" indent="-228600">
              <a:lnSpc>
                <a:spcPct val="112000"/>
              </a:lnSpc>
              <a:buFont typeface="Arial"/>
              <a:buAutoNum type="arabicPeriod"/>
            </a:pPr>
            <a:endParaRPr lang="en-US" sz="1100" dirty="0">
              <a:solidFill>
                <a:srgbClr val="011C40"/>
              </a:solidFill>
              <a:latin typeface="Garamond"/>
            </a:endParaRPr>
          </a:p>
          <a:p>
            <a:pPr marL="228600" indent="-228600" algn="l">
              <a:lnSpc>
                <a:spcPct val="112000"/>
              </a:lnSpc>
              <a:spcAft>
                <a:spcPts val="0"/>
              </a:spcAft>
              <a:buAutoNum type="arabicPeriod"/>
            </a:pPr>
            <a:endParaRPr sz="850" b="0" i="0" dirty="0">
              <a:solidFill>
                <a:srgbClr val="011C40"/>
              </a:solidFill>
              <a:latin typeface="Garamond"/>
            </a:endParaRPr>
          </a:p>
        </p:txBody>
      </p:sp>
      <p:sp>
        <p:nvSpPr>
          <p:cNvPr id="222" name="TextBox 25"/>
          <p:cNvSpPr txBox="1"/>
          <p:nvPr/>
        </p:nvSpPr>
        <p:spPr>
          <a:xfrm>
            <a:off x="1783080" y="4663440"/>
            <a:ext cx="4826000" cy="215123"/>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endParaRPr lang="en-US" sz="650" b="0" i="0" dirty="0">
              <a:solidFill>
                <a:srgbClr val="595959"/>
              </a:solidFill>
              <a:latin typeface="Garamond"/>
            </a:endParaRPr>
          </a:p>
          <a:p>
            <a:pPr>
              <a:lnSpc>
                <a:spcPct val="108000"/>
              </a:lnSpc>
            </a:pPr>
            <a:r>
              <a:rPr lang="en-US" sz="650" baseline="30000" dirty="0">
                <a:solidFill>
                  <a:srgbClr val="595959"/>
                </a:solidFill>
                <a:latin typeface="Garamond"/>
              </a:rPr>
              <a:t>1</a:t>
            </a:r>
            <a:r>
              <a:rPr lang="en-US" sz="650" dirty="0">
                <a:solidFill>
                  <a:srgbClr val="595959"/>
                </a:solidFill>
                <a:latin typeface="Garamond"/>
              </a:rPr>
              <a:t>DV01 Neutral</a:t>
            </a:r>
            <a:endParaRPr sz="650" b="0" i="0" dirty="0">
              <a:solidFill>
                <a:srgbClr val="595959"/>
              </a:solidFill>
              <a:latin typeface="Garamond"/>
            </a:endParaRPr>
          </a:p>
        </p:txBody>
      </p:sp>
      <p:sp>
        <p:nvSpPr>
          <p:cNvPr id="223" name="Slide Number Placeholder"/>
          <p:cNvSpPr>
            <a:spLocks noGrp="1"/>
          </p:cNvSpPr>
          <p:nvPr>
            <p:ph type="sldNum" sz="quarter" idx="12"/>
          </p:nvPr>
        </p:nvSpPr>
        <p:spPr/>
        <p:txBody>
          <a:bodyPr/>
          <a:lstStyle/>
          <a:p>
            <a:fld id="{F6B70E3D-0A47-44A9-8B13-A3D1BC88A914}" type="slidenum">
              <a:rPr lang="en-US"/>
              <a:t>4</a:t>
            </a:fld>
            <a:endParaRPr lang="en-US" dirty="0"/>
          </a:p>
        </p:txBody>
      </p:sp>
      <p:sp>
        <p:nvSpPr>
          <p:cNvPr id="3" name="TextBox 9">
            <a:extLst>
              <a:ext uri="{FF2B5EF4-FFF2-40B4-BE49-F238E27FC236}">
                <a16:creationId xmlns:a16="http://schemas.microsoft.com/office/drawing/2014/main" id="{E07F7E8D-BF9D-5A23-C4F5-137DFA503800}"/>
              </a:ext>
            </a:extLst>
          </p:cNvPr>
          <p:cNvSpPr txBox="1"/>
          <p:nvPr/>
        </p:nvSpPr>
        <p:spPr>
          <a:xfrm>
            <a:off x="6373736" y="1950152"/>
            <a:ext cx="2575907" cy="2405851"/>
          </a:xfrm>
          <a:prstGeom prst="rect">
            <a:avLst/>
          </a:prstGeom>
          <a:noFill/>
        </p:spPr>
        <p:txBody>
          <a:bodyPr wrap="square" lIns="0" tIns="0" rIns="0" bIns="0" anchor="t">
            <a:spAutoFit/>
          </a:bodyPr>
          <a:lstStyle/>
          <a:p>
            <a:pPr algn="l">
              <a:lnSpc>
                <a:spcPct val="112000"/>
              </a:lnSpc>
              <a:spcAft>
                <a:spcPts val="0"/>
              </a:spcAft>
            </a:pPr>
            <a:r>
              <a:rPr lang="en-US" sz="1000" b="0" i="0" u="sng" dirty="0">
                <a:solidFill>
                  <a:srgbClr val="011C40"/>
                </a:solidFill>
                <a:latin typeface="Garamond"/>
              </a:rPr>
              <a:t>The Trade:  </a:t>
            </a:r>
          </a:p>
          <a:p>
            <a:pPr>
              <a:lnSpc>
                <a:spcPct val="112000"/>
              </a:lnSpc>
            </a:pPr>
            <a:r>
              <a:rPr lang="en-US" sz="1000" b="1" dirty="0">
                <a:solidFill>
                  <a:srgbClr val="011C40"/>
                </a:solidFill>
                <a:latin typeface="Garamond"/>
              </a:rPr>
              <a:t>Buy a 4.4-year-expiry option on a 5.4-year France versus Euribor swap spread.</a:t>
            </a:r>
            <a:endParaRPr lang="en-US" sz="1000" b="0" i="0" u="sng" dirty="0">
              <a:solidFill>
                <a:srgbClr val="011C40"/>
              </a:solidFill>
              <a:latin typeface="Garamond"/>
            </a:endParaRPr>
          </a:p>
          <a:p>
            <a:pPr algn="l">
              <a:lnSpc>
                <a:spcPct val="112000"/>
              </a:lnSpc>
              <a:spcAft>
                <a:spcPts val="0"/>
              </a:spcAft>
            </a:pPr>
            <a:endParaRPr lang="en-US" sz="1000" u="sng" dirty="0">
              <a:solidFill>
                <a:srgbClr val="011C40"/>
              </a:solidFill>
              <a:latin typeface="Garamond"/>
            </a:endParaRPr>
          </a:p>
          <a:p>
            <a:pPr algn="l">
              <a:lnSpc>
                <a:spcPct val="112000"/>
              </a:lnSpc>
              <a:spcAft>
                <a:spcPts val="0"/>
              </a:spcAft>
            </a:pPr>
            <a:r>
              <a:rPr lang="en-US" sz="1000" dirty="0">
                <a:solidFill>
                  <a:srgbClr val="011C40"/>
                </a:solidFill>
                <a:latin typeface="Garamond"/>
              </a:rPr>
              <a:t>   Buy 100m FRTR at [x] price, i.e. [x] </a:t>
            </a:r>
            <a:r>
              <a:rPr lang="en-US" sz="1000" dirty="0" err="1">
                <a:solidFill>
                  <a:srgbClr val="011C40"/>
                </a:solidFill>
                <a:latin typeface="Garamond"/>
              </a:rPr>
              <a:t>yld</a:t>
            </a:r>
            <a:endParaRPr lang="en-US" sz="1000" dirty="0">
              <a:solidFill>
                <a:srgbClr val="011C40"/>
              </a:solidFill>
              <a:latin typeface="Garamond"/>
            </a:endParaRPr>
          </a:p>
          <a:p>
            <a:pPr>
              <a:lnSpc>
                <a:spcPct val="112000"/>
              </a:lnSpc>
            </a:pPr>
            <a:r>
              <a:rPr lang="en-US" sz="1000" dirty="0">
                <a:solidFill>
                  <a:srgbClr val="011C40"/>
                </a:solidFill>
                <a:latin typeface="Garamond"/>
              </a:rPr>
              <a:t>   Pay Fixed [x]m Euribor swaps</a:t>
            </a:r>
            <a:r>
              <a:rPr lang="en-US" sz="1000" baseline="30000" dirty="0">
                <a:solidFill>
                  <a:srgbClr val="011C40"/>
                </a:solidFill>
                <a:latin typeface="Garamond"/>
              </a:rPr>
              <a:t>1</a:t>
            </a:r>
          </a:p>
          <a:p>
            <a:pPr algn="l">
              <a:lnSpc>
                <a:spcPct val="112000"/>
              </a:lnSpc>
              <a:spcAft>
                <a:spcPts val="0"/>
              </a:spcAft>
            </a:pPr>
            <a:r>
              <a:rPr lang="en-US" sz="1000" dirty="0">
                <a:solidFill>
                  <a:srgbClr val="011C40"/>
                </a:solidFill>
                <a:latin typeface="Garamond"/>
              </a:rPr>
              <a:t>   Buy an option struck ATMF-30, pay [EUR x]</a:t>
            </a:r>
          </a:p>
          <a:p>
            <a:pPr algn="l">
              <a:lnSpc>
                <a:spcPct val="112000"/>
              </a:lnSpc>
              <a:spcAft>
                <a:spcPts val="0"/>
              </a:spcAft>
            </a:pPr>
            <a:r>
              <a:rPr lang="en-US" sz="1000" dirty="0">
                <a:solidFill>
                  <a:srgbClr val="011C40"/>
                </a:solidFill>
                <a:latin typeface="Garamond"/>
              </a:rPr>
              <a:t>   Post collateral for our max loss, [EUR y]</a:t>
            </a:r>
          </a:p>
          <a:p>
            <a:pPr algn="l">
              <a:lnSpc>
                <a:spcPct val="112000"/>
              </a:lnSpc>
              <a:spcAft>
                <a:spcPts val="0"/>
              </a:spcAft>
            </a:pPr>
            <a:r>
              <a:rPr lang="en-US" sz="1000" dirty="0">
                <a:solidFill>
                  <a:srgbClr val="011C40"/>
                </a:solidFill>
                <a:latin typeface="Garamond"/>
              </a:rPr>
              <a:t>   Total capital at risk [EUR </a:t>
            </a:r>
            <a:r>
              <a:rPr lang="en-US" sz="1000" dirty="0" err="1">
                <a:solidFill>
                  <a:srgbClr val="011C40"/>
                </a:solidFill>
                <a:latin typeface="Garamond"/>
              </a:rPr>
              <a:t>x+y</a:t>
            </a:r>
            <a:r>
              <a:rPr lang="en-US" sz="1000" dirty="0">
                <a:solidFill>
                  <a:srgbClr val="011C40"/>
                </a:solidFill>
                <a:latin typeface="Garamond"/>
              </a:rPr>
              <a:t>]</a:t>
            </a: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r>
              <a:rPr lang="en-US" sz="1000" dirty="0">
                <a:solidFill>
                  <a:srgbClr val="011C40"/>
                </a:solidFill>
                <a:latin typeface="Garamond"/>
              </a:rPr>
              <a:t>Spend [EUR] for 100m of swap spread exposure</a:t>
            </a: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endParaRPr lang="en-US" sz="1000" dirty="0">
              <a:solidFill>
                <a:srgbClr val="011C40"/>
              </a:solidFill>
              <a:latin typeface="Garamond"/>
            </a:endParaRPr>
          </a:p>
        </p:txBody>
      </p:sp>
    </p:spTree>
    <p:extLst>
      <p:ext uri="{BB962C8B-B14F-4D97-AF65-F5344CB8AC3E}">
        <p14:creationId xmlns:p14="http://schemas.microsoft.com/office/powerpoint/2010/main" val="971295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What is a Swap Spread?</a:t>
            </a:r>
          </a:p>
        </p:txBody>
      </p:sp>
      <p:sp>
        <p:nvSpPr>
          <p:cNvPr id="202" name="Subheading"/>
          <p:cNvSpPr txBox="1"/>
          <p:nvPr/>
        </p:nvSpPr>
        <p:spPr>
          <a:xfrm>
            <a:off x="720090" y="1219200"/>
            <a:ext cx="3535857" cy="660479"/>
          </a:xfrm>
          <a:prstGeom prst="rect">
            <a:avLst/>
          </a:prstGeom>
          <a:noFill/>
        </p:spPr>
        <p:txBody>
          <a:bodyPr wrap="square" lIns="0" tIns="0" rIns="0" bIns="0" anchor="t">
            <a:normAutofit/>
          </a:bodyPr>
          <a:lstStyle/>
          <a:p>
            <a:pPr>
              <a:lnSpc>
                <a:spcPct val="95000"/>
              </a:lnSpc>
            </a:pPr>
            <a:r>
              <a:rPr lang="en-US" sz="1100" b="1" dirty="0">
                <a:solidFill>
                  <a:srgbClr val="262626"/>
                </a:solidFill>
                <a:latin typeface="Garamond"/>
              </a:rPr>
              <a:t>A swap spread is the difference between a government bond yield and the swap rate of the same maturity.  To be ‘long’ the swap spread, buy the OAT and pay fixed on the swap, fully hedging the duration. </a:t>
            </a:r>
          </a:p>
          <a:p>
            <a:pPr algn="l">
              <a:lnSpc>
                <a:spcPct val="95000"/>
              </a:lnSpc>
            </a:pPr>
            <a:endParaRPr lang="en-US" sz="1100" b="1" dirty="0">
              <a:solidFill>
                <a:srgbClr val="262626"/>
              </a:solidFill>
              <a:latin typeface="Garamond"/>
            </a:endParaRPr>
          </a:p>
        </p:txBody>
      </p:sp>
      <p:graphicFrame>
        <p:nvGraphicFramePr>
          <p:cNvPr id="210" name="Chart 13"/>
          <p:cNvGraphicFramePr>
            <a:graphicFrameLocks noGrp="1"/>
          </p:cNvGraphicFramePr>
          <p:nvPr/>
        </p:nvGraphicFramePr>
        <p:xfrm>
          <a:off x="628650" y="2001845"/>
          <a:ext cx="4022628" cy="25260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2" name="Chart 15"/>
          <p:cNvGraphicFramePr>
            <a:graphicFrameLocks noGrp="1"/>
          </p:cNvGraphicFramePr>
          <p:nvPr/>
        </p:nvGraphicFramePr>
        <p:xfrm>
          <a:off x="4667738" y="2305597"/>
          <a:ext cx="4022628" cy="2222345"/>
        </p:xfrm>
        <a:graphic>
          <a:graphicData uri="http://schemas.openxmlformats.org/drawingml/2006/chart">
            <c:chart xmlns:c="http://schemas.openxmlformats.org/drawingml/2006/chart" xmlns:r="http://schemas.openxmlformats.org/officeDocument/2006/relationships" r:id="rId3"/>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nSpc>
                <a:spcPct val="108000"/>
              </a:lnSpc>
            </a:pPr>
            <a:r>
              <a:rPr sz="650" b="0" i="0" dirty="0">
                <a:solidFill>
                  <a:srgbClr val="595959"/>
                </a:solidFill>
                <a:latin typeface="Garamond"/>
              </a:rPr>
              <a:t>Source: Bloomberg, Liminality calculations</a:t>
            </a:r>
            <a:r>
              <a:rPr lang="en-US" sz="650" b="0" i="0" dirty="0">
                <a:solidFill>
                  <a:srgbClr val="595959"/>
                </a:solidFill>
                <a:latin typeface="Garamond"/>
              </a:rPr>
              <a:t>, </a:t>
            </a:r>
            <a:r>
              <a:rPr lang="en-US" sz="650" dirty="0">
                <a:solidFill>
                  <a:srgbClr val="595959"/>
                </a:solidFill>
                <a:latin typeface="Garamond"/>
              </a:rPr>
              <a:t>French yield curves, 2 October 2026</a:t>
            </a:r>
          </a:p>
        </p:txBody>
      </p:sp>
      <p:sp>
        <p:nvSpPr>
          <p:cNvPr id="214" name="Slide Number Placeholder"/>
          <p:cNvSpPr>
            <a:spLocks noGrp="1"/>
          </p:cNvSpPr>
          <p:nvPr>
            <p:ph type="sldNum" sz="quarter" idx="12"/>
          </p:nvPr>
        </p:nvSpPr>
        <p:spPr/>
        <p:txBody>
          <a:bodyPr/>
          <a:lstStyle/>
          <a:p>
            <a:fld id="{F6B70E3D-0A47-44A9-8B13-A3D1BC88A914}" type="slidenum">
              <a:rPr lang="en-US"/>
              <a:t>5</a:t>
            </a:fld>
            <a:endParaRPr lang="en-US"/>
          </a:p>
        </p:txBody>
      </p:sp>
      <p:sp>
        <p:nvSpPr>
          <p:cNvPr id="3" name="Subheading">
            <a:extLst>
              <a:ext uri="{FF2B5EF4-FFF2-40B4-BE49-F238E27FC236}">
                <a16:creationId xmlns:a16="http://schemas.microsoft.com/office/drawing/2014/main" id="{FFB312DC-7A65-47EB-DA9B-5C27BCBCEBA8}"/>
              </a:ext>
            </a:extLst>
          </p:cNvPr>
          <p:cNvSpPr txBox="1"/>
          <p:nvPr/>
        </p:nvSpPr>
        <p:spPr>
          <a:xfrm>
            <a:off x="4544399" y="1219200"/>
            <a:ext cx="3571216" cy="530292"/>
          </a:xfrm>
          <a:prstGeom prst="rect">
            <a:avLst/>
          </a:prstGeom>
          <a:noFill/>
        </p:spPr>
        <p:txBody>
          <a:bodyPr wrap="square" lIns="0" tIns="0" rIns="0" bIns="0" anchor="t">
            <a:normAutofit/>
          </a:bodyPr>
          <a:lstStyle/>
          <a:p>
            <a:pPr>
              <a:lnSpc>
                <a:spcPct val="95000"/>
              </a:lnSpc>
            </a:pPr>
            <a:r>
              <a:rPr lang="en-US" sz="1100" b="1" dirty="0">
                <a:solidFill>
                  <a:srgbClr val="011C40"/>
                </a:solidFill>
                <a:latin typeface="Garamond"/>
              </a:rPr>
              <a:t>In this deck the spread is the swap rate less the bond yield, so a bond that is cheap to swaps reads as a negative number.</a:t>
            </a:r>
          </a:p>
          <a:p>
            <a:pPr algn="l">
              <a:lnSpc>
                <a:spcPct val="95000"/>
              </a:lnSpc>
            </a:pPr>
            <a:endParaRPr lang="en-US" sz="1100" b="1" dirty="0">
              <a:solidFill>
                <a:srgbClr val="262626"/>
              </a:solidFill>
              <a:latin typeface="Garamond"/>
            </a:endParaRPr>
          </a:p>
        </p:txBody>
      </p:sp>
      <p:sp>
        <p:nvSpPr>
          <p:cNvPr id="5" name="TextBox 14">
            <a:extLst>
              <a:ext uri="{FF2B5EF4-FFF2-40B4-BE49-F238E27FC236}">
                <a16:creationId xmlns:a16="http://schemas.microsoft.com/office/drawing/2014/main" id="{BD8D27B1-D3C8-0206-4806-D3135E74117E}"/>
              </a:ext>
            </a:extLst>
          </p:cNvPr>
          <p:cNvSpPr txBox="1"/>
          <p:nvPr/>
        </p:nvSpPr>
        <p:spPr>
          <a:xfrm>
            <a:off x="4765404" y="2076650"/>
            <a:ext cx="4022628" cy="116955"/>
          </a:xfrm>
          <a:prstGeom prst="rect">
            <a:avLst/>
          </a:prstGeom>
          <a:noFill/>
        </p:spPr>
        <p:txBody>
          <a:bodyPr wrap="square" lIns="0" tIns="0" rIns="0" bIns="0" anchor="t">
            <a:spAutoFit/>
          </a:bodyPr>
          <a:lstStyle/>
          <a:p>
            <a:pPr algn="l">
              <a:lnSpc>
                <a:spcPct val="95000"/>
              </a:lnSpc>
              <a:spcAft>
                <a:spcPts val="384"/>
              </a:spcAft>
            </a:pPr>
            <a:r>
              <a:rPr sz="800" i="0" dirty="0">
                <a:solidFill>
                  <a:srgbClr val="011C40"/>
                </a:solidFill>
                <a:latin typeface="Garamond"/>
              </a:rPr>
              <a:t>Swap </a:t>
            </a:r>
            <a:r>
              <a:rPr lang="en-US" sz="800" i="0" dirty="0">
                <a:solidFill>
                  <a:srgbClr val="011C40"/>
                </a:solidFill>
                <a:latin typeface="Garamond"/>
              </a:rPr>
              <a:t>S</a:t>
            </a:r>
            <a:r>
              <a:rPr sz="800" i="0" dirty="0">
                <a:solidFill>
                  <a:srgbClr val="011C40"/>
                </a:solidFill>
                <a:latin typeface="Garamond"/>
              </a:rPr>
              <a:t>pread at each point of the curve (swap </a:t>
            </a:r>
            <a:r>
              <a:rPr lang="en-US" sz="800" i="0" dirty="0">
                <a:solidFill>
                  <a:srgbClr val="011C40"/>
                </a:solidFill>
                <a:latin typeface="Garamond"/>
              </a:rPr>
              <a:t>yield </a:t>
            </a:r>
            <a:r>
              <a:rPr sz="800" i="0" dirty="0">
                <a:solidFill>
                  <a:srgbClr val="011C40"/>
                </a:solidFill>
                <a:latin typeface="Garamond"/>
              </a:rPr>
              <a:t>less OAT</a:t>
            </a:r>
            <a:r>
              <a:rPr lang="en-US" sz="800" i="0" dirty="0">
                <a:solidFill>
                  <a:srgbClr val="011C40"/>
                </a:solidFill>
                <a:latin typeface="Garamond"/>
              </a:rPr>
              <a:t> yield</a:t>
            </a:r>
            <a:r>
              <a:rPr sz="800" i="0" dirty="0">
                <a:solidFill>
                  <a:srgbClr val="011C40"/>
                </a:solidFill>
                <a:latin typeface="Garamond"/>
              </a:rPr>
              <a:t>)</a:t>
            </a:r>
          </a:p>
        </p:txBody>
      </p:sp>
    </p:spTree>
    <p:extLst>
      <p:ext uri="{BB962C8B-B14F-4D97-AF65-F5344CB8AC3E}">
        <p14:creationId xmlns:p14="http://schemas.microsoft.com/office/powerpoint/2010/main" val="3321492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Current Dislocation</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French swap spreads versus the 6m Euribor swap, weekly, since 2010</a:t>
            </a:r>
          </a:p>
        </p:txBody>
      </p:sp>
      <p:graphicFrame>
        <p:nvGraphicFramePr>
          <p:cNvPr id="203" name="Chart 6"/>
          <p:cNvGraphicFramePr>
            <a:graphicFrameLocks noGrp="1"/>
          </p:cNvGraphicFramePr>
          <p:nvPr/>
        </p:nvGraphicFramePr>
        <p:xfrm>
          <a:off x="1903737" y="1444421"/>
          <a:ext cx="5464454" cy="2898407"/>
        </p:xfrm>
        <a:graphic>
          <a:graphicData uri="http://schemas.openxmlformats.org/drawingml/2006/chart">
            <c:chart xmlns:c="http://schemas.openxmlformats.org/drawingml/2006/chart" xmlns:r="http://schemas.openxmlformats.org/officeDocument/2006/relationships" r:id="rId3"/>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14" name="Slide Number Placeholder"/>
          <p:cNvSpPr>
            <a:spLocks noGrp="1"/>
          </p:cNvSpPr>
          <p:nvPr>
            <p:ph type="sldNum" sz="quarter" idx="12"/>
          </p:nvPr>
        </p:nvSpPr>
        <p:spPr/>
        <p:txBody>
          <a:bodyPr/>
          <a:lstStyle/>
          <a:p>
            <a:fld id="{F6B70E3D-0A47-44A9-8B13-A3D1BC88A914}" type="slidenum">
              <a:rPr lang="en-US"/>
              <a:t>6</a:t>
            </a:fld>
            <a:endParaRPr lang="en-US"/>
          </a:p>
        </p:txBody>
      </p:sp>
    </p:spTree>
    <p:extLst>
      <p:ext uri="{BB962C8B-B14F-4D97-AF65-F5344CB8AC3E}">
        <p14:creationId xmlns:p14="http://schemas.microsoft.com/office/powerpoint/2010/main" val="392539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pic>
        <p:nvPicPr>
          <p:cNvPr id="3" name="Picture 2" descr="logo_dark.png"/>
          <p:cNvPicPr>
            <a:picLocks noChangeAspect="1"/>
          </p:cNvPicPr>
          <p:nvPr/>
        </p:nvPicPr>
        <p:blipFill>
          <a:blip r:embed="rId2"/>
          <a:stretch>
            <a:fillRect/>
          </a:stretch>
        </p:blipFill>
        <p:spPr>
          <a:xfrm>
            <a:off x="7854467" y="4759452"/>
            <a:ext cx="864108" cy="244889"/>
          </a:xfrm>
          <a:prstGeom prst="rect">
            <a:avLst/>
          </a:prstGeom>
        </p:spPr>
      </p:pic>
      <p:sp>
        <p:nvSpPr>
          <p:cNvPr id="4" name="TextBox 3"/>
          <p:cNvSpPr txBox="1"/>
          <p:nvPr/>
        </p:nvSpPr>
        <p:spPr>
          <a:xfrm>
            <a:off x="425196" y="4869180"/>
            <a:ext cx="205740" cy="109645"/>
          </a:xfrm>
          <a:prstGeom prst="rect">
            <a:avLst/>
          </a:prstGeom>
          <a:noFill/>
        </p:spPr>
        <p:txBody>
          <a:bodyPr wrap="square" lIns="0" tIns="0" rIns="0" bIns="0" anchor="t">
            <a:spAutoFit/>
          </a:bodyPr>
          <a:lstStyle/>
          <a:p>
            <a:pPr>
              <a:lnSpc>
                <a:spcPct val="95000"/>
              </a:lnSpc>
            </a:pPr>
            <a:r>
              <a:rPr sz="750">
                <a:solidFill>
                  <a:srgbClr val="9AA1B2"/>
                </a:solidFill>
                <a:latin typeface="Calibri"/>
              </a:rPr>
              <a:t>7</a:t>
            </a:r>
          </a:p>
        </p:txBody>
      </p:sp>
      <p:sp>
        <p:nvSpPr>
          <p:cNvPr id="5" name="TextBox 4"/>
          <p:cNvSpPr txBox="1"/>
          <p:nvPr/>
        </p:nvSpPr>
        <p:spPr>
          <a:xfrm>
            <a:off x="425197" y="288036"/>
            <a:ext cx="8293379" cy="317972"/>
          </a:xfrm>
          <a:prstGeom prst="rect">
            <a:avLst/>
          </a:prstGeom>
          <a:noFill/>
        </p:spPr>
        <p:txBody>
          <a:bodyPr wrap="square" lIns="0" tIns="0" rIns="0" bIns="0" anchor="t">
            <a:spAutoFit/>
          </a:bodyPr>
          <a:lstStyle/>
          <a:p>
            <a:pPr>
              <a:lnSpc>
                <a:spcPct val="95000"/>
              </a:lnSpc>
              <a:spcAft>
                <a:spcPts val="450"/>
              </a:spcAft>
            </a:pPr>
            <a:r>
              <a:rPr sz="2175" b="1">
                <a:solidFill>
                  <a:srgbClr val="1E2761"/>
                </a:solidFill>
                <a:latin typeface="Cambria"/>
              </a:rPr>
              <a:t>Why is there a dislocation?</a:t>
            </a:r>
          </a:p>
        </p:txBody>
      </p:sp>
      <p:sp>
        <p:nvSpPr>
          <p:cNvPr id="6" name="TextBox 5"/>
          <p:cNvSpPr txBox="1"/>
          <p:nvPr/>
        </p:nvSpPr>
        <p:spPr>
          <a:xfrm>
            <a:off x="425197" y="685800"/>
            <a:ext cx="8293379" cy="142540"/>
          </a:xfrm>
          <a:prstGeom prst="rect">
            <a:avLst/>
          </a:prstGeom>
          <a:noFill/>
        </p:spPr>
        <p:txBody>
          <a:bodyPr wrap="square" lIns="0" tIns="0" rIns="0" bIns="0" anchor="t">
            <a:spAutoFit/>
          </a:bodyPr>
          <a:lstStyle/>
          <a:p>
            <a:pPr>
              <a:lnSpc>
                <a:spcPct val="95000"/>
              </a:lnSpc>
              <a:spcAft>
                <a:spcPts val="450"/>
              </a:spcAft>
            </a:pPr>
            <a:r>
              <a:rPr sz="975" i="1">
                <a:solidFill>
                  <a:srgbClr val="5A6172"/>
                </a:solidFill>
                <a:latin typeface="Calibri"/>
              </a:rPr>
              <a:t>Slow-moving causes, and the fast ones of the last few weeks</a:t>
            </a:r>
          </a:p>
        </p:txBody>
      </p:sp>
      <p:sp>
        <p:nvSpPr>
          <p:cNvPr id="7" name="Rounded Rectangle 6"/>
          <p:cNvSpPr/>
          <p:nvPr/>
        </p:nvSpPr>
        <p:spPr>
          <a:xfrm>
            <a:off x="425197" y="1062990"/>
            <a:ext cx="4009529" cy="325755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8" name="Rounded Rectangle 7"/>
          <p:cNvSpPr/>
          <p:nvPr/>
        </p:nvSpPr>
        <p:spPr>
          <a:xfrm>
            <a:off x="4709046" y="1062990"/>
            <a:ext cx="4009529" cy="325755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617221" y="1193292"/>
            <a:ext cx="3625481" cy="186398"/>
          </a:xfrm>
          <a:prstGeom prst="rect">
            <a:avLst/>
          </a:prstGeom>
          <a:noFill/>
        </p:spPr>
        <p:txBody>
          <a:bodyPr wrap="square" lIns="0" tIns="0" rIns="0" bIns="0" anchor="t">
            <a:spAutoFit/>
          </a:bodyPr>
          <a:lstStyle/>
          <a:p>
            <a:pPr>
              <a:lnSpc>
                <a:spcPct val="95000"/>
              </a:lnSpc>
              <a:spcAft>
                <a:spcPts val="450"/>
              </a:spcAft>
            </a:pPr>
            <a:r>
              <a:rPr sz="1275" b="1">
                <a:solidFill>
                  <a:srgbClr val="1E2761"/>
                </a:solidFill>
                <a:latin typeface="Cambria"/>
              </a:rPr>
              <a:t>Long-term factors</a:t>
            </a:r>
          </a:p>
        </p:txBody>
      </p:sp>
      <p:sp>
        <p:nvSpPr>
          <p:cNvPr id="10" name="TextBox 9"/>
          <p:cNvSpPr txBox="1"/>
          <p:nvPr/>
        </p:nvSpPr>
        <p:spPr>
          <a:xfrm>
            <a:off x="4901070" y="1193292"/>
            <a:ext cx="3625481" cy="186398"/>
          </a:xfrm>
          <a:prstGeom prst="rect">
            <a:avLst/>
          </a:prstGeom>
          <a:noFill/>
        </p:spPr>
        <p:txBody>
          <a:bodyPr wrap="square" lIns="0" tIns="0" rIns="0" bIns="0" anchor="t">
            <a:spAutoFit/>
          </a:bodyPr>
          <a:lstStyle/>
          <a:p>
            <a:pPr>
              <a:lnSpc>
                <a:spcPct val="95000"/>
              </a:lnSpc>
              <a:spcAft>
                <a:spcPts val="450"/>
              </a:spcAft>
            </a:pPr>
            <a:r>
              <a:rPr sz="1275" b="1">
                <a:solidFill>
                  <a:srgbClr val="1E2761"/>
                </a:solidFill>
                <a:latin typeface="Cambria"/>
              </a:rPr>
              <a:t>Short-term factors</a:t>
            </a:r>
          </a:p>
        </p:txBody>
      </p:sp>
      <p:sp>
        <p:nvSpPr>
          <p:cNvPr id="11" name="Oval 10"/>
          <p:cNvSpPr/>
          <p:nvPr/>
        </p:nvSpPr>
        <p:spPr>
          <a:xfrm>
            <a:off x="617220" y="1626717"/>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754381" y="1577340"/>
            <a:ext cx="3488321" cy="472309"/>
          </a:xfrm>
          <a:prstGeom prst="rect">
            <a:avLst/>
          </a:prstGeom>
          <a:noFill/>
        </p:spPr>
        <p:txBody>
          <a:bodyPr wrap="square" lIns="0" tIns="0" rIns="0" bIns="0" anchor="t">
            <a:spAutoFit/>
          </a:bodyPr>
          <a:lstStyle/>
          <a:p>
            <a:pPr>
              <a:lnSpc>
                <a:spcPct val="112000"/>
              </a:lnSpc>
            </a:pPr>
            <a:r>
              <a:rPr sz="930">
                <a:solidFill>
                  <a:srgbClr val="1E2761"/>
                </a:solidFill>
                <a:latin typeface="Calibri"/>
              </a:rPr>
              <a:t>Budget and fiscal: a deficit of 5.1% of GDP in 2025 and debt of 116% of GDP, the widest and the fastest-rising of the euro area's four large economies.</a:t>
            </a:r>
          </a:p>
        </p:txBody>
      </p:sp>
      <p:sp>
        <p:nvSpPr>
          <p:cNvPr id="13" name="Oval 12"/>
          <p:cNvSpPr/>
          <p:nvPr/>
        </p:nvSpPr>
        <p:spPr>
          <a:xfrm>
            <a:off x="617220" y="2196599"/>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754381" y="2147222"/>
            <a:ext cx="3488321" cy="472309"/>
          </a:xfrm>
          <a:prstGeom prst="rect">
            <a:avLst/>
          </a:prstGeom>
          <a:noFill/>
        </p:spPr>
        <p:txBody>
          <a:bodyPr wrap="square" lIns="0" tIns="0" rIns="0" bIns="0" anchor="t">
            <a:spAutoFit/>
          </a:bodyPr>
          <a:lstStyle/>
          <a:p>
            <a:pPr>
              <a:lnSpc>
                <a:spcPct val="112000"/>
              </a:lnSpc>
            </a:pPr>
            <a:r>
              <a:rPr sz="930">
                <a:solidFill>
                  <a:srgbClr val="1E2761"/>
                </a:solidFill>
                <a:latin typeface="Calibri"/>
              </a:rPr>
              <a:t>Political dysfunction: no majority since June 2024, governments falling on the budget, and no visible will to fix the arithmetic before the 2027 election.</a:t>
            </a:r>
          </a:p>
        </p:txBody>
      </p:sp>
      <p:sp>
        <p:nvSpPr>
          <p:cNvPr id="15" name="Oval 14"/>
          <p:cNvSpPr/>
          <p:nvPr/>
        </p:nvSpPr>
        <p:spPr>
          <a:xfrm>
            <a:off x="617220" y="2766480"/>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754381" y="2717103"/>
            <a:ext cx="3488321" cy="472309"/>
          </a:xfrm>
          <a:prstGeom prst="rect">
            <a:avLst/>
          </a:prstGeom>
          <a:noFill/>
        </p:spPr>
        <p:txBody>
          <a:bodyPr wrap="square" lIns="0" tIns="0" rIns="0" bIns="0" anchor="t">
            <a:spAutoFit/>
          </a:bodyPr>
          <a:lstStyle/>
          <a:p>
            <a:pPr>
              <a:lnSpc>
                <a:spcPct val="112000"/>
              </a:lnSpc>
            </a:pPr>
            <a:r>
              <a:rPr sz="930">
                <a:solidFill>
                  <a:srgbClr val="1E2761"/>
                </a:solidFill>
                <a:latin typeface="Calibri"/>
              </a:rPr>
              <a:t>A negative feedback loop: net interest has risen from 1.3% of GDP in 2020 to 2.1% in 2025 as the debt reprices, so higher yields push the deficit further.</a:t>
            </a:r>
          </a:p>
        </p:txBody>
      </p:sp>
      <p:sp>
        <p:nvSpPr>
          <p:cNvPr id="17" name="Oval 16"/>
          <p:cNvSpPr/>
          <p:nvPr/>
        </p:nvSpPr>
        <p:spPr>
          <a:xfrm>
            <a:off x="4901069" y="1626717"/>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038230" y="1577340"/>
            <a:ext cx="3488321" cy="792909"/>
          </a:xfrm>
          <a:prstGeom prst="rect">
            <a:avLst/>
          </a:prstGeom>
          <a:noFill/>
        </p:spPr>
        <p:txBody>
          <a:bodyPr wrap="square" lIns="0" tIns="0" rIns="0" bIns="0" anchor="t">
            <a:spAutoFit/>
          </a:bodyPr>
          <a:lstStyle/>
          <a:p>
            <a:pPr>
              <a:lnSpc>
                <a:spcPct val="112000"/>
              </a:lnSpc>
            </a:pPr>
            <a:r>
              <a:rPr sz="930">
                <a:solidFill>
                  <a:srgbClr val="1E2761"/>
                </a:solidFill>
                <a:latin typeface="Calibri"/>
              </a:rPr>
              <a:t>Levered unwinds: the 5-year spread fell 34bp in ten trading days to −83bp, the kind of move that comes from forced sellers rather than new information. The triggers: the 2026 deficit target missed (5.4% against 5%), a Scope downgrade, and Lagarde calling debt near 120% of GDP a serious problem.</a:t>
            </a:r>
          </a:p>
        </p:txBody>
      </p:sp>
      <p:sp>
        <p:nvSpPr>
          <p:cNvPr id="19" name="Oval 18"/>
          <p:cNvSpPr/>
          <p:nvPr/>
        </p:nvSpPr>
        <p:spPr>
          <a:xfrm>
            <a:off x="4901069" y="2519370"/>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5038230" y="2469992"/>
            <a:ext cx="3488321" cy="472309"/>
          </a:xfrm>
          <a:prstGeom prst="rect">
            <a:avLst/>
          </a:prstGeom>
          <a:noFill/>
        </p:spPr>
        <p:txBody>
          <a:bodyPr wrap="square" lIns="0" tIns="0" rIns="0" bIns="0" anchor="t">
            <a:spAutoFit/>
          </a:bodyPr>
          <a:lstStyle/>
          <a:p>
            <a:pPr>
              <a:lnSpc>
                <a:spcPct val="112000"/>
              </a:lnSpc>
            </a:pPr>
            <a:r>
              <a:rPr sz="930">
                <a:solidFill>
                  <a:srgbClr val="1E2761"/>
                </a:solidFill>
                <a:latin typeface="Calibri"/>
              </a:rPr>
              <a:t>Rates globally moving higher and more volatile: the 5-year euro swap rate is 3.50% against 2.36% a year ago, with the global tightening cycle, in our view, still in its early innings.</a:t>
            </a:r>
          </a:p>
        </p:txBody>
      </p:sp>
      <p:sp>
        <p:nvSpPr>
          <p:cNvPr id="21" name="Oval 20"/>
          <p:cNvSpPr/>
          <p:nvPr/>
        </p:nvSpPr>
        <p:spPr>
          <a:xfrm>
            <a:off x="4901069" y="3089252"/>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5038230" y="3039874"/>
            <a:ext cx="3488321" cy="312008"/>
          </a:xfrm>
          <a:prstGeom prst="rect">
            <a:avLst/>
          </a:prstGeom>
          <a:noFill/>
        </p:spPr>
        <p:txBody>
          <a:bodyPr wrap="square" lIns="0" tIns="0" rIns="0" bIns="0" anchor="t">
            <a:spAutoFit/>
          </a:bodyPr>
          <a:lstStyle/>
          <a:p>
            <a:pPr>
              <a:lnSpc>
                <a:spcPct val="112000"/>
              </a:lnSpc>
            </a:pPr>
            <a:r>
              <a:rPr sz="930">
                <a:solidFill>
                  <a:srgbClr val="1E2761"/>
                </a:solidFill>
                <a:latin typeface="Calibri"/>
              </a:rPr>
              <a:t>Polls showing the far right and far left leading into the presidential election of April and May 2027.</a:t>
            </a:r>
          </a:p>
        </p:txBody>
      </p:sp>
      <p:sp>
        <p:nvSpPr>
          <p:cNvPr id="23" name="Oval 22"/>
          <p:cNvSpPr/>
          <p:nvPr/>
        </p:nvSpPr>
        <p:spPr>
          <a:xfrm>
            <a:off x="4901069" y="3497747"/>
            <a:ext cx="49377" cy="49377"/>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5038230" y="3448370"/>
            <a:ext cx="3488321" cy="472309"/>
          </a:xfrm>
          <a:prstGeom prst="rect">
            <a:avLst/>
          </a:prstGeom>
          <a:noFill/>
        </p:spPr>
        <p:txBody>
          <a:bodyPr wrap="square" lIns="0" tIns="0" rIns="0" bIns="0" anchor="t">
            <a:spAutoFit/>
          </a:bodyPr>
          <a:lstStyle/>
          <a:p>
            <a:pPr>
              <a:lnSpc>
                <a:spcPct val="112000"/>
              </a:lnSpc>
            </a:pPr>
            <a:r>
              <a:rPr sz="930">
                <a:solidFill>
                  <a:srgbClr val="1E2761"/>
                </a:solidFill>
                <a:latin typeface="Calibri"/>
              </a:rPr>
              <a:t>A left-wing candidate has floated cancelling the French debt held by the central bank; the ECB called it a treaty violation, and the market heard both halves.</a:t>
            </a:r>
          </a:p>
        </p:txBody>
      </p:sp>
      <p:sp>
        <p:nvSpPr>
          <p:cNvPr id="25" name="TextBox 24"/>
          <p:cNvSpPr txBox="1"/>
          <p:nvPr/>
        </p:nvSpPr>
        <p:spPr>
          <a:xfrm>
            <a:off x="713233" y="4711858"/>
            <a:ext cx="7031507" cy="219291"/>
          </a:xfrm>
          <a:prstGeom prst="rect">
            <a:avLst/>
          </a:prstGeom>
          <a:noFill/>
        </p:spPr>
        <p:txBody>
          <a:bodyPr wrap="square" lIns="0" tIns="0" rIns="0" bIns="0" anchor="t">
            <a:spAutoFit/>
          </a:bodyPr>
          <a:lstStyle/>
          <a:p>
            <a:pPr>
              <a:lnSpc>
                <a:spcPct val="108000"/>
              </a:lnSpc>
            </a:pPr>
            <a:r>
              <a:rPr sz="675">
                <a:solidFill>
                  <a:srgbClr val="9AA1B2"/>
                </a:solidFill>
                <a:latin typeface="Calibri"/>
              </a:rPr>
              <a:t>Fiscal figures: Eurostat and OECD via Bloomberg, latest full year 2025. Spread and swap moves: Bloomberg, to 2 October 2026. Triggers: Political Alpha Research, 5 October 2026. The attribution of the recent move to levered unwinds is Liminality's judgement. Source: Eurostat, OECD, Bloomberg, Political Alpha, Liminality calculations.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pic>
        <p:nvPicPr>
          <p:cNvPr id="3" name="Picture 2" descr="logo_dark.png"/>
          <p:cNvPicPr>
            <a:picLocks noChangeAspect="1"/>
          </p:cNvPicPr>
          <p:nvPr/>
        </p:nvPicPr>
        <p:blipFill>
          <a:blip r:embed="rId2"/>
          <a:stretch>
            <a:fillRect/>
          </a:stretch>
        </p:blipFill>
        <p:spPr>
          <a:xfrm>
            <a:off x="7854467" y="4759452"/>
            <a:ext cx="864108" cy="244889"/>
          </a:xfrm>
          <a:prstGeom prst="rect">
            <a:avLst/>
          </a:prstGeom>
        </p:spPr>
      </p:pic>
      <p:sp>
        <p:nvSpPr>
          <p:cNvPr id="4" name="TextBox 3"/>
          <p:cNvSpPr txBox="1"/>
          <p:nvPr/>
        </p:nvSpPr>
        <p:spPr>
          <a:xfrm>
            <a:off x="425196" y="4869180"/>
            <a:ext cx="205740" cy="109645"/>
          </a:xfrm>
          <a:prstGeom prst="rect">
            <a:avLst/>
          </a:prstGeom>
          <a:noFill/>
        </p:spPr>
        <p:txBody>
          <a:bodyPr wrap="square" lIns="0" tIns="0" rIns="0" bIns="0" anchor="t">
            <a:spAutoFit/>
          </a:bodyPr>
          <a:lstStyle/>
          <a:p>
            <a:pPr>
              <a:lnSpc>
                <a:spcPct val="95000"/>
              </a:lnSpc>
            </a:pPr>
            <a:r>
              <a:rPr sz="750">
                <a:solidFill>
                  <a:srgbClr val="9AA1B2"/>
                </a:solidFill>
                <a:latin typeface="Calibri"/>
              </a:rPr>
              <a:t>8</a:t>
            </a:r>
          </a:p>
        </p:txBody>
      </p:sp>
      <p:sp>
        <p:nvSpPr>
          <p:cNvPr id="5" name="TextBox 4"/>
          <p:cNvSpPr txBox="1"/>
          <p:nvPr/>
        </p:nvSpPr>
        <p:spPr>
          <a:xfrm>
            <a:off x="425197" y="288036"/>
            <a:ext cx="8293379" cy="317972"/>
          </a:xfrm>
          <a:prstGeom prst="rect">
            <a:avLst/>
          </a:prstGeom>
          <a:noFill/>
        </p:spPr>
        <p:txBody>
          <a:bodyPr wrap="square" lIns="0" tIns="0" rIns="0" bIns="0" anchor="t">
            <a:spAutoFit/>
          </a:bodyPr>
          <a:lstStyle/>
          <a:p>
            <a:pPr>
              <a:lnSpc>
                <a:spcPct val="95000"/>
              </a:lnSpc>
              <a:spcAft>
                <a:spcPts val="450"/>
              </a:spcAft>
            </a:pPr>
            <a:r>
              <a:rPr sz="2175" b="1">
                <a:solidFill>
                  <a:srgbClr val="1E2761"/>
                </a:solidFill>
                <a:latin typeface="Cambria"/>
              </a:rPr>
              <a:t>What is the trade?</a:t>
            </a:r>
          </a:p>
        </p:txBody>
      </p:sp>
      <p:sp>
        <p:nvSpPr>
          <p:cNvPr id="6" name="TextBox 5"/>
          <p:cNvSpPr txBox="1"/>
          <p:nvPr/>
        </p:nvSpPr>
        <p:spPr>
          <a:xfrm>
            <a:off x="425197" y="685800"/>
            <a:ext cx="8293379" cy="142540"/>
          </a:xfrm>
          <a:prstGeom prst="rect">
            <a:avLst/>
          </a:prstGeom>
          <a:noFill/>
        </p:spPr>
        <p:txBody>
          <a:bodyPr wrap="square" lIns="0" tIns="0" rIns="0" bIns="0" anchor="t">
            <a:spAutoFit/>
          </a:bodyPr>
          <a:lstStyle/>
          <a:p>
            <a:pPr>
              <a:lnSpc>
                <a:spcPct val="95000"/>
              </a:lnSpc>
              <a:spcAft>
                <a:spcPts val="450"/>
              </a:spcAft>
            </a:pPr>
            <a:r>
              <a:rPr sz="975" i="1">
                <a:solidFill>
                  <a:srgbClr val="5A6172"/>
                </a:solidFill>
                <a:latin typeface="Calibri"/>
              </a:rPr>
              <a:t>Long the OAT, pay fixed on the swap, financed through a total return swap with a floor</a:t>
            </a:r>
          </a:p>
        </p:txBody>
      </p:sp>
      <p:sp>
        <p:nvSpPr>
          <p:cNvPr id="7" name="Rounded Rectangle 6"/>
          <p:cNvSpPr/>
          <p:nvPr/>
        </p:nvSpPr>
        <p:spPr>
          <a:xfrm>
            <a:off x="960120" y="1200150"/>
            <a:ext cx="2057400" cy="788670"/>
          </a:xfrm>
          <a:prstGeom prst="roundRect">
            <a:avLst>
              <a:gd name="adj" fmla="val 4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8" name="TextBox 7"/>
          <p:cNvSpPr txBox="1"/>
          <p:nvPr/>
        </p:nvSpPr>
        <p:spPr>
          <a:xfrm>
            <a:off x="1062989" y="1447330"/>
            <a:ext cx="1851660" cy="294311"/>
          </a:xfrm>
          <a:prstGeom prst="rect">
            <a:avLst/>
          </a:prstGeom>
          <a:noFill/>
        </p:spPr>
        <p:txBody>
          <a:bodyPr wrap="square" lIns="0" tIns="0" rIns="0" bIns="0" anchor="ctr">
            <a:spAutoFit/>
          </a:bodyPr>
          <a:lstStyle/>
          <a:p>
            <a:pPr algn="ctr">
              <a:lnSpc>
                <a:spcPct val="95000"/>
              </a:lnSpc>
              <a:spcAft>
                <a:spcPts val="225"/>
              </a:spcAft>
            </a:pPr>
            <a:r>
              <a:rPr sz="1050" b="1">
                <a:solidFill>
                  <a:srgbClr val="FFFFFF"/>
                </a:solidFill>
                <a:latin typeface="Cambria"/>
              </a:rPr>
              <a:t>Bank</a:t>
            </a:r>
          </a:p>
          <a:p>
            <a:pPr algn="ctr">
              <a:lnSpc>
                <a:spcPct val="95000"/>
              </a:lnSpc>
              <a:spcAft>
                <a:spcPts val="225"/>
              </a:spcAft>
            </a:pPr>
            <a:r>
              <a:rPr sz="788">
                <a:solidFill>
                  <a:srgbClr val="FFFFFF"/>
                </a:solidFill>
                <a:latin typeface="Calibri"/>
              </a:rPr>
              <a:t>total return payer</a:t>
            </a:r>
          </a:p>
        </p:txBody>
      </p:sp>
      <p:sp>
        <p:nvSpPr>
          <p:cNvPr id="9" name="Rounded Rectangle 8"/>
          <p:cNvSpPr/>
          <p:nvPr/>
        </p:nvSpPr>
        <p:spPr>
          <a:xfrm>
            <a:off x="6137909" y="1200150"/>
            <a:ext cx="2057400" cy="78867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0" name="TextBox 9"/>
          <p:cNvSpPr txBox="1"/>
          <p:nvPr/>
        </p:nvSpPr>
        <p:spPr>
          <a:xfrm>
            <a:off x="6240780" y="1447330"/>
            <a:ext cx="1851660" cy="294311"/>
          </a:xfrm>
          <a:prstGeom prst="rect">
            <a:avLst/>
          </a:prstGeom>
          <a:noFill/>
        </p:spPr>
        <p:txBody>
          <a:bodyPr wrap="square" lIns="0" tIns="0" rIns="0" bIns="0" anchor="ctr">
            <a:spAutoFit/>
          </a:bodyPr>
          <a:lstStyle/>
          <a:p>
            <a:pPr algn="ctr">
              <a:lnSpc>
                <a:spcPct val="95000"/>
              </a:lnSpc>
              <a:spcAft>
                <a:spcPts val="225"/>
              </a:spcAft>
            </a:pPr>
            <a:r>
              <a:rPr sz="1050" b="1">
                <a:solidFill>
                  <a:srgbClr val="1E2761"/>
                </a:solidFill>
                <a:latin typeface="Cambria"/>
              </a:rPr>
              <a:t>Liminality</a:t>
            </a:r>
          </a:p>
          <a:p>
            <a:pPr algn="ctr">
              <a:lnSpc>
                <a:spcPct val="95000"/>
              </a:lnSpc>
              <a:spcAft>
                <a:spcPts val="225"/>
              </a:spcAft>
            </a:pPr>
            <a:r>
              <a:rPr sz="788">
                <a:solidFill>
                  <a:srgbClr val="5A6172"/>
                </a:solidFill>
                <a:latin typeface="Calibri"/>
              </a:rPr>
              <a:t>total return receiver</a:t>
            </a:r>
          </a:p>
        </p:txBody>
      </p:sp>
      <p:sp>
        <p:nvSpPr>
          <p:cNvPr id="11" name="Rounded Rectangle 10"/>
          <p:cNvSpPr/>
          <p:nvPr/>
        </p:nvSpPr>
        <p:spPr>
          <a:xfrm>
            <a:off x="960120" y="2777490"/>
            <a:ext cx="2057400" cy="78867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1062989" y="2972572"/>
            <a:ext cx="1851660" cy="398507"/>
          </a:xfrm>
          <a:prstGeom prst="rect">
            <a:avLst/>
          </a:prstGeom>
          <a:noFill/>
        </p:spPr>
        <p:txBody>
          <a:bodyPr wrap="square" lIns="0" tIns="0" rIns="0" bIns="0" anchor="ctr">
            <a:spAutoFit/>
          </a:bodyPr>
          <a:lstStyle/>
          <a:p>
            <a:pPr algn="ctr">
              <a:lnSpc>
                <a:spcPct val="95000"/>
              </a:lnSpc>
              <a:spcAft>
                <a:spcPts val="225"/>
              </a:spcAft>
            </a:pPr>
            <a:r>
              <a:rPr sz="975" b="1">
                <a:solidFill>
                  <a:srgbClr val="1E2761"/>
                </a:solidFill>
                <a:latin typeface="Cambria"/>
              </a:rPr>
              <a:t>Underlying asset</a:t>
            </a:r>
          </a:p>
          <a:p>
            <a:pPr algn="ctr">
              <a:lnSpc>
                <a:spcPct val="95000"/>
              </a:lnSpc>
              <a:spcAft>
                <a:spcPts val="225"/>
              </a:spcAft>
            </a:pPr>
            <a:r>
              <a:rPr sz="788">
                <a:solidFill>
                  <a:srgbClr val="5A6172"/>
                </a:solidFill>
                <a:latin typeface="Calibri"/>
              </a:rPr>
              <a:t>FRTR 3¼ 02/25/32 and a matched 6m Euribor swap, pay fixed</a:t>
            </a:r>
          </a:p>
        </p:txBody>
      </p:sp>
      <p:cxnSp>
        <p:nvCxnSpPr>
          <p:cNvPr id="13" name="Connector 12"/>
          <p:cNvCxnSpPr/>
          <p:nvPr/>
        </p:nvCxnSpPr>
        <p:spPr>
          <a:xfrm>
            <a:off x="1988820" y="1988820"/>
            <a:ext cx="0" cy="788670"/>
          </a:xfrm>
          <a:prstGeom prst="line">
            <a:avLst/>
          </a:prstGeom>
          <a:ln w="19050">
            <a:solidFill>
              <a:srgbClr val="5A617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71116" y="2194560"/>
            <a:ext cx="1645920" cy="115160"/>
          </a:xfrm>
          <a:prstGeom prst="rect">
            <a:avLst/>
          </a:prstGeom>
          <a:noFill/>
        </p:spPr>
        <p:txBody>
          <a:bodyPr wrap="square" lIns="0" tIns="0" rIns="0" bIns="0" anchor="t">
            <a:spAutoFit/>
          </a:bodyPr>
          <a:lstStyle/>
          <a:p>
            <a:pPr>
              <a:lnSpc>
                <a:spcPct val="95000"/>
              </a:lnSpc>
              <a:spcAft>
                <a:spcPts val="450"/>
              </a:spcAft>
            </a:pPr>
            <a:r>
              <a:rPr sz="788">
                <a:solidFill>
                  <a:srgbClr val="5A6172"/>
                </a:solidFill>
                <a:latin typeface="Calibri"/>
              </a:rPr>
              <a:t>underlying cash flows</a:t>
            </a:r>
          </a:p>
        </p:txBody>
      </p:sp>
      <p:sp>
        <p:nvSpPr>
          <p:cNvPr id="15" name="Right Arrow 14"/>
          <p:cNvSpPr/>
          <p:nvPr/>
        </p:nvSpPr>
        <p:spPr>
          <a:xfrm>
            <a:off x="3154681" y="1337310"/>
            <a:ext cx="2846069" cy="233172"/>
          </a:xfrm>
          <a:prstGeom prst="rightArrow">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3154681" y="1028700"/>
            <a:ext cx="2846069" cy="120610"/>
          </a:xfrm>
          <a:prstGeom prst="rect">
            <a:avLst/>
          </a:prstGeom>
          <a:noFill/>
        </p:spPr>
        <p:txBody>
          <a:bodyPr wrap="square" lIns="0" tIns="0" rIns="0" bIns="0" anchor="t">
            <a:spAutoFit/>
          </a:bodyPr>
          <a:lstStyle/>
          <a:p>
            <a:pPr algn="ctr">
              <a:lnSpc>
                <a:spcPct val="95000"/>
              </a:lnSpc>
              <a:spcAft>
                <a:spcPts val="450"/>
              </a:spcAft>
            </a:pPr>
            <a:r>
              <a:rPr sz="825" b="1">
                <a:solidFill>
                  <a:srgbClr val="2C7A5A"/>
                </a:solidFill>
                <a:latin typeface="Calibri"/>
              </a:rPr>
              <a:t>total return on the package: carry plus price change</a:t>
            </a:r>
          </a:p>
        </p:txBody>
      </p:sp>
      <p:sp>
        <p:nvSpPr>
          <p:cNvPr id="17" name="Left Arrow 16"/>
          <p:cNvSpPr/>
          <p:nvPr/>
        </p:nvSpPr>
        <p:spPr>
          <a:xfrm>
            <a:off x="3154681" y="1700784"/>
            <a:ext cx="2846069" cy="233172"/>
          </a:xfrm>
          <a:prstGeom prst="leftArrow">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3154681" y="1961388"/>
            <a:ext cx="2846069" cy="120610"/>
          </a:xfrm>
          <a:prstGeom prst="rect">
            <a:avLst/>
          </a:prstGeom>
          <a:noFill/>
        </p:spPr>
        <p:txBody>
          <a:bodyPr wrap="square" lIns="0" tIns="0" rIns="0" bIns="0" anchor="t">
            <a:spAutoFit/>
          </a:bodyPr>
          <a:lstStyle/>
          <a:p>
            <a:pPr algn="ctr">
              <a:lnSpc>
                <a:spcPct val="95000"/>
              </a:lnSpc>
              <a:spcAft>
                <a:spcPts val="450"/>
              </a:spcAft>
            </a:pPr>
            <a:r>
              <a:rPr sz="825" b="1">
                <a:solidFill>
                  <a:srgbClr val="C9922E"/>
                </a:solidFill>
                <a:latin typeface="Calibri"/>
              </a:rPr>
              <a:t>€STR + 17bp, 4.4 years of funding locked in</a:t>
            </a:r>
          </a:p>
        </p:txBody>
      </p:sp>
      <p:sp>
        <p:nvSpPr>
          <p:cNvPr id="19" name="Rounded Rectangle 18"/>
          <p:cNvSpPr/>
          <p:nvPr/>
        </p:nvSpPr>
        <p:spPr>
          <a:xfrm>
            <a:off x="3634740" y="2777490"/>
            <a:ext cx="4560570" cy="902749"/>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3771900" y="2914651"/>
            <a:ext cx="4286250" cy="622606"/>
          </a:xfrm>
          <a:prstGeom prst="rect">
            <a:avLst/>
          </a:prstGeom>
          <a:noFill/>
        </p:spPr>
        <p:txBody>
          <a:bodyPr wrap="square" lIns="0" tIns="0" rIns="0" bIns="0" anchor="t">
            <a:spAutoFit/>
          </a:bodyPr>
          <a:lstStyle/>
          <a:p>
            <a:pPr>
              <a:lnSpc>
                <a:spcPct val="114000"/>
              </a:lnSpc>
              <a:spcAft>
                <a:spcPts val="150"/>
              </a:spcAft>
            </a:pPr>
            <a:r>
              <a:rPr sz="863" b="1">
                <a:solidFill>
                  <a:srgbClr val="1E2761"/>
                </a:solidFill>
                <a:latin typeface="Calibri"/>
              </a:rPr>
              <a:t>Unique feature: limited downside</a:t>
            </a:r>
          </a:p>
          <a:p>
            <a:pPr>
              <a:lnSpc>
                <a:spcPct val="114000"/>
              </a:lnSpc>
            </a:pPr>
            <a:r>
              <a:rPr sz="863">
                <a:solidFill>
                  <a:srgbClr val="5A6172"/>
                </a:solidFill>
                <a:latin typeface="Calibri"/>
              </a:rPr>
              <a:t>Liminality buys an option struck 30bp out of the money. The most that can be lost is the capital posted, 1.1m per 100m of bond notional including the option premium, and there is no margin call or refinancing before 25 February 2031.</a:t>
            </a:r>
          </a:p>
        </p:txBody>
      </p:sp>
      <p:graphicFrame>
        <p:nvGraphicFramePr>
          <p:cNvPr id="21" name="Table 20"/>
          <p:cNvGraphicFramePr>
            <a:graphicFrameLocks noGrp="1"/>
          </p:cNvGraphicFramePr>
          <p:nvPr/>
        </p:nvGraphicFramePr>
        <p:xfrm>
          <a:off x="425196" y="3854196"/>
          <a:ext cx="8293380" cy="507492"/>
        </p:xfrm>
        <a:graphic>
          <a:graphicData uri="http://schemas.openxmlformats.org/drawingml/2006/table">
            <a:tbl>
              <a:tblPr firstRow="1">
                <a:tableStyleId>{5C22544A-7EE6-4342-B048-85BDC9FD1C3A}</a:tableStyleId>
              </a:tblPr>
              <a:tblGrid>
                <a:gridCol w="1382230">
                  <a:extLst>
                    <a:ext uri="{9D8B030D-6E8A-4147-A177-3AD203B41FA5}">
                      <a16:colId xmlns:a16="http://schemas.microsoft.com/office/drawing/2014/main" val="20000"/>
                    </a:ext>
                  </a:extLst>
                </a:gridCol>
                <a:gridCol w="1382230">
                  <a:extLst>
                    <a:ext uri="{9D8B030D-6E8A-4147-A177-3AD203B41FA5}">
                      <a16:colId xmlns:a16="http://schemas.microsoft.com/office/drawing/2014/main" val="20001"/>
                    </a:ext>
                  </a:extLst>
                </a:gridCol>
                <a:gridCol w="1382230">
                  <a:extLst>
                    <a:ext uri="{9D8B030D-6E8A-4147-A177-3AD203B41FA5}">
                      <a16:colId xmlns:a16="http://schemas.microsoft.com/office/drawing/2014/main" val="20002"/>
                    </a:ext>
                  </a:extLst>
                </a:gridCol>
                <a:gridCol w="1382230">
                  <a:extLst>
                    <a:ext uri="{9D8B030D-6E8A-4147-A177-3AD203B41FA5}">
                      <a16:colId xmlns:a16="http://schemas.microsoft.com/office/drawing/2014/main" val="20003"/>
                    </a:ext>
                  </a:extLst>
                </a:gridCol>
                <a:gridCol w="1382230">
                  <a:extLst>
                    <a:ext uri="{9D8B030D-6E8A-4147-A177-3AD203B41FA5}">
                      <a16:colId xmlns:a16="http://schemas.microsoft.com/office/drawing/2014/main" val="20004"/>
                    </a:ext>
                  </a:extLst>
                </a:gridCol>
                <a:gridCol w="1382230">
                  <a:extLst>
                    <a:ext uri="{9D8B030D-6E8A-4147-A177-3AD203B41FA5}">
                      <a16:colId xmlns:a16="http://schemas.microsoft.com/office/drawing/2014/main" val="20005"/>
                    </a:ext>
                  </a:extLst>
                </a:gridCol>
              </a:tblGrid>
              <a:tr h="219456">
                <a:tc>
                  <a:txBody>
                    <a:bodyPr/>
                    <a:lstStyle/>
                    <a:p>
                      <a:pPr algn="l"/>
                      <a:r>
                        <a:rPr sz="800" b="1">
                          <a:solidFill>
                            <a:srgbClr val="FFFFFF"/>
                          </a:solidFill>
                          <a:latin typeface="Calibri"/>
                        </a:rPr>
                        <a:t>Bond</a:t>
                      </a:r>
                    </a:p>
                  </a:txBody>
                  <a:tcPr marL="48006" marR="48006" marT="6858" marB="6858" anchor="ctr">
                    <a:solidFill>
                      <a:srgbClr val="1E2761"/>
                    </a:solidFill>
                  </a:tcPr>
                </a:tc>
                <a:tc>
                  <a:txBody>
                    <a:bodyPr/>
                    <a:lstStyle/>
                    <a:p>
                      <a:pPr algn="l"/>
                      <a:r>
                        <a:rPr sz="800" b="1">
                          <a:solidFill>
                            <a:srgbClr val="FFFFFF"/>
                          </a:solidFill>
                          <a:latin typeface="Calibri"/>
                        </a:rPr>
                        <a:t>Swap</a:t>
                      </a:r>
                    </a:p>
                  </a:txBody>
                  <a:tcPr marL="48006" marR="48006" marT="6858" marB="6858" anchor="ctr">
                    <a:solidFill>
                      <a:srgbClr val="1E2761"/>
                    </a:solidFill>
                  </a:tcPr>
                </a:tc>
                <a:tc>
                  <a:txBody>
                    <a:bodyPr/>
                    <a:lstStyle/>
                    <a:p>
                      <a:pPr algn="l"/>
                      <a:r>
                        <a:rPr sz="800" b="1">
                          <a:solidFill>
                            <a:srgbClr val="FFFFFF"/>
                          </a:solidFill>
                          <a:latin typeface="Calibri"/>
                        </a:rPr>
                        <a:t>Financing</a:t>
                      </a:r>
                    </a:p>
                  </a:txBody>
                  <a:tcPr marL="48006" marR="48006" marT="6858" marB="6858" anchor="ctr">
                    <a:solidFill>
                      <a:srgbClr val="1E2761"/>
                    </a:solidFill>
                  </a:tcPr>
                </a:tc>
                <a:tc>
                  <a:txBody>
                    <a:bodyPr/>
                    <a:lstStyle/>
                    <a:p>
                      <a:pPr algn="l"/>
                      <a:r>
                        <a:rPr sz="800" b="1">
                          <a:solidFill>
                            <a:srgbClr val="FFFFFF"/>
                          </a:solidFill>
                          <a:latin typeface="Calibri"/>
                        </a:rPr>
                        <a:t>Option expiry</a:t>
                      </a:r>
                    </a:p>
                  </a:txBody>
                  <a:tcPr marL="48006" marR="48006" marT="6858" marB="6858" anchor="ctr">
                    <a:solidFill>
                      <a:srgbClr val="1E2761"/>
                    </a:solidFill>
                  </a:tcPr>
                </a:tc>
                <a:tc>
                  <a:txBody>
                    <a:bodyPr/>
                    <a:lstStyle/>
                    <a:p>
                      <a:pPr algn="l"/>
                      <a:r>
                        <a:rPr sz="800" b="1">
                          <a:solidFill>
                            <a:srgbClr val="FFFFFF"/>
                          </a:solidFill>
                          <a:latin typeface="Calibri"/>
                        </a:rPr>
                        <a:t>Floor</a:t>
                      </a:r>
                    </a:p>
                  </a:txBody>
                  <a:tcPr marL="48006" marR="48006" marT="6858" marB="6858" anchor="ctr">
                    <a:solidFill>
                      <a:srgbClr val="1E2761"/>
                    </a:solidFill>
                  </a:tcPr>
                </a:tc>
                <a:tc>
                  <a:txBody>
                    <a:bodyPr/>
                    <a:lstStyle/>
                    <a:p>
                      <a:pPr algn="l"/>
                      <a:r>
                        <a:rPr sz="800" b="1">
                          <a:solidFill>
                            <a:srgbClr val="FFFFFF"/>
                          </a:solidFill>
                          <a:latin typeface="Calibri"/>
                        </a:rPr>
                        <a:t>Capital</a:t>
                      </a:r>
                    </a:p>
                  </a:txBody>
                  <a:tcPr marL="48006" marR="48006" marT="6858" marB="6858" anchor="ctr">
                    <a:solidFill>
                      <a:srgbClr val="1E2761"/>
                    </a:solidFill>
                  </a:tcPr>
                </a:tc>
                <a:extLst>
                  <a:ext uri="{0D108BD9-81ED-4DB2-BD59-A6C34878D82A}">
                    <a16:rowId xmlns:a16="http://schemas.microsoft.com/office/drawing/2014/main" val="10000"/>
                  </a:ext>
                </a:extLst>
              </a:tr>
              <a:tr h="288036">
                <a:tc>
                  <a:txBody>
                    <a:bodyPr/>
                    <a:lstStyle/>
                    <a:p>
                      <a:pPr algn="l"/>
                      <a:r>
                        <a:rPr sz="800" b="0">
                          <a:solidFill>
                            <a:srgbClr val="1E2761"/>
                          </a:solidFill>
                          <a:latin typeface="Calibri"/>
                        </a:rPr>
                        <a:t>FRTR 3¼ 02/25/32</a:t>
                      </a:r>
                    </a:p>
                  </a:txBody>
                  <a:tcPr marL="48006" marR="48006" marT="6858" marB="6858" anchor="ctr">
                    <a:solidFill>
                      <a:srgbClr val="FFFFFF"/>
                    </a:solidFill>
                  </a:tcPr>
                </a:tc>
                <a:tc>
                  <a:txBody>
                    <a:bodyPr/>
                    <a:lstStyle/>
                    <a:p>
                      <a:pPr algn="l"/>
                      <a:r>
                        <a:rPr sz="800" b="0">
                          <a:solidFill>
                            <a:srgbClr val="1E2761"/>
                          </a:solidFill>
                          <a:latin typeface="Calibri"/>
                        </a:rPr>
                        <a:t>6m Euribor, pay fixed, matched maturity</a:t>
                      </a:r>
                    </a:p>
                  </a:txBody>
                  <a:tcPr marL="48006" marR="48006" marT="6858" marB="6858" anchor="ctr">
                    <a:solidFill>
                      <a:srgbClr val="FFFFFF"/>
                    </a:solidFill>
                  </a:tcPr>
                </a:tc>
                <a:tc>
                  <a:txBody>
                    <a:bodyPr/>
                    <a:lstStyle/>
                    <a:p>
                      <a:pPr algn="l"/>
                      <a:r>
                        <a:rPr sz="800" b="0">
                          <a:solidFill>
                            <a:srgbClr val="1E2761"/>
                          </a:solidFill>
                          <a:latin typeface="Calibri"/>
                        </a:rPr>
                        <a:t>TRS at €STR + 17bp</a:t>
                      </a:r>
                    </a:p>
                  </a:txBody>
                  <a:tcPr marL="48006" marR="48006" marT="6858" marB="6858" anchor="ctr">
                    <a:solidFill>
                      <a:srgbClr val="FFFFFF"/>
                    </a:solidFill>
                  </a:tcPr>
                </a:tc>
                <a:tc>
                  <a:txBody>
                    <a:bodyPr/>
                    <a:lstStyle/>
                    <a:p>
                      <a:pPr algn="l"/>
                      <a:r>
                        <a:rPr sz="800" b="0">
                          <a:solidFill>
                            <a:srgbClr val="1E2761"/>
                          </a:solidFill>
                          <a:latin typeface="Calibri"/>
                        </a:rPr>
                        <a:t>25 February 2031 (4.4 years)</a:t>
                      </a:r>
                    </a:p>
                  </a:txBody>
                  <a:tcPr marL="48006" marR="48006" marT="6858" marB="6858" anchor="ctr">
                    <a:solidFill>
                      <a:srgbClr val="FFFFFF"/>
                    </a:solidFill>
                  </a:tcPr>
                </a:tc>
                <a:tc>
                  <a:txBody>
                    <a:bodyPr/>
                    <a:lstStyle/>
                    <a:p>
                      <a:pPr algn="l"/>
                      <a:r>
                        <a:rPr sz="800" b="0">
                          <a:solidFill>
                            <a:srgbClr val="1E2761"/>
                          </a:solidFill>
                          <a:latin typeface="Calibri"/>
                        </a:rPr>
                        <a:t>30bp below the forward spread</a:t>
                      </a:r>
                    </a:p>
                  </a:txBody>
                  <a:tcPr marL="48006" marR="48006" marT="6858" marB="6858" anchor="ctr">
                    <a:solidFill>
                      <a:srgbClr val="FFFFFF"/>
                    </a:solidFill>
                  </a:tcPr>
                </a:tc>
                <a:tc>
                  <a:txBody>
                    <a:bodyPr/>
                    <a:lstStyle/>
                    <a:p>
                      <a:pPr algn="l"/>
                      <a:r>
                        <a:rPr sz="800" b="0">
                          <a:solidFill>
                            <a:srgbClr val="1E2761"/>
                          </a:solidFill>
                          <a:latin typeface="Calibri"/>
                        </a:rPr>
                        <a:t>1.1m per 100m notional</a:t>
                      </a:r>
                    </a:p>
                  </a:txBody>
                  <a:tcPr marL="48006" marR="48006" marT="6858" marB="6858" anchor="ctr">
                    <a:solidFill>
                      <a:srgbClr val="FFFFFF"/>
                    </a:solidFill>
                  </a:tcPr>
                </a:tc>
                <a:extLst>
                  <a:ext uri="{0D108BD9-81ED-4DB2-BD59-A6C34878D82A}">
                    <a16:rowId xmlns:a16="http://schemas.microsoft.com/office/drawing/2014/main" val="10001"/>
                  </a:ext>
                </a:extLst>
              </a:tr>
            </a:tbl>
          </a:graphicData>
        </a:graphic>
      </p:graphicFrame>
      <p:sp>
        <p:nvSpPr>
          <p:cNvPr id="22" name="TextBox 21"/>
          <p:cNvSpPr txBox="1"/>
          <p:nvPr/>
        </p:nvSpPr>
        <p:spPr>
          <a:xfrm>
            <a:off x="713233" y="4824809"/>
            <a:ext cx="7031507" cy="107081"/>
          </a:xfrm>
          <a:prstGeom prst="rect">
            <a:avLst/>
          </a:prstGeom>
          <a:noFill/>
        </p:spPr>
        <p:txBody>
          <a:bodyPr wrap="square" lIns="0" tIns="0" rIns="0" bIns="0" anchor="t">
            <a:spAutoFit/>
          </a:bodyPr>
          <a:lstStyle/>
          <a:p>
            <a:pPr>
              <a:lnSpc>
                <a:spcPct val="108000"/>
              </a:lnSpc>
            </a:pPr>
            <a:r>
              <a:rPr sz="675">
                <a:solidFill>
                  <a:srgbClr val="9AA1B2"/>
                </a:solidFill>
                <a:latin typeface="Calibri"/>
              </a:rPr>
              <a:t>Terms as modelled on 2 October 2026; entry spread −82.9bp versus the 6m Euribor swap, swap minus bond. Final terms are subject to documentation with the counterparty.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pic>
        <p:nvPicPr>
          <p:cNvPr id="3" name="Picture 2" descr="logo_dark.png"/>
          <p:cNvPicPr>
            <a:picLocks noChangeAspect="1"/>
          </p:cNvPicPr>
          <p:nvPr/>
        </p:nvPicPr>
        <p:blipFill>
          <a:blip r:embed="rId2"/>
          <a:stretch>
            <a:fillRect/>
          </a:stretch>
        </p:blipFill>
        <p:spPr>
          <a:xfrm>
            <a:off x="7854467" y="4759452"/>
            <a:ext cx="864108" cy="244889"/>
          </a:xfrm>
          <a:prstGeom prst="rect">
            <a:avLst/>
          </a:prstGeom>
        </p:spPr>
      </p:pic>
      <p:sp>
        <p:nvSpPr>
          <p:cNvPr id="4" name="TextBox 3"/>
          <p:cNvSpPr txBox="1"/>
          <p:nvPr/>
        </p:nvSpPr>
        <p:spPr>
          <a:xfrm>
            <a:off x="425196" y="4869180"/>
            <a:ext cx="205740" cy="109645"/>
          </a:xfrm>
          <a:prstGeom prst="rect">
            <a:avLst/>
          </a:prstGeom>
          <a:noFill/>
        </p:spPr>
        <p:txBody>
          <a:bodyPr wrap="square" lIns="0" tIns="0" rIns="0" bIns="0" anchor="t">
            <a:spAutoFit/>
          </a:bodyPr>
          <a:lstStyle/>
          <a:p>
            <a:pPr>
              <a:lnSpc>
                <a:spcPct val="95000"/>
              </a:lnSpc>
            </a:pPr>
            <a:r>
              <a:rPr sz="750">
                <a:solidFill>
                  <a:srgbClr val="9AA1B2"/>
                </a:solidFill>
                <a:latin typeface="Calibri"/>
              </a:rPr>
              <a:t>9</a:t>
            </a:r>
          </a:p>
        </p:txBody>
      </p:sp>
      <p:sp>
        <p:nvSpPr>
          <p:cNvPr id="5" name="TextBox 4"/>
          <p:cNvSpPr txBox="1"/>
          <p:nvPr/>
        </p:nvSpPr>
        <p:spPr>
          <a:xfrm>
            <a:off x="425197" y="288036"/>
            <a:ext cx="8293379" cy="317972"/>
          </a:xfrm>
          <a:prstGeom prst="rect">
            <a:avLst/>
          </a:prstGeom>
          <a:noFill/>
        </p:spPr>
        <p:txBody>
          <a:bodyPr wrap="square" lIns="0" tIns="0" rIns="0" bIns="0" anchor="t">
            <a:spAutoFit/>
          </a:bodyPr>
          <a:lstStyle/>
          <a:p>
            <a:pPr>
              <a:lnSpc>
                <a:spcPct val="95000"/>
              </a:lnSpc>
              <a:spcAft>
                <a:spcPts val="450"/>
              </a:spcAft>
            </a:pPr>
            <a:r>
              <a:rPr sz="2175" b="1">
                <a:solidFill>
                  <a:srgbClr val="1E2761"/>
                </a:solidFill>
                <a:latin typeface="Cambria"/>
              </a:rPr>
              <a:t>Where the return comes from</a:t>
            </a:r>
          </a:p>
        </p:txBody>
      </p:sp>
      <p:sp>
        <p:nvSpPr>
          <p:cNvPr id="6" name="TextBox 5"/>
          <p:cNvSpPr txBox="1"/>
          <p:nvPr/>
        </p:nvSpPr>
        <p:spPr>
          <a:xfrm>
            <a:off x="425197" y="685800"/>
            <a:ext cx="8293379" cy="142540"/>
          </a:xfrm>
          <a:prstGeom prst="rect">
            <a:avLst/>
          </a:prstGeom>
          <a:noFill/>
        </p:spPr>
        <p:txBody>
          <a:bodyPr wrap="square" lIns="0" tIns="0" rIns="0" bIns="0" anchor="t">
            <a:spAutoFit/>
          </a:bodyPr>
          <a:lstStyle/>
          <a:p>
            <a:pPr>
              <a:lnSpc>
                <a:spcPct val="95000"/>
              </a:lnSpc>
              <a:spcAft>
                <a:spcPts val="450"/>
              </a:spcAft>
            </a:pPr>
            <a:r>
              <a:rPr sz="975" i="1">
                <a:solidFill>
                  <a:srgbClr val="5A6172"/>
                </a:solidFill>
                <a:latin typeface="Calibri"/>
              </a:rPr>
              <a:t>Carry on the package, the floating-rate basis, and roll-down; all per 100m of bond notional</a:t>
            </a:r>
          </a:p>
        </p:txBody>
      </p:sp>
      <p:sp>
        <p:nvSpPr>
          <p:cNvPr id="7" name="Rounded Rectangle 6"/>
          <p:cNvSpPr/>
          <p:nvPr/>
        </p:nvSpPr>
        <p:spPr>
          <a:xfrm>
            <a:off x="425196" y="1110996"/>
            <a:ext cx="2627300" cy="219456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8" name="TextBox 7"/>
          <p:cNvSpPr txBox="1"/>
          <p:nvPr/>
        </p:nvSpPr>
        <p:spPr>
          <a:xfrm>
            <a:off x="576072" y="1248156"/>
            <a:ext cx="2325548" cy="153504"/>
          </a:xfrm>
          <a:prstGeom prst="rect">
            <a:avLst/>
          </a:prstGeom>
          <a:noFill/>
        </p:spPr>
        <p:txBody>
          <a:bodyPr wrap="square" lIns="0" tIns="0" rIns="0" bIns="0" anchor="t">
            <a:spAutoFit/>
          </a:bodyPr>
          <a:lstStyle/>
          <a:p>
            <a:pPr>
              <a:lnSpc>
                <a:spcPct val="95000"/>
              </a:lnSpc>
              <a:spcAft>
                <a:spcPts val="450"/>
              </a:spcAft>
            </a:pPr>
            <a:r>
              <a:rPr sz="1050" b="1">
                <a:solidFill>
                  <a:srgbClr val="1E2761"/>
                </a:solidFill>
                <a:latin typeface="Cambria"/>
              </a:rPr>
              <a:t>1  Carry on the spread</a:t>
            </a:r>
          </a:p>
        </p:txBody>
      </p:sp>
      <p:sp>
        <p:nvSpPr>
          <p:cNvPr id="9" name="TextBox 8"/>
          <p:cNvSpPr txBox="1"/>
          <p:nvPr/>
        </p:nvSpPr>
        <p:spPr>
          <a:xfrm>
            <a:off x="576072" y="1536192"/>
            <a:ext cx="2325548" cy="263149"/>
          </a:xfrm>
          <a:prstGeom prst="rect">
            <a:avLst/>
          </a:prstGeom>
          <a:noFill/>
        </p:spPr>
        <p:txBody>
          <a:bodyPr wrap="square" lIns="0" tIns="0" rIns="0" bIns="0" anchor="t">
            <a:spAutoFit/>
          </a:bodyPr>
          <a:lstStyle/>
          <a:p>
            <a:pPr>
              <a:lnSpc>
                <a:spcPct val="95000"/>
              </a:lnSpc>
              <a:spcAft>
                <a:spcPts val="450"/>
              </a:spcAft>
            </a:pPr>
            <a:r>
              <a:rPr sz="1800" b="1">
                <a:solidFill>
                  <a:srgbClr val="2C7A5A"/>
                </a:solidFill>
                <a:latin typeface="Cambria"/>
              </a:rPr>
              <a:t>82.9bp a year</a:t>
            </a:r>
          </a:p>
        </p:txBody>
      </p:sp>
      <p:sp>
        <p:nvSpPr>
          <p:cNvPr id="10" name="TextBox 9"/>
          <p:cNvSpPr txBox="1"/>
          <p:nvPr/>
        </p:nvSpPr>
        <p:spPr>
          <a:xfrm>
            <a:off x="576072" y="2002536"/>
            <a:ext cx="2325548" cy="606833"/>
          </a:xfrm>
          <a:prstGeom prst="rect">
            <a:avLst/>
          </a:prstGeom>
          <a:noFill/>
        </p:spPr>
        <p:txBody>
          <a:bodyPr wrap="square" lIns="0" tIns="0" rIns="0" bIns="0" anchor="t">
            <a:spAutoFit/>
          </a:bodyPr>
          <a:lstStyle/>
          <a:p>
            <a:pPr>
              <a:lnSpc>
                <a:spcPct val="116000"/>
              </a:lnSpc>
              <a:spcAft>
                <a:spcPts val="450"/>
              </a:spcAft>
            </a:pPr>
            <a:r>
              <a:rPr sz="863">
                <a:solidFill>
                  <a:srgbClr val="5A6172"/>
                </a:solidFill>
                <a:latin typeface="Calibri"/>
              </a:rPr>
              <a:t>Receive the bond yield, 4.33%. Pay the fixed swap rate of the same maturity, 3.50%. The difference is the swap spread, earned for as long as the position is held.</a:t>
            </a:r>
          </a:p>
        </p:txBody>
      </p:sp>
      <p:sp>
        <p:nvSpPr>
          <p:cNvPr id="11" name="Rounded Rectangle 10"/>
          <p:cNvSpPr/>
          <p:nvPr/>
        </p:nvSpPr>
        <p:spPr>
          <a:xfrm>
            <a:off x="3258235" y="1110996"/>
            <a:ext cx="2627300" cy="219456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3409111" y="1248156"/>
            <a:ext cx="2325548" cy="153504"/>
          </a:xfrm>
          <a:prstGeom prst="rect">
            <a:avLst/>
          </a:prstGeom>
          <a:noFill/>
        </p:spPr>
        <p:txBody>
          <a:bodyPr wrap="square" lIns="0" tIns="0" rIns="0" bIns="0" anchor="t">
            <a:spAutoFit/>
          </a:bodyPr>
          <a:lstStyle/>
          <a:p>
            <a:pPr>
              <a:lnSpc>
                <a:spcPct val="95000"/>
              </a:lnSpc>
              <a:spcAft>
                <a:spcPts val="450"/>
              </a:spcAft>
            </a:pPr>
            <a:r>
              <a:rPr sz="1050" b="1">
                <a:solidFill>
                  <a:srgbClr val="1E2761"/>
                </a:solidFill>
                <a:latin typeface="Cambria"/>
              </a:rPr>
              <a:t>2  The floating legs</a:t>
            </a:r>
          </a:p>
        </p:txBody>
      </p:sp>
      <p:sp>
        <p:nvSpPr>
          <p:cNvPr id="13" name="TextBox 12"/>
          <p:cNvSpPr txBox="1"/>
          <p:nvPr/>
        </p:nvSpPr>
        <p:spPr>
          <a:xfrm>
            <a:off x="3409111" y="1536192"/>
            <a:ext cx="2325548" cy="263149"/>
          </a:xfrm>
          <a:prstGeom prst="rect">
            <a:avLst/>
          </a:prstGeom>
          <a:noFill/>
        </p:spPr>
        <p:txBody>
          <a:bodyPr wrap="square" lIns="0" tIns="0" rIns="0" bIns="0" anchor="t">
            <a:spAutoFit/>
          </a:bodyPr>
          <a:lstStyle/>
          <a:p>
            <a:pPr>
              <a:lnSpc>
                <a:spcPct val="95000"/>
              </a:lnSpc>
              <a:spcAft>
                <a:spcPts val="450"/>
              </a:spcAft>
            </a:pPr>
            <a:r>
              <a:rPr sz="1800" b="1">
                <a:solidFill>
                  <a:srgbClr val="C9922E"/>
                </a:solidFill>
                <a:latin typeface="Cambria"/>
              </a:rPr>
              <a:t>basis less 17bp</a:t>
            </a:r>
          </a:p>
        </p:txBody>
      </p:sp>
      <p:sp>
        <p:nvSpPr>
          <p:cNvPr id="14" name="TextBox 13"/>
          <p:cNvSpPr txBox="1"/>
          <p:nvPr/>
        </p:nvSpPr>
        <p:spPr>
          <a:xfrm>
            <a:off x="3409111" y="2002536"/>
            <a:ext cx="2325548" cy="914866"/>
          </a:xfrm>
          <a:prstGeom prst="rect">
            <a:avLst/>
          </a:prstGeom>
          <a:noFill/>
        </p:spPr>
        <p:txBody>
          <a:bodyPr wrap="square" lIns="0" tIns="0" rIns="0" bIns="0" anchor="t">
            <a:spAutoFit/>
          </a:bodyPr>
          <a:lstStyle/>
          <a:p>
            <a:pPr>
              <a:lnSpc>
                <a:spcPct val="116000"/>
              </a:lnSpc>
              <a:spcAft>
                <a:spcPts val="450"/>
              </a:spcAft>
            </a:pPr>
            <a:r>
              <a:rPr sz="863">
                <a:solidFill>
                  <a:srgbClr val="5A6172"/>
                </a:solidFill>
                <a:latin typeface="Calibri"/>
              </a:rPr>
              <a:t>The swap pays us 6m Euribor; the financing charges us €STR + 17bp. In the US version the two floating rates are both SOFR and cancel. Here the residual is the 6m Euribor / €STR basis, 32bp on the 5-year curve today, which widens when funding markets are stressed.</a:t>
            </a:r>
          </a:p>
        </p:txBody>
      </p:sp>
      <p:sp>
        <p:nvSpPr>
          <p:cNvPr id="15" name="Rounded Rectangle 14"/>
          <p:cNvSpPr/>
          <p:nvPr/>
        </p:nvSpPr>
        <p:spPr>
          <a:xfrm>
            <a:off x="6091275" y="1110996"/>
            <a:ext cx="2627300" cy="219456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6242151" y="1248156"/>
            <a:ext cx="2325548" cy="153504"/>
          </a:xfrm>
          <a:prstGeom prst="rect">
            <a:avLst/>
          </a:prstGeom>
          <a:noFill/>
        </p:spPr>
        <p:txBody>
          <a:bodyPr wrap="square" lIns="0" tIns="0" rIns="0" bIns="0" anchor="t">
            <a:spAutoFit/>
          </a:bodyPr>
          <a:lstStyle/>
          <a:p>
            <a:pPr>
              <a:lnSpc>
                <a:spcPct val="95000"/>
              </a:lnSpc>
              <a:spcAft>
                <a:spcPts val="450"/>
              </a:spcAft>
            </a:pPr>
            <a:r>
              <a:rPr sz="1050" b="1">
                <a:solidFill>
                  <a:srgbClr val="1E2761"/>
                </a:solidFill>
                <a:latin typeface="Cambria"/>
              </a:rPr>
              <a:t>3  Roll-down</a:t>
            </a:r>
          </a:p>
        </p:txBody>
      </p:sp>
      <p:sp>
        <p:nvSpPr>
          <p:cNvPr id="17" name="TextBox 16"/>
          <p:cNvSpPr txBox="1"/>
          <p:nvPr/>
        </p:nvSpPr>
        <p:spPr>
          <a:xfrm>
            <a:off x="6242151" y="1536192"/>
            <a:ext cx="2325548" cy="263149"/>
          </a:xfrm>
          <a:prstGeom prst="rect">
            <a:avLst/>
          </a:prstGeom>
          <a:noFill/>
        </p:spPr>
        <p:txBody>
          <a:bodyPr wrap="square" lIns="0" tIns="0" rIns="0" bIns="0" anchor="t">
            <a:spAutoFit/>
          </a:bodyPr>
          <a:lstStyle/>
          <a:p>
            <a:pPr>
              <a:lnSpc>
                <a:spcPct val="95000"/>
              </a:lnSpc>
              <a:spcAft>
                <a:spcPts val="450"/>
              </a:spcAft>
            </a:pPr>
            <a:r>
              <a:rPr sz="1800" b="1">
                <a:solidFill>
                  <a:srgbClr val="1E2761"/>
                </a:solidFill>
                <a:latin typeface="Cambria"/>
              </a:rPr>
              <a:t>+82bp over the life</a:t>
            </a:r>
          </a:p>
        </p:txBody>
      </p:sp>
      <p:sp>
        <p:nvSpPr>
          <p:cNvPr id="18" name="TextBox 17"/>
          <p:cNvSpPr txBox="1"/>
          <p:nvPr/>
        </p:nvSpPr>
        <p:spPr>
          <a:xfrm>
            <a:off x="6242151" y="2002536"/>
            <a:ext cx="2325548" cy="760849"/>
          </a:xfrm>
          <a:prstGeom prst="rect">
            <a:avLst/>
          </a:prstGeom>
          <a:noFill/>
        </p:spPr>
        <p:txBody>
          <a:bodyPr wrap="square" lIns="0" tIns="0" rIns="0" bIns="0" anchor="t">
            <a:spAutoFit/>
          </a:bodyPr>
          <a:lstStyle/>
          <a:p>
            <a:pPr>
              <a:lnSpc>
                <a:spcPct val="116000"/>
              </a:lnSpc>
              <a:spcAft>
                <a:spcPts val="450"/>
              </a:spcAft>
            </a:pPr>
            <a:r>
              <a:rPr sz="863">
                <a:solidFill>
                  <a:srgbClr val="5A6172"/>
                </a:solidFill>
                <a:latin typeface="Calibri"/>
              </a:rPr>
              <a:t>The bond is a 5.4-year bond at −83bp. At expiry it is a 1-year bond, and the 1-year point sits at −1.3bp today. If the curve does not move, the spread tightens by that difference as the bond rolls, taken as a price gain.</a:t>
            </a:r>
          </a:p>
        </p:txBody>
      </p:sp>
      <p:sp>
        <p:nvSpPr>
          <p:cNvPr id="19" name="Rounded Rectangle 18"/>
          <p:cNvSpPr/>
          <p:nvPr/>
        </p:nvSpPr>
        <p:spPr>
          <a:xfrm>
            <a:off x="425197" y="3463290"/>
            <a:ext cx="8293379" cy="902749"/>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562357" y="3600451"/>
            <a:ext cx="8019059" cy="622606"/>
          </a:xfrm>
          <a:prstGeom prst="rect">
            <a:avLst/>
          </a:prstGeom>
          <a:noFill/>
        </p:spPr>
        <p:txBody>
          <a:bodyPr wrap="square" lIns="0" tIns="0" rIns="0" bIns="0" anchor="t">
            <a:spAutoFit/>
          </a:bodyPr>
          <a:lstStyle/>
          <a:p>
            <a:pPr>
              <a:lnSpc>
                <a:spcPct val="114000"/>
              </a:lnSpc>
              <a:spcAft>
                <a:spcPts val="150"/>
              </a:spcAft>
            </a:pPr>
            <a:r>
              <a:rPr sz="863" b="1">
                <a:solidFill>
                  <a:srgbClr val="1E2761"/>
                </a:solidFill>
                <a:latin typeface="Calibri"/>
              </a:rPr>
              <a:t>On the capital, approximately, for intuition</a:t>
            </a:r>
          </a:p>
          <a:p>
            <a:pPr>
              <a:lnSpc>
                <a:spcPct val="114000"/>
              </a:lnSpc>
            </a:pPr>
            <a:r>
              <a:rPr sz="863">
                <a:solidFill>
                  <a:srgbClr val="5A6172"/>
                </a:solidFill>
                <a:latin typeface="Calibri"/>
              </a:rPr>
              <a:t>The position is 100m of bond notional against 1.1m of capital. Carry of 83bp a year on 100m is about 75% of the capital a year, or about 332% over the 4.4 years. The roll-down, about 82bp realised once at a one-year duration, adds about 74%. That is roughly 406% before the floating-leg basis and the option premium; the model's 4.75x, which nets both, is on the scenario page.</a:t>
            </a:r>
          </a:p>
        </p:txBody>
      </p:sp>
      <p:sp>
        <p:nvSpPr>
          <p:cNvPr id="21" name="TextBox 20"/>
          <p:cNvSpPr txBox="1"/>
          <p:nvPr/>
        </p:nvSpPr>
        <p:spPr>
          <a:xfrm>
            <a:off x="713232" y="4598906"/>
            <a:ext cx="4937760" cy="331501"/>
          </a:xfrm>
          <a:prstGeom prst="rect">
            <a:avLst/>
          </a:prstGeom>
          <a:noFill/>
        </p:spPr>
        <p:txBody>
          <a:bodyPr wrap="square" lIns="0" tIns="0" rIns="0" bIns="0" anchor="t">
            <a:spAutoFit/>
          </a:bodyPr>
          <a:lstStyle/>
          <a:p>
            <a:pPr>
              <a:lnSpc>
                <a:spcPct val="108000"/>
              </a:lnSpc>
            </a:pPr>
            <a:r>
              <a:rPr sz="675">
                <a:solidFill>
                  <a:srgbClr val="9AA1B2"/>
                </a:solidFill>
                <a:latin typeface="Calibri"/>
              </a:rPr>
              <a:t>Levels on 2 October 2026: bond yield from Bloomberg; matched-maturity swap implied by the model's entry spread of −82.9bp; basis from the 5-year 6m Euribor swap less the 5-year €STR OIS. Roll-down ignores convexity and any change in the curve. Source: Bloomberg, Liminality calculations.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AADE-9D2E-2668-5671-1B82483085DA}"/>
            </a:ext>
          </a:extLst>
        </p:cNvPr>
        <p:cNvGrpSpPr/>
        <p:nvPr/>
      </p:nvGrpSpPr>
      <p:grpSpPr>
        <a:xfrm>
          <a:off x="0" y="0"/>
          <a:ext cx="0" cy="0"/>
          <a:chOff x="0" y="0"/>
          <a:chExt cx="0" cy="0"/>
        </a:xfrm>
      </p:grpSpPr>
      <p:sp>
        <p:nvSpPr>
          <p:cNvPr id="201" name="Title 1">
            <a:extLst>
              <a:ext uri="{FF2B5EF4-FFF2-40B4-BE49-F238E27FC236}">
                <a16:creationId xmlns:a16="http://schemas.microsoft.com/office/drawing/2014/main" id="{B4D41F1D-0D69-4C96-C7A4-661A04DB7F77}"/>
              </a:ext>
            </a:extLst>
          </p:cNvPr>
          <p:cNvSpPr>
            <a:spLocks noGrp="1"/>
          </p:cNvSpPr>
          <p:nvPr>
            <p:ph type="title"/>
          </p:nvPr>
        </p:nvSpPr>
        <p:spPr>
          <a:xfrm>
            <a:off x="628650" y="274638"/>
            <a:ext cx="8163658" cy="877837"/>
          </a:xfrm>
        </p:spPr>
        <p:txBody>
          <a:bodyPr>
            <a:normAutofit/>
          </a:bodyPr>
          <a:lstStyle/>
          <a:p>
            <a:r>
              <a:rPr lang="en-US" sz="2400" dirty="0"/>
              <a:t>Scenario Analysis: 4.4-Year IRR and Multiple of Capital At Expiry</a:t>
            </a:r>
          </a:p>
        </p:txBody>
      </p:sp>
      <p:sp>
        <p:nvSpPr>
          <p:cNvPr id="202" name="Subheading">
            <a:extLst>
              <a:ext uri="{FF2B5EF4-FFF2-40B4-BE49-F238E27FC236}">
                <a16:creationId xmlns:a16="http://schemas.microsoft.com/office/drawing/2014/main" id="{F016C238-C919-6234-2501-7B27CE6D1A65}"/>
              </a:ext>
            </a:extLst>
          </p:cNvPr>
          <p:cNvSpPr txBox="1"/>
          <p:nvPr/>
        </p:nvSpPr>
        <p:spPr>
          <a:xfrm>
            <a:off x="720090" y="1219200"/>
            <a:ext cx="7955279" cy="274320"/>
          </a:xfrm>
          <a:prstGeom prst="rect">
            <a:avLst/>
          </a:prstGeom>
          <a:noFill/>
        </p:spPr>
        <p:txBody>
          <a:bodyPr wrap="square" lIns="0" tIns="0" rIns="0" bIns="0" anchor="t">
            <a:normAutofit fontScale="92500" lnSpcReduction="10000"/>
          </a:bodyPr>
          <a:lstStyle/>
          <a:p>
            <a:pPr algn="l">
              <a:lnSpc>
                <a:spcPct val="95000"/>
              </a:lnSpc>
            </a:pPr>
            <a:r>
              <a:rPr lang="en-US" sz="1100" b="1" dirty="0">
                <a:solidFill>
                  <a:srgbClr val="262626"/>
                </a:solidFill>
                <a:latin typeface="Garamond"/>
              </a:rPr>
              <a:t>Returns depend on where the 1-year France swap spread is when the option expires. The history since 2010 is on the left; the scenario levels are the dashed lines</a:t>
            </a:r>
          </a:p>
        </p:txBody>
      </p:sp>
      <p:graphicFrame>
        <p:nvGraphicFramePr>
          <p:cNvPr id="203" name="Chart 6">
            <a:extLst>
              <a:ext uri="{FF2B5EF4-FFF2-40B4-BE49-F238E27FC236}">
                <a16:creationId xmlns:a16="http://schemas.microsoft.com/office/drawing/2014/main" id="{3136C804-CB3D-DC64-5D17-F0BDDBF3F586}"/>
              </a:ext>
            </a:extLst>
          </p:cNvPr>
          <p:cNvGraphicFramePr>
            <a:graphicFrameLocks noGrp="1"/>
          </p:cNvGraphicFramePr>
          <p:nvPr/>
        </p:nvGraphicFramePr>
        <p:xfrm>
          <a:off x="594360" y="1524000"/>
          <a:ext cx="3884371" cy="3073400"/>
        </p:xfrm>
        <a:graphic>
          <a:graphicData uri="http://schemas.openxmlformats.org/drawingml/2006/chart">
            <c:chart xmlns:c="http://schemas.openxmlformats.org/drawingml/2006/chart" xmlns:r="http://schemas.openxmlformats.org/officeDocument/2006/relationships" r:id="rId2"/>
          </a:graphicData>
        </a:graphic>
      </p:graphicFrame>
      <p:cxnSp>
        <p:nvCxnSpPr>
          <p:cNvPr id="204" name="Connector 7">
            <a:extLst>
              <a:ext uri="{FF2B5EF4-FFF2-40B4-BE49-F238E27FC236}">
                <a16:creationId xmlns:a16="http://schemas.microsoft.com/office/drawing/2014/main" id="{E516B1C6-E471-4AB2-FDF3-F4303E99A2B5}"/>
              </a:ext>
            </a:extLst>
          </p:cNvPr>
          <p:cNvCxnSpPr/>
          <p:nvPr/>
        </p:nvCxnSpPr>
        <p:spPr>
          <a:xfrm>
            <a:off x="3818387" y="2050012"/>
            <a:ext cx="144840" cy="0"/>
          </a:xfrm>
          <a:prstGeom prst="line">
            <a:avLst/>
          </a:prstGeom>
          <a:ln w="6099">
            <a:solidFill>
              <a:srgbClr val="2C7A5A"/>
            </a:solidFill>
          </a:ln>
        </p:spPr>
        <p:style>
          <a:lnRef idx="2">
            <a:schemeClr val="accent1"/>
          </a:lnRef>
          <a:fillRef idx="0">
            <a:schemeClr val="accent1"/>
          </a:fillRef>
          <a:effectRef idx="1">
            <a:schemeClr val="accent1"/>
          </a:effectRef>
          <a:fontRef idx="minor">
            <a:schemeClr val="tx1"/>
          </a:fontRef>
        </p:style>
      </p:cxnSp>
      <p:sp>
        <p:nvSpPr>
          <p:cNvPr id="205" name="TextBox 8">
            <a:extLst>
              <a:ext uri="{FF2B5EF4-FFF2-40B4-BE49-F238E27FC236}">
                <a16:creationId xmlns:a16="http://schemas.microsoft.com/office/drawing/2014/main" id="{C7CD3812-189F-4456-C39F-F7BB595768ED}"/>
              </a:ext>
            </a:extLst>
          </p:cNvPr>
          <p:cNvSpPr txBox="1"/>
          <p:nvPr/>
        </p:nvSpPr>
        <p:spPr>
          <a:xfrm>
            <a:off x="3989563" y="1986512"/>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2C7A5A"/>
                </a:solidFill>
                <a:latin typeface="Garamond"/>
              </a:rPr>
              <a:t>5.0x</a:t>
            </a:r>
          </a:p>
        </p:txBody>
      </p:sp>
      <p:cxnSp>
        <p:nvCxnSpPr>
          <p:cNvPr id="208" name="Connector 11">
            <a:extLst>
              <a:ext uri="{FF2B5EF4-FFF2-40B4-BE49-F238E27FC236}">
                <a16:creationId xmlns:a16="http://schemas.microsoft.com/office/drawing/2014/main" id="{59FAA09B-41A3-A164-7E1E-E00D597AE4F1}"/>
              </a:ext>
            </a:extLst>
          </p:cNvPr>
          <p:cNvCxnSpPr/>
          <p:nvPr/>
        </p:nvCxnSpPr>
        <p:spPr>
          <a:xfrm>
            <a:off x="3818387" y="2146817"/>
            <a:ext cx="144840" cy="38853"/>
          </a:xfrm>
          <a:prstGeom prst="line">
            <a:avLst/>
          </a:prstGeom>
          <a:ln w="6099">
            <a:solidFill>
              <a:srgbClr val="0047BB"/>
            </a:solidFill>
          </a:ln>
        </p:spPr>
        <p:style>
          <a:lnRef idx="2">
            <a:schemeClr val="accent1"/>
          </a:lnRef>
          <a:fillRef idx="0">
            <a:schemeClr val="accent1"/>
          </a:fillRef>
          <a:effectRef idx="1">
            <a:schemeClr val="accent1"/>
          </a:effectRef>
          <a:fontRef idx="minor">
            <a:schemeClr val="tx1"/>
          </a:fontRef>
        </p:style>
      </p:cxnSp>
      <p:sp>
        <p:nvSpPr>
          <p:cNvPr id="209" name="TextBox 12">
            <a:extLst>
              <a:ext uri="{FF2B5EF4-FFF2-40B4-BE49-F238E27FC236}">
                <a16:creationId xmlns:a16="http://schemas.microsoft.com/office/drawing/2014/main" id="{EB9CF9B5-DF25-8682-C3F2-335AE79C549D}"/>
              </a:ext>
            </a:extLst>
          </p:cNvPr>
          <p:cNvSpPr txBox="1"/>
          <p:nvPr/>
        </p:nvSpPr>
        <p:spPr>
          <a:xfrm>
            <a:off x="3989563" y="2121973"/>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0047BB"/>
                </a:solidFill>
                <a:latin typeface="Garamond"/>
              </a:rPr>
              <a:t>4.8x</a:t>
            </a:r>
          </a:p>
        </p:txBody>
      </p:sp>
      <p:cxnSp>
        <p:nvCxnSpPr>
          <p:cNvPr id="210" name="Connector 13">
            <a:extLst>
              <a:ext uri="{FF2B5EF4-FFF2-40B4-BE49-F238E27FC236}">
                <a16:creationId xmlns:a16="http://schemas.microsoft.com/office/drawing/2014/main" id="{9DD20EA4-44D9-9A00-0F3E-009B15219BD8}"/>
              </a:ext>
            </a:extLst>
          </p:cNvPr>
          <p:cNvCxnSpPr/>
          <p:nvPr/>
        </p:nvCxnSpPr>
        <p:spPr>
          <a:xfrm>
            <a:off x="3818387" y="2416746"/>
            <a:ext cx="144840" cy="0"/>
          </a:xfrm>
          <a:prstGeom prst="line">
            <a:avLst/>
          </a:prstGeom>
          <a:ln w="6099">
            <a:solidFill>
              <a:srgbClr val="011C40"/>
            </a:solidFill>
          </a:ln>
        </p:spPr>
        <p:style>
          <a:lnRef idx="2">
            <a:schemeClr val="accent1"/>
          </a:lnRef>
          <a:fillRef idx="0">
            <a:schemeClr val="accent1"/>
          </a:fillRef>
          <a:effectRef idx="1">
            <a:schemeClr val="accent1"/>
          </a:effectRef>
          <a:fontRef idx="minor">
            <a:schemeClr val="tx1"/>
          </a:fontRef>
        </p:style>
      </p:cxnSp>
      <p:sp>
        <p:nvSpPr>
          <p:cNvPr id="211" name="TextBox 14">
            <a:extLst>
              <a:ext uri="{FF2B5EF4-FFF2-40B4-BE49-F238E27FC236}">
                <a16:creationId xmlns:a16="http://schemas.microsoft.com/office/drawing/2014/main" id="{7E8F2373-E799-9CC8-E155-B874F3CF1165}"/>
              </a:ext>
            </a:extLst>
          </p:cNvPr>
          <p:cNvSpPr txBox="1"/>
          <p:nvPr/>
        </p:nvSpPr>
        <p:spPr>
          <a:xfrm>
            <a:off x="3989563" y="2353246"/>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011C40"/>
                </a:solidFill>
                <a:latin typeface="Garamond"/>
              </a:rPr>
              <a:t>4.0x</a:t>
            </a:r>
          </a:p>
        </p:txBody>
      </p:sp>
      <p:cxnSp>
        <p:nvCxnSpPr>
          <p:cNvPr id="212" name="Connector 15">
            <a:extLst>
              <a:ext uri="{FF2B5EF4-FFF2-40B4-BE49-F238E27FC236}">
                <a16:creationId xmlns:a16="http://schemas.microsoft.com/office/drawing/2014/main" id="{7D75DDC2-8E49-84B4-54E1-5396D906B872}"/>
              </a:ext>
            </a:extLst>
          </p:cNvPr>
          <p:cNvCxnSpPr/>
          <p:nvPr/>
        </p:nvCxnSpPr>
        <p:spPr>
          <a:xfrm>
            <a:off x="3818387" y="3298889"/>
            <a:ext cx="144840" cy="0"/>
          </a:xfrm>
          <a:prstGeom prst="line">
            <a:avLst/>
          </a:prstGeom>
          <a:ln w="6099">
            <a:solidFill>
              <a:srgbClr val="7030A0"/>
            </a:solidFill>
          </a:ln>
        </p:spPr>
        <p:style>
          <a:lnRef idx="2">
            <a:schemeClr val="accent1"/>
          </a:lnRef>
          <a:fillRef idx="0">
            <a:schemeClr val="accent1"/>
          </a:fillRef>
          <a:effectRef idx="1">
            <a:schemeClr val="accent1"/>
          </a:effectRef>
          <a:fontRef idx="minor">
            <a:schemeClr val="tx1"/>
          </a:fontRef>
        </p:style>
      </p:cxnSp>
      <p:sp>
        <p:nvSpPr>
          <p:cNvPr id="213" name="TextBox 16">
            <a:extLst>
              <a:ext uri="{FF2B5EF4-FFF2-40B4-BE49-F238E27FC236}">
                <a16:creationId xmlns:a16="http://schemas.microsoft.com/office/drawing/2014/main" id="{EB288D7F-41BD-2A4B-73F2-5AFD88950E2E}"/>
              </a:ext>
            </a:extLst>
          </p:cNvPr>
          <p:cNvSpPr txBox="1"/>
          <p:nvPr/>
        </p:nvSpPr>
        <p:spPr>
          <a:xfrm>
            <a:off x="3989563" y="3235389"/>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7030A0"/>
                </a:solidFill>
                <a:latin typeface="Garamond"/>
              </a:rPr>
              <a:t>1.8x</a:t>
            </a:r>
          </a:p>
        </p:txBody>
      </p:sp>
      <p:cxnSp>
        <p:nvCxnSpPr>
          <p:cNvPr id="214" name="Connector 17">
            <a:extLst>
              <a:ext uri="{FF2B5EF4-FFF2-40B4-BE49-F238E27FC236}">
                <a16:creationId xmlns:a16="http://schemas.microsoft.com/office/drawing/2014/main" id="{07973B4D-B0DD-40AF-CC2A-C463F5450B27}"/>
              </a:ext>
            </a:extLst>
          </p:cNvPr>
          <p:cNvCxnSpPr/>
          <p:nvPr/>
        </p:nvCxnSpPr>
        <p:spPr>
          <a:xfrm>
            <a:off x="3818387" y="3612759"/>
            <a:ext cx="144840" cy="0"/>
          </a:xfrm>
          <a:prstGeom prst="line">
            <a:avLst/>
          </a:prstGeom>
          <a:ln w="6099">
            <a:solidFill>
              <a:srgbClr val="595959"/>
            </a:solidFill>
          </a:ln>
        </p:spPr>
        <p:style>
          <a:lnRef idx="2">
            <a:schemeClr val="accent1"/>
          </a:lnRef>
          <a:fillRef idx="0">
            <a:schemeClr val="accent1"/>
          </a:fillRef>
          <a:effectRef idx="1">
            <a:schemeClr val="accent1"/>
          </a:effectRef>
          <a:fontRef idx="minor">
            <a:schemeClr val="tx1"/>
          </a:fontRef>
        </p:style>
      </p:cxnSp>
      <p:sp>
        <p:nvSpPr>
          <p:cNvPr id="215" name="TextBox 18">
            <a:extLst>
              <a:ext uri="{FF2B5EF4-FFF2-40B4-BE49-F238E27FC236}">
                <a16:creationId xmlns:a16="http://schemas.microsoft.com/office/drawing/2014/main" id="{68F1F19C-CD31-461C-D1F8-8382634065CA}"/>
              </a:ext>
            </a:extLst>
          </p:cNvPr>
          <p:cNvSpPr txBox="1"/>
          <p:nvPr/>
        </p:nvSpPr>
        <p:spPr>
          <a:xfrm>
            <a:off x="3989563" y="3549259"/>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595959"/>
                </a:solidFill>
                <a:latin typeface="Garamond"/>
              </a:rPr>
              <a:t>1.0x</a:t>
            </a:r>
          </a:p>
        </p:txBody>
      </p:sp>
      <p:cxnSp>
        <p:nvCxnSpPr>
          <p:cNvPr id="216" name="Connector 19">
            <a:extLst>
              <a:ext uri="{FF2B5EF4-FFF2-40B4-BE49-F238E27FC236}">
                <a16:creationId xmlns:a16="http://schemas.microsoft.com/office/drawing/2014/main" id="{8CEC2CEC-0FE7-6EA1-A133-4E6BBC6D19B7}"/>
              </a:ext>
            </a:extLst>
          </p:cNvPr>
          <p:cNvCxnSpPr/>
          <p:nvPr/>
        </p:nvCxnSpPr>
        <p:spPr>
          <a:xfrm>
            <a:off x="3818387" y="4032355"/>
            <a:ext cx="144840" cy="0"/>
          </a:xfrm>
          <a:prstGeom prst="line">
            <a:avLst/>
          </a:prstGeom>
          <a:ln w="6099">
            <a:solidFill>
              <a:srgbClr val="C00000"/>
            </a:solidFill>
          </a:ln>
        </p:spPr>
        <p:style>
          <a:lnRef idx="2">
            <a:schemeClr val="accent1"/>
          </a:lnRef>
          <a:fillRef idx="0">
            <a:schemeClr val="accent1"/>
          </a:fillRef>
          <a:effectRef idx="1">
            <a:schemeClr val="accent1"/>
          </a:effectRef>
          <a:fontRef idx="minor">
            <a:schemeClr val="tx1"/>
          </a:fontRef>
        </p:style>
      </p:cxnSp>
      <p:sp>
        <p:nvSpPr>
          <p:cNvPr id="217" name="TextBox 20">
            <a:extLst>
              <a:ext uri="{FF2B5EF4-FFF2-40B4-BE49-F238E27FC236}">
                <a16:creationId xmlns:a16="http://schemas.microsoft.com/office/drawing/2014/main" id="{9FC88210-FD5B-A8CF-730B-48B6BEAB8C3F}"/>
              </a:ext>
            </a:extLst>
          </p:cNvPr>
          <p:cNvSpPr txBox="1"/>
          <p:nvPr/>
        </p:nvSpPr>
        <p:spPr>
          <a:xfrm>
            <a:off x="3989563" y="3968855"/>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C00000"/>
                </a:solidFill>
                <a:latin typeface="Garamond"/>
              </a:rPr>
              <a:t>0x</a:t>
            </a:r>
          </a:p>
        </p:txBody>
      </p:sp>
      <p:cxnSp>
        <p:nvCxnSpPr>
          <p:cNvPr id="218" name="Connector 21">
            <a:extLst>
              <a:ext uri="{FF2B5EF4-FFF2-40B4-BE49-F238E27FC236}">
                <a16:creationId xmlns:a16="http://schemas.microsoft.com/office/drawing/2014/main" id="{C464B351-1635-2941-60D0-9DA55C0AD912}"/>
              </a:ext>
            </a:extLst>
          </p:cNvPr>
          <p:cNvCxnSpPr/>
          <p:nvPr/>
        </p:nvCxnSpPr>
        <p:spPr>
          <a:xfrm>
            <a:off x="3818387" y="4174423"/>
            <a:ext cx="144840" cy="0"/>
          </a:xfrm>
          <a:prstGeom prst="line">
            <a:avLst/>
          </a:prstGeom>
          <a:ln w="6099">
            <a:solidFill>
              <a:srgbClr val="C00000"/>
            </a:solidFill>
          </a:ln>
        </p:spPr>
        <p:style>
          <a:lnRef idx="2">
            <a:schemeClr val="accent1"/>
          </a:lnRef>
          <a:fillRef idx="0">
            <a:schemeClr val="accent1"/>
          </a:fillRef>
          <a:effectRef idx="1">
            <a:schemeClr val="accent1"/>
          </a:effectRef>
          <a:fontRef idx="minor">
            <a:schemeClr val="tx1"/>
          </a:fontRef>
        </p:style>
      </p:cxnSp>
      <p:sp>
        <p:nvSpPr>
          <p:cNvPr id="219" name="TextBox 22">
            <a:extLst>
              <a:ext uri="{FF2B5EF4-FFF2-40B4-BE49-F238E27FC236}">
                <a16:creationId xmlns:a16="http://schemas.microsoft.com/office/drawing/2014/main" id="{60D1BE0B-B667-EFFD-6083-7476524D8807}"/>
              </a:ext>
            </a:extLst>
          </p:cNvPr>
          <p:cNvSpPr txBox="1"/>
          <p:nvPr/>
        </p:nvSpPr>
        <p:spPr>
          <a:xfrm>
            <a:off x="3989563" y="4110923"/>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C00000"/>
                </a:solidFill>
                <a:latin typeface="Garamond"/>
              </a:rPr>
              <a:t>0x</a:t>
            </a:r>
          </a:p>
        </p:txBody>
      </p:sp>
      <p:graphicFrame>
        <p:nvGraphicFramePr>
          <p:cNvPr id="220" name="Table 23">
            <a:extLst>
              <a:ext uri="{FF2B5EF4-FFF2-40B4-BE49-F238E27FC236}">
                <a16:creationId xmlns:a16="http://schemas.microsoft.com/office/drawing/2014/main" id="{8FFE97CA-CFC0-7DC9-8B0E-B36903025379}"/>
              </a:ext>
            </a:extLst>
          </p:cNvPr>
          <p:cNvGraphicFramePr>
            <a:graphicFrameLocks noGrp="1"/>
          </p:cNvGraphicFramePr>
          <p:nvPr/>
        </p:nvGraphicFramePr>
        <p:xfrm>
          <a:off x="4241800" y="1771462"/>
          <a:ext cx="4432300" cy="2473991"/>
        </p:xfrm>
        <a:graphic>
          <a:graphicData uri="http://schemas.openxmlformats.org/drawingml/2006/table">
            <a:tbl>
              <a:tblPr firstRow="1">
                <a:tableStyleId>{5C22544A-7EE6-4342-B048-85BDC9FD1C3A}</a:tableStyleId>
              </a:tblPr>
              <a:tblGrid>
                <a:gridCol w="210677">
                  <a:extLst>
                    <a:ext uri="{9D8B030D-6E8A-4147-A177-3AD203B41FA5}">
                      <a16:colId xmlns:a16="http://schemas.microsoft.com/office/drawing/2014/main" val="20000"/>
                    </a:ext>
                  </a:extLst>
                </a:gridCol>
                <a:gridCol w="474024">
                  <a:extLst>
                    <a:ext uri="{9D8B030D-6E8A-4147-A177-3AD203B41FA5}">
                      <a16:colId xmlns:a16="http://schemas.microsoft.com/office/drawing/2014/main" val="20002"/>
                    </a:ext>
                  </a:extLst>
                </a:gridCol>
                <a:gridCol w="460857">
                  <a:extLst>
                    <a:ext uri="{9D8B030D-6E8A-4147-A177-3AD203B41FA5}">
                      <a16:colId xmlns:a16="http://schemas.microsoft.com/office/drawing/2014/main" val="20003"/>
                    </a:ext>
                  </a:extLst>
                </a:gridCol>
                <a:gridCol w="3286742">
                  <a:extLst>
                    <a:ext uri="{9D8B030D-6E8A-4147-A177-3AD203B41FA5}">
                      <a16:colId xmlns:a16="http://schemas.microsoft.com/office/drawing/2014/main" val="20001"/>
                    </a:ext>
                  </a:extLst>
                </a:gridCol>
              </a:tblGrid>
              <a:tr h="210820">
                <a:tc>
                  <a:txBody>
                    <a:bodyPr/>
                    <a:lstStyle/>
                    <a:p>
                      <a:pPr algn="l"/>
                      <a:endParaRPr sz="800">
                        <a:latin typeface="Garamond"/>
                      </a:endParaRPr>
                    </a:p>
                  </a:txBody>
                  <a:tcPr marL="40987" marR="40987" marT="5855" marB="5855" anchor="ctr">
                    <a:lnL w="0">
                      <a:noFill/>
                    </a:lnL>
                    <a:lnR w="0">
                      <a:noFill/>
                    </a:lnR>
                    <a:lnT w="0">
                      <a:noFill/>
                    </a:lnT>
                    <a:lnB w="9525">
                      <a:solidFill>
                        <a:srgbClr val="011C40"/>
                      </a:solidFill>
                    </a:lnB>
                    <a:noFill/>
                  </a:tcPr>
                </a:tc>
                <a:tc>
                  <a:txBody>
                    <a:bodyPr/>
                    <a:lstStyle/>
                    <a:p>
                      <a:pPr algn="r"/>
                      <a:r>
                        <a:rPr sz="800" b="1">
                          <a:solidFill>
                            <a:srgbClr val="011C40"/>
                          </a:solidFill>
                          <a:latin typeface="Garamond"/>
                        </a:rPr>
                        <a:t>Spread</a:t>
                      </a:r>
                    </a:p>
                  </a:txBody>
                  <a:tcPr marL="40987" marR="40987" marT="5855" marB="5855" anchor="ctr">
                    <a:lnL w="0">
                      <a:noFill/>
                    </a:lnL>
                    <a:lnR w="0">
                      <a:noFill/>
                    </a:lnR>
                    <a:lnT w="0">
                      <a:noFill/>
                    </a:lnT>
                    <a:lnB w="9525">
                      <a:solidFill>
                        <a:srgbClr val="011C40"/>
                      </a:solidFill>
                    </a:lnB>
                    <a:noFill/>
                  </a:tcPr>
                </a:tc>
                <a:tc>
                  <a:txBody>
                    <a:bodyPr/>
                    <a:lstStyle/>
                    <a:p>
                      <a:pPr algn="r"/>
                      <a:r>
                        <a:rPr sz="800" b="1">
                          <a:solidFill>
                            <a:srgbClr val="011C40"/>
                          </a:solidFill>
                          <a:latin typeface="Garamond"/>
                        </a:rPr>
                        <a:t>IRR</a:t>
                      </a:r>
                    </a:p>
                  </a:txBody>
                  <a:tcPr marL="40987" marR="40987" marT="5855" marB="5855" anchor="ctr">
                    <a:lnL w="0">
                      <a:noFill/>
                    </a:lnL>
                    <a:lnR w="0">
                      <a:noFill/>
                    </a:lnR>
                    <a:lnT w="0">
                      <a:noFill/>
                    </a:lnT>
                    <a:lnB w="9525">
                      <a:solidFill>
                        <a:srgbClr val="011C40"/>
                      </a:solidFill>
                    </a:lnB>
                    <a:noFill/>
                  </a:tcPr>
                </a:tc>
                <a:tc>
                  <a:txBody>
                    <a:bodyPr/>
                    <a:lstStyle/>
                    <a:p>
                      <a:pPr algn="l"/>
                      <a:r>
                        <a:rPr sz="800" b="1" dirty="0">
                          <a:solidFill>
                            <a:srgbClr val="011C40"/>
                          </a:solidFill>
                          <a:latin typeface="Garamond"/>
                        </a:rPr>
                        <a:t>Scenario: 1-year spread at expiry</a:t>
                      </a:r>
                    </a:p>
                  </a:txBody>
                  <a:tcPr marL="152400" marR="40987" marT="5855" marB="5855" anchor="ctr">
                    <a:lnL w="0">
                      <a:noFill/>
                    </a:lnL>
                    <a:lnR w="0">
                      <a:noFill/>
                    </a:lnR>
                    <a:lnT w="0">
                      <a:noFill/>
                    </a:lnT>
                    <a:lnB w="9525">
                      <a:solidFill>
                        <a:srgbClr val="011C40"/>
                      </a:solidFill>
                    </a:lnB>
                    <a:noFill/>
                  </a:tcPr>
                </a:tc>
                <a:extLst>
                  <a:ext uri="{0D108BD9-81ED-4DB2-BD59-A6C34878D82A}">
                    <a16:rowId xmlns:a16="http://schemas.microsoft.com/office/drawing/2014/main" val="10000"/>
                  </a:ext>
                </a:extLst>
              </a:tr>
              <a:tr h="135460">
                <a:tc>
                  <a:txBody>
                    <a:bodyPr/>
                    <a:lstStyle/>
                    <a:p>
                      <a:pPr algn="l"/>
                      <a:endParaRPr sz="800">
                        <a:latin typeface="Garamond"/>
                      </a:endParaRP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r"/>
                      <a:r>
                        <a:rPr sz="800" b="0">
                          <a:solidFill>
                            <a:srgbClr val="011C40"/>
                          </a:solidFill>
                          <a:latin typeface="Garamond"/>
                        </a:rPr>
                        <a:t>28bp</a:t>
                      </a: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r"/>
                      <a:r>
                        <a:rPr sz="800" b="0">
                          <a:solidFill>
                            <a:srgbClr val="011C40"/>
                          </a:solidFill>
                          <a:latin typeface="Garamond"/>
                        </a:rPr>
                        <a:t>44.0%</a:t>
                      </a: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l"/>
                      <a:r>
                        <a:rPr sz="800" b="0" dirty="0">
                          <a:solidFill>
                            <a:srgbClr val="011C40"/>
                          </a:solidFill>
                          <a:latin typeface="Garamond"/>
                        </a:rPr>
                        <a:t>Median since 2010</a:t>
                      </a:r>
                    </a:p>
                  </a:txBody>
                  <a:tcPr marL="152400"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183366">
                <a:tc>
                  <a:txBody>
                    <a:bodyPr/>
                    <a:lstStyle/>
                    <a:p>
                      <a:pPr algn="l"/>
                      <a:endParaRPr sz="800">
                        <a:latin typeface="Garamond"/>
                      </a:endParaRPr>
                    </a:p>
                  </a:txBody>
                  <a:tcPr marL="40987" marR="40987" marT="0" marB="47907" anchor="ctr">
                    <a:lnL w="0">
                      <a:noFill/>
                    </a:lnL>
                    <a:lnR w="0">
                      <a:noFill/>
                    </a:lnR>
                    <a:lnT w="0">
                      <a:noFill/>
                    </a:lnT>
                    <a:lnB w="0">
                      <a:noFill/>
                    </a:lnB>
                    <a:noFill/>
                  </a:tcPr>
                </a:tc>
                <a:tc>
                  <a:txBody>
                    <a:bodyPr/>
                    <a:lstStyle/>
                    <a:p>
                      <a:pPr algn="r"/>
                      <a:r>
                        <a:rPr sz="800" b="0">
                          <a:solidFill>
                            <a:srgbClr val="011C40"/>
                          </a:solidFill>
                          <a:latin typeface="Garamond"/>
                        </a:rPr>
                        <a:t>−1.3bp</a:t>
                      </a:r>
                    </a:p>
                  </a:txBody>
                  <a:tcPr marL="40987" marR="40987" marT="0" marB="47907" anchor="ctr">
                    <a:lnL w="0">
                      <a:noFill/>
                    </a:lnL>
                    <a:lnR w="0">
                      <a:noFill/>
                    </a:lnR>
                    <a:lnT w="0">
                      <a:noFill/>
                    </a:lnT>
                    <a:lnB w="0">
                      <a:noFill/>
                    </a:lnB>
                    <a:noFill/>
                  </a:tcPr>
                </a:tc>
                <a:tc>
                  <a:txBody>
                    <a:bodyPr/>
                    <a:lstStyle/>
                    <a:p>
                      <a:pPr algn="r"/>
                      <a:r>
                        <a:rPr sz="800" b="0">
                          <a:solidFill>
                            <a:srgbClr val="011C40"/>
                          </a:solidFill>
                          <a:latin typeface="Garamond"/>
                        </a:rPr>
                        <a:t>42.3%</a:t>
                      </a:r>
                    </a:p>
                  </a:txBody>
                  <a:tcPr marL="40987" marR="40987" marT="0" marB="47907" anchor="ctr">
                    <a:lnL w="0">
                      <a:noFill/>
                    </a:lnL>
                    <a:lnR w="0">
                      <a:noFill/>
                    </a:lnR>
                    <a:lnT w="0">
                      <a:noFill/>
                    </a:lnT>
                    <a:lnB w="0">
                      <a:noFill/>
                    </a:lnB>
                    <a:noFill/>
                  </a:tcPr>
                </a:tc>
                <a:tc>
                  <a:txBody>
                    <a:bodyPr/>
                    <a:lstStyle/>
                    <a:p>
                      <a:pPr algn="l"/>
                      <a:r>
                        <a:rPr sz="800" b="0">
                          <a:solidFill>
                            <a:srgbClr val="011C40"/>
                          </a:solidFill>
                          <a:latin typeface="Garamond"/>
                        </a:rPr>
                        <a:t>Roll to spot: curve unchanged (6bp above the 1-year low since 2010)</a:t>
                      </a:r>
                    </a:p>
                  </a:txBody>
                  <a:tcPr marL="152400" marR="40987" marT="0" marB="47907" anchor="ctr">
                    <a:lnL w="0">
                      <a:noFill/>
                    </a:lnL>
                    <a:lnR w="0">
                      <a:noFill/>
                    </a:lnR>
                    <a:lnT w="0">
                      <a:noFill/>
                    </a:lnT>
                    <a:lnB w="0">
                      <a:noFill/>
                    </a:lnB>
                    <a:noFill/>
                  </a:tcPr>
                </a:tc>
                <a:extLst>
                  <a:ext uri="{0D108BD9-81ED-4DB2-BD59-A6C34878D82A}">
                    <a16:rowId xmlns:a16="http://schemas.microsoft.com/office/drawing/2014/main" val="10003"/>
                  </a:ext>
                </a:extLst>
              </a:tr>
              <a:tr h="556708">
                <a:tc>
                  <a:txBody>
                    <a:bodyPr/>
                    <a:lstStyle/>
                    <a:p>
                      <a:pPr algn="l"/>
                      <a:endParaRPr sz="800">
                        <a:latin typeface="Garamond"/>
                      </a:endParaRPr>
                    </a:p>
                  </a:txBody>
                  <a:tcPr marL="40987" marR="40987" marT="0" marB="325435" anchor="ctr">
                    <a:lnL w="0">
                      <a:noFill/>
                    </a:lnL>
                    <a:lnR w="0">
                      <a:noFill/>
                    </a:lnR>
                    <a:lnT w="0">
                      <a:noFill/>
                    </a:lnT>
                    <a:lnB w="0">
                      <a:noFill/>
                    </a:lnB>
                    <a:noFill/>
                  </a:tcPr>
                </a:tc>
                <a:tc>
                  <a:txBody>
                    <a:bodyPr/>
                    <a:lstStyle/>
                    <a:p>
                      <a:pPr algn="r"/>
                      <a:r>
                        <a:rPr sz="800" b="0">
                          <a:solidFill>
                            <a:srgbClr val="011C40"/>
                          </a:solidFill>
                          <a:latin typeface="Garamond"/>
                        </a:rPr>
                        <a:t>−83bp</a:t>
                      </a:r>
                    </a:p>
                  </a:txBody>
                  <a:tcPr marL="40987" marR="40987" marT="0" marB="325435" anchor="ctr">
                    <a:lnL w="0">
                      <a:noFill/>
                    </a:lnL>
                    <a:lnR w="0">
                      <a:noFill/>
                    </a:lnR>
                    <a:lnT w="0">
                      <a:noFill/>
                    </a:lnT>
                    <a:lnB w="0">
                      <a:noFill/>
                    </a:lnB>
                    <a:noFill/>
                  </a:tcPr>
                </a:tc>
                <a:tc>
                  <a:txBody>
                    <a:bodyPr/>
                    <a:lstStyle/>
                    <a:p>
                      <a:pPr algn="r"/>
                      <a:r>
                        <a:rPr sz="800" b="0">
                          <a:solidFill>
                            <a:srgbClr val="011C40"/>
                          </a:solidFill>
                          <a:latin typeface="Garamond"/>
                        </a:rPr>
                        <a:t>37.2%</a:t>
                      </a:r>
                    </a:p>
                  </a:txBody>
                  <a:tcPr marL="40987" marR="40987" marT="0" marB="325435" anchor="ctr">
                    <a:lnL w="0">
                      <a:noFill/>
                    </a:lnL>
                    <a:lnR w="0">
                      <a:noFill/>
                    </a:lnR>
                    <a:lnT w="0">
                      <a:noFill/>
                    </a:lnT>
                    <a:lnB w="0">
                      <a:noFill/>
                    </a:lnB>
                    <a:noFill/>
                  </a:tcPr>
                </a:tc>
                <a:tc>
                  <a:txBody>
                    <a:bodyPr/>
                    <a:lstStyle/>
                    <a:p>
                      <a:pPr algn="l"/>
                      <a:r>
                        <a:rPr sz="800" b="0" dirty="0">
                          <a:solidFill>
                            <a:srgbClr val="011C40"/>
                          </a:solidFill>
                          <a:latin typeface="Garamond"/>
                        </a:rPr>
                        <a:t>No roll: the bond's spread unchanged (the 5-year point's cheapest since 2010)</a:t>
                      </a:r>
                    </a:p>
                  </a:txBody>
                  <a:tcPr marL="152400" marR="40987" marT="0" marB="325435" anchor="ctr">
                    <a:lnL w="0">
                      <a:noFill/>
                    </a:lnL>
                    <a:lnR w="0">
                      <a:noFill/>
                    </a:lnR>
                    <a:lnT w="0">
                      <a:noFill/>
                    </a:lnT>
                    <a:lnB w="0">
                      <a:noFill/>
                    </a:lnB>
                    <a:noFill/>
                  </a:tcPr>
                </a:tc>
                <a:extLst>
                  <a:ext uri="{0D108BD9-81ED-4DB2-BD59-A6C34878D82A}">
                    <a16:rowId xmlns:a16="http://schemas.microsoft.com/office/drawing/2014/main" val="10004"/>
                  </a:ext>
                </a:extLst>
              </a:tr>
              <a:tr h="598006">
                <a:tc>
                  <a:txBody>
                    <a:bodyPr/>
                    <a:lstStyle/>
                    <a:p>
                      <a:pPr algn="l"/>
                      <a:endParaRPr sz="800">
                        <a:latin typeface="Garamond"/>
                      </a:endParaRPr>
                    </a:p>
                  </a:txBody>
                  <a:tcPr marL="40987" marR="40987" marT="284136" marB="0" anchor="ctr">
                    <a:lnL w="0">
                      <a:noFill/>
                    </a:lnL>
                    <a:lnR w="0">
                      <a:noFill/>
                    </a:lnR>
                    <a:lnT w="0">
                      <a:noFill/>
                    </a:lnT>
                    <a:lnB w="0">
                      <a:noFill/>
                    </a:lnB>
                    <a:noFill/>
                  </a:tcPr>
                </a:tc>
                <a:tc>
                  <a:txBody>
                    <a:bodyPr/>
                    <a:lstStyle/>
                    <a:p>
                      <a:pPr algn="r"/>
                      <a:r>
                        <a:rPr sz="800" b="0">
                          <a:solidFill>
                            <a:srgbClr val="011C40"/>
                          </a:solidFill>
                          <a:latin typeface="Garamond"/>
                        </a:rPr>
                        <a:t>−350bp</a:t>
                      </a:r>
                    </a:p>
                  </a:txBody>
                  <a:tcPr marL="40987" marR="40987" marT="284136" marB="0" anchor="ctr">
                    <a:lnL w="0">
                      <a:noFill/>
                    </a:lnL>
                    <a:lnR w="0">
                      <a:noFill/>
                    </a:lnR>
                    <a:lnT w="0">
                      <a:noFill/>
                    </a:lnT>
                    <a:lnB w="0">
                      <a:noFill/>
                    </a:lnB>
                    <a:noFill/>
                  </a:tcPr>
                </a:tc>
                <a:tc>
                  <a:txBody>
                    <a:bodyPr/>
                    <a:lstStyle/>
                    <a:p>
                      <a:pPr algn="r"/>
                      <a:r>
                        <a:rPr sz="800" b="0">
                          <a:solidFill>
                            <a:srgbClr val="011C40"/>
                          </a:solidFill>
                          <a:latin typeface="Garamond"/>
                        </a:rPr>
                        <a:t>14.0%</a:t>
                      </a:r>
                    </a:p>
                  </a:txBody>
                  <a:tcPr marL="40987" marR="40987" marT="284136" marB="0" anchor="ctr">
                    <a:lnL w="0">
                      <a:noFill/>
                    </a:lnL>
                    <a:lnR w="0">
                      <a:noFill/>
                    </a:lnR>
                    <a:lnT w="0">
                      <a:noFill/>
                    </a:lnT>
                    <a:lnB w="0">
                      <a:noFill/>
                    </a:lnB>
                    <a:noFill/>
                  </a:tcPr>
                </a:tc>
                <a:tc>
                  <a:txBody>
                    <a:bodyPr/>
                    <a:lstStyle/>
                    <a:p>
                      <a:pPr algn="l"/>
                      <a:r>
                        <a:rPr sz="800" b="0">
                          <a:solidFill>
                            <a:srgbClr val="011C40"/>
                          </a:solidFill>
                          <a:latin typeface="Garamond"/>
                        </a:rPr>
                        <a:t>Italy's 2011 crisis level: below this for only 28 trading days</a:t>
                      </a:r>
                    </a:p>
                  </a:txBody>
                  <a:tcPr marL="152400" marR="40987" marT="284136" marB="0" anchor="ctr">
                    <a:lnL w="0">
                      <a:noFill/>
                    </a:lnL>
                    <a:lnR w="0">
                      <a:noFill/>
                    </a:lnR>
                    <a:lnT w="0">
                      <a:noFill/>
                    </a:lnT>
                    <a:lnB w="0">
                      <a:noFill/>
                    </a:lnB>
                    <a:noFill/>
                  </a:tcPr>
                </a:tc>
                <a:extLst>
                  <a:ext uri="{0D108BD9-81ED-4DB2-BD59-A6C34878D82A}">
                    <a16:rowId xmlns:a16="http://schemas.microsoft.com/office/drawing/2014/main" val="10005"/>
                  </a:ext>
                </a:extLst>
              </a:tr>
              <a:tr h="366732">
                <a:tc>
                  <a:txBody>
                    <a:bodyPr/>
                    <a:lstStyle/>
                    <a:p>
                      <a:pPr algn="l"/>
                      <a:endParaRPr sz="800">
                        <a:latin typeface="Garamond"/>
                      </a:endParaRPr>
                    </a:p>
                  </a:txBody>
                  <a:tcPr marL="40987" marR="40987" marT="0" marB="52862" anchor="ctr">
                    <a:lnL w="0">
                      <a:noFill/>
                    </a:lnL>
                    <a:lnR w="0">
                      <a:noFill/>
                    </a:lnR>
                    <a:lnT w="0">
                      <a:noFill/>
                    </a:lnT>
                    <a:lnB w="0">
                      <a:noFill/>
                    </a:lnB>
                    <a:noFill/>
                  </a:tcPr>
                </a:tc>
                <a:tc>
                  <a:txBody>
                    <a:bodyPr/>
                    <a:lstStyle/>
                    <a:p>
                      <a:pPr algn="r"/>
                      <a:r>
                        <a:rPr sz="800" b="0">
                          <a:solidFill>
                            <a:srgbClr val="011C40"/>
                          </a:solidFill>
                          <a:latin typeface="Garamond"/>
                        </a:rPr>
                        <a:t>−445bp</a:t>
                      </a:r>
                    </a:p>
                  </a:txBody>
                  <a:tcPr marL="40987" marR="40987" marT="0" marB="52862" anchor="ctr">
                    <a:lnL w="0">
                      <a:noFill/>
                    </a:lnL>
                    <a:lnR w="0">
                      <a:noFill/>
                    </a:lnR>
                    <a:lnT w="0">
                      <a:noFill/>
                    </a:lnT>
                    <a:lnB w="0">
                      <a:noFill/>
                    </a:lnB>
                    <a:noFill/>
                  </a:tcPr>
                </a:tc>
                <a:tc>
                  <a:txBody>
                    <a:bodyPr/>
                    <a:lstStyle/>
                    <a:p>
                      <a:pPr algn="r"/>
                      <a:r>
                        <a:rPr sz="800" b="0">
                          <a:solidFill>
                            <a:srgbClr val="011C40"/>
                          </a:solidFill>
                          <a:latin typeface="Garamond"/>
                        </a:rPr>
                        <a:t>0.0%</a:t>
                      </a:r>
                    </a:p>
                  </a:txBody>
                  <a:tcPr marL="40987" marR="40987" marT="0" marB="52862" anchor="ctr">
                    <a:lnL w="0">
                      <a:noFill/>
                    </a:lnL>
                    <a:lnR w="0">
                      <a:noFill/>
                    </a:lnR>
                    <a:lnT w="0">
                      <a:noFill/>
                    </a:lnT>
                    <a:lnB w="0">
                      <a:noFill/>
                    </a:lnB>
                    <a:noFill/>
                  </a:tcPr>
                </a:tc>
                <a:tc>
                  <a:txBody>
                    <a:bodyPr/>
                    <a:lstStyle/>
                    <a:p>
                      <a:pPr algn="l"/>
                      <a:r>
                        <a:rPr sz="800" b="0">
                          <a:solidFill>
                            <a:srgbClr val="011C40"/>
                          </a:solidFill>
                          <a:latin typeface="Garamond"/>
                        </a:rPr>
                        <a:t>Investment break-even</a:t>
                      </a:r>
                    </a:p>
                  </a:txBody>
                  <a:tcPr marL="152400" marR="40987" marT="0" marB="52862" anchor="ctr">
                    <a:lnL w="0">
                      <a:noFill/>
                    </a:lnL>
                    <a:lnR w="0">
                      <a:noFill/>
                    </a:lnR>
                    <a:lnT w="0">
                      <a:noFill/>
                    </a:lnT>
                    <a:lnB w="0">
                      <a:noFill/>
                    </a:lnB>
                    <a:noFill/>
                  </a:tcPr>
                </a:tc>
                <a:extLst>
                  <a:ext uri="{0D108BD9-81ED-4DB2-BD59-A6C34878D82A}">
                    <a16:rowId xmlns:a16="http://schemas.microsoft.com/office/drawing/2014/main" val="10006"/>
                  </a:ext>
                </a:extLst>
              </a:tr>
              <a:tr h="280831">
                <a:tc>
                  <a:txBody>
                    <a:bodyPr/>
                    <a:lstStyle/>
                    <a:p>
                      <a:pPr algn="l"/>
                      <a:endParaRPr sz="800">
                        <a:latin typeface="Garamond"/>
                      </a:endParaRPr>
                    </a:p>
                  </a:txBody>
                  <a:tcPr marL="40987" marR="40987" marT="138764" marB="0" anchor="ctr">
                    <a:lnL w="0">
                      <a:noFill/>
                    </a:lnL>
                    <a:lnR w="0">
                      <a:noFill/>
                    </a:lnR>
                    <a:lnT w="0">
                      <a:noFill/>
                    </a:lnT>
                    <a:lnB w="0">
                      <a:noFill/>
                    </a:lnB>
                    <a:noFill/>
                  </a:tcPr>
                </a:tc>
                <a:tc>
                  <a:txBody>
                    <a:bodyPr/>
                    <a:lstStyle/>
                    <a:p>
                      <a:pPr algn="r"/>
                      <a:r>
                        <a:rPr sz="800" b="0">
                          <a:solidFill>
                            <a:srgbClr val="011C40"/>
                          </a:solidFill>
                          <a:latin typeface="Garamond"/>
                        </a:rPr>
                        <a:t>−572bp</a:t>
                      </a:r>
                    </a:p>
                  </a:txBody>
                  <a:tcPr marL="40987" marR="40987" marT="138764" marB="0" anchor="ctr">
                    <a:lnL w="0">
                      <a:noFill/>
                    </a:lnL>
                    <a:lnR w="0">
                      <a:noFill/>
                    </a:lnR>
                    <a:lnT w="0">
                      <a:noFill/>
                    </a:lnT>
                    <a:lnB w="0">
                      <a:noFill/>
                    </a:lnB>
                    <a:noFill/>
                  </a:tcPr>
                </a:tc>
                <a:tc>
                  <a:txBody>
                    <a:bodyPr/>
                    <a:lstStyle/>
                    <a:p>
                      <a:pPr algn="r"/>
                      <a:r>
                        <a:rPr sz="800" b="0">
                          <a:solidFill>
                            <a:srgbClr val="011C40"/>
                          </a:solidFill>
                          <a:latin typeface="Garamond"/>
                        </a:rPr>
                        <a:t>total loss</a:t>
                      </a:r>
                    </a:p>
                  </a:txBody>
                  <a:tcPr marL="40987" marR="40987" marT="138764" marB="0" anchor="ctr">
                    <a:lnL w="0">
                      <a:noFill/>
                    </a:lnL>
                    <a:lnR w="0">
                      <a:noFill/>
                    </a:lnR>
                    <a:lnT w="0">
                      <a:noFill/>
                    </a:lnT>
                    <a:lnB w="0">
                      <a:noFill/>
                    </a:lnB>
                    <a:noFill/>
                  </a:tcPr>
                </a:tc>
                <a:tc>
                  <a:txBody>
                    <a:bodyPr/>
                    <a:lstStyle/>
                    <a:p>
                      <a:pPr algn="l"/>
                      <a:r>
                        <a:rPr sz="800" b="0">
                          <a:solidFill>
                            <a:srgbClr val="011C40"/>
                          </a:solidFill>
                          <a:latin typeface="Garamond"/>
                        </a:rPr>
                        <a:t>Full impairment at expiry</a:t>
                      </a:r>
                    </a:p>
                  </a:txBody>
                  <a:tcPr marL="152400" marR="40987" marT="138764" marB="0" anchor="ctr">
                    <a:lnL w="0">
                      <a:noFill/>
                    </a:lnL>
                    <a:lnR w="0">
                      <a:noFill/>
                    </a:lnR>
                    <a:lnT w="0">
                      <a:noFill/>
                    </a:lnT>
                    <a:lnB w="0">
                      <a:noFill/>
                    </a:lnB>
                    <a:noFill/>
                  </a:tcPr>
                </a:tc>
                <a:extLst>
                  <a:ext uri="{0D108BD9-81ED-4DB2-BD59-A6C34878D82A}">
                    <a16:rowId xmlns:a16="http://schemas.microsoft.com/office/drawing/2014/main" val="10007"/>
                  </a:ext>
                </a:extLst>
              </a:tr>
              <a:tr h="142068">
                <a:tc>
                  <a:txBody>
                    <a:bodyPr/>
                    <a:lstStyle/>
                    <a:p>
                      <a:pPr algn="l"/>
                      <a:endParaRPr sz="800">
                        <a:latin typeface="Garamond"/>
                      </a:endParaRPr>
                    </a:p>
                  </a:txBody>
                  <a:tcPr marL="40987" marR="40987" marT="0" marB="0" anchor="ctr">
                    <a:lnL w="0">
                      <a:noFill/>
                    </a:lnL>
                    <a:lnR w="0">
                      <a:noFill/>
                    </a:lnR>
                    <a:lnT w="0">
                      <a:noFill/>
                    </a:lnT>
                    <a:lnB w="6350">
                      <a:solidFill>
                        <a:srgbClr val="D9D9D9"/>
                      </a:solidFill>
                    </a:lnB>
                    <a:noFill/>
                  </a:tcPr>
                </a:tc>
                <a:tc>
                  <a:txBody>
                    <a:bodyPr/>
                    <a:lstStyle/>
                    <a:p>
                      <a:pPr algn="r"/>
                      <a:r>
                        <a:rPr sz="800" b="0">
                          <a:solidFill>
                            <a:srgbClr val="011C40"/>
                          </a:solidFill>
                          <a:latin typeface="Garamond"/>
                        </a:rPr>
                        <a:t>−615bp</a:t>
                      </a:r>
                    </a:p>
                  </a:txBody>
                  <a:tcPr marL="40987" marR="40987" marT="0" marB="0" anchor="ctr">
                    <a:lnL w="0">
                      <a:noFill/>
                    </a:lnL>
                    <a:lnR w="0">
                      <a:noFill/>
                    </a:lnR>
                    <a:lnT w="0">
                      <a:noFill/>
                    </a:lnT>
                    <a:lnB w="6350">
                      <a:solidFill>
                        <a:srgbClr val="D9D9D9"/>
                      </a:solidFill>
                    </a:lnB>
                    <a:noFill/>
                  </a:tcPr>
                </a:tc>
                <a:tc>
                  <a:txBody>
                    <a:bodyPr/>
                    <a:lstStyle/>
                    <a:p>
                      <a:pPr algn="r"/>
                      <a:r>
                        <a:rPr sz="800" b="0" dirty="0">
                          <a:solidFill>
                            <a:srgbClr val="011C40"/>
                          </a:solidFill>
                          <a:latin typeface="Garamond"/>
                        </a:rPr>
                        <a:t>total loss</a:t>
                      </a:r>
                    </a:p>
                  </a:txBody>
                  <a:tcPr marL="40987" marR="40987" marT="0" marB="0" anchor="ctr">
                    <a:lnL w="0">
                      <a:noFill/>
                    </a:lnL>
                    <a:lnR w="0">
                      <a:noFill/>
                    </a:lnR>
                    <a:lnT w="0">
                      <a:noFill/>
                    </a:lnT>
                    <a:lnB w="6350">
                      <a:solidFill>
                        <a:srgbClr val="D9D9D9"/>
                      </a:solidFill>
                    </a:lnB>
                    <a:noFill/>
                  </a:tcPr>
                </a:tc>
                <a:tc>
                  <a:txBody>
                    <a:bodyPr/>
                    <a:lstStyle/>
                    <a:p>
                      <a:pPr algn="l"/>
                      <a:r>
                        <a:rPr sz="800" b="0" dirty="0">
                          <a:solidFill>
                            <a:srgbClr val="011C40"/>
                          </a:solidFill>
                          <a:latin typeface="Garamond"/>
                        </a:rPr>
                        <a:t>Italy's 1-year point at its euro-crisis low, 9 Nov 2011</a:t>
                      </a:r>
                    </a:p>
                  </a:txBody>
                  <a:tcPr marL="152400" marR="40987" marT="0" marB="0" anchor="ctr">
                    <a:lnL w="0">
                      <a:noFill/>
                    </a:lnL>
                    <a:lnR w="0">
                      <a:noFill/>
                    </a:lnR>
                    <a:lnT w="0">
                      <a:noFill/>
                    </a:lnT>
                    <a:lnB w="6350">
                      <a:solidFill>
                        <a:srgbClr val="D9D9D9"/>
                      </a:solidFill>
                    </a:lnB>
                    <a:noFill/>
                  </a:tcPr>
                </a:tc>
                <a:extLst>
                  <a:ext uri="{0D108BD9-81ED-4DB2-BD59-A6C34878D82A}">
                    <a16:rowId xmlns:a16="http://schemas.microsoft.com/office/drawing/2014/main" val="10008"/>
                  </a:ext>
                </a:extLst>
              </a:tr>
            </a:tbl>
          </a:graphicData>
        </a:graphic>
      </p:graphicFrame>
      <p:sp>
        <p:nvSpPr>
          <p:cNvPr id="221" name="Oval 24">
            <a:extLst>
              <a:ext uri="{FF2B5EF4-FFF2-40B4-BE49-F238E27FC236}">
                <a16:creationId xmlns:a16="http://schemas.microsoft.com/office/drawing/2014/main" id="{547ABA3B-8EC7-B7AB-5170-6E89EF666F01}"/>
              </a:ext>
            </a:extLst>
          </p:cNvPr>
          <p:cNvSpPr/>
          <p:nvPr/>
        </p:nvSpPr>
        <p:spPr>
          <a:xfrm>
            <a:off x="4309110" y="2011912"/>
            <a:ext cx="81975" cy="81975"/>
          </a:xfrm>
          <a:prstGeom prst="ellipse">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3" name="Oval 26">
            <a:extLst>
              <a:ext uri="{FF2B5EF4-FFF2-40B4-BE49-F238E27FC236}">
                <a16:creationId xmlns:a16="http://schemas.microsoft.com/office/drawing/2014/main" id="{A098C3F2-7DF9-EE13-283D-709AE3334C0D}"/>
              </a:ext>
            </a:extLst>
          </p:cNvPr>
          <p:cNvSpPr/>
          <p:nvPr/>
        </p:nvSpPr>
        <p:spPr>
          <a:xfrm>
            <a:off x="4309110" y="2147373"/>
            <a:ext cx="81975" cy="81975"/>
          </a:xfrm>
          <a:prstGeom prst="ellipse">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4" name="Oval 27">
            <a:extLst>
              <a:ext uri="{FF2B5EF4-FFF2-40B4-BE49-F238E27FC236}">
                <a16:creationId xmlns:a16="http://schemas.microsoft.com/office/drawing/2014/main" id="{C996ECDF-7342-CDBC-D040-51D3D2EEC3B2}"/>
              </a:ext>
            </a:extLst>
          </p:cNvPr>
          <p:cNvSpPr/>
          <p:nvPr/>
        </p:nvSpPr>
        <p:spPr>
          <a:xfrm>
            <a:off x="4309110" y="2378646"/>
            <a:ext cx="81975" cy="81975"/>
          </a:xfrm>
          <a:prstGeom prst="ellipse">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5" name="Oval 28">
            <a:extLst>
              <a:ext uri="{FF2B5EF4-FFF2-40B4-BE49-F238E27FC236}">
                <a16:creationId xmlns:a16="http://schemas.microsoft.com/office/drawing/2014/main" id="{EA5F0618-0F13-FD4B-DACE-F74304C2F399}"/>
              </a:ext>
            </a:extLst>
          </p:cNvPr>
          <p:cNvSpPr/>
          <p:nvPr/>
        </p:nvSpPr>
        <p:spPr>
          <a:xfrm>
            <a:off x="4309110" y="3260789"/>
            <a:ext cx="81975" cy="81975"/>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6" name="Oval 29">
            <a:extLst>
              <a:ext uri="{FF2B5EF4-FFF2-40B4-BE49-F238E27FC236}">
                <a16:creationId xmlns:a16="http://schemas.microsoft.com/office/drawing/2014/main" id="{C6FF9776-78C5-6556-D895-F31F349105A4}"/>
              </a:ext>
            </a:extLst>
          </p:cNvPr>
          <p:cNvSpPr/>
          <p:nvPr/>
        </p:nvSpPr>
        <p:spPr>
          <a:xfrm>
            <a:off x="4309110" y="3574659"/>
            <a:ext cx="81975" cy="81975"/>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7" name="Oval 30">
            <a:extLst>
              <a:ext uri="{FF2B5EF4-FFF2-40B4-BE49-F238E27FC236}">
                <a16:creationId xmlns:a16="http://schemas.microsoft.com/office/drawing/2014/main" id="{4B74DB4D-06D5-DF6D-7468-B740D72CD2A7}"/>
              </a:ext>
            </a:extLst>
          </p:cNvPr>
          <p:cNvSpPr/>
          <p:nvPr/>
        </p:nvSpPr>
        <p:spPr>
          <a:xfrm>
            <a:off x="4309110" y="3994255"/>
            <a:ext cx="81975" cy="81975"/>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8" name="Oval 31">
            <a:extLst>
              <a:ext uri="{FF2B5EF4-FFF2-40B4-BE49-F238E27FC236}">
                <a16:creationId xmlns:a16="http://schemas.microsoft.com/office/drawing/2014/main" id="{078A50FF-2156-4BDC-5938-D9B5C10DA15A}"/>
              </a:ext>
            </a:extLst>
          </p:cNvPr>
          <p:cNvSpPr/>
          <p:nvPr/>
        </p:nvSpPr>
        <p:spPr>
          <a:xfrm>
            <a:off x="4309110" y="4136323"/>
            <a:ext cx="81975" cy="81975"/>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30" name="TextBox 33">
            <a:extLst>
              <a:ext uri="{FF2B5EF4-FFF2-40B4-BE49-F238E27FC236}">
                <a16:creationId xmlns:a16="http://schemas.microsoft.com/office/drawing/2014/main" id="{EF78846A-FDCF-91A0-1B57-1FCD313F02F8}"/>
              </a:ext>
            </a:extLst>
          </p:cNvPr>
          <p:cNvSpPr txBox="1"/>
          <p:nvPr/>
        </p:nvSpPr>
        <p:spPr>
          <a:xfrm>
            <a:off x="1783080" y="4663440"/>
            <a:ext cx="676656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31" name="Slide Number Placeholder">
            <a:extLst>
              <a:ext uri="{FF2B5EF4-FFF2-40B4-BE49-F238E27FC236}">
                <a16:creationId xmlns:a16="http://schemas.microsoft.com/office/drawing/2014/main" id="{2B1FEE4E-C44E-7656-EA3E-DE1296F6484B}"/>
              </a:ext>
            </a:extLst>
          </p:cNvPr>
          <p:cNvSpPr>
            <a:spLocks noGrp="1"/>
          </p:cNvSpPr>
          <p:nvPr>
            <p:ph type="sldNum" sz="quarter" idx="12"/>
          </p:nvPr>
        </p:nvSpPr>
        <p:spPr/>
        <p:txBody>
          <a:bodyPr/>
          <a:lstStyle/>
          <a:p>
            <a:fld id="{F6B70E3D-0A47-44A9-8B13-A3D1BC88A914}" type="slidenum">
              <a:rPr lang="en-US"/>
              <a:t>10</a:t>
            </a:fld>
            <a:endParaRPr lang="en-US"/>
          </a:p>
        </p:txBody>
      </p:sp>
    </p:spTree>
    <p:extLst>
      <p:ext uri="{BB962C8B-B14F-4D97-AF65-F5344CB8AC3E}">
        <p14:creationId xmlns:p14="http://schemas.microsoft.com/office/powerpoint/2010/main" val="295980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Risk: Italy and Spain During Euro Crisis</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200" b="1" dirty="0">
                <a:solidFill>
                  <a:srgbClr val="262626"/>
                </a:solidFill>
                <a:latin typeface="Garamond"/>
              </a:rPr>
              <a:t>Our structure rolls into a 1-year swap spread at expiry</a:t>
            </a:r>
          </a:p>
        </p:txBody>
      </p:sp>
      <p:graphicFrame>
        <p:nvGraphicFramePr>
          <p:cNvPr id="203" name="Chart 6"/>
          <p:cNvGraphicFramePr>
            <a:graphicFrameLocks noGrp="1"/>
          </p:cNvGraphicFramePr>
          <p:nvPr>
            <p:extLst>
              <p:ext uri="{D42A27DB-BD31-4B8C-83A1-F6EECF244321}">
                <p14:modId xmlns:p14="http://schemas.microsoft.com/office/powerpoint/2010/main" val="4114620348"/>
              </p:ext>
            </p:extLst>
          </p:nvPr>
        </p:nvGraphicFramePr>
        <p:xfrm>
          <a:off x="1691641" y="1694857"/>
          <a:ext cx="5464454" cy="2898407"/>
        </p:xfrm>
        <a:graphic>
          <a:graphicData uri="http://schemas.openxmlformats.org/drawingml/2006/chart">
            <c:chart xmlns:c="http://schemas.openxmlformats.org/drawingml/2006/chart" xmlns:r="http://schemas.openxmlformats.org/officeDocument/2006/relationships" r:id="rId2"/>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14" name="Slide Number Placeholder"/>
          <p:cNvSpPr>
            <a:spLocks noGrp="1"/>
          </p:cNvSpPr>
          <p:nvPr>
            <p:ph type="sldNum" sz="quarter" idx="12"/>
          </p:nvPr>
        </p:nvSpPr>
        <p:spPr/>
        <p:txBody>
          <a:bodyPr/>
          <a:lstStyle/>
          <a:p>
            <a:fld id="{F6B70E3D-0A47-44A9-8B13-A3D1BC88A914}" type="slidenum">
              <a:rPr lang="en-US"/>
              <a:t>11</a:t>
            </a:fld>
            <a:endParaRPr lang="en-US"/>
          </a:p>
        </p:txBody>
      </p:sp>
      <p:sp>
        <p:nvSpPr>
          <p:cNvPr id="7" name="Subheading">
            <a:extLst>
              <a:ext uri="{FF2B5EF4-FFF2-40B4-BE49-F238E27FC236}">
                <a16:creationId xmlns:a16="http://schemas.microsoft.com/office/drawing/2014/main" id="{F178C60A-FAB8-A6D2-2B73-B9CFF269A9DD}"/>
              </a:ext>
            </a:extLst>
          </p:cNvPr>
          <p:cNvSpPr txBox="1"/>
          <p:nvPr/>
        </p:nvSpPr>
        <p:spPr>
          <a:xfrm>
            <a:off x="2476846" y="1560245"/>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1-year swap spreads versus 6m Euribor, weekly, 2010 to 2013</a:t>
            </a:r>
          </a:p>
        </p:txBody>
      </p:sp>
    </p:spTree>
    <p:extLst>
      <p:ext uri="{BB962C8B-B14F-4D97-AF65-F5344CB8AC3E}">
        <p14:creationId xmlns:p14="http://schemas.microsoft.com/office/powerpoint/2010/main" val="2901244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[Risks]</a:t>
            </a:r>
          </a:p>
        </p:txBody>
      </p:sp>
      <p:sp>
        <p:nvSpPr>
          <p:cNvPr id="216" name="Slide Number Placeholder"/>
          <p:cNvSpPr>
            <a:spLocks noGrp="1"/>
          </p:cNvSpPr>
          <p:nvPr>
            <p:ph type="sldNum" sz="quarter" idx="12"/>
          </p:nvPr>
        </p:nvSpPr>
        <p:spPr/>
        <p:txBody>
          <a:bodyPr/>
          <a:lstStyle/>
          <a:p>
            <a:fld id="{F6B70E3D-0A47-44A9-8B13-A3D1BC88A914}" type="slidenum">
              <a:rPr lang="en-US"/>
              <a:t>12</a:t>
            </a:fld>
            <a:endParaRPr lang="en-US"/>
          </a:p>
        </p:txBody>
      </p:sp>
      <p:sp>
        <p:nvSpPr>
          <p:cNvPr id="7" name="TextBox 9">
            <a:extLst>
              <a:ext uri="{FF2B5EF4-FFF2-40B4-BE49-F238E27FC236}">
                <a16:creationId xmlns:a16="http://schemas.microsoft.com/office/drawing/2014/main" id="{17AC5491-CEC7-F6EA-E813-5D29A7E8076B}"/>
              </a:ext>
            </a:extLst>
          </p:cNvPr>
          <p:cNvSpPr txBox="1"/>
          <p:nvPr/>
        </p:nvSpPr>
        <p:spPr>
          <a:xfrm>
            <a:off x="986184" y="1403522"/>
            <a:ext cx="5162571" cy="1381597"/>
          </a:xfrm>
          <a:prstGeom prst="rect">
            <a:avLst/>
          </a:prstGeom>
          <a:noFill/>
        </p:spPr>
        <p:txBody>
          <a:bodyPr wrap="square" lIns="0" tIns="0" rIns="0" bIns="0" anchor="t">
            <a:spAutoFit/>
          </a:bodyPr>
          <a:lstStyle/>
          <a:p>
            <a:pPr marL="228600" indent="-228600" algn="l">
              <a:lnSpc>
                <a:spcPct val="112000"/>
              </a:lnSpc>
              <a:spcAft>
                <a:spcPts val="0"/>
              </a:spcAft>
              <a:buFont typeface="Arial" panose="020B0604020202020204" pitchFamily="34" charset="0"/>
              <a:buChar char="•"/>
            </a:pPr>
            <a:r>
              <a:rPr lang="en-US" sz="1200" b="1" i="0" dirty="0">
                <a:solidFill>
                  <a:srgbClr val="011C40"/>
                </a:solidFill>
                <a:latin typeface="Garamond"/>
              </a:rPr>
              <a:t>Near Term Mark to Market</a:t>
            </a:r>
          </a:p>
          <a:p>
            <a:pPr marL="228600" indent="-228600" algn="l">
              <a:lnSpc>
                <a:spcPct val="112000"/>
              </a:lnSpc>
              <a:spcAft>
                <a:spcPts val="0"/>
              </a:spcAft>
              <a:buFont typeface="Arial" panose="020B0604020202020204" pitchFamily="34" charset="0"/>
              <a:buChar char="•"/>
            </a:pPr>
            <a:endParaRPr lang="en-US" sz="1200" dirty="0">
              <a:solidFill>
                <a:srgbClr val="011C40"/>
              </a:solidFill>
              <a:latin typeface="Garamond"/>
            </a:endParaRPr>
          </a:p>
          <a:p>
            <a:pPr marL="228600" indent="-228600">
              <a:lnSpc>
                <a:spcPct val="112000"/>
              </a:lnSpc>
              <a:buFont typeface="Arial" panose="020B0604020202020204" pitchFamily="34" charset="0"/>
              <a:buChar char="•"/>
            </a:pPr>
            <a:r>
              <a:rPr lang="en-US" sz="1200" b="1" dirty="0">
                <a:solidFill>
                  <a:srgbClr val="011C40"/>
                </a:solidFill>
                <a:latin typeface="Garamond"/>
              </a:rPr>
              <a:t>At Expiry Dislocation to [Italy 2011 Levels] on our expiry date in Feb of 2031</a:t>
            </a:r>
            <a:endParaRPr lang="en-US" sz="1200" dirty="0">
              <a:solidFill>
                <a:srgbClr val="011C40"/>
              </a:solidFill>
              <a:latin typeface="Garamond"/>
            </a:endParaRPr>
          </a:p>
          <a:p>
            <a:pPr marL="228600" indent="-228600">
              <a:lnSpc>
                <a:spcPct val="112000"/>
              </a:lnSpc>
              <a:buFont typeface="Arial" panose="020B0604020202020204" pitchFamily="34" charset="0"/>
              <a:buChar char="•"/>
            </a:pPr>
            <a:endParaRPr lang="en-US" sz="1200" dirty="0">
              <a:solidFill>
                <a:srgbClr val="011C40"/>
              </a:solidFill>
              <a:latin typeface="Garamond"/>
            </a:endParaRPr>
          </a:p>
          <a:p>
            <a:pPr marL="228600" indent="-228600">
              <a:lnSpc>
                <a:spcPct val="112000"/>
              </a:lnSpc>
              <a:buFont typeface="Arial" panose="020B0604020202020204" pitchFamily="34" charset="0"/>
              <a:buChar char="•"/>
            </a:pPr>
            <a:r>
              <a:rPr lang="en-US" sz="1200" b="1" dirty="0">
                <a:solidFill>
                  <a:srgbClr val="011C40"/>
                </a:solidFill>
                <a:latin typeface="Garamond"/>
              </a:rPr>
              <a:t>Prior to Expiry crisis that leads to EU exit or default</a:t>
            </a:r>
            <a:endParaRPr lang="en-US" sz="1200" dirty="0">
              <a:solidFill>
                <a:srgbClr val="011C40"/>
              </a:solidFill>
              <a:latin typeface="Garamond"/>
            </a:endParaRPr>
          </a:p>
          <a:p>
            <a:pPr marL="228600" indent="-228600">
              <a:lnSpc>
                <a:spcPct val="112000"/>
              </a:lnSpc>
              <a:buFont typeface="Arial"/>
              <a:buAutoNum type="arabicPeriod"/>
            </a:pPr>
            <a:endParaRPr lang="en-US" sz="1200" dirty="0">
              <a:solidFill>
                <a:srgbClr val="011C40"/>
              </a:solidFill>
              <a:latin typeface="Garamond"/>
            </a:endParaRPr>
          </a:p>
          <a:p>
            <a:pPr marL="228600" indent="-228600" algn="l">
              <a:lnSpc>
                <a:spcPct val="112000"/>
              </a:lnSpc>
              <a:spcAft>
                <a:spcPts val="0"/>
              </a:spcAft>
              <a:buAutoNum type="arabicPeriod"/>
            </a:pPr>
            <a:endParaRPr sz="850" b="0" i="0" dirty="0">
              <a:solidFill>
                <a:srgbClr val="011C40"/>
              </a:solidFill>
              <a:latin typeface="Garamond"/>
            </a:endParaRPr>
          </a:p>
        </p:txBody>
      </p:sp>
    </p:spTree>
    <p:extLst>
      <p:ext uri="{BB962C8B-B14F-4D97-AF65-F5344CB8AC3E}">
        <p14:creationId xmlns:p14="http://schemas.microsoft.com/office/powerpoint/2010/main" val="3350492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D5096-B8BA-20FA-7EF4-06847CD55AF0}"/>
            </a:ext>
          </a:extLst>
        </p:cNvPr>
        <p:cNvGrpSpPr/>
        <p:nvPr/>
      </p:nvGrpSpPr>
      <p:grpSpPr>
        <a:xfrm>
          <a:off x="0" y="0"/>
          <a:ext cx="0" cy="0"/>
          <a:chOff x="0" y="0"/>
          <a:chExt cx="0" cy="0"/>
        </a:xfrm>
      </p:grpSpPr>
      <p:sp>
        <p:nvSpPr>
          <p:cNvPr id="201" name="Title 1">
            <a:extLst>
              <a:ext uri="{FF2B5EF4-FFF2-40B4-BE49-F238E27FC236}">
                <a16:creationId xmlns:a16="http://schemas.microsoft.com/office/drawing/2014/main" id="{DF7944A5-A387-5FB7-D7DB-70A64662E849}"/>
              </a:ext>
            </a:extLst>
          </p:cNvPr>
          <p:cNvSpPr>
            <a:spLocks noGrp="1"/>
          </p:cNvSpPr>
          <p:nvPr>
            <p:ph type="title"/>
          </p:nvPr>
        </p:nvSpPr>
        <p:spPr/>
        <p:txBody>
          <a:bodyPr>
            <a:normAutofit/>
          </a:bodyPr>
          <a:lstStyle/>
          <a:p>
            <a:r>
              <a:rPr lang="en-US" sz="2400" dirty="0"/>
              <a:t>Why We Don’t Think France Will Exit the EUR or Default</a:t>
            </a:r>
          </a:p>
        </p:txBody>
      </p:sp>
      <p:sp>
        <p:nvSpPr>
          <p:cNvPr id="216" name="Slide Number Placeholder">
            <a:extLst>
              <a:ext uri="{FF2B5EF4-FFF2-40B4-BE49-F238E27FC236}">
                <a16:creationId xmlns:a16="http://schemas.microsoft.com/office/drawing/2014/main" id="{6C3A201A-68A9-D0EF-083C-6F5DF37CDE55}"/>
              </a:ext>
            </a:extLst>
          </p:cNvPr>
          <p:cNvSpPr>
            <a:spLocks noGrp="1"/>
          </p:cNvSpPr>
          <p:nvPr>
            <p:ph type="sldNum" sz="quarter" idx="12"/>
          </p:nvPr>
        </p:nvSpPr>
        <p:spPr/>
        <p:txBody>
          <a:bodyPr/>
          <a:lstStyle/>
          <a:p>
            <a:fld id="{F6B70E3D-0A47-44A9-8B13-A3D1BC88A914}" type="slidenum">
              <a:rPr lang="en-US"/>
              <a:t>13</a:t>
            </a:fld>
            <a:endParaRPr lang="en-US"/>
          </a:p>
        </p:txBody>
      </p:sp>
      <p:sp>
        <p:nvSpPr>
          <p:cNvPr id="7" name="TextBox 9">
            <a:extLst>
              <a:ext uri="{FF2B5EF4-FFF2-40B4-BE49-F238E27FC236}">
                <a16:creationId xmlns:a16="http://schemas.microsoft.com/office/drawing/2014/main" id="{85CB70F0-3A24-B4E5-CBB6-6C99D2EC48E9}"/>
              </a:ext>
            </a:extLst>
          </p:cNvPr>
          <p:cNvSpPr txBox="1"/>
          <p:nvPr/>
        </p:nvSpPr>
        <p:spPr>
          <a:xfrm>
            <a:off x="910948" y="1293563"/>
            <a:ext cx="6861451" cy="3687035"/>
          </a:xfrm>
          <a:prstGeom prst="rect">
            <a:avLst/>
          </a:prstGeom>
          <a:noFill/>
        </p:spPr>
        <p:txBody>
          <a:bodyPr wrap="square" lIns="0" tIns="0" rIns="0" bIns="0" anchor="t">
            <a:spAutoFit/>
          </a:bodyPr>
          <a:lstStyle/>
          <a:p>
            <a:pPr fontAlgn="base"/>
            <a:r>
              <a:rPr lang="en-US" sz="1100" dirty="0"/>
              <a:t>France’s fiscal problems, while ugly and likely to get uglier in the near term, are not unsolvable.  They are due only to a failure of political will thus far.  Moving the retirement age to [ ] would fix the problem for a decade or more.   </a:t>
            </a:r>
            <a:br>
              <a:rPr lang="en-US" sz="1100" dirty="0"/>
            </a:br>
            <a:endParaRPr lang="en-US" sz="1100" dirty="0"/>
          </a:p>
          <a:p>
            <a:pPr fontAlgn="base"/>
            <a:r>
              <a:rPr lang="en-US" sz="1100" dirty="0"/>
              <a:t>When the consequences of their reckless fiscal policy become acute - and sufficiently onerous, the politics will change.  When faced with the choice of “death or disease”, they will choose disease.  </a:t>
            </a:r>
            <a:br>
              <a:rPr lang="en-US" sz="1100" dirty="0"/>
            </a:br>
            <a:endParaRPr lang="en-US" sz="1100" dirty="0"/>
          </a:p>
          <a:p>
            <a:pPr fontAlgn="base"/>
            <a:r>
              <a:rPr lang="en-US" sz="1100" dirty="0"/>
              <a:t>What are the consequences they will be faced with?  </a:t>
            </a:r>
          </a:p>
          <a:p>
            <a:pPr lvl="0" fontAlgn="base"/>
            <a:r>
              <a:rPr lang="en-US" sz="1100" dirty="0"/>
              <a:t>- A spike in interest rates beyond some threshold - the “Liz Truss moment”</a:t>
            </a:r>
          </a:p>
          <a:p>
            <a:pPr lvl="0" fontAlgn="base"/>
            <a:r>
              <a:rPr lang="en-US" sz="1100" dirty="0"/>
              <a:t>- The potential collapse of their banks</a:t>
            </a:r>
            <a:br>
              <a:rPr lang="en-US" sz="1100" dirty="0"/>
            </a:br>
            <a:endParaRPr lang="en-US" sz="1100" dirty="0"/>
          </a:p>
          <a:p>
            <a:pPr fontAlgn="base"/>
            <a:r>
              <a:rPr lang="en-US" sz="1100" dirty="0"/>
              <a:t>In an acute crisis, and particularly if France agrees to makes the necessary changes, we believe the ECB will step in to stabilize their debt markets.</a:t>
            </a:r>
          </a:p>
          <a:p>
            <a:pPr marL="171450" lvl="3" indent="-171450" fontAlgn="base">
              <a:buFont typeface="Arial" panose="020B0604020202020204" pitchFamily="34" charset="0"/>
              <a:buChar char="•"/>
            </a:pPr>
            <a:br>
              <a:rPr lang="en-US" sz="1100" dirty="0"/>
            </a:br>
            <a:r>
              <a:rPr lang="en-US" sz="1100" dirty="0"/>
              <a:t>Political integration in Europe fundamentally changed in 2012, when they effectively socialized their collective debt.   And we believe trade and national security issues are dramatically more significant today.</a:t>
            </a:r>
          </a:p>
          <a:p>
            <a:pPr marL="171450" lvl="2" indent="-171450" fontAlgn="base">
              <a:buFont typeface="Arial" panose="020B0604020202020204" pitchFamily="34" charset="0"/>
              <a:buChar char="•"/>
            </a:pPr>
            <a:r>
              <a:rPr lang="en-US" sz="1100" dirty="0"/>
              <a:t>France is too big to fail, with 19% of euro-area output. A French default would be the end of the EUR.</a:t>
            </a:r>
          </a:p>
          <a:p>
            <a:pPr marL="171450" lvl="2" indent="-171450" fontAlgn="base">
              <a:buFont typeface="Arial" panose="020B0604020202020204" pitchFamily="34" charset="0"/>
              <a:buChar char="•"/>
            </a:pPr>
            <a:r>
              <a:rPr lang="en-US" sz="1100" dirty="0"/>
              <a:t>They already have the available tools: built and designed precisely for this purpose: the ESM, the ECB’s OMT and since 2022 the Transmission Protection Instrument.  </a:t>
            </a:r>
          </a:p>
          <a:p>
            <a:pPr marL="171450" lvl="2" indent="-171450" fontAlgn="base">
              <a:buFont typeface="Arial" panose="020B0604020202020204" pitchFamily="34" charset="0"/>
              <a:buChar char="•"/>
            </a:pPr>
            <a:r>
              <a:rPr lang="en-US" sz="1100" dirty="0">
                <a:solidFill>
                  <a:srgbClr val="1E2761"/>
                </a:solidFill>
                <a:latin typeface="Calibri"/>
              </a:rPr>
              <a:t>Leaving the euro has no legal route short of leaving the EU, and no major party proposes it; the far right dropped the idea after 2017 because it lost votes. </a:t>
            </a:r>
          </a:p>
          <a:p>
            <a:pPr marL="228600" indent="-228600" algn="l">
              <a:lnSpc>
                <a:spcPct val="112000"/>
              </a:lnSpc>
              <a:spcAft>
                <a:spcPts val="0"/>
              </a:spcAft>
              <a:buAutoNum type="arabicPeriod"/>
            </a:pPr>
            <a:endParaRPr sz="800" b="0" i="0" dirty="0">
              <a:solidFill>
                <a:srgbClr val="011C40"/>
              </a:solidFill>
              <a:latin typeface="Garamond"/>
            </a:endParaRPr>
          </a:p>
        </p:txBody>
      </p:sp>
    </p:spTree>
    <p:extLst>
      <p:ext uri="{BB962C8B-B14F-4D97-AF65-F5344CB8AC3E}">
        <p14:creationId xmlns:p14="http://schemas.microsoft.com/office/powerpoint/2010/main" val="64633248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B7708-103C-4AB3-BD83-0C3A963F1603}">
  <we:reference id="WA200010001" version="1.0.0.1" store="Omex" storeType="OMEX"/>
  <we:alternateReferences>
    <we:reference id="WA200010001" version="1.0.0.1" store="WA200010001" storeType="OMEX"/>
  </we:alternateReferences>
  <we:properties>
    <we:property name="claude.fileId" value="&quot;feb735f2-bf62-4664-b1d7-59656c52649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customXml/itemProps3.xml><?xml version="1.0" encoding="utf-8"?>
<ds:datastoreItem xmlns:ds="http://schemas.openxmlformats.org/officeDocument/2006/customXml" ds:itemID="{73386CA3-872E-4B23-960A-B564860DA5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62654</TotalTime>
  <Words>2310</Words>
  <Application>Microsoft Office PowerPoint</Application>
  <PresentationFormat>On-screen Show (16:9)</PresentationFormat>
  <Paragraphs>173</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Calibri Light</vt:lpstr>
      <vt:lpstr>Garamond</vt:lpstr>
      <vt:lpstr>Arial</vt:lpstr>
      <vt:lpstr>Cambria</vt:lpstr>
      <vt:lpstr>Helvetica Neue</vt:lpstr>
      <vt:lpstr>Custom Design</vt:lpstr>
      <vt:lpstr>French swap spreads 5-year OAT swap spread with non-recourse financing</vt:lpstr>
      <vt:lpstr>Disclaimer</vt:lpstr>
      <vt:lpstr>Liminality Capital</vt:lpstr>
      <vt:lpstr>Executive Summary: French Swap Spread Opportunity</vt:lpstr>
      <vt:lpstr>What is a Swap Spread?</vt:lpstr>
      <vt:lpstr>Current Dislocation</vt:lpstr>
      <vt:lpstr>PowerPoint Presentation</vt:lpstr>
      <vt:lpstr>PowerPoint Presentation</vt:lpstr>
      <vt:lpstr>PowerPoint Presentation</vt:lpstr>
      <vt:lpstr>Scenario Analysis: 4.4-Year IRR and Multiple of Capital At Expiry</vt:lpstr>
      <vt:lpstr>Risk: Italy and Spain During Euro Crisis</vt:lpstr>
      <vt:lpstr>[Risks]</vt:lpstr>
      <vt:lpstr>Why We Don’t Think France Will Exit the EUR or Default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Charlie Ledley</cp:lastModifiedBy>
  <cp:revision>107</cp:revision>
  <cp:lastPrinted>2025-06-25T14:55:21Z</cp:lastPrinted>
  <dcterms:modified xsi:type="dcterms:W3CDTF">2026-10-07T16:50:59Z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